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85" r:id="rId3"/>
    <p:sldId id="286" r:id="rId4"/>
    <p:sldId id="257" r:id="rId5"/>
    <p:sldId id="287" r:id="rId6"/>
    <p:sldId id="268" r:id="rId7"/>
    <p:sldId id="258" r:id="rId8"/>
    <p:sldId id="259" r:id="rId9"/>
    <p:sldId id="260" r:id="rId10"/>
    <p:sldId id="263" r:id="rId11"/>
    <p:sldId id="262" r:id="rId12"/>
    <p:sldId id="288" r:id="rId13"/>
    <p:sldId id="290" r:id="rId14"/>
    <p:sldId id="293" r:id="rId15"/>
    <p:sldId id="295" r:id="rId16"/>
    <p:sldId id="294" r:id="rId17"/>
    <p:sldId id="291" r:id="rId18"/>
    <p:sldId id="292" r:id="rId19"/>
    <p:sldId id="264" r:id="rId20"/>
    <p:sldId id="284" r:id="rId21"/>
    <p:sldId id="283" r:id="rId22"/>
    <p:sldId id="269" r:id="rId23"/>
    <p:sldId id="266" r:id="rId24"/>
    <p:sldId id="267" r:id="rId25"/>
    <p:sldId id="274" r:id="rId26"/>
    <p:sldId id="270" r:id="rId27"/>
    <p:sldId id="271" r:id="rId28"/>
    <p:sldId id="273" r:id="rId29"/>
    <p:sldId id="272" r:id="rId30"/>
    <p:sldId id="275" r:id="rId31"/>
    <p:sldId id="276" r:id="rId32"/>
    <p:sldId id="279" r:id="rId33"/>
    <p:sldId id="280" r:id="rId34"/>
    <p:sldId id="278" r:id="rId35"/>
    <p:sldId id="277"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6523"/>
    <p:restoredTop sz="94639"/>
  </p:normalViewPr>
  <p:slideViewPr>
    <p:cSldViewPr snapToGrid="0">
      <p:cViewPr varScale="1">
        <p:scale>
          <a:sx n="86" d="100"/>
          <a:sy n="86" d="100"/>
        </p:scale>
        <p:origin x="224" y="16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7D37F-5E93-DE6F-3CF0-F8F827F289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6EF5160-F6A9-65FD-BF37-5998AD9AE4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0B959CA-8C74-3E12-F9A1-07CB0A499E8D}"/>
              </a:ext>
            </a:extLst>
          </p:cNvPr>
          <p:cNvSpPr>
            <a:spLocks noGrp="1"/>
          </p:cNvSpPr>
          <p:nvPr>
            <p:ph type="dt" sz="half" idx="10"/>
          </p:nvPr>
        </p:nvSpPr>
        <p:spPr/>
        <p:txBody>
          <a:bodyPr/>
          <a:lstStyle/>
          <a:p>
            <a:fld id="{613B060C-E44F-2A46-BC3C-1233D286DD85}" type="datetimeFigureOut">
              <a:rPr lang="en-US" smtClean="0"/>
              <a:t>3/3/26</a:t>
            </a:fld>
            <a:endParaRPr lang="en-US"/>
          </a:p>
        </p:txBody>
      </p:sp>
      <p:sp>
        <p:nvSpPr>
          <p:cNvPr id="5" name="Footer Placeholder 4">
            <a:extLst>
              <a:ext uri="{FF2B5EF4-FFF2-40B4-BE49-F238E27FC236}">
                <a16:creationId xmlns:a16="http://schemas.microsoft.com/office/drawing/2014/main" id="{A0DBEE68-0504-D47B-D275-0B0CDC63F9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3696FE-9F7B-DA08-BA09-A8AECC99986E}"/>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1556406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3C1A0-DEB3-812D-9F01-D2CCEE153C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357BC2-B3DA-02EF-7985-84B511CB849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2A63DA-2C85-5F0C-CCD8-7F9454BDA9D3}"/>
              </a:ext>
            </a:extLst>
          </p:cNvPr>
          <p:cNvSpPr>
            <a:spLocks noGrp="1"/>
          </p:cNvSpPr>
          <p:nvPr>
            <p:ph type="dt" sz="half" idx="10"/>
          </p:nvPr>
        </p:nvSpPr>
        <p:spPr/>
        <p:txBody>
          <a:bodyPr/>
          <a:lstStyle/>
          <a:p>
            <a:fld id="{613B060C-E44F-2A46-BC3C-1233D286DD85}" type="datetimeFigureOut">
              <a:rPr lang="en-US" smtClean="0"/>
              <a:t>3/3/26</a:t>
            </a:fld>
            <a:endParaRPr lang="en-US"/>
          </a:p>
        </p:txBody>
      </p:sp>
      <p:sp>
        <p:nvSpPr>
          <p:cNvPr id="5" name="Footer Placeholder 4">
            <a:extLst>
              <a:ext uri="{FF2B5EF4-FFF2-40B4-BE49-F238E27FC236}">
                <a16:creationId xmlns:a16="http://schemas.microsoft.com/office/drawing/2014/main" id="{B5C302FD-0E0D-6B27-C816-C373D4A9AC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9407FD-FA8F-4B4E-3D7F-E29DD5E9F6D9}"/>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4207976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BA34C-1E95-1925-4BC2-DFA61C18EC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E9A4ECA-5813-4196-4F1D-31F9B6ED628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9C698C-9648-B9A2-321B-88CE6722AC29}"/>
              </a:ext>
            </a:extLst>
          </p:cNvPr>
          <p:cNvSpPr>
            <a:spLocks noGrp="1"/>
          </p:cNvSpPr>
          <p:nvPr>
            <p:ph type="dt" sz="half" idx="10"/>
          </p:nvPr>
        </p:nvSpPr>
        <p:spPr/>
        <p:txBody>
          <a:bodyPr/>
          <a:lstStyle/>
          <a:p>
            <a:fld id="{613B060C-E44F-2A46-BC3C-1233D286DD85}" type="datetimeFigureOut">
              <a:rPr lang="en-US" smtClean="0"/>
              <a:t>3/3/26</a:t>
            </a:fld>
            <a:endParaRPr lang="en-US"/>
          </a:p>
        </p:txBody>
      </p:sp>
      <p:sp>
        <p:nvSpPr>
          <p:cNvPr id="5" name="Footer Placeholder 4">
            <a:extLst>
              <a:ext uri="{FF2B5EF4-FFF2-40B4-BE49-F238E27FC236}">
                <a16:creationId xmlns:a16="http://schemas.microsoft.com/office/drawing/2014/main" id="{2AD2AF4A-81F6-55EA-F070-BC15496174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E2B60B-5409-AB86-9CEB-C8DA09932BA7}"/>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3632269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17D7F-C9C3-27E4-28D8-29A01C127A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089596-3216-833F-87ED-45E00A5A47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B73883-3F3F-6D2E-9427-60AE9BAA9F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18364FD-D128-39CE-0467-FFAEA0F3B07B}"/>
              </a:ext>
            </a:extLst>
          </p:cNvPr>
          <p:cNvSpPr>
            <a:spLocks noGrp="1"/>
          </p:cNvSpPr>
          <p:nvPr>
            <p:ph type="dt" sz="half" idx="10"/>
          </p:nvPr>
        </p:nvSpPr>
        <p:spPr/>
        <p:txBody>
          <a:bodyPr/>
          <a:lstStyle/>
          <a:p>
            <a:fld id="{613B060C-E44F-2A46-BC3C-1233D286DD85}" type="datetimeFigureOut">
              <a:rPr lang="en-US" smtClean="0"/>
              <a:t>3/3/26</a:t>
            </a:fld>
            <a:endParaRPr lang="en-US"/>
          </a:p>
        </p:txBody>
      </p:sp>
      <p:sp>
        <p:nvSpPr>
          <p:cNvPr id="6" name="Footer Placeholder 5">
            <a:extLst>
              <a:ext uri="{FF2B5EF4-FFF2-40B4-BE49-F238E27FC236}">
                <a16:creationId xmlns:a16="http://schemas.microsoft.com/office/drawing/2014/main" id="{9F3567CE-42C3-33E7-7985-C65AE5B105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9893AF-6D89-FAA8-6A8D-142998087250}"/>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4228378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CC758-5E22-4710-FB2E-3D9F21CD75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286CAC7-9A91-9805-759E-E9603EA985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5F66FA1-F6E5-CFD1-6906-D2EF599245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BC7408-181F-01EB-C2DA-74E1CE7D63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7735773-FC68-51C9-D19A-4B120F2863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863CD2D-062F-EA23-228E-5F66310CAB85}"/>
              </a:ext>
            </a:extLst>
          </p:cNvPr>
          <p:cNvSpPr>
            <a:spLocks noGrp="1"/>
          </p:cNvSpPr>
          <p:nvPr>
            <p:ph type="dt" sz="half" idx="10"/>
          </p:nvPr>
        </p:nvSpPr>
        <p:spPr/>
        <p:txBody>
          <a:bodyPr/>
          <a:lstStyle/>
          <a:p>
            <a:fld id="{613B060C-E44F-2A46-BC3C-1233D286DD85}" type="datetimeFigureOut">
              <a:rPr lang="en-US" smtClean="0"/>
              <a:t>3/3/26</a:t>
            </a:fld>
            <a:endParaRPr lang="en-US"/>
          </a:p>
        </p:txBody>
      </p:sp>
      <p:sp>
        <p:nvSpPr>
          <p:cNvPr id="8" name="Footer Placeholder 7">
            <a:extLst>
              <a:ext uri="{FF2B5EF4-FFF2-40B4-BE49-F238E27FC236}">
                <a16:creationId xmlns:a16="http://schemas.microsoft.com/office/drawing/2014/main" id="{75C03F9C-8777-D137-3CA8-8102B7791C3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B1227CD-5AAF-5FA1-9888-2E0C13C6963E}"/>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3142353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C12C0-5913-116A-ABDA-ED5ECF1D2BF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8A4ABB1-797C-F7C2-607C-BBCD79BEF379}"/>
              </a:ext>
            </a:extLst>
          </p:cNvPr>
          <p:cNvSpPr>
            <a:spLocks noGrp="1"/>
          </p:cNvSpPr>
          <p:nvPr>
            <p:ph type="dt" sz="half" idx="10"/>
          </p:nvPr>
        </p:nvSpPr>
        <p:spPr/>
        <p:txBody>
          <a:bodyPr/>
          <a:lstStyle/>
          <a:p>
            <a:fld id="{613B060C-E44F-2A46-BC3C-1233D286DD85}" type="datetimeFigureOut">
              <a:rPr lang="en-US" smtClean="0"/>
              <a:t>3/3/26</a:t>
            </a:fld>
            <a:endParaRPr lang="en-US"/>
          </a:p>
        </p:txBody>
      </p:sp>
      <p:sp>
        <p:nvSpPr>
          <p:cNvPr id="4" name="Footer Placeholder 3">
            <a:extLst>
              <a:ext uri="{FF2B5EF4-FFF2-40B4-BE49-F238E27FC236}">
                <a16:creationId xmlns:a16="http://schemas.microsoft.com/office/drawing/2014/main" id="{C1146DD4-9BB6-18BF-B543-A2DC8B5A7D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3DBD41A-8AED-27DC-8037-693538DF58B0}"/>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2109558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5B9AC2-A3D6-A0B5-7EAC-AF55C43454BD}"/>
              </a:ext>
            </a:extLst>
          </p:cNvPr>
          <p:cNvSpPr>
            <a:spLocks noGrp="1"/>
          </p:cNvSpPr>
          <p:nvPr>
            <p:ph type="dt" sz="half" idx="10"/>
          </p:nvPr>
        </p:nvSpPr>
        <p:spPr/>
        <p:txBody>
          <a:bodyPr/>
          <a:lstStyle/>
          <a:p>
            <a:fld id="{613B060C-E44F-2A46-BC3C-1233D286DD85}" type="datetimeFigureOut">
              <a:rPr lang="en-US" smtClean="0"/>
              <a:t>3/3/26</a:t>
            </a:fld>
            <a:endParaRPr lang="en-US"/>
          </a:p>
        </p:txBody>
      </p:sp>
      <p:sp>
        <p:nvSpPr>
          <p:cNvPr id="3" name="Footer Placeholder 2">
            <a:extLst>
              <a:ext uri="{FF2B5EF4-FFF2-40B4-BE49-F238E27FC236}">
                <a16:creationId xmlns:a16="http://schemas.microsoft.com/office/drawing/2014/main" id="{5A1D7D08-5B8D-2143-BE71-DD60F3D8FCF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E3ADD2D-65FC-71C9-780A-791EA824E08B}"/>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2211089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7FB16-6C21-8DF3-C3AD-D2829F9EC5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E87F28F-81CC-DA86-DC10-A8FC013A05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F30AD75-1AD2-17A7-7D2D-BA90DF73C7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A7E133-F6CE-2644-A0FD-78956E9F7BD9}"/>
              </a:ext>
            </a:extLst>
          </p:cNvPr>
          <p:cNvSpPr>
            <a:spLocks noGrp="1"/>
          </p:cNvSpPr>
          <p:nvPr>
            <p:ph type="dt" sz="half" idx="10"/>
          </p:nvPr>
        </p:nvSpPr>
        <p:spPr/>
        <p:txBody>
          <a:bodyPr/>
          <a:lstStyle/>
          <a:p>
            <a:fld id="{613B060C-E44F-2A46-BC3C-1233D286DD85}" type="datetimeFigureOut">
              <a:rPr lang="en-US" smtClean="0"/>
              <a:t>3/3/26</a:t>
            </a:fld>
            <a:endParaRPr lang="en-US"/>
          </a:p>
        </p:txBody>
      </p:sp>
      <p:sp>
        <p:nvSpPr>
          <p:cNvPr id="6" name="Footer Placeholder 5">
            <a:extLst>
              <a:ext uri="{FF2B5EF4-FFF2-40B4-BE49-F238E27FC236}">
                <a16:creationId xmlns:a16="http://schemas.microsoft.com/office/drawing/2014/main" id="{CBD6E168-3C06-61A3-A7EA-27D22ADE2E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0B3E44-BBFC-77B2-AA17-51DEFC0C1742}"/>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32609321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D1639-D687-C3D9-7B90-FBF5ECADA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E1EF093-F5A4-927F-3691-E8FEF93395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64DD80B-5CDB-1B89-1705-1ABDAC6070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B9223D-F9D1-F332-6392-F993D0993B0B}"/>
              </a:ext>
            </a:extLst>
          </p:cNvPr>
          <p:cNvSpPr>
            <a:spLocks noGrp="1"/>
          </p:cNvSpPr>
          <p:nvPr>
            <p:ph type="dt" sz="half" idx="10"/>
          </p:nvPr>
        </p:nvSpPr>
        <p:spPr/>
        <p:txBody>
          <a:bodyPr/>
          <a:lstStyle/>
          <a:p>
            <a:fld id="{613B060C-E44F-2A46-BC3C-1233D286DD85}" type="datetimeFigureOut">
              <a:rPr lang="en-US" smtClean="0"/>
              <a:t>3/3/26</a:t>
            </a:fld>
            <a:endParaRPr lang="en-US"/>
          </a:p>
        </p:txBody>
      </p:sp>
      <p:sp>
        <p:nvSpPr>
          <p:cNvPr id="6" name="Footer Placeholder 5">
            <a:extLst>
              <a:ext uri="{FF2B5EF4-FFF2-40B4-BE49-F238E27FC236}">
                <a16:creationId xmlns:a16="http://schemas.microsoft.com/office/drawing/2014/main" id="{AC2B1480-84D6-759E-498E-66A1EC8847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3D1EB7-7B67-B624-9BB8-88E56F675706}"/>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3576195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AE547-3714-0DFE-93C9-7C25C0ACB97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23295A6-0177-55F7-51B3-71F655CB47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BF6997-4D6C-C52D-8F87-9B16AF71841C}"/>
              </a:ext>
            </a:extLst>
          </p:cNvPr>
          <p:cNvSpPr>
            <a:spLocks noGrp="1"/>
          </p:cNvSpPr>
          <p:nvPr>
            <p:ph type="dt" sz="half" idx="10"/>
          </p:nvPr>
        </p:nvSpPr>
        <p:spPr/>
        <p:txBody>
          <a:bodyPr/>
          <a:lstStyle/>
          <a:p>
            <a:fld id="{613B060C-E44F-2A46-BC3C-1233D286DD85}" type="datetimeFigureOut">
              <a:rPr lang="en-US" smtClean="0"/>
              <a:t>3/3/26</a:t>
            </a:fld>
            <a:endParaRPr lang="en-US"/>
          </a:p>
        </p:txBody>
      </p:sp>
      <p:sp>
        <p:nvSpPr>
          <p:cNvPr id="5" name="Footer Placeholder 4">
            <a:extLst>
              <a:ext uri="{FF2B5EF4-FFF2-40B4-BE49-F238E27FC236}">
                <a16:creationId xmlns:a16="http://schemas.microsoft.com/office/drawing/2014/main" id="{5CC282D9-8A12-C333-FC52-7F90B81740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B191F6-4238-1062-F37C-FCEE9906D31B}"/>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39936949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69D08E-A793-D8C8-A235-B36DA0286EC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231DE7F-0BF5-1B15-2C46-8CE47972F2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D9E5BE-71A9-A123-A4C7-62C298708AC5}"/>
              </a:ext>
            </a:extLst>
          </p:cNvPr>
          <p:cNvSpPr>
            <a:spLocks noGrp="1"/>
          </p:cNvSpPr>
          <p:nvPr>
            <p:ph type="dt" sz="half" idx="10"/>
          </p:nvPr>
        </p:nvSpPr>
        <p:spPr/>
        <p:txBody>
          <a:bodyPr/>
          <a:lstStyle/>
          <a:p>
            <a:fld id="{613B060C-E44F-2A46-BC3C-1233D286DD85}" type="datetimeFigureOut">
              <a:rPr lang="en-US" smtClean="0"/>
              <a:t>3/3/26</a:t>
            </a:fld>
            <a:endParaRPr lang="en-US"/>
          </a:p>
        </p:txBody>
      </p:sp>
      <p:sp>
        <p:nvSpPr>
          <p:cNvPr id="5" name="Footer Placeholder 4">
            <a:extLst>
              <a:ext uri="{FF2B5EF4-FFF2-40B4-BE49-F238E27FC236}">
                <a16:creationId xmlns:a16="http://schemas.microsoft.com/office/drawing/2014/main" id="{12A132F3-F31B-A579-D988-63337C49B8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04B06A-1473-3083-A674-48C7B79C3CB0}"/>
              </a:ext>
            </a:extLst>
          </p:cNvPr>
          <p:cNvSpPr>
            <a:spLocks noGrp="1"/>
          </p:cNvSpPr>
          <p:nvPr>
            <p:ph type="sldNum" sz="quarter" idx="12"/>
          </p:nvPr>
        </p:nvSpPr>
        <p:spPr/>
        <p:txBody>
          <a:bodyPr/>
          <a:lstStyle/>
          <a:p>
            <a:fld id="{1CF02B05-3B47-5E43-ACC0-66286D1A7179}" type="slidenum">
              <a:rPr lang="en-US" smtClean="0"/>
              <a:t>‹#›</a:t>
            </a:fld>
            <a:endParaRPr lang="en-US"/>
          </a:p>
        </p:txBody>
      </p:sp>
    </p:spTree>
    <p:extLst>
      <p:ext uri="{BB962C8B-B14F-4D97-AF65-F5344CB8AC3E}">
        <p14:creationId xmlns:p14="http://schemas.microsoft.com/office/powerpoint/2010/main" val="2915065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4AA27D-E5D2-FAFC-4265-FE2BCF36F1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54F5719-AC88-6F4B-EECB-DD41ED0235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D5D6AD-D7FB-7ACC-CD24-D284B0ED6A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13B060C-E44F-2A46-BC3C-1233D286DD85}" type="datetimeFigureOut">
              <a:rPr lang="en-US" smtClean="0"/>
              <a:t>3/3/26</a:t>
            </a:fld>
            <a:endParaRPr lang="en-US"/>
          </a:p>
        </p:txBody>
      </p:sp>
      <p:sp>
        <p:nvSpPr>
          <p:cNvPr id="5" name="Footer Placeholder 4">
            <a:extLst>
              <a:ext uri="{FF2B5EF4-FFF2-40B4-BE49-F238E27FC236}">
                <a16:creationId xmlns:a16="http://schemas.microsoft.com/office/drawing/2014/main" id="{F6BCD0BA-265B-02F9-5091-26C6D5380E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16F7076-55AC-A02F-8E01-2D7E615DC9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F02B05-3B47-5E43-ACC0-66286D1A7179}" type="slidenum">
              <a:rPr lang="en-US" smtClean="0"/>
              <a:t>‹#›</a:t>
            </a:fld>
            <a:endParaRPr lang="en-US"/>
          </a:p>
        </p:txBody>
      </p:sp>
    </p:spTree>
    <p:extLst>
      <p:ext uri="{BB962C8B-B14F-4D97-AF65-F5344CB8AC3E}">
        <p14:creationId xmlns:p14="http://schemas.microsoft.com/office/powerpoint/2010/main" val="3815907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AB17C-F214-AB2B-F65A-79DC06F7C398}"/>
              </a:ext>
            </a:extLst>
          </p:cNvPr>
          <p:cNvSpPr>
            <a:spLocks noGrp="1"/>
          </p:cNvSpPr>
          <p:nvPr>
            <p:ph type="ctrTitle"/>
          </p:nvPr>
        </p:nvSpPr>
        <p:spPr>
          <a:xfrm>
            <a:off x="1524000" y="2235200"/>
            <a:ext cx="9144000" cy="2387600"/>
          </a:xfrm>
        </p:spPr>
        <p:txBody>
          <a:bodyPr/>
          <a:lstStyle/>
          <a:p>
            <a:r>
              <a:rPr lang="en-US" dirty="0"/>
              <a:t>Programming language for AI agents</a:t>
            </a:r>
          </a:p>
        </p:txBody>
      </p:sp>
    </p:spTree>
    <p:extLst>
      <p:ext uri="{BB962C8B-B14F-4D97-AF65-F5344CB8AC3E}">
        <p14:creationId xmlns:p14="http://schemas.microsoft.com/office/powerpoint/2010/main" val="3991845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4E101-F945-4C94-6796-0D5A6E97A68D}"/>
              </a:ext>
            </a:extLst>
          </p:cNvPr>
          <p:cNvSpPr>
            <a:spLocks noGrp="1"/>
          </p:cNvSpPr>
          <p:nvPr>
            <p:ph type="title"/>
          </p:nvPr>
        </p:nvSpPr>
        <p:spPr/>
        <p:txBody>
          <a:bodyPr/>
          <a:lstStyle/>
          <a:p>
            <a:r>
              <a:rPr lang="en-US" dirty="0"/>
              <a:t>What is an agent?</a:t>
            </a:r>
          </a:p>
        </p:txBody>
      </p:sp>
      <p:sp>
        <p:nvSpPr>
          <p:cNvPr id="3" name="Content Placeholder 2">
            <a:extLst>
              <a:ext uri="{FF2B5EF4-FFF2-40B4-BE49-F238E27FC236}">
                <a16:creationId xmlns:a16="http://schemas.microsoft.com/office/drawing/2014/main" id="{75145904-5EB8-5BA3-86C3-618F6ACF6604}"/>
              </a:ext>
            </a:extLst>
          </p:cNvPr>
          <p:cNvSpPr>
            <a:spLocks noGrp="1"/>
          </p:cNvSpPr>
          <p:nvPr>
            <p:ph idx="1"/>
          </p:nvPr>
        </p:nvSpPr>
        <p:spPr/>
        <p:txBody>
          <a:bodyPr/>
          <a:lstStyle/>
          <a:p>
            <a:r>
              <a:rPr lang="en-US" dirty="0"/>
              <a:t>LLM alternates between:</a:t>
            </a:r>
          </a:p>
          <a:p>
            <a:pPr lvl="1"/>
            <a:r>
              <a:rPr lang="en-US" dirty="0"/>
              <a:t>Reasoning using natural language</a:t>
            </a:r>
          </a:p>
          <a:p>
            <a:pPr lvl="1"/>
            <a:r>
              <a:rPr lang="en-US" dirty="0"/>
              <a:t>Taking actions using tools (code)</a:t>
            </a:r>
          </a:p>
          <a:p>
            <a:r>
              <a:rPr lang="en-US" dirty="0"/>
              <a:t>Agentic “harness”:</a:t>
            </a:r>
          </a:p>
          <a:p>
            <a:pPr lvl="1"/>
            <a:r>
              <a:rPr lang="en-US" dirty="0"/>
              <a:t>Executes tool call</a:t>
            </a:r>
          </a:p>
          <a:p>
            <a:pPr lvl="1"/>
            <a:r>
              <a:rPr lang="en-US" dirty="0"/>
              <a:t>Invokes LLM again with result</a:t>
            </a:r>
          </a:p>
        </p:txBody>
      </p:sp>
    </p:spTree>
    <p:extLst>
      <p:ext uri="{BB962C8B-B14F-4D97-AF65-F5344CB8AC3E}">
        <p14:creationId xmlns:p14="http://schemas.microsoft.com/office/powerpoint/2010/main" val="42845296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5DC36-3C58-4A1A-BEE2-2CD46B5409AF}"/>
              </a:ext>
            </a:extLst>
          </p:cNvPr>
          <p:cNvSpPr>
            <a:spLocks noGrp="1"/>
          </p:cNvSpPr>
          <p:nvPr>
            <p:ph type="title"/>
          </p:nvPr>
        </p:nvSpPr>
        <p:spPr/>
        <p:txBody>
          <a:bodyPr/>
          <a:lstStyle/>
          <a:p>
            <a:r>
              <a:rPr lang="en-US" dirty="0" err="1"/>
              <a:t>ReAct</a:t>
            </a:r>
            <a:r>
              <a:rPr lang="en-US" dirty="0"/>
              <a:t> loop</a:t>
            </a:r>
          </a:p>
        </p:txBody>
      </p:sp>
      <p:sp>
        <p:nvSpPr>
          <p:cNvPr id="3" name="Content Placeholder 2">
            <a:extLst>
              <a:ext uri="{FF2B5EF4-FFF2-40B4-BE49-F238E27FC236}">
                <a16:creationId xmlns:a16="http://schemas.microsoft.com/office/drawing/2014/main" id="{64A22680-113C-1396-FEED-D314CD2C6984}"/>
              </a:ext>
            </a:extLst>
          </p:cNvPr>
          <p:cNvSpPr>
            <a:spLocks noGrp="1"/>
          </p:cNvSpPr>
          <p:nvPr>
            <p:ph idx="1"/>
          </p:nvPr>
        </p:nvSpPr>
        <p:spPr>
          <a:xfrm>
            <a:off x="838200" y="1690688"/>
            <a:ext cx="6639838" cy="4351338"/>
          </a:xfrm>
        </p:spPr>
        <p:txBody>
          <a:bodyPr>
            <a:normAutofit/>
          </a:bodyPr>
          <a:lstStyle/>
          <a:p>
            <a:pPr marL="0" indent="0">
              <a:buNone/>
            </a:pPr>
            <a:r>
              <a:rPr lang="en-US" sz="2400" dirty="0"/>
              <a:t>prefix ←  prompt</a:t>
            </a:r>
          </a:p>
          <a:p>
            <a:pPr marL="0" indent="0">
              <a:buNone/>
            </a:pPr>
            <a:r>
              <a:rPr lang="en-US" sz="2400" dirty="0"/>
              <a:t>loop:</a:t>
            </a:r>
          </a:p>
          <a:p>
            <a:pPr marL="0" indent="0">
              <a:buNone/>
            </a:pPr>
            <a:r>
              <a:rPr lang="en-US" sz="2400" dirty="0"/>
              <a:t>    response, tool-call ← </a:t>
            </a:r>
            <a:r>
              <a:rPr lang="en-US" sz="2400" dirty="0" err="1"/>
              <a:t>llm</a:t>
            </a:r>
            <a:r>
              <a:rPr lang="en-US" sz="2400" dirty="0"/>
              <a:t>(prefix)</a:t>
            </a:r>
          </a:p>
          <a:p>
            <a:pPr marL="0" indent="0">
              <a:buNone/>
            </a:pPr>
            <a:r>
              <a:rPr lang="en-US" sz="2400" dirty="0"/>
              <a:t>    tool-result  ← eval(tool-call)</a:t>
            </a:r>
            <a:br>
              <a:rPr lang="en-US" sz="2400" dirty="0"/>
            </a:br>
            <a:r>
              <a:rPr lang="en-US" sz="2400" dirty="0"/>
              <a:t>    completion ← prefix + response+ tool-result</a:t>
            </a:r>
          </a:p>
          <a:p>
            <a:pPr marL="0" indent="0">
              <a:buNone/>
            </a:pPr>
            <a:r>
              <a:rPr lang="en-US" sz="2400" dirty="0"/>
              <a:t>    if </a:t>
            </a:r>
            <a:r>
              <a:rPr lang="en-US" sz="2400" dirty="0" err="1"/>
              <a:t>response.is</a:t>
            </a:r>
            <a:r>
              <a:rPr lang="en-US" sz="2400" dirty="0"/>
              <a:t>-final:</a:t>
            </a:r>
          </a:p>
          <a:p>
            <a:pPr marL="0" indent="0">
              <a:buNone/>
            </a:pPr>
            <a:r>
              <a:rPr lang="en-US" sz="2400" dirty="0"/>
              <a:t>        return completion</a:t>
            </a:r>
          </a:p>
          <a:p>
            <a:pPr marL="0" indent="0">
              <a:buNone/>
            </a:pPr>
            <a:r>
              <a:rPr lang="en-US" sz="2400" dirty="0"/>
              <a:t>    prefix ← completion</a:t>
            </a:r>
          </a:p>
        </p:txBody>
      </p:sp>
      <p:sp>
        <p:nvSpPr>
          <p:cNvPr id="4" name="TextBox 3">
            <a:extLst>
              <a:ext uri="{FF2B5EF4-FFF2-40B4-BE49-F238E27FC236}">
                <a16:creationId xmlns:a16="http://schemas.microsoft.com/office/drawing/2014/main" id="{4F3AA296-C767-BC8E-FF6D-0390192733E7}"/>
              </a:ext>
            </a:extLst>
          </p:cNvPr>
          <p:cNvSpPr txBox="1"/>
          <p:nvPr/>
        </p:nvSpPr>
        <p:spPr>
          <a:xfrm>
            <a:off x="9068844" y="6308209"/>
            <a:ext cx="2142894" cy="369332"/>
          </a:xfrm>
          <a:prstGeom prst="rect">
            <a:avLst/>
          </a:prstGeom>
          <a:noFill/>
        </p:spPr>
        <p:txBody>
          <a:bodyPr wrap="none" rtlCol="0">
            <a:spAutoFit/>
          </a:bodyPr>
          <a:lstStyle/>
          <a:p>
            <a:r>
              <a:rPr lang="en-US" dirty="0"/>
              <a:t>Yao et al. 2023 ICLR</a:t>
            </a:r>
          </a:p>
        </p:txBody>
      </p:sp>
      <p:pic>
        <p:nvPicPr>
          <p:cNvPr id="5" name="Picture 2" descr="Implementing ReAct Agentic Pattern From Scratch">
            <a:extLst>
              <a:ext uri="{FF2B5EF4-FFF2-40B4-BE49-F238E27FC236}">
                <a16:creationId xmlns:a16="http://schemas.microsoft.com/office/drawing/2014/main" id="{58320706-C3C5-9016-CFB3-4960F6EA94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3461" y="3958846"/>
            <a:ext cx="5655197" cy="1822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3625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plementing ReAct Agentic Pattern From Scratch">
            <a:extLst>
              <a:ext uri="{FF2B5EF4-FFF2-40B4-BE49-F238E27FC236}">
                <a16:creationId xmlns:a16="http://schemas.microsoft.com/office/drawing/2014/main" id="{0E6C5746-3BCD-FC15-9197-AE50CDF40A6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86382" y="952600"/>
            <a:ext cx="5655197" cy="182252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8FF2B2EA-8743-EC3F-E017-0B98699211D2}"/>
              </a:ext>
            </a:extLst>
          </p:cNvPr>
          <p:cNvSpPr/>
          <p:nvPr/>
        </p:nvSpPr>
        <p:spPr>
          <a:xfrm>
            <a:off x="1817224" y="3314998"/>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7" name="Rectangle 6">
            <a:extLst>
              <a:ext uri="{FF2B5EF4-FFF2-40B4-BE49-F238E27FC236}">
                <a16:creationId xmlns:a16="http://schemas.microsoft.com/office/drawing/2014/main" id="{304D26FB-14D4-523A-0449-373173FB3766}"/>
              </a:ext>
            </a:extLst>
          </p:cNvPr>
          <p:cNvSpPr/>
          <p:nvPr/>
        </p:nvSpPr>
        <p:spPr>
          <a:xfrm>
            <a:off x="1817225" y="5275730"/>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8" name="Rectangle 7">
            <a:extLst>
              <a:ext uri="{FF2B5EF4-FFF2-40B4-BE49-F238E27FC236}">
                <a16:creationId xmlns:a16="http://schemas.microsoft.com/office/drawing/2014/main" id="{61EFAD1D-ECBA-E7B2-3A3E-F3392E649901}"/>
              </a:ext>
            </a:extLst>
          </p:cNvPr>
          <p:cNvSpPr/>
          <p:nvPr/>
        </p:nvSpPr>
        <p:spPr>
          <a:xfrm>
            <a:off x="2847372" y="5275730"/>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9" name="Rectangle 8">
            <a:extLst>
              <a:ext uri="{FF2B5EF4-FFF2-40B4-BE49-F238E27FC236}">
                <a16:creationId xmlns:a16="http://schemas.microsoft.com/office/drawing/2014/main" id="{5CCD7409-2354-65D5-703B-C5FABA0F64CA}"/>
              </a:ext>
            </a:extLst>
          </p:cNvPr>
          <p:cNvSpPr/>
          <p:nvPr/>
        </p:nvSpPr>
        <p:spPr>
          <a:xfrm>
            <a:off x="4231341" y="5275729"/>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10" name="Rectangle 9">
            <a:extLst>
              <a:ext uri="{FF2B5EF4-FFF2-40B4-BE49-F238E27FC236}">
                <a16:creationId xmlns:a16="http://schemas.microsoft.com/office/drawing/2014/main" id="{093250EC-4A37-A97C-8801-41F2AC70B8C6}"/>
              </a:ext>
            </a:extLst>
          </p:cNvPr>
          <p:cNvSpPr/>
          <p:nvPr/>
        </p:nvSpPr>
        <p:spPr>
          <a:xfrm>
            <a:off x="5615310" y="5275730"/>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1" name="Rectangle 10">
            <a:extLst>
              <a:ext uri="{FF2B5EF4-FFF2-40B4-BE49-F238E27FC236}">
                <a16:creationId xmlns:a16="http://schemas.microsoft.com/office/drawing/2014/main" id="{A7CE154F-4759-AFA6-32D0-78B5686BBD64}"/>
              </a:ext>
            </a:extLst>
          </p:cNvPr>
          <p:cNvSpPr/>
          <p:nvPr/>
        </p:nvSpPr>
        <p:spPr>
          <a:xfrm>
            <a:off x="6999279" y="5275729"/>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12" name="Rectangle 11">
            <a:extLst>
              <a:ext uri="{FF2B5EF4-FFF2-40B4-BE49-F238E27FC236}">
                <a16:creationId xmlns:a16="http://schemas.microsoft.com/office/drawing/2014/main" id="{E511E3D2-AD69-4366-A33E-77A4770B297F}"/>
              </a:ext>
            </a:extLst>
          </p:cNvPr>
          <p:cNvSpPr/>
          <p:nvPr/>
        </p:nvSpPr>
        <p:spPr>
          <a:xfrm>
            <a:off x="8383248" y="52757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4" name="Rectangle 13">
            <a:extLst>
              <a:ext uri="{FF2B5EF4-FFF2-40B4-BE49-F238E27FC236}">
                <a16:creationId xmlns:a16="http://schemas.microsoft.com/office/drawing/2014/main" id="{819FBA50-8BFF-4592-FA51-68A4DD16077B}"/>
              </a:ext>
            </a:extLst>
          </p:cNvPr>
          <p:cNvSpPr/>
          <p:nvPr/>
        </p:nvSpPr>
        <p:spPr>
          <a:xfrm>
            <a:off x="1817225" y="4863378"/>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15" name="Rectangle 14">
            <a:extLst>
              <a:ext uri="{FF2B5EF4-FFF2-40B4-BE49-F238E27FC236}">
                <a16:creationId xmlns:a16="http://schemas.microsoft.com/office/drawing/2014/main" id="{F228B26A-0502-0288-993A-8CEDF0F36190}"/>
              </a:ext>
            </a:extLst>
          </p:cNvPr>
          <p:cNvSpPr/>
          <p:nvPr/>
        </p:nvSpPr>
        <p:spPr>
          <a:xfrm>
            <a:off x="2847372" y="486337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6" name="Rectangle 15">
            <a:extLst>
              <a:ext uri="{FF2B5EF4-FFF2-40B4-BE49-F238E27FC236}">
                <a16:creationId xmlns:a16="http://schemas.microsoft.com/office/drawing/2014/main" id="{675068AF-A7F8-A152-5FC9-F0CFA46D4AB1}"/>
              </a:ext>
            </a:extLst>
          </p:cNvPr>
          <p:cNvSpPr/>
          <p:nvPr/>
        </p:nvSpPr>
        <p:spPr>
          <a:xfrm>
            <a:off x="4231341" y="4863377"/>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17" name="Rectangle 16">
            <a:extLst>
              <a:ext uri="{FF2B5EF4-FFF2-40B4-BE49-F238E27FC236}">
                <a16:creationId xmlns:a16="http://schemas.microsoft.com/office/drawing/2014/main" id="{F748ED0D-4CBC-442B-E66A-D04B01611E50}"/>
              </a:ext>
            </a:extLst>
          </p:cNvPr>
          <p:cNvSpPr/>
          <p:nvPr/>
        </p:nvSpPr>
        <p:spPr>
          <a:xfrm>
            <a:off x="5615310" y="486337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8" name="Rectangle 17">
            <a:extLst>
              <a:ext uri="{FF2B5EF4-FFF2-40B4-BE49-F238E27FC236}">
                <a16:creationId xmlns:a16="http://schemas.microsoft.com/office/drawing/2014/main" id="{2D7F6562-D5F1-40CD-EE14-9EB13C44D57C}"/>
              </a:ext>
            </a:extLst>
          </p:cNvPr>
          <p:cNvSpPr/>
          <p:nvPr/>
        </p:nvSpPr>
        <p:spPr>
          <a:xfrm>
            <a:off x="6999279" y="4863377"/>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21" name="Rectangle 20">
            <a:extLst>
              <a:ext uri="{FF2B5EF4-FFF2-40B4-BE49-F238E27FC236}">
                <a16:creationId xmlns:a16="http://schemas.microsoft.com/office/drawing/2014/main" id="{CFFF3F7C-14F0-F3BE-6589-75FF5A9A414E}"/>
              </a:ext>
            </a:extLst>
          </p:cNvPr>
          <p:cNvSpPr/>
          <p:nvPr/>
        </p:nvSpPr>
        <p:spPr>
          <a:xfrm>
            <a:off x="1817225" y="4428611"/>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22" name="Rectangle 21">
            <a:extLst>
              <a:ext uri="{FF2B5EF4-FFF2-40B4-BE49-F238E27FC236}">
                <a16:creationId xmlns:a16="http://schemas.microsoft.com/office/drawing/2014/main" id="{1D7EDF62-1BF3-699C-6EE9-5086C1604B8B}"/>
              </a:ext>
            </a:extLst>
          </p:cNvPr>
          <p:cNvSpPr/>
          <p:nvPr/>
        </p:nvSpPr>
        <p:spPr>
          <a:xfrm>
            <a:off x="2847372" y="4428611"/>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23" name="Rectangle 22">
            <a:extLst>
              <a:ext uri="{FF2B5EF4-FFF2-40B4-BE49-F238E27FC236}">
                <a16:creationId xmlns:a16="http://schemas.microsoft.com/office/drawing/2014/main" id="{E670D562-B4A4-0ABE-D8B4-6532E561ADE0}"/>
              </a:ext>
            </a:extLst>
          </p:cNvPr>
          <p:cNvSpPr/>
          <p:nvPr/>
        </p:nvSpPr>
        <p:spPr>
          <a:xfrm>
            <a:off x="4231341" y="4428610"/>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24" name="Rectangle 23">
            <a:extLst>
              <a:ext uri="{FF2B5EF4-FFF2-40B4-BE49-F238E27FC236}">
                <a16:creationId xmlns:a16="http://schemas.microsoft.com/office/drawing/2014/main" id="{140D3CBA-AB5E-AC53-2FCB-1FBFB567583D}"/>
              </a:ext>
            </a:extLst>
          </p:cNvPr>
          <p:cNvSpPr/>
          <p:nvPr/>
        </p:nvSpPr>
        <p:spPr>
          <a:xfrm>
            <a:off x="5615310" y="4428611"/>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28" name="Rectangle 27">
            <a:extLst>
              <a:ext uri="{FF2B5EF4-FFF2-40B4-BE49-F238E27FC236}">
                <a16:creationId xmlns:a16="http://schemas.microsoft.com/office/drawing/2014/main" id="{0A31EDF1-0A30-AD46-6F10-C1072E9F96C4}"/>
              </a:ext>
            </a:extLst>
          </p:cNvPr>
          <p:cNvSpPr/>
          <p:nvPr/>
        </p:nvSpPr>
        <p:spPr>
          <a:xfrm>
            <a:off x="1817225" y="4038692"/>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29" name="Rectangle 28">
            <a:extLst>
              <a:ext uri="{FF2B5EF4-FFF2-40B4-BE49-F238E27FC236}">
                <a16:creationId xmlns:a16="http://schemas.microsoft.com/office/drawing/2014/main" id="{E96A2019-40DE-D02E-D8C0-BCB85C28A0D4}"/>
              </a:ext>
            </a:extLst>
          </p:cNvPr>
          <p:cNvSpPr/>
          <p:nvPr/>
        </p:nvSpPr>
        <p:spPr>
          <a:xfrm>
            <a:off x="2847372" y="4038692"/>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30" name="Rectangle 29">
            <a:extLst>
              <a:ext uri="{FF2B5EF4-FFF2-40B4-BE49-F238E27FC236}">
                <a16:creationId xmlns:a16="http://schemas.microsoft.com/office/drawing/2014/main" id="{77805500-D018-DDCF-AAA6-9E7EC4AF0179}"/>
              </a:ext>
            </a:extLst>
          </p:cNvPr>
          <p:cNvSpPr/>
          <p:nvPr/>
        </p:nvSpPr>
        <p:spPr>
          <a:xfrm>
            <a:off x="4231341" y="4038691"/>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35" name="Rectangle 34">
            <a:extLst>
              <a:ext uri="{FF2B5EF4-FFF2-40B4-BE49-F238E27FC236}">
                <a16:creationId xmlns:a16="http://schemas.microsoft.com/office/drawing/2014/main" id="{321B081F-E2E5-F1F5-C8B6-5AC83F655CA4}"/>
              </a:ext>
            </a:extLst>
          </p:cNvPr>
          <p:cNvSpPr/>
          <p:nvPr/>
        </p:nvSpPr>
        <p:spPr>
          <a:xfrm>
            <a:off x="1817225" y="3695063"/>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36" name="Rectangle 35">
            <a:extLst>
              <a:ext uri="{FF2B5EF4-FFF2-40B4-BE49-F238E27FC236}">
                <a16:creationId xmlns:a16="http://schemas.microsoft.com/office/drawing/2014/main" id="{B2EE0699-BBEF-8BF1-4557-F23B87E02E54}"/>
              </a:ext>
            </a:extLst>
          </p:cNvPr>
          <p:cNvSpPr/>
          <p:nvPr/>
        </p:nvSpPr>
        <p:spPr>
          <a:xfrm>
            <a:off x="2847372" y="3695063"/>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3" name="TextBox 2">
            <a:extLst>
              <a:ext uri="{FF2B5EF4-FFF2-40B4-BE49-F238E27FC236}">
                <a16:creationId xmlns:a16="http://schemas.microsoft.com/office/drawing/2014/main" id="{9692D612-4C20-66F1-7113-6AA8588C267F}"/>
              </a:ext>
            </a:extLst>
          </p:cNvPr>
          <p:cNvSpPr txBox="1"/>
          <p:nvPr/>
        </p:nvSpPr>
        <p:spPr>
          <a:xfrm>
            <a:off x="1916482" y="5837129"/>
            <a:ext cx="381836"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11183487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52284-074A-7E5F-34A4-24BABD5FD81A}"/>
              </a:ext>
            </a:extLst>
          </p:cNvPr>
          <p:cNvSpPr>
            <a:spLocks noGrp="1"/>
          </p:cNvSpPr>
          <p:nvPr>
            <p:ph type="title"/>
          </p:nvPr>
        </p:nvSpPr>
        <p:spPr/>
        <p:txBody>
          <a:bodyPr/>
          <a:lstStyle/>
          <a:p>
            <a:r>
              <a:rPr lang="en-US" dirty="0"/>
              <a:t>“Progressive disclosure”</a:t>
            </a:r>
          </a:p>
        </p:txBody>
      </p:sp>
      <p:sp>
        <p:nvSpPr>
          <p:cNvPr id="3" name="Content Placeholder 2">
            <a:extLst>
              <a:ext uri="{FF2B5EF4-FFF2-40B4-BE49-F238E27FC236}">
                <a16:creationId xmlns:a16="http://schemas.microsoft.com/office/drawing/2014/main" id="{42DDEFE2-FEEA-36A1-3522-18D10BCA8DD5}"/>
              </a:ext>
            </a:extLst>
          </p:cNvPr>
          <p:cNvSpPr>
            <a:spLocks noGrp="1"/>
          </p:cNvSpPr>
          <p:nvPr>
            <p:ph idx="1"/>
          </p:nvPr>
        </p:nvSpPr>
        <p:spPr/>
        <p:txBody>
          <a:bodyPr/>
          <a:lstStyle/>
          <a:p>
            <a:pPr marL="0" indent="0">
              <a:buNone/>
            </a:pPr>
            <a:r>
              <a:rPr lang="en-US" dirty="0"/>
              <a:t>Principle: let agent choose its own context</a:t>
            </a:r>
          </a:p>
          <a:p>
            <a:pPr marL="0" indent="0">
              <a:buNone/>
            </a:pPr>
            <a:endParaRPr lang="en-US" dirty="0"/>
          </a:p>
          <a:p>
            <a:pPr marL="0" indent="0">
              <a:buNone/>
            </a:pPr>
            <a:r>
              <a:rPr lang="en-US" dirty="0"/>
              <a:t>Old approach: harness decides context relevant to prompt</a:t>
            </a:r>
          </a:p>
          <a:p>
            <a:endParaRPr lang="en-US" dirty="0"/>
          </a:p>
          <a:p>
            <a:endParaRPr lang="en-US" dirty="0"/>
          </a:p>
          <a:p>
            <a:pPr marL="0" indent="0">
              <a:buNone/>
            </a:pPr>
            <a:r>
              <a:rPr lang="en-US" dirty="0"/>
              <a:t>Progressive disclosure: agent finds relevant context itself</a:t>
            </a:r>
          </a:p>
          <a:p>
            <a:pPr marL="0" indent="0">
              <a:buNone/>
            </a:pPr>
            <a:endParaRPr lang="en-US" dirty="0"/>
          </a:p>
        </p:txBody>
      </p:sp>
      <p:sp>
        <p:nvSpPr>
          <p:cNvPr id="4" name="Rectangle 3">
            <a:extLst>
              <a:ext uri="{FF2B5EF4-FFF2-40B4-BE49-F238E27FC236}">
                <a16:creationId xmlns:a16="http://schemas.microsoft.com/office/drawing/2014/main" id="{451B066B-677E-AE88-8A2C-15BC3FF25FD1}"/>
              </a:ext>
            </a:extLst>
          </p:cNvPr>
          <p:cNvSpPr/>
          <p:nvPr/>
        </p:nvSpPr>
        <p:spPr>
          <a:xfrm>
            <a:off x="1090715" y="3609769"/>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5" name="Rectangle 4">
            <a:extLst>
              <a:ext uri="{FF2B5EF4-FFF2-40B4-BE49-F238E27FC236}">
                <a16:creationId xmlns:a16="http://schemas.microsoft.com/office/drawing/2014/main" id="{24EDE330-8867-3C2A-13FA-1191A677B577}"/>
              </a:ext>
            </a:extLst>
          </p:cNvPr>
          <p:cNvSpPr/>
          <p:nvPr/>
        </p:nvSpPr>
        <p:spPr>
          <a:xfrm>
            <a:off x="2120862" y="3609770"/>
            <a:ext cx="2767938" cy="27489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Harness-chosen context</a:t>
            </a:r>
          </a:p>
        </p:txBody>
      </p:sp>
      <p:sp>
        <p:nvSpPr>
          <p:cNvPr id="7" name="Rectangle 6">
            <a:extLst>
              <a:ext uri="{FF2B5EF4-FFF2-40B4-BE49-F238E27FC236}">
                <a16:creationId xmlns:a16="http://schemas.microsoft.com/office/drawing/2014/main" id="{FFFAF6A2-D93D-B2A5-89E5-44A93C60DD70}"/>
              </a:ext>
            </a:extLst>
          </p:cNvPr>
          <p:cNvSpPr/>
          <p:nvPr/>
        </p:nvSpPr>
        <p:spPr>
          <a:xfrm>
            <a:off x="4888800" y="360976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8" name="Rectangle 7">
            <a:extLst>
              <a:ext uri="{FF2B5EF4-FFF2-40B4-BE49-F238E27FC236}">
                <a16:creationId xmlns:a16="http://schemas.microsoft.com/office/drawing/2014/main" id="{947E9BD0-2F65-1983-E74B-08177B93453A}"/>
              </a:ext>
            </a:extLst>
          </p:cNvPr>
          <p:cNvSpPr/>
          <p:nvPr/>
        </p:nvSpPr>
        <p:spPr>
          <a:xfrm>
            <a:off x="6272769" y="360976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9" name="Rectangle 8">
            <a:extLst>
              <a:ext uri="{FF2B5EF4-FFF2-40B4-BE49-F238E27FC236}">
                <a16:creationId xmlns:a16="http://schemas.microsoft.com/office/drawing/2014/main" id="{A5BD444E-9FD8-54E8-DA23-127577803F4D}"/>
              </a:ext>
            </a:extLst>
          </p:cNvPr>
          <p:cNvSpPr/>
          <p:nvPr/>
        </p:nvSpPr>
        <p:spPr>
          <a:xfrm>
            <a:off x="7656738" y="360976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0" name="Rectangle 9">
            <a:extLst>
              <a:ext uri="{FF2B5EF4-FFF2-40B4-BE49-F238E27FC236}">
                <a16:creationId xmlns:a16="http://schemas.microsoft.com/office/drawing/2014/main" id="{34B47820-793C-7C98-3EF3-CBD8222206C4}"/>
              </a:ext>
            </a:extLst>
          </p:cNvPr>
          <p:cNvSpPr/>
          <p:nvPr/>
        </p:nvSpPr>
        <p:spPr>
          <a:xfrm>
            <a:off x="1090715" y="5288256"/>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11" name="Rectangle 10">
            <a:extLst>
              <a:ext uri="{FF2B5EF4-FFF2-40B4-BE49-F238E27FC236}">
                <a16:creationId xmlns:a16="http://schemas.microsoft.com/office/drawing/2014/main" id="{3EE5E2FB-E414-D58A-4ED6-C74218A35F22}"/>
              </a:ext>
            </a:extLst>
          </p:cNvPr>
          <p:cNvSpPr/>
          <p:nvPr/>
        </p:nvSpPr>
        <p:spPr>
          <a:xfrm>
            <a:off x="2120862" y="5288256"/>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2" name="Rectangle 11">
            <a:extLst>
              <a:ext uri="{FF2B5EF4-FFF2-40B4-BE49-F238E27FC236}">
                <a16:creationId xmlns:a16="http://schemas.microsoft.com/office/drawing/2014/main" id="{498F33DF-7E3A-3317-2450-862FE868B887}"/>
              </a:ext>
            </a:extLst>
          </p:cNvPr>
          <p:cNvSpPr/>
          <p:nvPr/>
        </p:nvSpPr>
        <p:spPr>
          <a:xfrm>
            <a:off x="3504831" y="5288255"/>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 some-</a:t>
            </a:r>
            <a:r>
              <a:rPr lang="en-US" dirty="0" err="1"/>
              <a:t>dir</a:t>
            </a:r>
            <a:endParaRPr lang="en-US" dirty="0"/>
          </a:p>
        </p:txBody>
      </p:sp>
      <p:sp>
        <p:nvSpPr>
          <p:cNvPr id="13" name="Rectangle 12">
            <a:extLst>
              <a:ext uri="{FF2B5EF4-FFF2-40B4-BE49-F238E27FC236}">
                <a16:creationId xmlns:a16="http://schemas.microsoft.com/office/drawing/2014/main" id="{080C75AB-D923-A4AD-1A40-AB885F8943E0}"/>
              </a:ext>
            </a:extLst>
          </p:cNvPr>
          <p:cNvSpPr/>
          <p:nvPr/>
        </p:nvSpPr>
        <p:spPr>
          <a:xfrm>
            <a:off x="4888800" y="5288256"/>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4" name="Rectangle 13">
            <a:extLst>
              <a:ext uri="{FF2B5EF4-FFF2-40B4-BE49-F238E27FC236}">
                <a16:creationId xmlns:a16="http://schemas.microsoft.com/office/drawing/2014/main" id="{A02AF0C0-DD7F-BC24-8837-8C72CF1E924C}"/>
              </a:ext>
            </a:extLst>
          </p:cNvPr>
          <p:cNvSpPr/>
          <p:nvPr/>
        </p:nvSpPr>
        <p:spPr>
          <a:xfrm>
            <a:off x="6272768" y="5288255"/>
            <a:ext cx="1731363"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grep some-file</a:t>
            </a:r>
          </a:p>
        </p:txBody>
      </p:sp>
      <p:sp>
        <p:nvSpPr>
          <p:cNvPr id="15" name="Rectangle 14">
            <a:extLst>
              <a:ext uri="{FF2B5EF4-FFF2-40B4-BE49-F238E27FC236}">
                <a16:creationId xmlns:a16="http://schemas.microsoft.com/office/drawing/2014/main" id="{2D5854D4-24C0-CF7E-4AD5-6FAE9A682C22}"/>
              </a:ext>
            </a:extLst>
          </p:cNvPr>
          <p:cNvSpPr/>
          <p:nvPr/>
        </p:nvSpPr>
        <p:spPr>
          <a:xfrm>
            <a:off x="7995186" y="5288254"/>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6" name="TextBox 15">
            <a:extLst>
              <a:ext uri="{FF2B5EF4-FFF2-40B4-BE49-F238E27FC236}">
                <a16:creationId xmlns:a16="http://schemas.microsoft.com/office/drawing/2014/main" id="{0FD330FA-BFDB-A7DE-2333-DF15BCC8CF1D}"/>
              </a:ext>
            </a:extLst>
          </p:cNvPr>
          <p:cNvSpPr txBox="1"/>
          <p:nvPr/>
        </p:nvSpPr>
        <p:spPr>
          <a:xfrm>
            <a:off x="9388099" y="5288254"/>
            <a:ext cx="739036" cy="369332"/>
          </a:xfrm>
          <a:prstGeom prst="rect">
            <a:avLst/>
          </a:prstGeom>
          <a:noFill/>
        </p:spPr>
        <p:txBody>
          <a:bodyPr wrap="square" rtlCol="0">
            <a:spAutoFit/>
          </a:bodyPr>
          <a:lstStyle/>
          <a:p>
            <a:r>
              <a:rPr lang="en-US" dirty="0"/>
              <a:t>…</a:t>
            </a:r>
          </a:p>
        </p:txBody>
      </p:sp>
      <p:sp>
        <p:nvSpPr>
          <p:cNvPr id="17" name="TextBox 16">
            <a:extLst>
              <a:ext uri="{FF2B5EF4-FFF2-40B4-BE49-F238E27FC236}">
                <a16:creationId xmlns:a16="http://schemas.microsoft.com/office/drawing/2014/main" id="{2CBC507C-9534-ABE3-FD43-07D20D60D2E9}"/>
              </a:ext>
            </a:extLst>
          </p:cNvPr>
          <p:cNvSpPr txBox="1"/>
          <p:nvPr/>
        </p:nvSpPr>
        <p:spPr>
          <a:xfrm>
            <a:off x="9107330" y="3631962"/>
            <a:ext cx="739036" cy="369332"/>
          </a:xfrm>
          <a:prstGeom prst="rect">
            <a:avLst/>
          </a:prstGeom>
          <a:noFill/>
        </p:spPr>
        <p:txBody>
          <a:bodyPr wrap="square" rtlCol="0">
            <a:spAutoFit/>
          </a:bodyPr>
          <a:lstStyle/>
          <a:p>
            <a:r>
              <a:rPr lang="en-US" dirty="0"/>
              <a:t>…</a:t>
            </a:r>
          </a:p>
        </p:txBody>
      </p:sp>
    </p:spTree>
    <p:extLst>
      <p:ext uri="{BB962C8B-B14F-4D97-AF65-F5344CB8AC3E}">
        <p14:creationId xmlns:p14="http://schemas.microsoft.com/office/powerpoint/2010/main" val="3474190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68E28-F566-5E2A-5315-AB97ED448CE7}"/>
              </a:ext>
            </a:extLst>
          </p:cNvPr>
          <p:cNvSpPr>
            <a:spLocks noGrp="1"/>
          </p:cNvSpPr>
          <p:nvPr>
            <p:ph type="title"/>
          </p:nvPr>
        </p:nvSpPr>
        <p:spPr/>
        <p:txBody>
          <a:bodyPr/>
          <a:lstStyle/>
          <a:p>
            <a:r>
              <a:rPr lang="en-US" dirty="0"/>
              <a:t>Limitations</a:t>
            </a:r>
          </a:p>
        </p:txBody>
      </p:sp>
      <p:sp>
        <p:nvSpPr>
          <p:cNvPr id="3" name="Content Placeholder 2">
            <a:extLst>
              <a:ext uri="{FF2B5EF4-FFF2-40B4-BE49-F238E27FC236}">
                <a16:creationId xmlns:a16="http://schemas.microsoft.com/office/drawing/2014/main" id="{C9D5BD52-3681-7A46-85E3-840E825D99AC}"/>
              </a:ext>
            </a:extLst>
          </p:cNvPr>
          <p:cNvSpPr>
            <a:spLocks noGrp="1"/>
          </p:cNvSpPr>
          <p:nvPr>
            <p:ph idx="1"/>
          </p:nvPr>
        </p:nvSpPr>
        <p:spPr>
          <a:xfrm>
            <a:off x="838200" y="1825624"/>
            <a:ext cx="10515600" cy="4782993"/>
          </a:xfrm>
        </p:spPr>
        <p:txBody>
          <a:bodyPr>
            <a:normAutofit/>
          </a:bodyPr>
          <a:lstStyle/>
          <a:p>
            <a:r>
              <a:rPr lang="en-US" dirty="0"/>
              <a:t>Agent controls what context comes in, but not what goes out</a:t>
            </a:r>
          </a:p>
          <a:p>
            <a:pPr marL="0" indent="0">
              <a:buNone/>
            </a:pPr>
            <a:endParaRPr lang="en-US" dirty="0"/>
          </a:p>
          <a:p>
            <a:pPr marL="0" indent="0">
              <a:buNone/>
            </a:pPr>
            <a:endParaRPr lang="en-US" dirty="0"/>
          </a:p>
          <a:p>
            <a:endParaRPr lang="en-US" dirty="0"/>
          </a:p>
          <a:p>
            <a:r>
              <a:rPr lang="en-US" dirty="0"/>
              <a:t>Agent copy text “by hand”: file contents, URLs, subagent prompts</a:t>
            </a:r>
          </a:p>
          <a:p>
            <a:endParaRPr lang="en-US" dirty="0"/>
          </a:p>
          <a:p>
            <a:pPr marL="0" indent="0">
              <a:buNone/>
            </a:pPr>
            <a:endParaRPr lang="en-US" dirty="0"/>
          </a:p>
          <a:p>
            <a:r>
              <a:rPr lang="en-US" dirty="0"/>
              <a:t>Tool calls are non-reusable, non-composable</a:t>
            </a:r>
          </a:p>
        </p:txBody>
      </p:sp>
      <p:sp>
        <p:nvSpPr>
          <p:cNvPr id="4" name="Rectangle 3">
            <a:extLst>
              <a:ext uri="{FF2B5EF4-FFF2-40B4-BE49-F238E27FC236}">
                <a16:creationId xmlns:a16="http://schemas.microsoft.com/office/drawing/2014/main" id="{484251C1-99B9-41C9-4545-13E70C75BC2C}"/>
              </a:ext>
            </a:extLst>
          </p:cNvPr>
          <p:cNvSpPr/>
          <p:nvPr/>
        </p:nvSpPr>
        <p:spPr>
          <a:xfrm>
            <a:off x="558126" y="2595159"/>
            <a:ext cx="1310220" cy="3108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5" name="Rectangle 4">
            <a:extLst>
              <a:ext uri="{FF2B5EF4-FFF2-40B4-BE49-F238E27FC236}">
                <a16:creationId xmlns:a16="http://schemas.microsoft.com/office/drawing/2014/main" id="{489FA840-DC2B-FAFC-B341-7087EBA8ADD5}"/>
              </a:ext>
            </a:extLst>
          </p:cNvPr>
          <p:cNvSpPr/>
          <p:nvPr/>
        </p:nvSpPr>
        <p:spPr>
          <a:xfrm>
            <a:off x="1868347" y="2595160"/>
            <a:ext cx="1760238" cy="31087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6" name="Rectangle 5">
            <a:extLst>
              <a:ext uri="{FF2B5EF4-FFF2-40B4-BE49-F238E27FC236}">
                <a16:creationId xmlns:a16="http://schemas.microsoft.com/office/drawing/2014/main" id="{78086853-174B-618B-DFA7-71DD03CFB882}"/>
              </a:ext>
            </a:extLst>
          </p:cNvPr>
          <p:cNvSpPr/>
          <p:nvPr/>
        </p:nvSpPr>
        <p:spPr>
          <a:xfrm>
            <a:off x="3628585" y="2595159"/>
            <a:ext cx="1760238" cy="310878"/>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 some-</a:t>
            </a:r>
            <a:r>
              <a:rPr lang="en-US" dirty="0" err="1"/>
              <a:t>dir</a:t>
            </a:r>
            <a:endParaRPr lang="en-US" dirty="0"/>
          </a:p>
        </p:txBody>
      </p:sp>
      <p:sp>
        <p:nvSpPr>
          <p:cNvPr id="7" name="Rectangle 6">
            <a:extLst>
              <a:ext uri="{FF2B5EF4-FFF2-40B4-BE49-F238E27FC236}">
                <a16:creationId xmlns:a16="http://schemas.microsoft.com/office/drawing/2014/main" id="{510836A4-5442-F839-4B72-65527307A04F}"/>
              </a:ext>
            </a:extLst>
          </p:cNvPr>
          <p:cNvSpPr/>
          <p:nvPr/>
        </p:nvSpPr>
        <p:spPr>
          <a:xfrm>
            <a:off x="5388822" y="2595160"/>
            <a:ext cx="6803177" cy="310877"/>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10,000 files in directory</a:t>
            </a:r>
          </a:p>
        </p:txBody>
      </p:sp>
      <p:sp>
        <p:nvSpPr>
          <p:cNvPr id="10" name="Rectangle 9">
            <a:extLst>
              <a:ext uri="{FF2B5EF4-FFF2-40B4-BE49-F238E27FC236}">
                <a16:creationId xmlns:a16="http://schemas.microsoft.com/office/drawing/2014/main" id="{D0C4E2CD-FF24-450D-7E1E-B05581931C74}"/>
              </a:ext>
            </a:extLst>
          </p:cNvPr>
          <p:cNvSpPr/>
          <p:nvPr/>
        </p:nvSpPr>
        <p:spPr>
          <a:xfrm>
            <a:off x="558126" y="4708528"/>
            <a:ext cx="1747405" cy="310877"/>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 some-file</a:t>
            </a:r>
          </a:p>
        </p:txBody>
      </p:sp>
      <p:sp>
        <p:nvSpPr>
          <p:cNvPr id="11" name="Rectangle 10">
            <a:extLst>
              <a:ext uri="{FF2B5EF4-FFF2-40B4-BE49-F238E27FC236}">
                <a16:creationId xmlns:a16="http://schemas.microsoft.com/office/drawing/2014/main" id="{753BFF92-6BC9-5978-B6F0-D7CE9C79881F}"/>
              </a:ext>
            </a:extLst>
          </p:cNvPr>
          <p:cNvSpPr/>
          <p:nvPr/>
        </p:nvSpPr>
        <p:spPr>
          <a:xfrm>
            <a:off x="2289489" y="4708529"/>
            <a:ext cx="1396792" cy="31087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2" name="Rectangle 11">
            <a:extLst>
              <a:ext uri="{FF2B5EF4-FFF2-40B4-BE49-F238E27FC236}">
                <a16:creationId xmlns:a16="http://schemas.microsoft.com/office/drawing/2014/main" id="{4EF7040D-83F4-CA03-55F4-399C8333B87E}"/>
              </a:ext>
            </a:extLst>
          </p:cNvPr>
          <p:cNvSpPr/>
          <p:nvPr/>
        </p:nvSpPr>
        <p:spPr>
          <a:xfrm>
            <a:off x="3673457" y="4708528"/>
            <a:ext cx="3905948" cy="310877"/>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text-replace exact-quote new-text</a:t>
            </a:r>
          </a:p>
        </p:txBody>
      </p:sp>
      <p:grpSp>
        <p:nvGrpSpPr>
          <p:cNvPr id="17" name="Group 16">
            <a:extLst>
              <a:ext uri="{FF2B5EF4-FFF2-40B4-BE49-F238E27FC236}">
                <a16:creationId xmlns:a16="http://schemas.microsoft.com/office/drawing/2014/main" id="{80B85066-016F-BC0C-CE0A-218C284CD75E}"/>
              </a:ext>
            </a:extLst>
          </p:cNvPr>
          <p:cNvGrpSpPr/>
          <p:nvPr/>
        </p:nvGrpSpPr>
        <p:grpSpPr>
          <a:xfrm>
            <a:off x="558126" y="3129628"/>
            <a:ext cx="1295355" cy="274900"/>
            <a:chOff x="558126" y="3129628"/>
            <a:chExt cx="6566023" cy="274900"/>
          </a:xfrm>
        </p:grpSpPr>
        <p:sp>
          <p:nvSpPr>
            <p:cNvPr id="8" name="Rectangle 7">
              <a:extLst>
                <a:ext uri="{FF2B5EF4-FFF2-40B4-BE49-F238E27FC236}">
                  <a16:creationId xmlns:a16="http://schemas.microsoft.com/office/drawing/2014/main" id="{19B4BD8A-C20A-A354-1AF5-1F14E82BDFE7}"/>
                </a:ext>
              </a:extLst>
            </p:cNvPr>
            <p:cNvSpPr/>
            <p:nvPr/>
          </p:nvSpPr>
          <p:spPr>
            <a:xfrm>
              <a:off x="558126" y="3129629"/>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9" name="Rectangle 8">
              <a:extLst>
                <a:ext uri="{FF2B5EF4-FFF2-40B4-BE49-F238E27FC236}">
                  <a16:creationId xmlns:a16="http://schemas.microsoft.com/office/drawing/2014/main" id="{F2572C4B-4D16-2041-0E30-F0E4330DF0EB}"/>
                </a:ext>
              </a:extLst>
            </p:cNvPr>
            <p:cNvSpPr/>
            <p:nvPr/>
          </p:nvSpPr>
          <p:spPr>
            <a:xfrm>
              <a:off x="1588273"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13" name="Rectangle 12">
              <a:extLst>
                <a:ext uri="{FF2B5EF4-FFF2-40B4-BE49-F238E27FC236}">
                  <a16:creationId xmlns:a16="http://schemas.microsoft.com/office/drawing/2014/main" id="{472536B0-5D90-5B09-F519-72E1B5CE0755}"/>
                </a:ext>
              </a:extLst>
            </p:cNvPr>
            <p:cNvSpPr/>
            <p:nvPr/>
          </p:nvSpPr>
          <p:spPr>
            <a:xfrm>
              <a:off x="2972242"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14" name="Rectangle 13">
              <a:extLst>
                <a:ext uri="{FF2B5EF4-FFF2-40B4-BE49-F238E27FC236}">
                  <a16:creationId xmlns:a16="http://schemas.microsoft.com/office/drawing/2014/main" id="{745CFB2E-1BF3-4DF0-30E8-F018B29ACD51}"/>
                </a:ext>
              </a:extLst>
            </p:cNvPr>
            <p:cNvSpPr/>
            <p:nvPr/>
          </p:nvSpPr>
          <p:spPr>
            <a:xfrm>
              <a:off x="4356211"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15" name="Rectangle 14">
              <a:extLst>
                <a:ext uri="{FF2B5EF4-FFF2-40B4-BE49-F238E27FC236}">
                  <a16:creationId xmlns:a16="http://schemas.microsoft.com/office/drawing/2014/main" id="{EA9D2D4A-3BCB-A856-9700-0236E74B0C8A}"/>
                </a:ext>
              </a:extLst>
            </p:cNvPr>
            <p:cNvSpPr/>
            <p:nvPr/>
          </p:nvSpPr>
          <p:spPr>
            <a:xfrm>
              <a:off x="5740180"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grpSp>
      <p:grpSp>
        <p:nvGrpSpPr>
          <p:cNvPr id="18" name="Group 17">
            <a:extLst>
              <a:ext uri="{FF2B5EF4-FFF2-40B4-BE49-F238E27FC236}">
                <a16:creationId xmlns:a16="http://schemas.microsoft.com/office/drawing/2014/main" id="{F2E6CB1C-79CE-9D3F-A700-BD490C1DF3E3}"/>
              </a:ext>
            </a:extLst>
          </p:cNvPr>
          <p:cNvGrpSpPr/>
          <p:nvPr/>
        </p:nvGrpSpPr>
        <p:grpSpPr>
          <a:xfrm>
            <a:off x="1857713" y="3129628"/>
            <a:ext cx="1365157" cy="274900"/>
            <a:chOff x="1588273" y="3129628"/>
            <a:chExt cx="6919845" cy="274900"/>
          </a:xfrm>
        </p:grpSpPr>
        <p:sp>
          <p:nvSpPr>
            <p:cNvPr id="20" name="Rectangle 19">
              <a:extLst>
                <a:ext uri="{FF2B5EF4-FFF2-40B4-BE49-F238E27FC236}">
                  <a16:creationId xmlns:a16="http://schemas.microsoft.com/office/drawing/2014/main" id="{D21478CF-7E23-44F2-5555-F116F9360F37}"/>
                </a:ext>
              </a:extLst>
            </p:cNvPr>
            <p:cNvSpPr/>
            <p:nvPr/>
          </p:nvSpPr>
          <p:spPr>
            <a:xfrm>
              <a:off x="1588273"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21" name="Rectangle 20">
              <a:extLst>
                <a:ext uri="{FF2B5EF4-FFF2-40B4-BE49-F238E27FC236}">
                  <a16:creationId xmlns:a16="http://schemas.microsoft.com/office/drawing/2014/main" id="{A7DDB34B-33DA-4390-D4A3-FF8FA24DC5C4}"/>
                </a:ext>
              </a:extLst>
            </p:cNvPr>
            <p:cNvSpPr/>
            <p:nvPr/>
          </p:nvSpPr>
          <p:spPr>
            <a:xfrm>
              <a:off x="2972242"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22" name="Rectangle 21">
              <a:extLst>
                <a:ext uri="{FF2B5EF4-FFF2-40B4-BE49-F238E27FC236}">
                  <a16:creationId xmlns:a16="http://schemas.microsoft.com/office/drawing/2014/main" id="{8A759E21-2870-7395-7FB9-ACC25B85128E}"/>
                </a:ext>
              </a:extLst>
            </p:cNvPr>
            <p:cNvSpPr/>
            <p:nvPr/>
          </p:nvSpPr>
          <p:spPr>
            <a:xfrm>
              <a:off x="4356211"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23" name="Rectangle 22">
              <a:extLst>
                <a:ext uri="{FF2B5EF4-FFF2-40B4-BE49-F238E27FC236}">
                  <a16:creationId xmlns:a16="http://schemas.microsoft.com/office/drawing/2014/main" id="{77F0E034-2F42-7008-FBAF-4410035CE949}"/>
                </a:ext>
              </a:extLst>
            </p:cNvPr>
            <p:cNvSpPr/>
            <p:nvPr/>
          </p:nvSpPr>
          <p:spPr>
            <a:xfrm>
              <a:off x="5740180"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24" name="Rectangle 23">
              <a:extLst>
                <a:ext uri="{FF2B5EF4-FFF2-40B4-BE49-F238E27FC236}">
                  <a16:creationId xmlns:a16="http://schemas.microsoft.com/office/drawing/2014/main" id="{56256772-728C-993F-3848-42E6839ED27F}"/>
                </a:ext>
              </a:extLst>
            </p:cNvPr>
            <p:cNvSpPr/>
            <p:nvPr/>
          </p:nvSpPr>
          <p:spPr>
            <a:xfrm>
              <a:off x="7124149" y="312962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grpSp>
      <p:grpSp>
        <p:nvGrpSpPr>
          <p:cNvPr id="25" name="Group 24">
            <a:extLst>
              <a:ext uri="{FF2B5EF4-FFF2-40B4-BE49-F238E27FC236}">
                <a16:creationId xmlns:a16="http://schemas.microsoft.com/office/drawing/2014/main" id="{DA54A231-5592-4B4B-D606-3590970F86C3}"/>
              </a:ext>
            </a:extLst>
          </p:cNvPr>
          <p:cNvGrpSpPr/>
          <p:nvPr/>
        </p:nvGrpSpPr>
        <p:grpSpPr>
          <a:xfrm>
            <a:off x="3219279" y="3129627"/>
            <a:ext cx="1092126" cy="274900"/>
            <a:chOff x="2972242" y="3129628"/>
            <a:chExt cx="5535876" cy="274900"/>
          </a:xfrm>
        </p:grpSpPr>
        <p:sp>
          <p:nvSpPr>
            <p:cNvPr id="27" name="Rectangle 26">
              <a:extLst>
                <a:ext uri="{FF2B5EF4-FFF2-40B4-BE49-F238E27FC236}">
                  <a16:creationId xmlns:a16="http://schemas.microsoft.com/office/drawing/2014/main" id="{6751BF13-95D5-FF70-694D-7C511168D2AE}"/>
                </a:ext>
              </a:extLst>
            </p:cNvPr>
            <p:cNvSpPr/>
            <p:nvPr/>
          </p:nvSpPr>
          <p:spPr>
            <a:xfrm>
              <a:off x="2972242"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28" name="Rectangle 27">
              <a:extLst>
                <a:ext uri="{FF2B5EF4-FFF2-40B4-BE49-F238E27FC236}">
                  <a16:creationId xmlns:a16="http://schemas.microsoft.com/office/drawing/2014/main" id="{6C0512A0-CC30-6748-36CB-0D382B28A0F1}"/>
                </a:ext>
              </a:extLst>
            </p:cNvPr>
            <p:cNvSpPr/>
            <p:nvPr/>
          </p:nvSpPr>
          <p:spPr>
            <a:xfrm>
              <a:off x="4356211"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29" name="Rectangle 28">
              <a:extLst>
                <a:ext uri="{FF2B5EF4-FFF2-40B4-BE49-F238E27FC236}">
                  <a16:creationId xmlns:a16="http://schemas.microsoft.com/office/drawing/2014/main" id="{DC5ACA6D-36D3-B09D-71C3-36C3926F01F5}"/>
                </a:ext>
              </a:extLst>
            </p:cNvPr>
            <p:cNvSpPr/>
            <p:nvPr/>
          </p:nvSpPr>
          <p:spPr>
            <a:xfrm>
              <a:off x="5740180"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30" name="Rectangle 29">
              <a:extLst>
                <a:ext uri="{FF2B5EF4-FFF2-40B4-BE49-F238E27FC236}">
                  <a16:creationId xmlns:a16="http://schemas.microsoft.com/office/drawing/2014/main" id="{DC2E56CD-C8C7-4DF8-1E08-9761DBD61213}"/>
                </a:ext>
              </a:extLst>
            </p:cNvPr>
            <p:cNvSpPr/>
            <p:nvPr/>
          </p:nvSpPr>
          <p:spPr>
            <a:xfrm>
              <a:off x="7124149" y="312962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grpSp>
      <p:grpSp>
        <p:nvGrpSpPr>
          <p:cNvPr id="43" name="Group 42">
            <a:extLst>
              <a:ext uri="{FF2B5EF4-FFF2-40B4-BE49-F238E27FC236}">
                <a16:creationId xmlns:a16="http://schemas.microsoft.com/office/drawing/2014/main" id="{8D8B4223-EC0B-2E75-5F8E-F5BCE31091D4}"/>
              </a:ext>
            </a:extLst>
          </p:cNvPr>
          <p:cNvGrpSpPr/>
          <p:nvPr/>
        </p:nvGrpSpPr>
        <p:grpSpPr>
          <a:xfrm>
            <a:off x="4310223" y="3129626"/>
            <a:ext cx="1092126" cy="274900"/>
            <a:chOff x="2972242" y="3129628"/>
            <a:chExt cx="5535876" cy="274900"/>
          </a:xfrm>
        </p:grpSpPr>
        <p:sp>
          <p:nvSpPr>
            <p:cNvPr id="44" name="Rectangle 43">
              <a:extLst>
                <a:ext uri="{FF2B5EF4-FFF2-40B4-BE49-F238E27FC236}">
                  <a16:creationId xmlns:a16="http://schemas.microsoft.com/office/drawing/2014/main" id="{3F1E0C05-7AAF-06B3-8BDE-40DC8CC5BE3D}"/>
                </a:ext>
              </a:extLst>
            </p:cNvPr>
            <p:cNvSpPr/>
            <p:nvPr/>
          </p:nvSpPr>
          <p:spPr>
            <a:xfrm>
              <a:off x="2972242"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45" name="Rectangle 44">
              <a:extLst>
                <a:ext uri="{FF2B5EF4-FFF2-40B4-BE49-F238E27FC236}">
                  <a16:creationId xmlns:a16="http://schemas.microsoft.com/office/drawing/2014/main" id="{A30065C1-72D3-D89E-E687-89EE6C961DB9}"/>
                </a:ext>
              </a:extLst>
            </p:cNvPr>
            <p:cNvSpPr/>
            <p:nvPr/>
          </p:nvSpPr>
          <p:spPr>
            <a:xfrm>
              <a:off x="4356211"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46" name="Rectangle 45">
              <a:extLst>
                <a:ext uri="{FF2B5EF4-FFF2-40B4-BE49-F238E27FC236}">
                  <a16:creationId xmlns:a16="http://schemas.microsoft.com/office/drawing/2014/main" id="{A1EA67F7-30D0-D9AC-4A13-C9323F02E221}"/>
                </a:ext>
              </a:extLst>
            </p:cNvPr>
            <p:cNvSpPr/>
            <p:nvPr/>
          </p:nvSpPr>
          <p:spPr>
            <a:xfrm>
              <a:off x="5740180"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47" name="Rectangle 46">
              <a:extLst>
                <a:ext uri="{FF2B5EF4-FFF2-40B4-BE49-F238E27FC236}">
                  <a16:creationId xmlns:a16="http://schemas.microsoft.com/office/drawing/2014/main" id="{46F19776-DE7B-738A-87C9-D56344A649C3}"/>
                </a:ext>
              </a:extLst>
            </p:cNvPr>
            <p:cNvSpPr/>
            <p:nvPr/>
          </p:nvSpPr>
          <p:spPr>
            <a:xfrm>
              <a:off x="7124149" y="312962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grpSp>
      <p:grpSp>
        <p:nvGrpSpPr>
          <p:cNvPr id="48" name="Group 47">
            <a:extLst>
              <a:ext uri="{FF2B5EF4-FFF2-40B4-BE49-F238E27FC236}">
                <a16:creationId xmlns:a16="http://schemas.microsoft.com/office/drawing/2014/main" id="{B8524DA1-309D-5704-DF76-4831520350CF}"/>
              </a:ext>
            </a:extLst>
          </p:cNvPr>
          <p:cNvGrpSpPr/>
          <p:nvPr/>
        </p:nvGrpSpPr>
        <p:grpSpPr>
          <a:xfrm>
            <a:off x="5406580" y="3129625"/>
            <a:ext cx="1092126" cy="274900"/>
            <a:chOff x="2972242" y="3129628"/>
            <a:chExt cx="5535876" cy="274900"/>
          </a:xfrm>
        </p:grpSpPr>
        <p:sp>
          <p:nvSpPr>
            <p:cNvPr id="50" name="Rectangle 49">
              <a:extLst>
                <a:ext uri="{FF2B5EF4-FFF2-40B4-BE49-F238E27FC236}">
                  <a16:creationId xmlns:a16="http://schemas.microsoft.com/office/drawing/2014/main" id="{208B6E3C-C05A-8E4F-2299-1A3756BA3538}"/>
                </a:ext>
              </a:extLst>
            </p:cNvPr>
            <p:cNvSpPr/>
            <p:nvPr/>
          </p:nvSpPr>
          <p:spPr>
            <a:xfrm>
              <a:off x="2972242"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51" name="Rectangle 50">
              <a:extLst>
                <a:ext uri="{FF2B5EF4-FFF2-40B4-BE49-F238E27FC236}">
                  <a16:creationId xmlns:a16="http://schemas.microsoft.com/office/drawing/2014/main" id="{0B02C2E9-0DAC-9F32-A68E-4E3BA2F441B2}"/>
                </a:ext>
              </a:extLst>
            </p:cNvPr>
            <p:cNvSpPr/>
            <p:nvPr/>
          </p:nvSpPr>
          <p:spPr>
            <a:xfrm>
              <a:off x="4356211"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52" name="Rectangle 51">
              <a:extLst>
                <a:ext uri="{FF2B5EF4-FFF2-40B4-BE49-F238E27FC236}">
                  <a16:creationId xmlns:a16="http://schemas.microsoft.com/office/drawing/2014/main" id="{A2A7ABA4-E610-B639-1A21-772A08A23406}"/>
                </a:ext>
              </a:extLst>
            </p:cNvPr>
            <p:cNvSpPr/>
            <p:nvPr/>
          </p:nvSpPr>
          <p:spPr>
            <a:xfrm>
              <a:off x="5740180"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53" name="Rectangle 52">
              <a:extLst>
                <a:ext uri="{FF2B5EF4-FFF2-40B4-BE49-F238E27FC236}">
                  <a16:creationId xmlns:a16="http://schemas.microsoft.com/office/drawing/2014/main" id="{64DC24DC-3754-5573-1B2E-5D0ED5FB05DC}"/>
                </a:ext>
              </a:extLst>
            </p:cNvPr>
            <p:cNvSpPr/>
            <p:nvPr/>
          </p:nvSpPr>
          <p:spPr>
            <a:xfrm>
              <a:off x="7124149" y="312962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grpSp>
      <p:grpSp>
        <p:nvGrpSpPr>
          <p:cNvPr id="54" name="Group 53">
            <a:extLst>
              <a:ext uri="{FF2B5EF4-FFF2-40B4-BE49-F238E27FC236}">
                <a16:creationId xmlns:a16="http://schemas.microsoft.com/office/drawing/2014/main" id="{74CC2C5D-B8A4-9A28-0159-3BDE5F46D317}"/>
              </a:ext>
            </a:extLst>
          </p:cNvPr>
          <p:cNvGrpSpPr/>
          <p:nvPr/>
        </p:nvGrpSpPr>
        <p:grpSpPr>
          <a:xfrm>
            <a:off x="6495114" y="3129624"/>
            <a:ext cx="1092126" cy="274900"/>
            <a:chOff x="2972242" y="3129628"/>
            <a:chExt cx="5535876" cy="274900"/>
          </a:xfrm>
        </p:grpSpPr>
        <p:sp>
          <p:nvSpPr>
            <p:cNvPr id="55" name="Rectangle 54">
              <a:extLst>
                <a:ext uri="{FF2B5EF4-FFF2-40B4-BE49-F238E27FC236}">
                  <a16:creationId xmlns:a16="http://schemas.microsoft.com/office/drawing/2014/main" id="{00D082BE-EF58-1048-DCE5-D69567EA2FFC}"/>
                </a:ext>
              </a:extLst>
            </p:cNvPr>
            <p:cNvSpPr/>
            <p:nvPr/>
          </p:nvSpPr>
          <p:spPr>
            <a:xfrm>
              <a:off x="2972242"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56" name="Rectangle 55">
              <a:extLst>
                <a:ext uri="{FF2B5EF4-FFF2-40B4-BE49-F238E27FC236}">
                  <a16:creationId xmlns:a16="http://schemas.microsoft.com/office/drawing/2014/main" id="{31EF012F-8E3E-DDC2-454C-9284C5CED6DE}"/>
                </a:ext>
              </a:extLst>
            </p:cNvPr>
            <p:cNvSpPr/>
            <p:nvPr/>
          </p:nvSpPr>
          <p:spPr>
            <a:xfrm>
              <a:off x="4356211"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57" name="Rectangle 56">
              <a:extLst>
                <a:ext uri="{FF2B5EF4-FFF2-40B4-BE49-F238E27FC236}">
                  <a16:creationId xmlns:a16="http://schemas.microsoft.com/office/drawing/2014/main" id="{75A8A2BE-6D57-AD12-8A16-5AFFD2AD5F72}"/>
                </a:ext>
              </a:extLst>
            </p:cNvPr>
            <p:cNvSpPr/>
            <p:nvPr/>
          </p:nvSpPr>
          <p:spPr>
            <a:xfrm>
              <a:off x="5740180"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58" name="Rectangle 57">
              <a:extLst>
                <a:ext uri="{FF2B5EF4-FFF2-40B4-BE49-F238E27FC236}">
                  <a16:creationId xmlns:a16="http://schemas.microsoft.com/office/drawing/2014/main" id="{6913B940-0A8D-2AEB-CD69-E667A3AFA602}"/>
                </a:ext>
              </a:extLst>
            </p:cNvPr>
            <p:cNvSpPr/>
            <p:nvPr/>
          </p:nvSpPr>
          <p:spPr>
            <a:xfrm>
              <a:off x="7124149" y="312962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grpSp>
      <p:grpSp>
        <p:nvGrpSpPr>
          <p:cNvPr id="59" name="Group 58">
            <a:extLst>
              <a:ext uri="{FF2B5EF4-FFF2-40B4-BE49-F238E27FC236}">
                <a16:creationId xmlns:a16="http://schemas.microsoft.com/office/drawing/2014/main" id="{E12EC63F-B4D9-AED6-FC01-BC8B3611563D}"/>
              </a:ext>
            </a:extLst>
          </p:cNvPr>
          <p:cNvGrpSpPr/>
          <p:nvPr/>
        </p:nvGrpSpPr>
        <p:grpSpPr>
          <a:xfrm>
            <a:off x="7586058" y="3129623"/>
            <a:ext cx="1092126" cy="274900"/>
            <a:chOff x="2972242" y="3129628"/>
            <a:chExt cx="5535876" cy="274900"/>
          </a:xfrm>
        </p:grpSpPr>
        <p:sp>
          <p:nvSpPr>
            <p:cNvPr id="60" name="Rectangle 59">
              <a:extLst>
                <a:ext uri="{FF2B5EF4-FFF2-40B4-BE49-F238E27FC236}">
                  <a16:creationId xmlns:a16="http://schemas.microsoft.com/office/drawing/2014/main" id="{7D8DAEDB-073A-4759-FEDE-4B67362602F0}"/>
                </a:ext>
              </a:extLst>
            </p:cNvPr>
            <p:cNvSpPr/>
            <p:nvPr/>
          </p:nvSpPr>
          <p:spPr>
            <a:xfrm>
              <a:off x="2972242"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61" name="Rectangle 60">
              <a:extLst>
                <a:ext uri="{FF2B5EF4-FFF2-40B4-BE49-F238E27FC236}">
                  <a16:creationId xmlns:a16="http://schemas.microsoft.com/office/drawing/2014/main" id="{CF991E8D-1421-0E02-CBA8-5BEBA6EB67F0}"/>
                </a:ext>
              </a:extLst>
            </p:cNvPr>
            <p:cNvSpPr/>
            <p:nvPr/>
          </p:nvSpPr>
          <p:spPr>
            <a:xfrm>
              <a:off x="4356211"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62" name="Rectangle 61">
              <a:extLst>
                <a:ext uri="{FF2B5EF4-FFF2-40B4-BE49-F238E27FC236}">
                  <a16:creationId xmlns:a16="http://schemas.microsoft.com/office/drawing/2014/main" id="{AD481EB0-6056-E492-6F66-5010393B8336}"/>
                </a:ext>
              </a:extLst>
            </p:cNvPr>
            <p:cNvSpPr/>
            <p:nvPr/>
          </p:nvSpPr>
          <p:spPr>
            <a:xfrm>
              <a:off x="5740180"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63" name="Rectangle 62">
              <a:extLst>
                <a:ext uri="{FF2B5EF4-FFF2-40B4-BE49-F238E27FC236}">
                  <a16:creationId xmlns:a16="http://schemas.microsoft.com/office/drawing/2014/main" id="{1626853A-F7F1-76C0-5BFE-60F8CE540E30}"/>
                </a:ext>
              </a:extLst>
            </p:cNvPr>
            <p:cNvSpPr/>
            <p:nvPr/>
          </p:nvSpPr>
          <p:spPr>
            <a:xfrm>
              <a:off x="7124149" y="312962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grpSp>
      <p:grpSp>
        <p:nvGrpSpPr>
          <p:cNvPr id="64" name="Group 63">
            <a:extLst>
              <a:ext uri="{FF2B5EF4-FFF2-40B4-BE49-F238E27FC236}">
                <a16:creationId xmlns:a16="http://schemas.microsoft.com/office/drawing/2014/main" id="{BD7AFF4D-7DF0-4462-8E5E-0601D1E2AFC7}"/>
              </a:ext>
            </a:extLst>
          </p:cNvPr>
          <p:cNvGrpSpPr/>
          <p:nvPr/>
        </p:nvGrpSpPr>
        <p:grpSpPr>
          <a:xfrm>
            <a:off x="8686648" y="3129623"/>
            <a:ext cx="1092126" cy="274900"/>
            <a:chOff x="2972242" y="3129628"/>
            <a:chExt cx="5535876" cy="274900"/>
          </a:xfrm>
        </p:grpSpPr>
        <p:sp>
          <p:nvSpPr>
            <p:cNvPr id="65" name="Rectangle 64">
              <a:extLst>
                <a:ext uri="{FF2B5EF4-FFF2-40B4-BE49-F238E27FC236}">
                  <a16:creationId xmlns:a16="http://schemas.microsoft.com/office/drawing/2014/main" id="{20E9FAEF-9F17-2B83-7844-AA3046F07D82}"/>
                </a:ext>
              </a:extLst>
            </p:cNvPr>
            <p:cNvSpPr/>
            <p:nvPr/>
          </p:nvSpPr>
          <p:spPr>
            <a:xfrm>
              <a:off x="2972242"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66" name="Rectangle 65">
              <a:extLst>
                <a:ext uri="{FF2B5EF4-FFF2-40B4-BE49-F238E27FC236}">
                  <a16:creationId xmlns:a16="http://schemas.microsoft.com/office/drawing/2014/main" id="{3DF2543B-273E-61B4-A7DE-7587AC1DCE15}"/>
                </a:ext>
              </a:extLst>
            </p:cNvPr>
            <p:cNvSpPr/>
            <p:nvPr/>
          </p:nvSpPr>
          <p:spPr>
            <a:xfrm>
              <a:off x="4356211"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67" name="Rectangle 66">
              <a:extLst>
                <a:ext uri="{FF2B5EF4-FFF2-40B4-BE49-F238E27FC236}">
                  <a16:creationId xmlns:a16="http://schemas.microsoft.com/office/drawing/2014/main" id="{203E0797-9C51-D688-83BB-0F29E62E5BF6}"/>
                </a:ext>
              </a:extLst>
            </p:cNvPr>
            <p:cNvSpPr/>
            <p:nvPr/>
          </p:nvSpPr>
          <p:spPr>
            <a:xfrm>
              <a:off x="5740180"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68" name="Rectangle 67">
              <a:extLst>
                <a:ext uri="{FF2B5EF4-FFF2-40B4-BE49-F238E27FC236}">
                  <a16:creationId xmlns:a16="http://schemas.microsoft.com/office/drawing/2014/main" id="{33DDA29A-051C-BA8F-1358-EDF9C57C0D2E}"/>
                </a:ext>
              </a:extLst>
            </p:cNvPr>
            <p:cNvSpPr/>
            <p:nvPr/>
          </p:nvSpPr>
          <p:spPr>
            <a:xfrm>
              <a:off x="7124149" y="312962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grpSp>
      <p:grpSp>
        <p:nvGrpSpPr>
          <p:cNvPr id="69" name="Group 68">
            <a:extLst>
              <a:ext uri="{FF2B5EF4-FFF2-40B4-BE49-F238E27FC236}">
                <a16:creationId xmlns:a16="http://schemas.microsoft.com/office/drawing/2014/main" id="{5D2D9AC4-361A-C3BA-FD01-B8042EB1E1AA}"/>
              </a:ext>
            </a:extLst>
          </p:cNvPr>
          <p:cNvGrpSpPr/>
          <p:nvPr/>
        </p:nvGrpSpPr>
        <p:grpSpPr>
          <a:xfrm>
            <a:off x="9775182" y="3129622"/>
            <a:ext cx="1092126" cy="274900"/>
            <a:chOff x="2972242" y="3129628"/>
            <a:chExt cx="5535876" cy="274900"/>
          </a:xfrm>
        </p:grpSpPr>
        <p:sp>
          <p:nvSpPr>
            <p:cNvPr id="70" name="Rectangle 69">
              <a:extLst>
                <a:ext uri="{FF2B5EF4-FFF2-40B4-BE49-F238E27FC236}">
                  <a16:creationId xmlns:a16="http://schemas.microsoft.com/office/drawing/2014/main" id="{43695E42-E88F-B443-C611-54C4707A8F1D}"/>
                </a:ext>
              </a:extLst>
            </p:cNvPr>
            <p:cNvSpPr/>
            <p:nvPr/>
          </p:nvSpPr>
          <p:spPr>
            <a:xfrm>
              <a:off x="2972242"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71" name="Rectangle 70">
              <a:extLst>
                <a:ext uri="{FF2B5EF4-FFF2-40B4-BE49-F238E27FC236}">
                  <a16:creationId xmlns:a16="http://schemas.microsoft.com/office/drawing/2014/main" id="{C0A055D3-090A-79EB-196B-AAECAF97324D}"/>
                </a:ext>
              </a:extLst>
            </p:cNvPr>
            <p:cNvSpPr/>
            <p:nvPr/>
          </p:nvSpPr>
          <p:spPr>
            <a:xfrm>
              <a:off x="4356211"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72" name="Rectangle 71">
              <a:extLst>
                <a:ext uri="{FF2B5EF4-FFF2-40B4-BE49-F238E27FC236}">
                  <a16:creationId xmlns:a16="http://schemas.microsoft.com/office/drawing/2014/main" id="{8D6DC0D0-02D4-7E2B-DD44-D7EC0BFE4EAE}"/>
                </a:ext>
              </a:extLst>
            </p:cNvPr>
            <p:cNvSpPr/>
            <p:nvPr/>
          </p:nvSpPr>
          <p:spPr>
            <a:xfrm>
              <a:off x="5740180"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73" name="Rectangle 72">
              <a:extLst>
                <a:ext uri="{FF2B5EF4-FFF2-40B4-BE49-F238E27FC236}">
                  <a16:creationId xmlns:a16="http://schemas.microsoft.com/office/drawing/2014/main" id="{C6AAF079-A984-BA32-DF71-EA03846CAEF6}"/>
                </a:ext>
              </a:extLst>
            </p:cNvPr>
            <p:cNvSpPr/>
            <p:nvPr/>
          </p:nvSpPr>
          <p:spPr>
            <a:xfrm>
              <a:off x="7124149" y="312962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grpSp>
      <p:grpSp>
        <p:nvGrpSpPr>
          <p:cNvPr id="74" name="Group 73">
            <a:extLst>
              <a:ext uri="{FF2B5EF4-FFF2-40B4-BE49-F238E27FC236}">
                <a16:creationId xmlns:a16="http://schemas.microsoft.com/office/drawing/2014/main" id="{C0870E4E-AC59-6E3C-906F-40B323CBE2F3}"/>
              </a:ext>
            </a:extLst>
          </p:cNvPr>
          <p:cNvGrpSpPr/>
          <p:nvPr/>
        </p:nvGrpSpPr>
        <p:grpSpPr>
          <a:xfrm>
            <a:off x="10866126" y="3129621"/>
            <a:ext cx="1092126" cy="274900"/>
            <a:chOff x="2972242" y="3129628"/>
            <a:chExt cx="5535876" cy="274900"/>
          </a:xfrm>
        </p:grpSpPr>
        <p:sp>
          <p:nvSpPr>
            <p:cNvPr id="75" name="Rectangle 74">
              <a:extLst>
                <a:ext uri="{FF2B5EF4-FFF2-40B4-BE49-F238E27FC236}">
                  <a16:creationId xmlns:a16="http://schemas.microsoft.com/office/drawing/2014/main" id="{85B3FBA0-718E-0730-BC12-57DB1162F399}"/>
                </a:ext>
              </a:extLst>
            </p:cNvPr>
            <p:cNvSpPr/>
            <p:nvPr/>
          </p:nvSpPr>
          <p:spPr>
            <a:xfrm>
              <a:off x="2972242"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76" name="Rectangle 75">
              <a:extLst>
                <a:ext uri="{FF2B5EF4-FFF2-40B4-BE49-F238E27FC236}">
                  <a16:creationId xmlns:a16="http://schemas.microsoft.com/office/drawing/2014/main" id="{943D0EFD-6CD6-DC3D-7826-4FF84CC4A933}"/>
                </a:ext>
              </a:extLst>
            </p:cNvPr>
            <p:cNvSpPr/>
            <p:nvPr/>
          </p:nvSpPr>
          <p:spPr>
            <a:xfrm>
              <a:off x="4356211" y="3129629"/>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77" name="Rectangle 76">
              <a:extLst>
                <a:ext uri="{FF2B5EF4-FFF2-40B4-BE49-F238E27FC236}">
                  <a16:creationId xmlns:a16="http://schemas.microsoft.com/office/drawing/2014/main" id="{E129497D-4A3F-5D39-CACB-47B5AB685B91}"/>
                </a:ext>
              </a:extLst>
            </p:cNvPr>
            <p:cNvSpPr/>
            <p:nvPr/>
          </p:nvSpPr>
          <p:spPr>
            <a:xfrm>
              <a:off x="5740180" y="3129628"/>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sp>
          <p:nvSpPr>
            <p:cNvPr id="78" name="Rectangle 77">
              <a:extLst>
                <a:ext uri="{FF2B5EF4-FFF2-40B4-BE49-F238E27FC236}">
                  <a16:creationId xmlns:a16="http://schemas.microsoft.com/office/drawing/2014/main" id="{CC6F8BB6-D2A9-FF49-EA48-701B413C613C}"/>
                </a:ext>
              </a:extLst>
            </p:cNvPr>
            <p:cNvSpPr/>
            <p:nvPr/>
          </p:nvSpPr>
          <p:spPr>
            <a:xfrm>
              <a:off x="7124149" y="3129628"/>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00" dirty="0"/>
            </a:p>
          </p:txBody>
        </p:sp>
      </p:grpSp>
      <p:pic>
        <p:nvPicPr>
          <p:cNvPr id="79" name="Picture 78">
            <a:extLst>
              <a:ext uri="{FF2B5EF4-FFF2-40B4-BE49-F238E27FC236}">
                <a16:creationId xmlns:a16="http://schemas.microsoft.com/office/drawing/2014/main" id="{137896FD-6618-E73F-464B-3A83AEDCB326}"/>
              </a:ext>
            </a:extLst>
          </p:cNvPr>
          <p:cNvPicPr>
            <a:picLocks noChangeAspect="1"/>
          </p:cNvPicPr>
          <p:nvPr/>
        </p:nvPicPr>
        <p:blipFill>
          <a:blip r:embed="rId2"/>
          <a:srcRect b="81869"/>
          <a:stretch>
            <a:fillRect/>
          </a:stretch>
        </p:blipFill>
        <p:spPr>
          <a:xfrm>
            <a:off x="1908600" y="5904696"/>
            <a:ext cx="4653192" cy="703921"/>
          </a:xfrm>
          <a:prstGeom prst="rect">
            <a:avLst/>
          </a:prstGeom>
        </p:spPr>
      </p:pic>
    </p:spTree>
    <p:extLst>
      <p:ext uri="{BB962C8B-B14F-4D97-AF65-F5344CB8AC3E}">
        <p14:creationId xmlns:p14="http://schemas.microsoft.com/office/powerpoint/2010/main" val="8455083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99BBB-5230-B2EE-E1B1-BF2AD9CA0B40}"/>
              </a:ext>
            </a:extLst>
          </p:cNvPr>
          <p:cNvSpPr>
            <a:spLocks noGrp="1"/>
          </p:cNvSpPr>
          <p:nvPr>
            <p:ph type="title"/>
          </p:nvPr>
        </p:nvSpPr>
        <p:spPr/>
        <p:txBody>
          <a:bodyPr/>
          <a:lstStyle/>
          <a:p>
            <a:r>
              <a:rPr lang="en-US" dirty="0"/>
              <a:t>Orchestration: hot topic</a:t>
            </a:r>
          </a:p>
        </p:txBody>
      </p:sp>
      <p:sp>
        <p:nvSpPr>
          <p:cNvPr id="3" name="Content Placeholder 2">
            <a:extLst>
              <a:ext uri="{FF2B5EF4-FFF2-40B4-BE49-F238E27FC236}">
                <a16:creationId xmlns:a16="http://schemas.microsoft.com/office/drawing/2014/main" id="{D64C7FC2-BB98-D840-BAEC-6BD1B33C3702}"/>
              </a:ext>
            </a:extLst>
          </p:cNvPr>
          <p:cNvSpPr>
            <a:spLocks noGrp="1"/>
          </p:cNvSpPr>
          <p:nvPr>
            <p:ph idx="1"/>
          </p:nvPr>
        </p:nvSpPr>
        <p:spPr/>
        <p:txBody>
          <a:bodyPr/>
          <a:lstStyle/>
          <a:p>
            <a:r>
              <a:rPr lang="en-US" dirty="0"/>
              <a:t>Kimi 2.5: train LLM to dispatch swarms (PARL); still basically </a:t>
            </a:r>
            <a:r>
              <a:rPr lang="en-US" dirty="0" err="1"/>
              <a:t>ReAct</a:t>
            </a:r>
            <a:endParaRPr lang="en-US" dirty="0"/>
          </a:p>
          <a:p>
            <a:r>
              <a:rPr lang="en-US" dirty="0"/>
              <a:t>Cursor browser experiment: planner/worker/checker pattern</a:t>
            </a:r>
          </a:p>
          <a:p>
            <a:r>
              <a:rPr lang="en-US" dirty="0"/>
              <a:t>Claude Code: viral “ralph” pattern</a:t>
            </a:r>
          </a:p>
          <a:p>
            <a:r>
              <a:rPr lang="en-US" dirty="0"/>
              <a:t>Claude code: parallelize to-do lists while respecting dependencies</a:t>
            </a:r>
          </a:p>
          <a:p>
            <a:r>
              <a:rPr lang="en-US" dirty="0"/>
              <a:t>“Recursive language model”: subagents gather context; still </a:t>
            </a:r>
            <a:r>
              <a:rPr lang="en-US" dirty="0" err="1"/>
              <a:t>ReAct</a:t>
            </a:r>
            <a:endParaRPr lang="en-US" dirty="0"/>
          </a:p>
        </p:txBody>
      </p:sp>
    </p:spTree>
    <p:extLst>
      <p:ext uri="{BB962C8B-B14F-4D97-AF65-F5344CB8AC3E}">
        <p14:creationId xmlns:p14="http://schemas.microsoft.com/office/powerpoint/2010/main" val="1477745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0778E-31DB-0BC8-EB3C-33022A107AE5}"/>
              </a:ext>
            </a:extLst>
          </p:cNvPr>
          <p:cNvSpPr>
            <a:spLocks noGrp="1"/>
          </p:cNvSpPr>
          <p:nvPr>
            <p:ph type="title"/>
          </p:nvPr>
        </p:nvSpPr>
        <p:spPr/>
        <p:txBody>
          <a:bodyPr/>
          <a:lstStyle/>
          <a:p>
            <a:r>
              <a:rPr lang="en-US" dirty="0"/>
              <a:t>Early findings</a:t>
            </a:r>
          </a:p>
        </p:txBody>
      </p:sp>
      <p:sp>
        <p:nvSpPr>
          <p:cNvPr id="3" name="Content Placeholder 2">
            <a:extLst>
              <a:ext uri="{FF2B5EF4-FFF2-40B4-BE49-F238E27FC236}">
                <a16:creationId xmlns:a16="http://schemas.microsoft.com/office/drawing/2014/main" id="{91A022CE-9192-CA9B-E9A1-E69CFB679429}"/>
              </a:ext>
            </a:extLst>
          </p:cNvPr>
          <p:cNvSpPr>
            <a:spLocks noGrp="1"/>
          </p:cNvSpPr>
          <p:nvPr>
            <p:ph idx="1"/>
          </p:nvPr>
        </p:nvSpPr>
        <p:spPr/>
        <p:txBody>
          <a:bodyPr/>
          <a:lstStyle/>
          <a:p>
            <a:r>
              <a:rPr lang="en-US" dirty="0"/>
              <a:t>Nontrivial orchestration can make a big difference on long tasks (Cursor experiment, anecdotal from “Ralph”)</a:t>
            </a:r>
          </a:p>
          <a:p>
            <a:r>
              <a:rPr lang="en-US" dirty="0"/>
              <a:t>Divide-and-conquer mitigates context limitations (RLMs, “progressive disclosure” pattern)</a:t>
            </a:r>
          </a:p>
          <a:p>
            <a:r>
              <a:rPr lang="en-US" dirty="0"/>
              <a:t>Agents can be trained on orchestration using RL (Kimi)</a:t>
            </a:r>
          </a:p>
          <a:p>
            <a:endParaRPr lang="en-US" dirty="0"/>
          </a:p>
        </p:txBody>
      </p:sp>
    </p:spTree>
    <p:extLst>
      <p:ext uri="{BB962C8B-B14F-4D97-AF65-F5344CB8AC3E}">
        <p14:creationId xmlns:p14="http://schemas.microsoft.com/office/powerpoint/2010/main" val="11448447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D878C-788C-17D8-A726-3B1CF6F0E7B1}"/>
              </a:ext>
            </a:extLst>
          </p:cNvPr>
          <p:cNvSpPr>
            <a:spLocks noGrp="1"/>
          </p:cNvSpPr>
          <p:nvPr>
            <p:ph type="title"/>
          </p:nvPr>
        </p:nvSpPr>
        <p:spPr/>
        <p:txBody>
          <a:bodyPr/>
          <a:lstStyle/>
          <a:p>
            <a:r>
              <a:rPr lang="en-US" dirty="0"/>
              <a:t>What this motivates</a:t>
            </a:r>
          </a:p>
        </p:txBody>
      </p:sp>
      <p:sp>
        <p:nvSpPr>
          <p:cNvPr id="3" name="Content Placeholder 2">
            <a:extLst>
              <a:ext uri="{FF2B5EF4-FFF2-40B4-BE49-F238E27FC236}">
                <a16:creationId xmlns:a16="http://schemas.microsoft.com/office/drawing/2014/main" id="{1D91BA01-1D85-5A0B-C834-E334656A0C74}"/>
              </a:ext>
            </a:extLst>
          </p:cNvPr>
          <p:cNvSpPr>
            <a:spLocks noGrp="1"/>
          </p:cNvSpPr>
          <p:nvPr>
            <p:ph idx="1"/>
          </p:nvPr>
        </p:nvSpPr>
        <p:spPr>
          <a:xfrm>
            <a:off x="838200" y="1825625"/>
            <a:ext cx="5715000" cy="4351338"/>
          </a:xfrm>
        </p:spPr>
        <p:txBody>
          <a:bodyPr/>
          <a:lstStyle/>
          <a:p>
            <a:pPr marL="0" indent="0">
              <a:buNone/>
            </a:pPr>
            <a:r>
              <a:rPr lang="en-US" dirty="0"/>
              <a:t>A self-orchestrating agent should:</a:t>
            </a:r>
          </a:p>
          <a:p>
            <a:pPr marL="514350" indent="-514350">
              <a:buFont typeface="+mj-lt"/>
              <a:buAutoNum type="arabicPeriod"/>
            </a:pPr>
            <a:r>
              <a:rPr lang="en-US" dirty="0"/>
              <a:t>Have access to complex control flow – more complex than Kimi and RLMs</a:t>
            </a:r>
          </a:p>
          <a:p>
            <a:pPr marL="514350" indent="-514350">
              <a:buFont typeface="+mj-lt"/>
              <a:buAutoNum type="arabicPeriod"/>
            </a:pPr>
            <a:r>
              <a:rPr lang="en-US" dirty="0"/>
              <a:t>Tightly control context for itself and its subagents</a:t>
            </a:r>
          </a:p>
          <a:p>
            <a:pPr marL="514350" indent="-514350">
              <a:buFont typeface="+mj-lt"/>
              <a:buAutoNum type="arabicPeriod"/>
            </a:pPr>
            <a:r>
              <a:rPr lang="en-US" dirty="0"/>
              <a:t>Be trained at self-orchestration using RL</a:t>
            </a:r>
          </a:p>
        </p:txBody>
      </p:sp>
    </p:spTree>
    <p:extLst>
      <p:ext uri="{BB962C8B-B14F-4D97-AF65-F5344CB8AC3E}">
        <p14:creationId xmlns:p14="http://schemas.microsoft.com/office/powerpoint/2010/main" val="2874090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CD1309A-0086-75F4-0AC7-89E58671C2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6DD20C-7EEE-C84E-74AB-36EC6FBBA213}"/>
              </a:ext>
            </a:extLst>
          </p:cNvPr>
          <p:cNvSpPr>
            <a:spLocks noGrp="1"/>
          </p:cNvSpPr>
          <p:nvPr>
            <p:ph type="title"/>
          </p:nvPr>
        </p:nvSpPr>
        <p:spPr/>
        <p:txBody>
          <a:bodyPr/>
          <a:lstStyle/>
          <a:p>
            <a:r>
              <a:rPr lang="en-US" dirty="0"/>
              <a:t>What this motivates</a:t>
            </a:r>
          </a:p>
        </p:txBody>
      </p:sp>
      <p:sp>
        <p:nvSpPr>
          <p:cNvPr id="3" name="Content Placeholder 2">
            <a:extLst>
              <a:ext uri="{FF2B5EF4-FFF2-40B4-BE49-F238E27FC236}">
                <a16:creationId xmlns:a16="http://schemas.microsoft.com/office/drawing/2014/main" id="{369BA5A1-BB61-55EE-D354-44F07E97005D}"/>
              </a:ext>
            </a:extLst>
          </p:cNvPr>
          <p:cNvSpPr>
            <a:spLocks noGrp="1"/>
          </p:cNvSpPr>
          <p:nvPr>
            <p:ph idx="1"/>
          </p:nvPr>
        </p:nvSpPr>
        <p:spPr>
          <a:xfrm>
            <a:off x="838200" y="1825625"/>
            <a:ext cx="5715000" cy="4351338"/>
          </a:xfrm>
        </p:spPr>
        <p:txBody>
          <a:bodyPr/>
          <a:lstStyle/>
          <a:p>
            <a:pPr marL="0" indent="0">
              <a:buNone/>
            </a:pPr>
            <a:r>
              <a:rPr lang="en-US" dirty="0"/>
              <a:t>A self-orchestrating agent should:</a:t>
            </a:r>
          </a:p>
          <a:p>
            <a:pPr marL="514350" indent="-514350">
              <a:buFont typeface="+mj-lt"/>
              <a:buAutoNum type="arabicPeriod"/>
            </a:pPr>
            <a:r>
              <a:rPr lang="en-US" dirty="0"/>
              <a:t>Have access to complex control flow – more complex than Kimi and RLMs</a:t>
            </a:r>
          </a:p>
          <a:p>
            <a:pPr marL="514350" indent="-514350">
              <a:buFont typeface="+mj-lt"/>
              <a:buAutoNum type="arabicPeriod"/>
            </a:pPr>
            <a:r>
              <a:rPr lang="en-US" dirty="0"/>
              <a:t>Tightly control context for itself and its subagents</a:t>
            </a:r>
          </a:p>
          <a:p>
            <a:pPr marL="514350" indent="-514350">
              <a:buFont typeface="+mj-lt"/>
              <a:buAutoNum type="arabicPeriod"/>
            </a:pPr>
            <a:r>
              <a:rPr lang="en-US" dirty="0"/>
              <a:t>Be trained at self-orchestration using RL</a:t>
            </a:r>
          </a:p>
        </p:txBody>
      </p:sp>
      <p:cxnSp>
        <p:nvCxnSpPr>
          <p:cNvPr id="5" name="Straight Arrow Connector 4">
            <a:extLst>
              <a:ext uri="{FF2B5EF4-FFF2-40B4-BE49-F238E27FC236}">
                <a16:creationId xmlns:a16="http://schemas.microsoft.com/office/drawing/2014/main" id="{C3438121-FA7D-23E2-1C08-6CC244F9DCFC}"/>
              </a:ext>
            </a:extLst>
          </p:cNvPr>
          <p:cNvCxnSpPr/>
          <p:nvPr/>
        </p:nvCxnSpPr>
        <p:spPr>
          <a:xfrm>
            <a:off x="6553200" y="2779059"/>
            <a:ext cx="39444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C15A7D7E-2BBA-06FE-9E61-136E1FD6ECAE}"/>
              </a:ext>
            </a:extLst>
          </p:cNvPr>
          <p:cNvCxnSpPr/>
          <p:nvPr/>
        </p:nvCxnSpPr>
        <p:spPr>
          <a:xfrm>
            <a:off x="6553200" y="4195482"/>
            <a:ext cx="39444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A281B1D3-326B-1446-5290-A41754602253}"/>
              </a:ext>
            </a:extLst>
          </p:cNvPr>
          <p:cNvCxnSpPr/>
          <p:nvPr/>
        </p:nvCxnSpPr>
        <p:spPr>
          <a:xfrm>
            <a:off x="6553200" y="5011270"/>
            <a:ext cx="39444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CCDAE301-C625-5FCD-9F71-2AB51A05DD32}"/>
              </a:ext>
            </a:extLst>
          </p:cNvPr>
          <p:cNvSpPr txBox="1"/>
          <p:nvPr/>
        </p:nvSpPr>
        <p:spPr>
          <a:xfrm>
            <a:off x="7440706" y="4749660"/>
            <a:ext cx="2170787" cy="523220"/>
          </a:xfrm>
          <a:prstGeom prst="rect">
            <a:avLst/>
          </a:prstGeom>
          <a:noFill/>
        </p:spPr>
        <p:txBody>
          <a:bodyPr wrap="none" rtlCol="0">
            <a:spAutoFit/>
          </a:bodyPr>
          <a:lstStyle/>
          <a:p>
            <a:r>
              <a:rPr lang="en-US" sz="2800" dirty="0"/>
              <a:t>Out of scope</a:t>
            </a:r>
          </a:p>
        </p:txBody>
      </p:sp>
      <p:sp>
        <p:nvSpPr>
          <p:cNvPr id="9" name="TextBox 8">
            <a:extLst>
              <a:ext uri="{FF2B5EF4-FFF2-40B4-BE49-F238E27FC236}">
                <a16:creationId xmlns:a16="http://schemas.microsoft.com/office/drawing/2014/main" id="{3B057222-4DFA-6DB2-2190-549B60D64A9E}"/>
              </a:ext>
            </a:extLst>
          </p:cNvPr>
          <p:cNvSpPr txBox="1"/>
          <p:nvPr/>
        </p:nvSpPr>
        <p:spPr>
          <a:xfrm>
            <a:off x="7388245" y="3718432"/>
            <a:ext cx="4446496" cy="954099"/>
          </a:xfrm>
          <a:prstGeom prst="rect">
            <a:avLst/>
          </a:prstGeom>
          <a:noFill/>
        </p:spPr>
        <p:txBody>
          <a:bodyPr wrap="square" rtlCol="0">
            <a:spAutoFit/>
          </a:bodyPr>
          <a:lstStyle/>
          <a:p>
            <a:r>
              <a:rPr lang="en-US" sz="2800" dirty="0"/>
              <a:t>Manipulate context using this language</a:t>
            </a:r>
          </a:p>
        </p:txBody>
      </p:sp>
      <p:sp>
        <p:nvSpPr>
          <p:cNvPr id="10" name="TextBox 9">
            <a:extLst>
              <a:ext uri="{FF2B5EF4-FFF2-40B4-BE49-F238E27FC236}">
                <a16:creationId xmlns:a16="http://schemas.microsoft.com/office/drawing/2014/main" id="{A5DFEFFD-232F-AF55-4D72-FD784802A57D}"/>
              </a:ext>
            </a:extLst>
          </p:cNvPr>
          <p:cNvSpPr txBox="1"/>
          <p:nvPr/>
        </p:nvSpPr>
        <p:spPr>
          <a:xfrm>
            <a:off x="7307562" y="2302005"/>
            <a:ext cx="4446496" cy="954107"/>
          </a:xfrm>
          <a:prstGeom prst="rect">
            <a:avLst/>
          </a:prstGeom>
          <a:noFill/>
        </p:spPr>
        <p:txBody>
          <a:bodyPr wrap="square" rtlCol="0">
            <a:spAutoFit/>
          </a:bodyPr>
          <a:lstStyle/>
          <a:p>
            <a:r>
              <a:rPr lang="en-US" sz="2800" dirty="0"/>
              <a:t>Programming language for self-orchestration</a:t>
            </a:r>
          </a:p>
        </p:txBody>
      </p:sp>
    </p:spTree>
    <p:extLst>
      <p:ext uri="{BB962C8B-B14F-4D97-AF65-F5344CB8AC3E}">
        <p14:creationId xmlns:p14="http://schemas.microsoft.com/office/powerpoint/2010/main" val="42110559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3D339-5377-79A1-7714-4B57C5D4098A}"/>
              </a:ext>
            </a:extLst>
          </p:cNvPr>
          <p:cNvSpPr>
            <a:spLocks noGrp="1"/>
          </p:cNvSpPr>
          <p:nvPr>
            <p:ph type="title"/>
          </p:nvPr>
        </p:nvSpPr>
        <p:spPr/>
        <p:txBody>
          <a:bodyPr/>
          <a:lstStyle/>
          <a:p>
            <a:r>
              <a:rPr lang="en-US" dirty="0"/>
              <a:t>Spell </a:t>
            </a:r>
            <a:r>
              <a:rPr lang="en-US" sz="3600" dirty="0"/>
              <a:t>(self-prompting execution language for LLMs)</a:t>
            </a:r>
            <a:endParaRPr lang="en-US" dirty="0"/>
          </a:p>
        </p:txBody>
      </p:sp>
      <p:sp>
        <p:nvSpPr>
          <p:cNvPr id="6" name="Content Placeholder 2">
            <a:extLst>
              <a:ext uri="{FF2B5EF4-FFF2-40B4-BE49-F238E27FC236}">
                <a16:creationId xmlns:a16="http://schemas.microsoft.com/office/drawing/2014/main" id="{DE073252-398A-4E6D-746D-8DB4A88B9195}"/>
              </a:ext>
            </a:extLst>
          </p:cNvPr>
          <p:cNvSpPr>
            <a:spLocks noGrp="1"/>
          </p:cNvSpPr>
          <p:nvPr>
            <p:ph idx="1"/>
          </p:nvPr>
        </p:nvSpPr>
        <p:spPr>
          <a:xfrm>
            <a:off x="838199" y="1825625"/>
            <a:ext cx="9858154" cy="4351338"/>
          </a:xfrm>
        </p:spPr>
        <p:txBody>
          <a:bodyPr/>
          <a:lstStyle/>
          <a:p>
            <a:r>
              <a:rPr lang="en-US" dirty="0"/>
              <a:t>Dialect of Lisp (resembles Clojure)</a:t>
            </a:r>
          </a:p>
          <a:p>
            <a:r>
              <a:rPr lang="en-US" dirty="0"/>
              <a:t>Lisp: “Code is data”</a:t>
            </a:r>
          </a:p>
          <a:p>
            <a:r>
              <a:rPr lang="en-US" dirty="0"/>
              <a:t>Spell: “Entire context window is code”</a:t>
            </a:r>
          </a:p>
          <a:p>
            <a:pPr lvl="1"/>
            <a:r>
              <a:rPr lang="en-US" dirty="0"/>
              <a:t>Prompt</a:t>
            </a:r>
          </a:p>
          <a:p>
            <a:pPr lvl="1"/>
            <a:r>
              <a:rPr lang="en-US" dirty="0"/>
              <a:t>Reasoning</a:t>
            </a:r>
          </a:p>
          <a:p>
            <a:pPr lvl="1"/>
            <a:r>
              <a:rPr lang="en-US" dirty="0"/>
              <a:t>Tool calls</a:t>
            </a:r>
          </a:p>
          <a:p>
            <a:pPr lvl="1"/>
            <a:r>
              <a:rPr lang="en-US" dirty="0"/>
              <a:t>Tool call results</a:t>
            </a:r>
          </a:p>
          <a:p>
            <a:pPr lvl="1"/>
            <a:r>
              <a:rPr lang="en-US" dirty="0"/>
              <a:t>Response</a:t>
            </a:r>
          </a:p>
          <a:p>
            <a:endParaRPr lang="en-US" dirty="0"/>
          </a:p>
          <a:p>
            <a:endParaRPr lang="en-US" dirty="0"/>
          </a:p>
          <a:p>
            <a:pPr lvl="1"/>
            <a:endParaRPr lang="en-US" dirty="0"/>
          </a:p>
          <a:p>
            <a:pPr marL="457200" lvl="1" indent="0">
              <a:buNone/>
            </a:pPr>
            <a:endParaRPr lang="en-US" dirty="0"/>
          </a:p>
          <a:p>
            <a:endParaRPr lang="en-US" dirty="0"/>
          </a:p>
        </p:txBody>
      </p:sp>
    </p:spTree>
    <p:extLst>
      <p:ext uri="{BB962C8B-B14F-4D97-AF65-F5344CB8AC3E}">
        <p14:creationId xmlns:p14="http://schemas.microsoft.com/office/powerpoint/2010/main" val="2037652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F4B672A-EF16-125A-FE76-144D80A94770}"/>
              </a:ext>
            </a:extLst>
          </p:cNvPr>
          <p:cNvSpPr>
            <a:spLocks noGrp="1"/>
          </p:cNvSpPr>
          <p:nvPr>
            <p:ph type="body" idx="1"/>
          </p:nvPr>
        </p:nvSpPr>
        <p:spPr>
          <a:xfrm>
            <a:off x="836612" y="1128270"/>
            <a:ext cx="5157787" cy="823912"/>
          </a:xfrm>
        </p:spPr>
        <p:txBody>
          <a:bodyPr/>
          <a:lstStyle/>
          <a:p>
            <a:r>
              <a:rPr lang="en-US" dirty="0" err="1"/>
              <a:t>ReAct</a:t>
            </a:r>
            <a:endParaRPr lang="en-US" dirty="0"/>
          </a:p>
        </p:txBody>
      </p:sp>
      <p:sp>
        <p:nvSpPr>
          <p:cNvPr id="6" name="Text Placeholder 5">
            <a:extLst>
              <a:ext uri="{FF2B5EF4-FFF2-40B4-BE49-F238E27FC236}">
                <a16:creationId xmlns:a16="http://schemas.microsoft.com/office/drawing/2014/main" id="{C6C5F69A-CC0B-2CE8-D857-768DEDE9B53A}"/>
              </a:ext>
            </a:extLst>
          </p:cNvPr>
          <p:cNvSpPr>
            <a:spLocks noGrp="1"/>
          </p:cNvSpPr>
          <p:nvPr>
            <p:ph type="body" sz="quarter" idx="3"/>
          </p:nvPr>
        </p:nvSpPr>
        <p:spPr>
          <a:xfrm>
            <a:off x="6169024" y="1128270"/>
            <a:ext cx="5183188" cy="823912"/>
          </a:xfrm>
        </p:spPr>
        <p:txBody>
          <a:bodyPr/>
          <a:lstStyle/>
          <a:p>
            <a:r>
              <a:rPr lang="en-US" dirty="0"/>
              <a:t>Spell</a:t>
            </a:r>
          </a:p>
        </p:txBody>
      </p:sp>
      <p:sp>
        <p:nvSpPr>
          <p:cNvPr id="7" name="Content Placeholder 6">
            <a:extLst>
              <a:ext uri="{FF2B5EF4-FFF2-40B4-BE49-F238E27FC236}">
                <a16:creationId xmlns:a16="http://schemas.microsoft.com/office/drawing/2014/main" id="{7CB45BA6-F51E-A799-A0FC-924DBE693C18}"/>
              </a:ext>
            </a:extLst>
          </p:cNvPr>
          <p:cNvSpPr>
            <a:spLocks noGrp="1"/>
          </p:cNvSpPr>
          <p:nvPr>
            <p:ph sz="quarter" idx="4"/>
          </p:nvPr>
        </p:nvSpPr>
        <p:spPr>
          <a:xfrm>
            <a:off x="6169024" y="1952182"/>
            <a:ext cx="5183188" cy="3684588"/>
          </a:xfrm>
        </p:spPr>
        <p:txBody>
          <a:bodyPr>
            <a:normAutofit fontScale="92500" lnSpcReduction="20000"/>
          </a:bodyPr>
          <a:lstStyle/>
          <a:p>
            <a:pPr marL="0" indent="0">
              <a:buNone/>
            </a:pPr>
            <a:r>
              <a:rPr lang="en-US" dirty="0"/>
              <a:t>prefix ← prompt</a:t>
            </a:r>
          </a:p>
          <a:p>
            <a:pPr marL="0" indent="0">
              <a:buNone/>
            </a:pPr>
            <a:r>
              <a:rPr lang="en-US" dirty="0"/>
              <a:t>response ← </a:t>
            </a:r>
            <a:r>
              <a:rPr lang="en-US" dirty="0" err="1"/>
              <a:t>llm</a:t>
            </a:r>
            <a:r>
              <a:rPr lang="en-US" dirty="0"/>
              <a:t>(prefix)</a:t>
            </a:r>
          </a:p>
          <a:p>
            <a:pPr marL="0" indent="0">
              <a:buNone/>
            </a:pPr>
            <a:r>
              <a:rPr lang="en-US" dirty="0"/>
              <a:t>completion ← prefix + response</a:t>
            </a:r>
          </a:p>
          <a:p>
            <a:pPr marL="0" indent="0">
              <a:buNone/>
            </a:pPr>
            <a:r>
              <a:rPr lang="en-US" dirty="0"/>
              <a:t>return eval(completion)</a:t>
            </a:r>
            <a:br>
              <a:rPr lang="en-US" dirty="0"/>
            </a:br>
            <a:endParaRPr lang="en-US" dirty="0"/>
          </a:p>
        </p:txBody>
      </p:sp>
      <p:sp>
        <p:nvSpPr>
          <p:cNvPr id="12" name="Content Placeholder 11">
            <a:extLst>
              <a:ext uri="{FF2B5EF4-FFF2-40B4-BE49-F238E27FC236}">
                <a16:creationId xmlns:a16="http://schemas.microsoft.com/office/drawing/2014/main" id="{C9AA7280-FB40-A707-5CFB-F74EFED11774}"/>
              </a:ext>
            </a:extLst>
          </p:cNvPr>
          <p:cNvSpPr>
            <a:spLocks noGrp="1"/>
          </p:cNvSpPr>
          <p:nvPr>
            <p:ph sz="half" idx="2"/>
          </p:nvPr>
        </p:nvSpPr>
        <p:spPr>
          <a:xfrm>
            <a:off x="836612" y="1952182"/>
            <a:ext cx="5157787" cy="3684588"/>
          </a:xfrm>
        </p:spPr>
        <p:txBody>
          <a:bodyPr>
            <a:normAutofit fontScale="92500" lnSpcReduction="20000"/>
          </a:bodyPr>
          <a:lstStyle/>
          <a:p>
            <a:pPr marL="0" indent="0">
              <a:buNone/>
            </a:pPr>
            <a:r>
              <a:rPr lang="en-US" dirty="0"/>
              <a:t>prefix ← prompt</a:t>
            </a:r>
          </a:p>
          <a:p>
            <a:pPr marL="0" indent="0">
              <a:buNone/>
            </a:pPr>
            <a:r>
              <a:rPr lang="en-US" dirty="0"/>
              <a:t>loop:</a:t>
            </a:r>
          </a:p>
          <a:p>
            <a:pPr marL="0" indent="0">
              <a:buNone/>
            </a:pPr>
            <a:r>
              <a:rPr lang="en-US" dirty="0"/>
              <a:t>    response, tool-call ← </a:t>
            </a:r>
            <a:r>
              <a:rPr lang="en-US" dirty="0" err="1"/>
              <a:t>llm</a:t>
            </a:r>
            <a:r>
              <a:rPr lang="en-US" dirty="0"/>
              <a:t>(prefix)</a:t>
            </a:r>
          </a:p>
          <a:p>
            <a:pPr marL="0" indent="0">
              <a:buNone/>
            </a:pPr>
            <a:r>
              <a:rPr lang="en-US" dirty="0"/>
              <a:t>    tool-result  ← eval(tool-call)</a:t>
            </a:r>
            <a:br>
              <a:rPr lang="en-US" dirty="0"/>
            </a:br>
            <a:r>
              <a:rPr lang="en-US" dirty="0"/>
              <a:t>    completion ← prefix + response+ 			tool-result</a:t>
            </a:r>
          </a:p>
          <a:p>
            <a:pPr marL="0" indent="0">
              <a:buNone/>
            </a:pPr>
            <a:r>
              <a:rPr lang="en-US" dirty="0"/>
              <a:t>    if </a:t>
            </a:r>
            <a:r>
              <a:rPr lang="en-US" dirty="0" err="1"/>
              <a:t>response.is</a:t>
            </a:r>
            <a:r>
              <a:rPr lang="en-US" dirty="0"/>
              <a:t>-final:</a:t>
            </a:r>
          </a:p>
          <a:p>
            <a:pPr marL="0" indent="0">
              <a:buNone/>
            </a:pPr>
            <a:r>
              <a:rPr lang="en-US" dirty="0"/>
              <a:t>        return completion</a:t>
            </a:r>
          </a:p>
          <a:p>
            <a:pPr marL="0" indent="0">
              <a:buNone/>
            </a:pPr>
            <a:r>
              <a:rPr lang="en-US" dirty="0"/>
              <a:t>    prefix ← completion</a:t>
            </a:r>
          </a:p>
          <a:p>
            <a:pPr marL="0" indent="0">
              <a:buNone/>
            </a:pPr>
            <a:endParaRPr lang="en-US" dirty="0"/>
          </a:p>
        </p:txBody>
      </p:sp>
      <p:sp>
        <p:nvSpPr>
          <p:cNvPr id="13" name="Content Placeholder 2">
            <a:extLst>
              <a:ext uri="{FF2B5EF4-FFF2-40B4-BE49-F238E27FC236}">
                <a16:creationId xmlns:a16="http://schemas.microsoft.com/office/drawing/2014/main" id="{8DBA7CB6-9756-C9A1-24B8-29516636E9A9}"/>
              </a:ext>
            </a:extLst>
          </p:cNvPr>
          <p:cNvSpPr txBox="1">
            <a:spLocks/>
          </p:cNvSpPr>
          <p:nvPr/>
        </p:nvSpPr>
        <p:spPr>
          <a:xfrm>
            <a:off x="838200" y="2505074"/>
            <a:ext cx="5488172" cy="3536951"/>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dirty="0"/>
          </a:p>
        </p:txBody>
      </p:sp>
      <p:sp>
        <p:nvSpPr>
          <p:cNvPr id="16" name="TextBox 15">
            <a:extLst>
              <a:ext uri="{FF2B5EF4-FFF2-40B4-BE49-F238E27FC236}">
                <a16:creationId xmlns:a16="http://schemas.microsoft.com/office/drawing/2014/main" id="{FAC0061D-730F-493C-D7E2-18944493C460}"/>
              </a:ext>
            </a:extLst>
          </p:cNvPr>
          <p:cNvSpPr txBox="1"/>
          <p:nvPr/>
        </p:nvSpPr>
        <p:spPr>
          <a:xfrm>
            <a:off x="6171755" y="4132426"/>
            <a:ext cx="5180457" cy="584775"/>
          </a:xfrm>
          <a:prstGeom prst="rect">
            <a:avLst/>
          </a:prstGeom>
          <a:noFill/>
        </p:spPr>
        <p:txBody>
          <a:bodyPr wrap="none" rtlCol="0">
            <a:spAutoFit/>
          </a:bodyPr>
          <a:lstStyle/>
          <a:p>
            <a:r>
              <a:rPr lang="en-US" sz="3200" dirty="0">
                <a:solidFill>
                  <a:srgbClr val="FF0000"/>
                </a:solidFill>
              </a:rPr>
              <a:t>What happened to the loop?</a:t>
            </a:r>
          </a:p>
        </p:txBody>
      </p:sp>
    </p:spTree>
    <p:extLst>
      <p:ext uri="{BB962C8B-B14F-4D97-AF65-F5344CB8AC3E}">
        <p14:creationId xmlns:p14="http://schemas.microsoft.com/office/powerpoint/2010/main" val="1870966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ABF18-FF7E-F97B-DF25-60DC33BC6DBD}"/>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20226B73-4D5C-9CF0-DE83-9D07672C019E}"/>
              </a:ext>
            </a:extLst>
          </p:cNvPr>
          <p:cNvSpPr>
            <a:spLocks noGrp="1"/>
          </p:cNvSpPr>
          <p:nvPr>
            <p:ph type="body" idx="1"/>
          </p:nvPr>
        </p:nvSpPr>
        <p:spPr>
          <a:xfrm>
            <a:off x="836612" y="1128270"/>
            <a:ext cx="5157787" cy="823912"/>
          </a:xfrm>
        </p:spPr>
        <p:txBody>
          <a:bodyPr/>
          <a:lstStyle/>
          <a:p>
            <a:r>
              <a:rPr lang="en-US" dirty="0" err="1"/>
              <a:t>ReAct</a:t>
            </a:r>
            <a:endParaRPr lang="en-US" dirty="0"/>
          </a:p>
        </p:txBody>
      </p:sp>
      <p:sp>
        <p:nvSpPr>
          <p:cNvPr id="6" name="Text Placeholder 5">
            <a:extLst>
              <a:ext uri="{FF2B5EF4-FFF2-40B4-BE49-F238E27FC236}">
                <a16:creationId xmlns:a16="http://schemas.microsoft.com/office/drawing/2014/main" id="{1D3ABE71-A4C3-2601-31E4-BB8655610C0D}"/>
              </a:ext>
            </a:extLst>
          </p:cNvPr>
          <p:cNvSpPr>
            <a:spLocks noGrp="1"/>
          </p:cNvSpPr>
          <p:nvPr>
            <p:ph type="body" sz="quarter" idx="3"/>
          </p:nvPr>
        </p:nvSpPr>
        <p:spPr>
          <a:xfrm>
            <a:off x="6169024" y="1128270"/>
            <a:ext cx="5183188" cy="823912"/>
          </a:xfrm>
        </p:spPr>
        <p:txBody>
          <a:bodyPr/>
          <a:lstStyle/>
          <a:p>
            <a:r>
              <a:rPr lang="en-US" dirty="0"/>
              <a:t>Spell</a:t>
            </a:r>
          </a:p>
        </p:txBody>
      </p:sp>
      <p:sp>
        <p:nvSpPr>
          <p:cNvPr id="7" name="Content Placeholder 6">
            <a:extLst>
              <a:ext uri="{FF2B5EF4-FFF2-40B4-BE49-F238E27FC236}">
                <a16:creationId xmlns:a16="http://schemas.microsoft.com/office/drawing/2014/main" id="{7E3ECC64-5903-2F27-CAAE-36929796CC78}"/>
              </a:ext>
            </a:extLst>
          </p:cNvPr>
          <p:cNvSpPr>
            <a:spLocks noGrp="1"/>
          </p:cNvSpPr>
          <p:nvPr>
            <p:ph sz="quarter" idx="4"/>
          </p:nvPr>
        </p:nvSpPr>
        <p:spPr>
          <a:xfrm>
            <a:off x="6169024" y="1952182"/>
            <a:ext cx="5183188" cy="3684588"/>
          </a:xfrm>
        </p:spPr>
        <p:txBody>
          <a:bodyPr>
            <a:normAutofit fontScale="92500" lnSpcReduction="20000"/>
          </a:bodyPr>
          <a:lstStyle/>
          <a:p>
            <a:pPr marL="0" indent="0">
              <a:buNone/>
            </a:pPr>
            <a:r>
              <a:rPr lang="en-US" dirty="0"/>
              <a:t>prefix ← prompt</a:t>
            </a:r>
          </a:p>
          <a:p>
            <a:pPr marL="0" indent="0">
              <a:buNone/>
            </a:pPr>
            <a:r>
              <a:rPr lang="en-US" dirty="0"/>
              <a:t>response ← </a:t>
            </a:r>
            <a:r>
              <a:rPr lang="en-US" dirty="0" err="1"/>
              <a:t>llm</a:t>
            </a:r>
            <a:r>
              <a:rPr lang="en-US" dirty="0"/>
              <a:t>(prefix)</a:t>
            </a:r>
          </a:p>
          <a:p>
            <a:pPr marL="0" indent="0">
              <a:buNone/>
            </a:pPr>
            <a:r>
              <a:rPr lang="en-US" dirty="0"/>
              <a:t>completion ← prefix + response</a:t>
            </a:r>
          </a:p>
          <a:p>
            <a:pPr marL="0" indent="0">
              <a:buNone/>
            </a:pPr>
            <a:r>
              <a:rPr lang="en-US" dirty="0"/>
              <a:t>return eval(completion)</a:t>
            </a:r>
            <a:br>
              <a:rPr lang="en-US" dirty="0"/>
            </a:br>
            <a:endParaRPr lang="en-US" dirty="0"/>
          </a:p>
        </p:txBody>
      </p:sp>
      <p:sp>
        <p:nvSpPr>
          <p:cNvPr id="12" name="Content Placeholder 11">
            <a:extLst>
              <a:ext uri="{FF2B5EF4-FFF2-40B4-BE49-F238E27FC236}">
                <a16:creationId xmlns:a16="http://schemas.microsoft.com/office/drawing/2014/main" id="{B06137DB-73C5-BBBA-110D-4BAD7E9F48A1}"/>
              </a:ext>
            </a:extLst>
          </p:cNvPr>
          <p:cNvSpPr>
            <a:spLocks noGrp="1"/>
          </p:cNvSpPr>
          <p:nvPr>
            <p:ph sz="half" idx="2"/>
          </p:nvPr>
        </p:nvSpPr>
        <p:spPr>
          <a:xfrm>
            <a:off x="836612" y="1952182"/>
            <a:ext cx="5157787" cy="3684588"/>
          </a:xfrm>
        </p:spPr>
        <p:txBody>
          <a:bodyPr>
            <a:normAutofit fontScale="92500" lnSpcReduction="20000"/>
          </a:bodyPr>
          <a:lstStyle/>
          <a:p>
            <a:pPr marL="0" indent="0">
              <a:buNone/>
            </a:pPr>
            <a:r>
              <a:rPr lang="en-US" dirty="0"/>
              <a:t>prefix ← prompt</a:t>
            </a:r>
          </a:p>
          <a:p>
            <a:pPr marL="0" indent="0">
              <a:buNone/>
            </a:pPr>
            <a:r>
              <a:rPr lang="en-US" dirty="0"/>
              <a:t>loop:</a:t>
            </a:r>
          </a:p>
          <a:p>
            <a:pPr marL="0" indent="0">
              <a:buNone/>
            </a:pPr>
            <a:r>
              <a:rPr lang="en-US" dirty="0"/>
              <a:t>    response, tool-call ← </a:t>
            </a:r>
            <a:r>
              <a:rPr lang="en-US" dirty="0" err="1"/>
              <a:t>llm</a:t>
            </a:r>
            <a:r>
              <a:rPr lang="en-US" dirty="0"/>
              <a:t>(prefix)</a:t>
            </a:r>
          </a:p>
          <a:p>
            <a:pPr marL="0" indent="0">
              <a:buNone/>
            </a:pPr>
            <a:r>
              <a:rPr lang="en-US" dirty="0"/>
              <a:t>    tool-result  ← eval(tool-call)</a:t>
            </a:r>
            <a:br>
              <a:rPr lang="en-US" dirty="0"/>
            </a:br>
            <a:r>
              <a:rPr lang="en-US" dirty="0"/>
              <a:t>    completion ← prefix + response+ 			tool-result</a:t>
            </a:r>
          </a:p>
          <a:p>
            <a:pPr marL="0" indent="0">
              <a:buNone/>
            </a:pPr>
            <a:r>
              <a:rPr lang="en-US" dirty="0"/>
              <a:t>    if </a:t>
            </a:r>
            <a:r>
              <a:rPr lang="en-US" dirty="0" err="1"/>
              <a:t>response.is</a:t>
            </a:r>
            <a:r>
              <a:rPr lang="en-US" dirty="0"/>
              <a:t>-final:</a:t>
            </a:r>
          </a:p>
          <a:p>
            <a:pPr marL="0" indent="0">
              <a:buNone/>
            </a:pPr>
            <a:r>
              <a:rPr lang="en-US" dirty="0"/>
              <a:t>        return completion</a:t>
            </a:r>
          </a:p>
          <a:p>
            <a:pPr marL="0" indent="0">
              <a:buNone/>
            </a:pPr>
            <a:r>
              <a:rPr lang="en-US" dirty="0"/>
              <a:t>    prefix ← completion</a:t>
            </a:r>
          </a:p>
          <a:p>
            <a:pPr marL="0" indent="0">
              <a:buNone/>
            </a:pPr>
            <a:endParaRPr lang="en-US" dirty="0"/>
          </a:p>
        </p:txBody>
      </p:sp>
      <p:sp>
        <p:nvSpPr>
          <p:cNvPr id="13" name="Content Placeholder 2">
            <a:extLst>
              <a:ext uri="{FF2B5EF4-FFF2-40B4-BE49-F238E27FC236}">
                <a16:creationId xmlns:a16="http://schemas.microsoft.com/office/drawing/2014/main" id="{0E6B686A-BB24-6F20-DD2E-7EB1B838FB83}"/>
              </a:ext>
            </a:extLst>
          </p:cNvPr>
          <p:cNvSpPr txBox="1">
            <a:spLocks/>
          </p:cNvSpPr>
          <p:nvPr/>
        </p:nvSpPr>
        <p:spPr>
          <a:xfrm>
            <a:off x="838200" y="2505074"/>
            <a:ext cx="5488172" cy="3536951"/>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dirty="0"/>
          </a:p>
        </p:txBody>
      </p:sp>
      <p:sp>
        <p:nvSpPr>
          <p:cNvPr id="16" name="TextBox 15">
            <a:extLst>
              <a:ext uri="{FF2B5EF4-FFF2-40B4-BE49-F238E27FC236}">
                <a16:creationId xmlns:a16="http://schemas.microsoft.com/office/drawing/2014/main" id="{3D302136-B0C7-E95E-BD63-89C600156E1F}"/>
              </a:ext>
            </a:extLst>
          </p:cNvPr>
          <p:cNvSpPr txBox="1"/>
          <p:nvPr/>
        </p:nvSpPr>
        <p:spPr>
          <a:xfrm>
            <a:off x="6171755" y="4132426"/>
            <a:ext cx="5180457" cy="584775"/>
          </a:xfrm>
          <a:prstGeom prst="rect">
            <a:avLst/>
          </a:prstGeom>
          <a:noFill/>
        </p:spPr>
        <p:txBody>
          <a:bodyPr wrap="none" rtlCol="0">
            <a:spAutoFit/>
          </a:bodyPr>
          <a:lstStyle/>
          <a:p>
            <a:r>
              <a:rPr lang="en-US" sz="3200" dirty="0">
                <a:solidFill>
                  <a:srgbClr val="FF0000"/>
                </a:solidFill>
              </a:rPr>
              <a:t>What happened to the loop?</a:t>
            </a:r>
          </a:p>
        </p:txBody>
      </p:sp>
      <p:pic>
        <p:nvPicPr>
          <p:cNvPr id="2" name="Picture 1">
            <a:extLst>
              <a:ext uri="{FF2B5EF4-FFF2-40B4-BE49-F238E27FC236}">
                <a16:creationId xmlns:a16="http://schemas.microsoft.com/office/drawing/2014/main" id="{C9D29060-6B39-CE6E-CDED-37E8140F0495}"/>
              </a:ext>
            </a:extLst>
          </p:cNvPr>
          <p:cNvPicPr>
            <a:picLocks noChangeAspect="1"/>
          </p:cNvPicPr>
          <p:nvPr/>
        </p:nvPicPr>
        <p:blipFill>
          <a:blip r:embed="rId2"/>
          <a:stretch>
            <a:fillRect/>
          </a:stretch>
        </p:blipFill>
        <p:spPr>
          <a:xfrm>
            <a:off x="4990874" y="4834380"/>
            <a:ext cx="6629400" cy="1790700"/>
          </a:xfrm>
          <a:prstGeom prst="rect">
            <a:avLst/>
          </a:prstGeom>
        </p:spPr>
      </p:pic>
      <p:sp>
        <p:nvSpPr>
          <p:cNvPr id="3" name="TextBox 2">
            <a:extLst>
              <a:ext uri="{FF2B5EF4-FFF2-40B4-BE49-F238E27FC236}">
                <a16:creationId xmlns:a16="http://schemas.microsoft.com/office/drawing/2014/main" id="{9E282846-202E-A6DC-B24F-73BF4DCB132D}"/>
              </a:ext>
            </a:extLst>
          </p:cNvPr>
          <p:cNvSpPr txBox="1"/>
          <p:nvPr/>
        </p:nvSpPr>
        <p:spPr>
          <a:xfrm>
            <a:off x="10780713" y="6067062"/>
            <a:ext cx="683777" cy="369332"/>
          </a:xfrm>
          <a:prstGeom prst="rect">
            <a:avLst/>
          </a:prstGeom>
          <a:noFill/>
        </p:spPr>
        <p:txBody>
          <a:bodyPr wrap="none" rtlCol="0">
            <a:spAutoFit/>
          </a:bodyPr>
          <a:lstStyle/>
          <a:p>
            <a:r>
              <a:rPr lang="en-US" dirty="0">
                <a:solidFill>
                  <a:srgbClr val="FF0000"/>
                </a:solidFill>
              </a:rPr>
              <a:t>Loop</a:t>
            </a:r>
          </a:p>
        </p:txBody>
      </p:sp>
      <p:sp>
        <p:nvSpPr>
          <p:cNvPr id="5" name="Rectangle 4">
            <a:extLst>
              <a:ext uri="{FF2B5EF4-FFF2-40B4-BE49-F238E27FC236}">
                <a16:creationId xmlns:a16="http://schemas.microsoft.com/office/drawing/2014/main" id="{D5288DDF-9CD5-78D2-111A-C28B5BD43FF4}"/>
              </a:ext>
            </a:extLst>
          </p:cNvPr>
          <p:cNvSpPr/>
          <p:nvPr/>
        </p:nvSpPr>
        <p:spPr>
          <a:xfrm>
            <a:off x="5161644" y="6067062"/>
            <a:ext cx="5448299" cy="35481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674649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B417362-4F22-7C60-697D-E3D1C9C87D3F}"/>
              </a:ext>
            </a:extLst>
          </p:cNvPr>
          <p:cNvSpPr/>
          <p:nvPr/>
        </p:nvSpPr>
        <p:spPr>
          <a:xfrm>
            <a:off x="612539" y="2618311"/>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20" name="Rectangle 19">
            <a:extLst>
              <a:ext uri="{FF2B5EF4-FFF2-40B4-BE49-F238E27FC236}">
                <a16:creationId xmlns:a16="http://schemas.microsoft.com/office/drawing/2014/main" id="{788E28A1-2E3A-0B24-B6F6-FBA23274070F}"/>
              </a:ext>
            </a:extLst>
          </p:cNvPr>
          <p:cNvSpPr/>
          <p:nvPr/>
        </p:nvSpPr>
        <p:spPr>
          <a:xfrm>
            <a:off x="2672832" y="2993463"/>
            <a:ext cx="2285574"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 + tool call</a:t>
            </a:r>
          </a:p>
        </p:txBody>
      </p:sp>
      <p:sp>
        <p:nvSpPr>
          <p:cNvPr id="24" name="Rectangle 23">
            <a:extLst>
              <a:ext uri="{FF2B5EF4-FFF2-40B4-BE49-F238E27FC236}">
                <a16:creationId xmlns:a16="http://schemas.microsoft.com/office/drawing/2014/main" id="{A2341AEF-5214-34F4-2737-6A87BD000071}"/>
              </a:ext>
            </a:extLst>
          </p:cNvPr>
          <p:cNvSpPr/>
          <p:nvPr/>
        </p:nvSpPr>
        <p:spPr>
          <a:xfrm>
            <a:off x="1642685" y="2993463"/>
            <a:ext cx="1030147" cy="278873"/>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Self-call</a:t>
            </a:r>
          </a:p>
        </p:txBody>
      </p:sp>
      <p:sp>
        <p:nvSpPr>
          <p:cNvPr id="25" name="Rectangle 24">
            <a:extLst>
              <a:ext uri="{FF2B5EF4-FFF2-40B4-BE49-F238E27FC236}">
                <a16:creationId xmlns:a16="http://schemas.microsoft.com/office/drawing/2014/main" id="{7BBCD004-7377-CB34-5748-B6418EBD35AE}"/>
              </a:ext>
            </a:extLst>
          </p:cNvPr>
          <p:cNvSpPr/>
          <p:nvPr/>
        </p:nvSpPr>
        <p:spPr>
          <a:xfrm>
            <a:off x="5988551" y="3376563"/>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26" name="Rectangle 25">
            <a:extLst>
              <a:ext uri="{FF2B5EF4-FFF2-40B4-BE49-F238E27FC236}">
                <a16:creationId xmlns:a16="http://schemas.microsoft.com/office/drawing/2014/main" id="{89C3587E-32EF-30C2-23C2-BCE90461F3CC}"/>
              </a:ext>
            </a:extLst>
          </p:cNvPr>
          <p:cNvSpPr/>
          <p:nvPr/>
        </p:nvSpPr>
        <p:spPr>
          <a:xfrm>
            <a:off x="612540" y="2998376"/>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27" name="Rectangle 26">
            <a:extLst>
              <a:ext uri="{FF2B5EF4-FFF2-40B4-BE49-F238E27FC236}">
                <a16:creationId xmlns:a16="http://schemas.microsoft.com/office/drawing/2014/main" id="{29BFF62B-F751-5802-B6A6-F2C711C12671}"/>
              </a:ext>
            </a:extLst>
          </p:cNvPr>
          <p:cNvSpPr/>
          <p:nvPr/>
        </p:nvSpPr>
        <p:spPr>
          <a:xfrm>
            <a:off x="1642687" y="2618311"/>
            <a:ext cx="1030146" cy="274899"/>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Self-call</a:t>
            </a:r>
          </a:p>
        </p:txBody>
      </p:sp>
      <p:sp>
        <p:nvSpPr>
          <p:cNvPr id="28" name="Rectangle 27">
            <a:extLst>
              <a:ext uri="{FF2B5EF4-FFF2-40B4-BE49-F238E27FC236}">
                <a16:creationId xmlns:a16="http://schemas.microsoft.com/office/drawing/2014/main" id="{AA7AF3F2-355E-4248-CFB3-768DF2E07247}"/>
              </a:ext>
            </a:extLst>
          </p:cNvPr>
          <p:cNvSpPr/>
          <p:nvPr/>
        </p:nvSpPr>
        <p:spPr>
          <a:xfrm>
            <a:off x="4958406" y="2989489"/>
            <a:ext cx="1030147" cy="274899"/>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Self-call</a:t>
            </a:r>
          </a:p>
        </p:txBody>
      </p:sp>
      <p:sp>
        <p:nvSpPr>
          <p:cNvPr id="29" name="Rectangle 28">
            <a:extLst>
              <a:ext uri="{FF2B5EF4-FFF2-40B4-BE49-F238E27FC236}">
                <a16:creationId xmlns:a16="http://schemas.microsoft.com/office/drawing/2014/main" id="{2E39D41A-8F5F-1B21-CFC0-7D2CA5749D0A}"/>
              </a:ext>
            </a:extLst>
          </p:cNvPr>
          <p:cNvSpPr/>
          <p:nvPr/>
        </p:nvSpPr>
        <p:spPr>
          <a:xfrm>
            <a:off x="2672832" y="3376563"/>
            <a:ext cx="2285574"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 + tool call</a:t>
            </a:r>
          </a:p>
        </p:txBody>
      </p:sp>
      <p:sp>
        <p:nvSpPr>
          <p:cNvPr id="30" name="Rectangle 29">
            <a:extLst>
              <a:ext uri="{FF2B5EF4-FFF2-40B4-BE49-F238E27FC236}">
                <a16:creationId xmlns:a16="http://schemas.microsoft.com/office/drawing/2014/main" id="{C6DA7DA3-B881-FD2C-AD5E-4A79364E89FA}"/>
              </a:ext>
            </a:extLst>
          </p:cNvPr>
          <p:cNvSpPr/>
          <p:nvPr/>
        </p:nvSpPr>
        <p:spPr>
          <a:xfrm>
            <a:off x="1642685" y="3376563"/>
            <a:ext cx="1030147" cy="278873"/>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Self-call</a:t>
            </a:r>
          </a:p>
        </p:txBody>
      </p:sp>
      <p:sp>
        <p:nvSpPr>
          <p:cNvPr id="31" name="Rectangle 30">
            <a:extLst>
              <a:ext uri="{FF2B5EF4-FFF2-40B4-BE49-F238E27FC236}">
                <a16:creationId xmlns:a16="http://schemas.microsoft.com/office/drawing/2014/main" id="{E78843DC-7DAB-1FBB-25C4-54567BD759CF}"/>
              </a:ext>
            </a:extLst>
          </p:cNvPr>
          <p:cNvSpPr/>
          <p:nvPr/>
        </p:nvSpPr>
        <p:spPr>
          <a:xfrm>
            <a:off x="612540" y="3381476"/>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32" name="Rectangle 31">
            <a:extLst>
              <a:ext uri="{FF2B5EF4-FFF2-40B4-BE49-F238E27FC236}">
                <a16:creationId xmlns:a16="http://schemas.microsoft.com/office/drawing/2014/main" id="{132F00CF-94C7-AB0A-870C-10038ABCA3CE}"/>
              </a:ext>
            </a:extLst>
          </p:cNvPr>
          <p:cNvSpPr/>
          <p:nvPr/>
        </p:nvSpPr>
        <p:spPr>
          <a:xfrm>
            <a:off x="4958406" y="3372589"/>
            <a:ext cx="1030147" cy="274899"/>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Self-call</a:t>
            </a:r>
          </a:p>
        </p:txBody>
      </p:sp>
      <p:sp>
        <p:nvSpPr>
          <p:cNvPr id="33" name="TextBox 32">
            <a:extLst>
              <a:ext uri="{FF2B5EF4-FFF2-40B4-BE49-F238E27FC236}">
                <a16:creationId xmlns:a16="http://schemas.microsoft.com/office/drawing/2014/main" id="{67F9B3F6-FFF4-1756-A76E-7549B25FAE7C}"/>
              </a:ext>
            </a:extLst>
          </p:cNvPr>
          <p:cNvSpPr txBox="1"/>
          <p:nvPr/>
        </p:nvSpPr>
        <p:spPr>
          <a:xfrm>
            <a:off x="3624932" y="2062685"/>
            <a:ext cx="1405000" cy="369332"/>
          </a:xfrm>
          <a:prstGeom prst="rect">
            <a:avLst/>
          </a:prstGeom>
          <a:noFill/>
        </p:spPr>
        <p:txBody>
          <a:bodyPr wrap="none" rtlCol="0">
            <a:spAutoFit/>
          </a:bodyPr>
          <a:lstStyle/>
          <a:p>
            <a:r>
              <a:rPr lang="en-US" b="1" dirty="0"/>
              <a:t>LLM written</a:t>
            </a:r>
          </a:p>
        </p:txBody>
      </p:sp>
      <p:sp>
        <p:nvSpPr>
          <p:cNvPr id="34" name="TextBox 33">
            <a:extLst>
              <a:ext uri="{FF2B5EF4-FFF2-40B4-BE49-F238E27FC236}">
                <a16:creationId xmlns:a16="http://schemas.microsoft.com/office/drawing/2014/main" id="{C28B9691-B498-9654-4A48-CED6273B4782}"/>
              </a:ext>
            </a:extLst>
          </p:cNvPr>
          <p:cNvSpPr txBox="1"/>
          <p:nvPr/>
        </p:nvSpPr>
        <p:spPr>
          <a:xfrm>
            <a:off x="816878" y="2061857"/>
            <a:ext cx="1778500" cy="369332"/>
          </a:xfrm>
          <a:prstGeom prst="rect">
            <a:avLst/>
          </a:prstGeom>
          <a:noFill/>
        </p:spPr>
        <p:txBody>
          <a:bodyPr wrap="none" rtlCol="0">
            <a:spAutoFit/>
          </a:bodyPr>
          <a:lstStyle/>
          <a:p>
            <a:r>
              <a:rPr lang="en-US" b="1" dirty="0"/>
              <a:t>Human-written</a:t>
            </a:r>
          </a:p>
        </p:txBody>
      </p:sp>
      <p:sp>
        <p:nvSpPr>
          <p:cNvPr id="35" name="TextBox 34">
            <a:extLst>
              <a:ext uri="{FF2B5EF4-FFF2-40B4-BE49-F238E27FC236}">
                <a16:creationId xmlns:a16="http://schemas.microsoft.com/office/drawing/2014/main" id="{ED445BD3-3745-B8B9-6D1E-8D4EB13767E6}"/>
              </a:ext>
            </a:extLst>
          </p:cNvPr>
          <p:cNvSpPr txBox="1"/>
          <p:nvPr/>
        </p:nvSpPr>
        <p:spPr>
          <a:xfrm>
            <a:off x="6066597" y="1923357"/>
            <a:ext cx="1262333" cy="646331"/>
          </a:xfrm>
          <a:prstGeom prst="rect">
            <a:avLst/>
          </a:prstGeom>
          <a:noFill/>
        </p:spPr>
        <p:txBody>
          <a:bodyPr wrap="none" rtlCol="0">
            <a:spAutoFit/>
          </a:bodyPr>
          <a:lstStyle/>
          <a:p>
            <a:r>
              <a:rPr lang="en-US" b="1" dirty="0"/>
              <a:t>Harness-</a:t>
            </a:r>
          </a:p>
          <a:p>
            <a:r>
              <a:rPr lang="en-US" b="1" dirty="0"/>
              <a:t>computed</a:t>
            </a:r>
          </a:p>
        </p:txBody>
      </p:sp>
      <p:sp>
        <p:nvSpPr>
          <p:cNvPr id="41" name="Rectangle 40">
            <a:extLst>
              <a:ext uri="{FF2B5EF4-FFF2-40B4-BE49-F238E27FC236}">
                <a16:creationId xmlns:a16="http://schemas.microsoft.com/office/drawing/2014/main" id="{44EE5C8C-7F3E-8C00-CEB5-606281ACAB0A}"/>
              </a:ext>
            </a:extLst>
          </p:cNvPr>
          <p:cNvSpPr/>
          <p:nvPr/>
        </p:nvSpPr>
        <p:spPr>
          <a:xfrm>
            <a:off x="7372518" y="3372589"/>
            <a:ext cx="2285574"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 + tool call</a:t>
            </a:r>
          </a:p>
        </p:txBody>
      </p:sp>
      <p:sp>
        <p:nvSpPr>
          <p:cNvPr id="42" name="Rectangle 41">
            <a:extLst>
              <a:ext uri="{FF2B5EF4-FFF2-40B4-BE49-F238E27FC236}">
                <a16:creationId xmlns:a16="http://schemas.microsoft.com/office/drawing/2014/main" id="{FE8B7171-9879-23A1-9A93-DAA87DFEF732}"/>
              </a:ext>
            </a:extLst>
          </p:cNvPr>
          <p:cNvSpPr/>
          <p:nvPr/>
        </p:nvSpPr>
        <p:spPr>
          <a:xfrm>
            <a:off x="9658092" y="3368615"/>
            <a:ext cx="1030147" cy="274899"/>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Self-call</a:t>
            </a:r>
          </a:p>
        </p:txBody>
      </p:sp>
      <p:sp>
        <p:nvSpPr>
          <p:cNvPr id="43" name="TextBox 42">
            <a:extLst>
              <a:ext uri="{FF2B5EF4-FFF2-40B4-BE49-F238E27FC236}">
                <a16:creationId xmlns:a16="http://schemas.microsoft.com/office/drawing/2014/main" id="{E0BCC944-B67E-57F7-427C-6538B2156EBE}"/>
              </a:ext>
            </a:extLst>
          </p:cNvPr>
          <p:cNvSpPr txBox="1"/>
          <p:nvPr/>
        </p:nvSpPr>
        <p:spPr>
          <a:xfrm>
            <a:off x="8398816" y="2061857"/>
            <a:ext cx="1405000" cy="369332"/>
          </a:xfrm>
          <a:prstGeom prst="rect">
            <a:avLst/>
          </a:prstGeom>
          <a:noFill/>
        </p:spPr>
        <p:txBody>
          <a:bodyPr wrap="none" rtlCol="0">
            <a:spAutoFit/>
          </a:bodyPr>
          <a:lstStyle/>
          <a:p>
            <a:r>
              <a:rPr lang="en-US" b="1" dirty="0"/>
              <a:t>LLM written</a:t>
            </a:r>
          </a:p>
        </p:txBody>
      </p:sp>
      <p:cxnSp>
        <p:nvCxnSpPr>
          <p:cNvPr id="45" name="Straight Connector 44">
            <a:extLst>
              <a:ext uri="{FF2B5EF4-FFF2-40B4-BE49-F238E27FC236}">
                <a16:creationId xmlns:a16="http://schemas.microsoft.com/office/drawing/2014/main" id="{D19D3D5F-D322-D8CB-A204-B9D65EAAE4E8}"/>
              </a:ext>
            </a:extLst>
          </p:cNvPr>
          <p:cNvCxnSpPr/>
          <p:nvPr/>
        </p:nvCxnSpPr>
        <p:spPr>
          <a:xfrm>
            <a:off x="2672832" y="1836921"/>
            <a:ext cx="0" cy="3338285"/>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A78C4E37-3E6D-D915-F312-F678232ED0BB}"/>
              </a:ext>
            </a:extLst>
          </p:cNvPr>
          <p:cNvCxnSpPr/>
          <p:nvPr/>
        </p:nvCxnSpPr>
        <p:spPr>
          <a:xfrm>
            <a:off x="5988551" y="1844869"/>
            <a:ext cx="0" cy="3338285"/>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0598C051-E030-0100-6F5A-750FBC2985FF}"/>
              </a:ext>
            </a:extLst>
          </p:cNvPr>
          <p:cNvCxnSpPr/>
          <p:nvPr/>
        </p:nvCxnSpPr>
        <p:spPr>
          <a:xfrm>
            <a:off x="7372518" y="1836920"/>
            <a:ext cx="0" cy="3338285"/>
          </a:xfrm>
          <a:prstGeom prst="line">
            <a:avLst/>
          </a:prstGeom>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63F5F472-6D2F-DCE6-2207-AA5D1802C567}"/>
              </a:ext>
            </a:extLst>
          </p:cNvPr>
          <p:cNvCxnSpPr/>
          <p:nvPr/>
        </p:nvCxnSpPr>
        <p:spPr>
          <a:xfrm>
            <a:off x="10694757" y="1759857"/>
            <a:ext cx="0" cy="3338285"/>
          </a:xfrm>
          <a:prstGeom prst="line">
            <a:avLst/>
          </a:prstGeom>
        </p:spPr>
        <p:style>
          <a:lnRef idx="2">
            <a:schemeClr val="accent1"/>
          </a:lnRef>
          <a:fillRef idx="0">
            <a:schemeClr val="accent1"/>
          </a:fillRef>
          <a:effectRef idx="1">
            <a:schemeClr val="accent1"/>
          </a:effectRef>
          <a:fontRef idx="minor">
            <a:schemeClr val="tx1"/>
          </a:fontRef>
        </p:style>
      </p:cxnSp>
      <p:sp>
        <p:nvSpPr>
          <p:cNvPr id="49" name="Rectangle 48">
            <a:extLst>
              <a:ext uri="{FF2B5EF4-FFF2-40B4-BE49-F238E27FC236}">
                <a16:creationId xmlns:a16="http://schemas.microsoft.com/office/drawing/2014/main" id="{92B9D502-41CB-A559-6175-44337506C63A}"/>
              </a:ext>
            </a:extLst>
          </p:cNvPr>
          <p:cNvSpPr/>
          <p:nvPr/>
        </p:nvSpPr>
        <p:spPr>
          <a:xfrm>
            <a:off x="5988550" y="3821570"/>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50" name="Rectangle 49">
            <a:extLst>
              <a:ext uri="{FF2B5EF4-FFF2-40B4-BE49-F238E27FC236}">
                <a16:creationId xmlns:a16="http://schemas.microsoft.com/office/drawing/2014/main" id="{C10A344E-245C-B103-FB03-D1C2411B741C}"/>
              </a:ext>
            </a:extLst>
          </p:cNvPr>
          <p:cNvSpPr/>
          <p:nvPr/>
        </p:nvSpPr>
        <p:spPr>
          <a:xfrm>
            <a:off x="2672831" y="3821570"/>
            <a:ext cx="2285574"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 + tool call</a:t>
            </a:r>
          </a:p>
        </p:txBody>
      </p:sp>
      <p:sp>
        <p:nvSpPr>
          <p:cNvPr id="51" name="Rectangle 50">
            <a:extLst>
              <a:ext uri="{FF2B5EF4-FFF2-40B4-BE49-F238E27FC236}">
                <a16:creationId xmlns:a16="http://schemas.microsoft.com/office/drawing/2014/main" id="{DFDD476C-652E-BE6F-D3AE-0C2A5D31897E}"/>
              </a:ext>
            </a:extLst>
          </p:cNvPr>
          <p:cNvSpPr/>
          <p:nvPr/>
        </p:nvSpPr>
        <p:spPr>
          <a:xfrm>
            <a:off x="1642684" y="3821570"/>
            <a:ext cx="1030147" cy="278873"/>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Self-call</a:t>
            </a:r>
          </a:p>
        </p:txBody>
      </p:sp>
      <p:sp>
        <p:nvSpPr>
          <p:cNvPr id="52" name="Rectangle 51">
            <a:extLst>
              <a:ext uri="{FF2B5EF4-FFF2-40B4-BE49-F238E27FC236}">
                <a16:creationId xmlns:a16="http://schemas.microsoft.com/office/drawing/2014/main" id="{2A6D8231-3048-11D1-6E24-F5A51E1F3A5D}"/>
              </a:ext>
            </a:extLst>
          </p:cNvPr>
          <p:cNvSpPr/>
          <p:nvPr/>
        </p:nvSpPr>
        <p:spPr>
          <a:xfrm>
            <a:off x="612539" y="3826483"/>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53" name="Rectangle 52">
            <a:extLst>
              <a:ext uri="{FF2B5EF4-FFF2-40B4-BE49-F238E27FC236}">
                <a16:creationId xmlns:a16="http://schemas.microsoft.com/office/drawing/2014/main" id="{A0AF3A0E-6780-B250-CE0D-589710A40A97}"/>
              </a:ext>
            </a:extLst>
          </p:cNvPr>
          <p:cNvSpPr/>
          <p:nvPr/>
        </p:nvSpPr>
        <p:spPr>
          <a:xfrm>
            <a:off x="4958405" y="3817596"/>
            <a:ext cx="1030147" cy="274899"/>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Self-call</a:t>
            </a:r>
          </a:p>
        </p:txBody>
      </p:sp>
      <p:sp>
        <p:nvSpPr>
          <p:cNvPr id="54" name="Rectangle 53">
            <a:extLst>
              <a:ext uri="{FF2B5EF4-FFF2-40B4-BE49-F238E27FC236}">
                <a16:creationId xmlns:a16="http://schemas.microsoft.com/office/drawing/2014/main" id="{DB4041A9-012C-26E3-FBE6-7C00E43DC8B7}"/>
              </a:ext>
            </a:extLst>
          </p:cNvPr>
          <p:cNvSpPr/>
          <p:nvPr/>
        </p:nvSpPr>
        <p:spPr>
          <a:xfrm>
            <a:off x="7372517" y="3817596"/>
            <a:ext cx="2285574"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 + tool call</a:t>
            </a:r>
          </a:p>
        </p:txBody>
      </p:sp>
      <p:sp>
        <p:nvSpPr>
          <p:cNvPr id="55" name="Rectangle 54">
            <a:extLst>
              <a:ext uri="{FF2B5EF4-FFF2-40B4-BE49-F238E27FC236}">
                <a16:creationId xmlns:a16="http://schemas.microsoft.com/office/drawing/2014/main" id="{90F00B6F-2150-A953-686F-17D443576B6B}"/>
              </a:ext>
            </a:extLst>
          </p:cNvPr>
          <p:cNvSpPr/>
          <p:nvPr/>
        </p:nvSpPr>
        <p:spPr>
          <a:xfrm>
            <a:off x="9658091" y="3813622"/>
            <a:ext cx="1030147" cy="274899"/>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Self-call</a:t>
            </a:r>
          </a:p>
        </p:txBody>
      </p:sp>
      <p:sp>
        <p:nvSpPr>
          <p:cNvPr id="56" name="Rectangle 55">
            <a:extLst>
              <a:ext uri="{FF2B5EF4-FFF2-40B4-BE49-F238E27FC236}">
                <a16:creationId xmlns:a16="http://schemas.microsoft.com/office/drawing/2014/main" id="{990FB89C-51A7-89D0-62B3-AFCA664E3A59}"/>
              </a:ext>
            </a:extLst>
          </p:cNvPr>
          <p:cNvSpPr/>
          <p:nvPr/>
        </p:nvSpPr>
        <p:spPr>
          <a:xfrm>
            <a:off x="10701276" y="3813622"/>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57" name="Rectangle 56">
            <a:extLst>
              <a:ext uri="{FF2B5EF4-FFF2-40B4-BE49-F238E27FC236}">
                <a16:creationId xmlns:a16="http://schemas.microsoft.com/office/drawing/2014/main" id="{6F5B8A61-DC94-D7EB-1922-4A38C9CB0F97}"/>
              </a:ext>
            </a:extLst>
          </p:cNvPr>
          <p:cNvSpPr/>
          <p:nvPr/>
        </p:nvSpPr>
        <p:spPr>
          <a:xfrm>
            <a:off x="12085243" y="3809648"/>
            <a:ext cx="2285574"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 + tool call</a:t>
            </a:r>
          </a:p>
        </p:txBody>
      </p:sp>
      <p:sp>
        <p:nvSpPr>
          <p:cNvPr id="58" name="TextBox 57">
            <a:extLst>
              <a:ext uri="{FF2B5EF4-FFF2-40B4-BE49-F238E27FC236}">
                <a16:creationId xmlns:a16="http://schemas.microsoft.com/office/drawing/2014/main" id="{7B543A24-4CC8-D69B-4B05-52F47A8698D9}"/>
              </a:ext>
            </a:extLst>
          </p:cNvPr>
          <p:cNvSpPr txBox="1"/>
          <p:nvPr/>
        </p:nvSpPr>
        <p:spPr>
          <a:xfrm>
            <a:off x="10822910" y="1923357"/>
            <a:ext cx="1262333" cy="646331"/>
          </a:xfrm>
          <a:prstGeom prst="rect">
            <a:avLst/>
          </a:prstGeom>
          <a:noFill/>
        </p:spPr>
        <p:txBody>
          <a:bodyPr wrap="none" rtlCol="0">
            <a:spAutoFit/>
          </a:bodyPr>
          <a:lstStyle/>
          <a:p>
            <a:r>
              <a:rPr lang="en-US" b="1" dirty="0"/>
              <a:t>Harness-</a:t>
            </a:r>
          </a:p>
          <a:p>
            <a:r>
              <a:rPr lang="en-US" b="1" dirty="0"/>
              <a:t>computed</a:t>
            </a:r>
          </a:p>
        </p:txBody>
      </p:sp>
      <p:cxnSp>
        <p:nvCxnSpPr>
          <p:cNvPr id="59" name="Straight Connector 58">
            <a:extLst>
              <a:ext uri="{FF2B5EF4-FFF2-40B4-BE49-F238E27FC236}">
                <a16:creationId xmlns:a16="http://schemas.microsoft.com/office/drawing/2014/main" id="{47B64F54-F234-1F5C-49A8-62EBA2366663}"/>
              </a:ext>
            </a:extLst>
          </p:cNvPr>
          <p:cNvCxnSpPr/>
          <p:nvPr/>
        </p:nvCxnSpPr>
        <p:spPr>
          <a:xfrm>
            <a:off x="12085243" y="1836919"/>
            <a:ext cx="0" cy="3338285"/>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148523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328C7-DC6B-C565-6020-3A7532ED9FD3}"/>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89969042-9D80-18B9-DDEE-CA6CAF8EE33F}"/>
              </a:ext>
            </a:extLst>
          </p:cNvPr>
          <p:cNvSpPr/>
          <p:nvPr/>
        </p:nvSpPr>
        <p:spPr>
          <a:xfrm>
            <a:off x="612539" y="2618311"/>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20" name="Rectangle 19">
            <a:extLst>
              <a:ext uri="{FF2B5EF4-FFF2-40B4-BE49-F238E27FC236}">
                <a16:creationId xmlns:a16="http://schemas.microsoft.com/office/drawing/2014/main" id="{760C2B92-A7A0-BDCA-1A45-EFD15C9FC067}"/>
              </a:ext>
            </a:extLst>
          </p:cNvPr>
          <p:cNvSpPr/>
          <p:nvPr/>
        </p:nvSpPr>
        <p:spPr>
          <a:xfrm>
            <a:off x="2672832" y="2993463"/>
            <a:ext cx="2285574"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 + tool call</a:t>
            </a:r>
          </a:p>
        </p:txBody>
      </p:sp>
      <p:sp>
        <p:nvSpPr>
          <p:cNvPr id="24" name="Rectangle 23">
            <a:extLst>
              <a:ext uri="{FF2B5EF4-FFF2-40B4-BE49-F238E27FC236}">
                <a16:creationId xmlns:a16="http://schemas.microsoft.com/office/drawing/2014/main" id="{B608C2E0-0C0B-201A-36E0-879EBEC6F8CD}"/>
              </a:ext>
            </a:extLst>
          </p:cNvPr>
          <p:cNvSpPr/>
          <p:nvPr/>
        </p:nvSpPr>
        <p:spPr>
          <a:xfrm>
            <a:off x="1642685" y="2993463"/>
            <a:ext cx="1030147" cy="278873"/>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Self-call</a:t>
            </a:r>
          </a:p>
        </p:txBody>
      </p:sp>
      <p:sp>
        <p:nvSpPr>
          <p:cNvPr id="25" name="Rectangle 24">
            <a:extLst>
              <a:ext uri="{FF2B5EF4-FFF2-40B4-BE49-F238E27FC236}">
                <a16:creationId xmlns:a16="http://schemas.microsoft.com/office/drawing/2014/main" id="{B9377E09-BB11-0F8D-7DBA-FAC2680F5A75}"/>
              </a:ext>
            </a:extLst>
          </p:cNvPr>
          <p:cNvSpPr/>
          <p:nvPr/>
        </p:nvSpPr>
        <p:spPr>
          <a:xfrm>
            <a:off x="5988551" y="3376563"/>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sp>
        <p:nvSpPr>
          <p:cNvPr id="26" name="Rectangle 25">
            <a:extLst>
              <a:ext uri="{FF2B5EF4-FFF2-40B4-BE49-F238E27FC236}">
                <a16:creationId xmlns:a16="http://schemas.microsoft.com/office/drawing/2014/main" id="{87D2B68F-3F46-DB53-85C5-02A5492B9814}"/>
              </a:ext>
            </a:extLst>
          </p:cNvPr>
          <p:cNvSpPr/>
          <p:nvPr/>
        </p:nvSpPr>
        <p:spPr>
          <a:xfrm>
            <a:off x="612540" y="2998376"/>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27" name="Rectangle 26">
            <a:extLst>
              <a:ext uri="{FF2B5EF4-FFF2-40B4-BE49-F238E27FC236}">
                <a16:creationId xmlns:a16="http://schemas.microsoft.com/office/drawing/2014/main" id="{3C794559-6587-F920-A1C3-4D68FB00A6C6}"/>
              </a:ext>
            </a:extLst>
          </p:cNvPr>
          <p:cNvSpPr/>
          <p:nvPr/>
        </p:nvSpPr>
        <p:spPr>
          <a:xfrm>
            <a:off x="1642687" y="2618311"/>
            <a:ext cx="1030146" cy="274899"/>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Self-call</a:t>
            </a:r>
          </a:p>
        </p:txBody>
      </p:sp>
      <p:sp>
        <p:nvSpPr>
          <p:cNvPr id="28" name="Rectangle 27">
            <a:extLst>
              <a:ext uri="{FF2B5EF4-FFF2-40B4-BE49-F238E27FC236}">
                <a16:creationId xmlns:a16="http://schemas.microsoft.com/office/drawing/2014/main" id="{D2A8E807-C95A-47AF-D2FA-DEBB5CCF2E3C}"/>
              </a:ext>
            </a:extLst>
          </p:cNvPr>
          <p:cNvSpPr/>
          <p:nvPr/>
        </p:nvSpPr>
        <p:spPr>
          <a:xfrm>
            <a:off x="4958406" y="2989489"/>
            <a:ext cx="1030147" cy="274899"/>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Self-call</a:t>
            </a:r>
          </a:p>
        </p:txBody>
      </p:sp>
      <p:sp>
        <p:nvSpPr>
          <p:cNvPr id="29" name="Rectangle 28">
            <a:extLst>
              <a:ext uri="{FF2B5EF4-FFF2-40B4-BE49-F238E27FC236}">
                <a16:creationId xmlns:a16="http://schemas.microsoft.com/office/drawing/2014/main" id="{81D46027-5992-FB5E-2818-DF9BA1C0A7DD}"/>
              </a:ext>
            </a:extLst>
          </p:cNvPr>
          <p:cNvSpPr/>
          <p:nvPr/>
        </p:nvSpPr>
        <p:spPr>
          <a:xfrm>
            <a:off x="2672832" y="3376563"/>
            <a:ext cx="2285574"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 + tool call</a:t>
            </a:r>
          </a:p>
        </p:txBody>
      </p:sp>
      <p:sp>
        <p:nvSpPr>
          <p:cNvPr id="30" name="Rectangle 29">
            <a:extLst>
              <a:ext uri="{FF2B5EF4-FFF2-40B4-BE49-F238E27FC236}">
                <a16:creationId xmlns:a16="http://schemas.microsoft.com/office/drawing/2014/main" id="{62402123-3C3E-1979-A82A-44749A75C54C}"/>
              </a:ext>
            </a:extLst>
          </p:cNvPr>
          <p:cNvSpPr/>
          <p:nvPr/>
        </p:nvSpPr>
        <p:spPr>
          <a:xfrm>
            <a:off x="1642685" y="3376563"/>
            <a:ext cx="1030147" cy="278873"/>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Self-call</a:t>
            </a:r>
          </a:p>
        </p:txBody>
      </p:sp>
      <p:sp>
        <p:nvSpPr>
          <p:cNvPr id="31" name="Rectangle 30">
            <a:extLst>
              <a:ext uri="{FF2B5EF4-FFF2-40B4-BE49-F238E27FC236}">
                <a16:creationId xmlns:a16="http://schemas.microsoft.com/office/drawing/2014/main" id="{8A6E8F35-BE7E-AF7A-4C09-4691C9923FB2}"/>
              </a:ext>
            </a:extLst>
          </p:cNvPr>
          <p:cNvSpPr/>
          <p:nvPr/>
        </p:nvSpPr>
        <p:spPr>
          <a:xfrm>
            <a:off x="612540" y="3381476"/>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32" name="Rectangle 31">
            <a:extLst>
              <a:ext uri="{FF2B5EF4-FFF2-40B4-BE49-F238E27FC236}">
                <a16:creationId xmlns:a16="http://schemas.microsoft.com/office/drawing/2014/main" id="{ECD409C0-DB2F-2F84-0DD8-A3ABBC074040}"/>
              </a:ext>
            </a:extLst>
          </p:cNvPr>
          <p:cNvSpPr/>
          <p:nvPr/>
        </p:nvSpPr>
        <p:spPr>
          <a:xfrm>
            <a:off x="4958406" y="3372589"/>
            <a:ext cx="1030147" cy="274899"/>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Self-call</a:t>
            </a:r>
          </a:p>
        </p:txBody>
      </p:sp>
      <p:sp>
        <p:nvSpPr>
          <p:cNvPr id="33" name="TextBox 32">
            <a:extLst>
              <a:ext uri="{FF2B5EF4-FFF2-40B4-BE49-F238E27FC236}">
                <a16:creationId xmlns:a16="http://schemas.microsoft.com/office/drawing/2014/main" id="{90CA7276-1D16-1ABD-6AA2-78D26E2D08D6}"/>
              </a:ext>
            </a:extLst>
          </p:cNvPr>
          <p:cNvSpPr txBox="1"/>
          <p:nvPr/>
        </p:nvSpPr>
        <p:spPr>
          <a:xfrm>
            <a:off x="3624932" y="2062685"/>
            <a:ext cx="1405000" cy="369332"/>
          </a:xfrm>
          <a:prstGeom prst="rect">
            <a:avLst/>
          </a:prstGeom>
          <a:noFill/>
        </p:spPr>
        <p:txBody>
          <a:bodyPr wrap="none" rtlCol="0">
            <a:spAutoFit/>
          </a:bodyPr>
          <a:lstStyle/>
          <a:p>
            <a:r>
              <a:rPr lang="en-US" b="1" dirty="0"/>
              <a:t>LLM written</a:t>
            </a:r>
          </a:p>
        </p:txBody>
      </p:sp>
      <p:sp>
        <p:nvSpPr>
          <p:cNvPr id="34" name="TextBox 33">
            <a:extLst>
              <a:ext uri="{FF2B5EF4-FFF2-40B4-BE49-F238E27FC236}">
                <a16:creationId xmlns:a16="http://schemas.microsoft.com/office/drawing/2014/main" id="{5D822257-5A16-3DDA-4102-2DCB913AA40F}"/>
              </a:ext>
            </a:extLst>
          </p:cNvPr>
          <p:cNvSpPr txBox="1"/>
          <p:nvPr/>
        </p:nvSpPr>
        <p:spPr>
          <a:xfrm>
            <a:off x="816878" y="2061857"/>
            <a:ext cx="1778500" cy="369332"/>
          </a:xfrm>
          <a:prstGeom prst="rect">
            <a:avLst/>
          </a:prstGeom>
          <a:noFill/>
        </p:spPr>
        <p:txBody>
          <a:bodyPr wrap="none" rtlCol="0">
            <a:spAutoFit/>
          </a:bodyPr>
          <a:lstStyle/>
          <a:p>
            <a:r>
              <a:rPr lang="en-US" b="1" dirty="0"/>
              <a:t>Human-written</a:t>
            </a:r>
          </a:p>
        </p:txBody>
      </p:sp>
      <p:sp>
        <p:nvSpPr>
          <p:cNvPr id="35" name="TextBox 34">
            <a:extLst>
              <a:ext uri="{FF2B5EF4-FFF2-40B4-BE49-F238E27FC236}">
                <a16:creationId xmlns:a16="http://schemas.microsoft.com/office/drawing/2014/main" id="{5C777527-3EB9-A3FF-A352-BABCFE88724F}"/>
              </a:ext>
            </a:extLst>
          </p:cNvPr>
          <p:cNvSpPr txBox="1"/>
          <p:nvPr/>
        </p:nvSpPr>
        <p:spPr>
          <a:xfrm>
            <a:off x="6066597" y="1923357"/>
            <a:ext cx="1262333" cy="646331"/>
          </a:xfrm>
          <a:prstGeom prst="rect">
            <a:avLst/>
          </a:prstGeom>
          <a:noFill/>
        </p:spPr>
        <p:txBody>
          <a:bodyPr wrap="none" rtlCol="0">
            <a:spAutoFit/>
          </a:bodyPr>
          <a:lstStyle/>
          <a:p>
            <a:r>
              <a:rPr lang="en-US" b="1" dirty="0"/>
              <a:t>Harness-</a:t>
            </a:r>
          </a:p>
          <a:p>
            <a:r>
              <a:rPr lang="en-US" b="1" dirty="0"/>
              <a:t>computed</a:t>
            </a:r>
          </a:p>
        </p:txBody>
      </p:sp>
      <p:sp>
        <p:nvSpPr>
          <p:cNvPr id="41" name="Rectangle 40">
            <a:extLst>
              <a:ext uri="{FF2B5EF4-FFF2-40B4-BE49-F238E27FC236}">
                <a16:creationId xmlns:a16="http://schemas.microsoft.com/office/drawing/2014/main" id="{9C1B0287-CAFD-2081-FC12-5EB1F337C58F}"/>
              </a:ext>
            </a:extLst>
          </p:cNvPr>
          <p:cNvSpPr/>
          <p:nvPr/>
        </p:nvSpPr>
        <p:spPr>
          <a:xfrm>
            <a:off x="7372518" y="3372589"/>
            <a:ext cx="2285574"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 + tool call</a:t>
            </a:r>
          </a:p>
        </p:txBody>
      </p:sp>
      <p:sp>
        <p:nvSpPr>
          <p:cNvPr id="42" name="Rectangle 41">
            <a:extLst>
              <a:ext uri="{FF2B5EF4-FFF2-40B4-BE49-F238E27FC236}">
                <a16:creationId xmlns:a16="http://schemas.microsoft.com/office/drawing/2014/main" id="{942B6ACB-2E1C-4203-A079-F528C5AAFBCB}"/>
              </a:ext>
            </a:extLst>
          </p:cNvPr>
          <p:cNvSpPr/>
          <p:nvPr/>
        </p:nvSpPr>
        <p:spPr>
          <a:xfrm>
            <a:off x="9658092" y="3368615"/>
            <a:ext cx="1030147" cy="274899"/>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Self-call</a:t>
            </a:r>
          </a:p>
        </p:txBody>
      </p:sp>
      <p:sp>
        <p:nvSpPr>
          <p:cNvPr id="43" name="TextBox 42">
            <a:extLst>
              <a:ext uri="{FF2B5EF4-FFF2-40B4-BE49-F238E27FC236}">
                <a16:creationId xmlns:a16="http://schemas.microsoft.com/office/drawing/2014/main" id="{61FCC032-85C3-D0A4-8F11-C143E6FD576A}"/>
              </a:ext>
            </a:extLst>
          </p:cNvPr>
          <p:cNvSpPr txBox="1"/>
          <p:nvPr/>
        </p:nvSpPr>
        <p:spPr>
          <a:xfrm>
            <a:off x="8398816" y="2061857"/>
            <a:ext cx="1405000" cy="369332"/>
          </a:xfrm>
          <a:prstGeom prst="rect">
            <a:avLst/>
          </a:prstGeom>
          <a:noFill/>
        </p:spPr>
        <p:txBody>
          <a:bodyPr wrap="none" rtlCol="0">
            <a:spAutoFit/>
          </a:bodyPr>
          <a:lstStyle/>
          <a:p>
            <a:r>
              <a:rPr lang="en-US" b="1" dirty="0"/>
              <a:t>LLM written</a:t>
            </a:r>
          </a:p>
        </p:txBody>
      </p:sp>
      <p:cxnSp>
        <p:nvCxnSpPr>
          <p:cNvPr id="45" name="Straight Connector 44">
            <a:extLst>
              <a:ext uri="{FF2B5EF4-FFF2-40B4-BE49-F238E27FC236}">
                <a16:creationId xmlns:a16="http://schemas.microsoft.com/office/drawing/2014/main" id="{57FCBCE8-51ED-80FF-62E2-931FA3C50EF6}"/>
              </a:ext>
            </a:extLst>
          </p:cNvPr>
          <p:cNvCxnSpPr>
            <a:cxnSpLocks/>
          </p:cNvCxnSpPr>
          <p:nvPr/>
        </p:nvCxnSpPr>
        <p:spPr>
          <a:xfrm>
            <a:off x="2672832" y="1836921"/>
            <a:ext cx="0" cy="1814541"/>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5F3FEC11-3FA0-9C0C-98EA-E733E52177F3}"/>
              </a:ext>
            </a:extLst>
          </p:cNvPr>
          <p:cNvCxnSpPr>
            <a:cxnSpLocks/>
          </p:cNvCxnSpPr>
          <p:nvPr/>
        </p:nvCxnSpPr>
        <p:spPr>
          <a:xfrm>
            <a:off x="5988551" y="1844869"/>
            <a:ext cx="0" cy="1806593"/>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829D2A24-4ECF-8EBF-9BEA-1D33CC8F122D}"/>
              </a:ext>
            </a:extLst>
          </p:cNvPr>
          <p:cNvCxnSpPr>
            <a:cxnSpLocks/>
          </p:cNvCxnSpPr>
          <p:nvPr/>
        </p:nvCxnSpPr>
        <p:spPr>
          <a:xfrm>
            <a:off x="7372518" y="1836920"/>
            <a:ext cx="0" cy="1814542"/>
          </a:xfrm>
          <a:prstGeom prst="line">
            <a:avLst/>
          </a:prstGeom>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2DF57463-A30E-75AD-4AB0-01052C397195}"/>
              </a:ext>
            </a:extLst>
          </p:cNvPr>
          <p:cNvCxnSpPr/>
          <p:nvPr/>
        </p:nvCxnSpPr>
        <p:spPr>
          <a:xfrm>
            <a:off x="10694757" y="1759857"/>
            <a:ext cx="0" cy="3338285"/>
          </a:xfrm>
          <a:prstGeom prst="line">
            <a:avLst/>
          </a:prstGeom>
        </p:spPr>
        <p:style>
          <a:lnRef idx="2">
            <a:schemeClr val="accent1"/>
          </a:lnRef>
          <a:fillRef idx="0">
            <a:schemeClr val="accent1"/>
          </a:fillRef>
          <a:effectRef idx="1">
            <a:schemeClr val="accent1"/>
          </a:effectRef>
          <a:fontRef idx="minor">
            <a:schemeClr val="tx1"/>
          </a:fontRef>
        </p:style>
      </p:cxnSp>
      <p:sp>
        <p:nvSpPr>
          <p:cNvPr id="52" name="Rectangle 51">
            <a:extLst>
              <a:ext uri="{FF2B5EF4-FFF2-40B4-BE49-F238E27FC236}">
                <a16:creationId xmlns:a16="http://schemas.microsoft.com/office/drawing/2014/main" id="{D200D546-5905-543E-713D-8E5111C5A85F}"/>
              </a:ext>
            </a:extLst>
          </p:cNvPr>
          <p:cNvSpPr/>
          <p:nvPr/>
        </p:nvSpPr>
        <p:spPr>
          <a:xfrm>
            <a:off x="612539" y="3826483"/>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pic>
        <p:nvPicPr>
          <p:cNvPr id="3" name="Picture 2">
            <a:extLst>
              <a:ext uri="{FF2B5EF4-FFF2-40B4-BE49-F238E27FC236}">
                <a16:creationId xmlns:a16="http://schemas.microsoft.com/office/drawing/2014/main" id="{A1E45813-1153-4427-6E06-55935ADD19E5}"/>
              </a:ext>
            </a:extLst>
          </p:cNvPr>
          <p:cNvPicPr>
            <a:picLocks noChangeAspect="1"/>
          </p:cNvPicPr>
          <p:nvPr/>
        </p:nvPicPr>
        <p:blipFill>
          <a:blip r:embed="rId2"/>
          <a:srcRect t="67079" b="11057"/>
          <a:stretch>
            <a:fillRect/>
          </a:stretch>
        </p:blipFill>
        <p:spPr>
          <a:xfrm>
            <a:off x="5200604" y="6112631"/>
            <a:ext cx="6629400" cy="391520"/>
          </a:xfrm>
          <a:prstGeom prst="rect">
            <a:avLst/>
          </a:prstGeom>
        </p:spPr>
      </p:pic>
    </p:spTree>
    <p:extLst>
      <p:ext uri="{BB962C8B-B14F-4D97-AF65-F5344CB8AC3E}">
        <p14:creationId xmlns:p14="http://schemas.microsoft.com/office/powerpoint/2010/main" val="25061337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F5FD7-DEBF-E360-B9D1-649B71FB4314}"/>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B6247142-F324-4D48-09B1-2813989E841D}"/>
              </a:ext>
            </a:extLst>
          </p:cNvPr>
          <p:cNvSpPr>
            <a:spLocks noGrp="1"/>
          </p:cNvSpPr>
          <p:nvPr>
            <p:ph type="body" idx="1"/>
          </p:nvPr>
        </p:nvSpPr>
        <p:spPr/>
        <p:txBody>
          <a:bodyPr/>
          <a:lstStyle/>
          <a:p>
            <a:endParaRPr lang="en-US"/>
          </a:p>
        </p:txBody>
      </p:sp>
      <p:sp>
        <p:nvSpPr>
          <p:cNvPr id="4" name="Content Placeholder 3">
            <a:extLst>
              <a:ext uri="{FF2B5EF4-FFF2-40B4-BE49-F238E27FC236}">
                <a16:creationId xmlns:a16="http://schemas.microsoft.com/office/drawing/2014/main" id="{02F05F4B-B25D-97D6-671F-791B329DF9D1}"/>
              </a:ext>
            </a:extLst>
          </p:cNvPr>
          <p:cNvSpPr>
            <a:spLocks noGrp="1"/>
          </p:cNvSpPr>
          <p:nvPr>
            <p:ph sz="half" idx="2"/>
          </p:nvPr>
        </p:nvSpPr>
        <p:spPr/>
        <p:txBody>
          <a:bodyPr/>
          <a:lstStyle/>
          <a:p>
            <a:endParaRPr lang="en-US"/>
          </a:p>
        </p:txBody>
      </p:sp>
      <p:sp>
        <p:nvSpPr>
          <p:cNvPr id="5" name="Text Placeholder 4">
            <a:extLst>
              <a:ext uri="{FF2B5EF4-FFF2-40B4-BE49-F238E27FC236}">
                <a16:creationId xmlns:a16="http://schemas.microsoft.com/office/drawing/2014/main" id="{6EC16A05-5D32-26B7-462D-9DF9A78A9290}"/>
              </a:ext>
            </a:extLst>
          </p:cNvPr>
          <p:cNvSpPr>
            <a:spLocks noGrp="1"/>
          </p:cNvSpPr>
          <p:nvPr>
            <p:ph type="body" sz="quarter" idx="3"/>
          </p:nvPr>
        </p:nvSpPr>
        <p:spPr/>
        <p:txBody>
          <a:bodyPr/>
          <a:lstStyle/>
          <a:p>
            <a:endParaRPr lang="en-US"/>
          </a:p>
        </p:txBody>
      </p:sp>
      <p:sp>
        <p:nvSpPr>
          <p:cNvPr id="6" name="Content Placeholder 5">
            <a:extLst>
              <a:ext uri="{FF2B5EF4-FFF2-40B4-BE49-F238E27FC236}">
                <a16:creationId xmlns:a16="http://schemas.microsoft.com/office/drawing/2014/main" id="{657045BD-705E-1246-AD37-6D6D3673687C}"/>
              </a:ext>
            </a:extLst>
          </p:cNvPr>
          <p:cNvSpPr>
            <a:spLocks noGrp="1"/>
          </p:cNvSpPr>
          <p:nvPr>
            <p:ph sz="quarter" idx="4"/>
          </p:nvPr>
        </p:nvSpPr>
        <p:spPr/>
        <p:txBody>
          <a:bodyPr/>
          <a:lstStyle/>
          <a:p>
            <a:endParaRPr lang="en-US"/>
          </a:p>
        </p:txBody>
      </p:sp>
    </p:spTree>
    <p:extLst>
      <p:ext uri="{BB962C8B-B14F-4D97-AF65-F5344CB8AC3E}">
        <p14:creationId xmlns:p14="http://schemas.microsoft.com/office/powerpoint/2010/main" val="28959164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243C6-C419-275A-A1AB-B2115A3DFE61}"/>
            </a:ext>
          </a:extLst>
        </p:cNvPr>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E59664F6-6029-13B7-430D-41062B167B76}"/>
              </a:ext>
            </a:extLst>
          </p:cNvPr>
          <p:cNvSpPr txBox="1">
            <a:spLocks/>
          </p:cNvSpPr>
          <p:nvPr/>
        </p:nvSpPr>
        <p:spPr>
          <a:xfrm>
            <a:off x="838200" y="2505074"/>
            <a:ext cx="5488172" cy="3536951"/>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dirty="0"/>
          </a:p>
        </p:txBody>
      </p:sp>
      <p:sp>
        <p:nvSpPr>
          <p:cNvPr id="16" name="TextBox 15">
            <a:extLst>
              <a:ext uri="{FF2B5EF4-FFF2-40B4-BE49-F238E27FC236}">
                <a16:creationId xmlns:a16="http://schemas.microsoft.com/office/drawing/2014/main" id="{F28719C6-B4F7-9773-93BC-75C633327D9F}"/>
              </a:ext>
            </a:extLst>
          </p:cNvPr>
          <p:cNvSpPr txBox="1"/>
          <p:nvPr/>
        </p:nvSpPr>
        <p:spPr>
          <a:xfrm>
            <a:off x="3015718" y="1906011"/>
            <a:ext cx="4253024" cy="584775"/>
          </a:xfrm>
          <a:prstGeom prst="rect">
            <a:avLst/>
          </a:prstGeom>
          <a:noFill/>
        </p:spPr>
        <p:txBody>
          <a:bodyPr wrap="none" rtlCol="0">
            <a:spAutoFit/>
          </a:bodyPr>
          <a:lstStyle/>
          <a:p>
            <a:r>
              <a:rPr lang="en-US" sz="3200" dirty="0">
                <a:solidFill>
                  <a:srgbClr val="FF0000"/>
                </a:solidFill>
              </a:rPr>
              <a:t>1. How does this work?</a:t>
            </a:r>
          </a:p>
        </p:txBody>
      </p:sp>
      <p:pic>
        <p:nvPicPr>
          <p:cNvPr id="2" name="Picture 1">
            <a:extLst>
              <a:ext uri="{FF2B5EF4-FFF2-40B4-BE49-F238E27FC236}">
                <a16:creationId xmlns:a16="http://schemas.microsoft.com/office/drawing/2014/main" id="{18B21D14-FB4A-7737-2576-0549A3646B90}"/>
              </a:ext>
            </a:extLst>
          </p:cNvPr>
          <p:cNvPicPr>
            <a:picLocks noChangeAspect="1"/>
          </p:cNvPicPr>
          <p:nvPr/>
        </p:nvPicPr>
        <p:blipFill>
          <a:blip r:embed="rId2"/>
          <a:stretch>
            <a:fillRect/>
          </a:stretch>
        </p:blipFill>
        <p:spPr>
          <a:xfrm>
            <a:off x="2189616" y="2533650"/>
            <a:ext cx="6629400" cy="1790700"/>
          </a:xfrm>
          <a:prstGeom prst="rect">
            <a:avLst/>
          </a:prstGeom>
        </p:spPr>
      </p:pic>
      <p:sp>
        <p:nvSpPr>
          <p:cNvPr id="20" name="Rectangle 19">
            <a:extLst>
              <a:ext uri="{FF2B5EF4-FFF2-40B4-BE49-F238E27FC236}">
                <a16:creationId xmlns:a16="http://schemas.microsoft.com/office/drawing/2014/main" id="{315994F4-3981-6AFF-69FD-BD3B5CCA0630}"/>
              </a:ext>
            </a:extLst>
          </p:cNvPr>
          <p:cNvSpPr/>
          <p:nvPr/>
        </p:nvSpPr>
        <p:spPr>
          <a:xfrm>
            <a:off x="2708730" y="2770679"/>
            <a:ext cx="5970813" cy="35481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03498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F0116-EC40-4DBB-098C-3C5B097F6968}"/>
            </a:ext>
          </a:extLst>
        </p:cNvPr>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91E7D1EF-D864-C0AC-3F89-FA5ED2357A75}"/>
              </a:ext>
            </a:extLst>
          </p:cNvPr>
          <p:cNvSpPr txBox="1">
            <a:spLocks/>
          </p:cNvSpPr>
          <p:nvPr/>
        </p:nvSpPr>
        <p:spPr>
          <a:xfrm>
            <a:off x="838200" y="2505074"/>
            <a:ext cx="5488172" cy="3536951"/>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dirty="0"/>
          </a:p>
        </p:txBody>
      </p:sp>
      <p:sp>
        <p:nvSpPr>
          <p:cNvPr id="16" name="TextBox 15">
            <a:extLst>
              <a:ext uri="{FF2B5EF4-FFF2-40B4-BE49-F238E27FC236}">
                <a16:creationId xmlns:a16="http://schemas.microsoft.com/office/drawing/2014/main" id="{31C2C092-4DB4-7ABA-0655-B2181E787493}"/>
              </a:ext>
            </a:extLst>
          </p:cNvPr>
          <p:cNvSpPr txBox="1"/>
          <p:nvPr/>
        </p:nvSpPr>
        <p:spPr>
          <a:xfrm>
            <a:off x="2189616" y="1801784"/>
            <a:ext cx="8310608" cy="584775"/>
          </a:xfrm>
          <a:prstGeom prst="rect">
            <a:avLst/>
          </a:prstGeom>
          <a:noFill/>
        </p:spPr>
        <p:txBody>
          <a:bodyPr wrap="none" rtlCol="0">
            <a:spAutoFit/>
          </a:bodyPr>
          <a:lstStyle/>
          <a:p>
            <a:r>
              <a:rPr lang="en-US" sz="3200" dirty="0">
                <a:solidFill>
                  <a:srgbClr val="FF0000"/>
                </a:solidFill>
              </a:rPr>
              <a:t>2. How does the </a:t>
            </a:r>
            <a:r>
              <a:rPr lang="en-US" sz="3200" dirty="0" err="1">
                <a:solidFill>
                  <a:srgbClr val="FF0000"/>
                </a:solidFill>
              </a:rPr>
              <a:t>recusion</a:t>
            </a:r>
            <a:r>
              <a:rPr lang="en-US" sz="3200" dirty="0">
                <a:solidFill>
                  <a:srgbClr val="FF0000"/>
                </a:solidFill>
              </a:rPr>
              <a:t> avoid re-evaluation?</a:t>
            </a:r>
          </a:p>
        </p:txBody>
      </p:sp>
      <p:pic>
        <p:nvPicPr>
          <p:cNvPr id="2" name="Picture 1">
            <a:extLst>
              <a:ext uri="{FF2B5EF4-FFF2-40B4-BE49-F238E27FC236}">
                <a16:creationId xmlns:a16="http://schemas.microsoft.com/office/drawing/2014/main" id="{E80C4D6F-9D6D-10F9-5A24-21D46583855E}"/>
              </a:ext>
            </a:extLst>
          </p:cNvPr>
          <p:cNvPicPr>
            <a:picLocks noChangeAspect="1"/>
          </p:cNvPicPr>
          <p:nvPr/>
        </p:nvPicPr>
        <p:blipFill>
          <a:blip r:embed="rId2"/>
          <a:stretch>
            <a:fillRect/>
          </a:stretch>
        </p:blipFill>
        <p:spPr>
          <a:xfrm>
            <a:off x="2189616" y="2533650"/>
            <a:ext cx="6629400" cy="1790700"/>
          </a:xfrm>
          <a:prstGeom prst="rect">
            <a:avLst/>
          </a:prstGeom>
        </p:spPr>
      </p:pic>
      <p:sp>
        <p:nvSpPr>
          <p:cNvPr id="20" name="Rectangle 19">
            <a:extLst>
              <a:ext uri="{FF2B5EF4-FFF2-40B4-BE49-F238E27FC236}">
                <a16:creationId xmlns:a16="http://schemas.microsoft.com/office/drawing/2014/main" id="{F20298D5-4695-D3BE-23CF-5CDFE982C53E}"/>
              </a:ext>
            </a:extLst>
          </p:cNvPr>
          <p:cNvSpPr/>
          <p:nvPr/>
        </p:nvSpPr>
        <p:spPr>
          <a:xfrm>
            <a:off x="2708730" y="3075479"/>
            <a:ext cx="5970813" cy="35481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15767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4B483-61B9-F89E-93F9-6EAB117EF9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659F62-DE66-B0C1-B184-179B8C27FD21}"/>
              </a:ext>
            </a:extLst>
          </p:cNvPr>
          <p:cNvSpPr>
            <a:spLocks noGrp="1"/>
          </p:cNvSpPr>
          <p:nvPr>
            <p:ph type="title"/>
          </p:nvPr>
        </p:nvSpPr>
        <p:spPr/>
        <p:txBody>
          <a:bodyPr/>
          <a:lstStyle/>
          <a:p>
            <a:r>
              <a:rPr lang="en-US" dirty="0"/>
              <a:t>Spell </a:t>
            </a:r>
            <a:r>
              <a:rPr lang="en-US" sz="3600" dirty="0"/>
              <a:t>(self-prompting execution language for LLMs)</a:t>
            </a:r>
            <a:endParaRPr lang="en-US" dirty="0"/>
          </a:p>
        </p:txBody>
      </p:sp>
      <p:pic>
        <p:nvPicPr>
          <p:cNvPr id="11" name="Picture 10">
            <a:extLst>
              <a:ext uri="{FF2B5EF4-FFF2-40B4-BE49-F238E27FC236}">
                <a16:creationId xmlns:a16="http://schemas.microsoft.com/office/drawing/2014/main" id="{CFCD7B5F-3CE4-0613-9DB0-0E4FDADF6BE7}"/>
              </a:ext>
            </a:extLst>
          </p:cNvPr>
          <p:cNvPicPr>
            <a:picLocks noChangeAspect="1"/>
          </p:cNvPicPr>
          <p:nvPr/>
        </p:nvPicPr>
        <p:blipFill>
          <a:blip r:embed="rId2"/>
          <a:stretch>
            <a:fillRect/>
          </a:stretch>
        </p:blipFill>
        <p:spPr>
          <a:xfrm>
            <a:off x="432631" y="2970478"/>
            <a:ext cx="11522682" cy="2069607"/>
          </a:xfrm>
          <a:prstGeom prst="rect">
            <a:avLst/>
          </a:prstGeom>
        </p:spPr>
      </p:pic>
    </p:spTree>
    <p:extLst>
      <p:ext uri="{BB962C8B-B14F-4D97-AF65-F5344CB8AC3E}">
        <p14:creationId xmlns:p14="http://schemas.microsoft.com/office/powerpoint/2010/main" val="41144604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A570F-51FC-A85B-A53E-65533A3FE05E}"/>
              </a:ext>
            </a:extLst>
          </p:cNvPr>
          <p:cNvSpPr>
            <a:spLocks noGrp="1"/>
          </p:cNvSpPr>
          <p:nvPr>
            <p:ph type="title"/>
          </p:nvPr>
        </p:nvSpPr>
        <p:spPr/>
        <p:txBody>
          <a:bodyPr/>
          <a:lstStyle/>
          <a:p>
            <a:r>
              <a:rPr lang="en-US" dirty="0"/>
              <a:t>Context = code</a:t>
            </a:r>
          </a:p>
        </p:txBody>
      </p:sp>
      <p:sp>
        <p:nvSpPr>
          <p:cNvPr id="3" name="Content Placeholder 2">
            <a:extLst>
              <a:ext uri="{FF2B5EF4-FFF2-40B4-BE49-F238E27FC236}">
                <a16:creationId xmlns:a16="http://schemas.microsoft.com/office/drawing/2014/main" id="{6404D976-F5D7-3005-8DF8-8748A3EF293E}"/>
              </a:ext>
            </a:extLst>
          </p:cNvPr>
          <p:cNvSpPr>
            <a:spLocks noGrp="1"/>
          </p:cNvSpPr>
          <p:nvPr>
            <p:ph idx="1"/>
          </p:nvPr>
        </p:nvSpPr>
        <p:spPr/>
        <p:txBody>
          <a:bodyPr/>
          <a:lstStyle/>
          <a:p>
            <a:pPr marL="0" indent="0">
              <a:buNone/>
            </a:pPr>
            <a:r>
              <a:rPr lang="en-US" dirty="0"/>
              <a:t>LLM should be able to manipulate context programmatically</a:t>
            </a:r>
            <a:br>
              <a:rPr lang="en-US" dirty="0"/>
            </a:br>
            <a:br>
              <a:rPr lang="en-US" dirty="0"/>
            </a:br>
            <a:r>
              <a:rPr lang="en-US" dirty="0"/>
              <a:t>Motivates:</a:t>
            </a:r>
          </a:p>
          <a:p>
            <a:r>
              <a:rPr lang="en-US" dirty="0"/>
              <a:t>Lisp (“code is data”)</a:t>
            </a:r>
          </a:p>
          <a:p>
            <a:r>
              <a:rPr lang="en-US" dirty="0" err="1"/>
              <a:t>Quining</a:t>
            </a:r>
            <a:r>
              <a:rPr lang="en-US" dirty="0"/>
              <a:t> via ‘</a:t>
            </a:r>
            <a:r>
              <a:rPr lang="en-US" dirty="0" err="1"/>
              <a:t>uneval</a:t>
            </a:r>
            <a:r>
              <a:rPr lang="en-US" dirty="0"/>
              <a:t>’</a:t>
            </a:r>
          </a:p>
          <a:p>
            <a:pPr marL="0" indent="0">
              <a:buNone/>
            </a:pPr>
            <a:endParaRPr lang="en-US" dirty="0"/>
          </a:p>
          <a:p>
            <a:endParaRPr lang="en-US" dirty="0"/>
          </a:p>
        </p:txBody>
      </p:sp>
    </p:spTree>
    <p:extLst>
      <p:ext uri="{BB962C8B-B14F-4D97-AF65-F5344CB8AC3E}">
        <p14:creationId xmlns:p14="http://schemas.microsoft.com/office/powerpoint/2010/main" val="20243759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DFF8F-0714-F2A1-F5D1-1960743BB2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D0B0A5-5C27-2A32-8C2A-AFD957CD7FA7}"/>
              </a:ext>
            </a:extLst>
          </p:cNvPr>
          <p:cNvSpPr>
            <a:spLocks noGrp="1"/>
          </p:cNvSpPr>
          <p:nvPr>
            <p:ph type="title"/>
          </p:nvPr>
        </p:nvSpPr>
        <p:spPr/>
        <p:txBody>
          <a:bodyPr/>
          <a:lstStyle/>
          <a:p>
            <a:r>
              <a:rPr lang="en-US" dirty="0"/>
              <a:t>Environment = context</a:t>
            </a:r>
          </a:p>
        </p:txBody>
      </p:sp>
      <p:sp>
        <p:nvSpPr>
          <p:cNvPr id="3" name="Content Placeholder 2">
            <a:extLst>
              <a:ext uri="{FF2B5EF4-FFF2-40B4-BE49-F238E27FC236}">
                <a16:creationId xmlns:a16="http://schemas.microsoft.com/office/drawing/2014/main" id="{D0F8FA8E-031A-8E97-830E-35BEBB061EDC}"/>
              </a:ext>
            </a:extLst>
          </p:cNvPr>
          <p:cNvSpPr>
            <a:spLocks noGrp="1"/>
          </p:cNvSpPr>
          <p:nvPr>
            <p:ph idx="1"/>
          </p:nvPr>
        </p:nvSpPr>
        <p:spPr>
          <a:xfrm>
            <a:off x="838200" y="1908176"/>
            <a:ext cx="10515600" cy="4121149"/>
          </a:xfrm>
        </p:spPr>
        <p:txBody>
          <a:bodyPr/>
          <a:lstStyle/>
          <a:p>
            <a:pPr marL="0" indent="0">
              <a:buNone/>
            </a:pPr>
            <a:r>
              <a:rPr lang="en-US" dirty="0"/>
              <a:t>LLM cannot reason about anything not in its context window</a:t>
            </a:r>
          </a:p>
          <a:p>
            <a:pPr marL="0" indent="0">
              <a:buNone/>
            </a:pPr>
            <a:endParaRPr lang="en-US" dirty="0"/>
          </a:p>
          <a:p>
            <a:pPr marL="0" indent="0">
              <a:buNone/>
            </a:pPr>
            <a:r>
              <a:rPr lang="en-US" dirty="0"/>
              <a:t>Motivates:</a:t>
            </a:r>
          </a:p>
          <a:p>
            <a:r>
              <a:rPr lang="en-US" dirty="0"/>
              <a:t>Dynamic scoping (no function closures)</a:t>
            </a:r>
          </a:p>
          <a:p>
            <a:r>
              <a:rPr lang="en-US" dirty="0"/>
              <a:t>‘Expand’ free variables passed to child LLMs</a:t>
            </a:r>
          </a:p>
          <a:p>
            <a:endParaRPr lang="en-US" dirty="0"/>
          </a:p>
        </p:txBody>
      </p:sp>
    </p:spTree>
    <p:extLst>
      <p:ext uri="{BB962C8B-B14F-4D97-AF65-F5344CB8AC3E}">
        <p14:creationId xmlns:p14="http://schemas.microsoft.com/office/powerpoint/2010/main" val="24522591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F9B6F-918B-2786-F7FD-B527D934621B}"/>
              </a:ext>
            </a:extLst>
          </p:cNvPr>
          <p:cNvSpPr>
            <a:spLocks noGrp="1"/>
          </p:cNvSpPr>
          <p:nvPr>
            <p:ph type="title"/>
          </p:nvPr>
        </p:nvSpPr>
        <p:spPr/>
        <p:txBody>
          <a:bodyPr/>
          <a:lstStyle/>
          <a:p>
            <a:r>
              <a:rPr lang="en-US" dirty="0"/>
              <a:t>Why not Python?</a:t>
            </a:r>
          </a:p>
        </p:txBody>
      </p:sp>
      <p:sp>
        <p:nvSpPr>
          <p:cNvPr id="3" name="Content Placeholder 2">
            <a:extLst>
              <a:ext uri="{FF2B5EF4-FFF2-40B4-BE49-F238E27FC236}">
                <a16:creationId xmlns:a16="http://schemas.microsoft.com/office/drawing/2014/main" id="{0C00B413-02CA-0CAB-8B92-20BCC0ED149D}"/>
              </a:ext>
            </a:extLst>
          </p:cNvPr>
          <p:cNvSpPr>
            <a:spLocks noGrp="1"/>
          </p:cNvSpPr>
          <p:nvPr>
            <p:ph idx="1"/>
          </p:nvPr>
        </p:nvSpPr>
        <p:spPr/>
        <p:txBody>
          <a:bodyPr/>
          <a:lstStyle/>
          <a:p>
            <a:pPr marL="514350" indent="-514350">
              <a:buFont typeface="+mj-lt"/>
              <a:buAutoNum type="arabicPeriod"/>
            </a:pPr>
            <a:r>
              <a:rPr lang="en-US" dirty="0"/>
              <a:t>Quotes -&gt; strings; escaping nightmare</a:t>
            </a:r>
          </a:p>
          <a:p>
            <a:pPr marL="514350" indent="-514350">
              <a:buFont typeface="+mj-lt"/>
              <a:buAutoNum type="arabicPeriod"/>
            </a:pPr>
            <a:r>
              <a:rPr lang="en-US" dirty="0" err="1"/>
              <a:t>Quining</a:t>
            </a:r>
            <a:r>
              <a:rPr lang="en-US" dirty="0"/>
              <a:t> with ‘</a:t>
            </a:r>
            <a:r>
              <a:rPr lang="en-US" dirty="0" err="1"/>
              <a:t>uneval</a:t>
            </a:r>
            <a:r>
              <a:rPr lang="en-US" dirty="0"/>
              <a:t>’ – totally unclear how to do this </a:t>
            </a:r>
          </a:p>
          <a:p>
            <a:pPr marL="514350" indent="-514350">
              <a:buFont typeface="+mj-lt"/>
              <a:buAutoNum type="arabicPeriod"/>
            </a:pPr>
            <a:r>
              <a:rPr lang="en-US" dirty="0"/>
              <a:t>Custom evaluator - </a:t>
            </a:r>
          </a:p>
        </p:txBody>
      </p:sp>
    </p:spTree>
    <p:extLst>
      <p:ext uri="{BB962C8B-B14F-4D97-AF65-F5344CB8AC3E}">
        <p14:creationId xmlns:p14="http://schemas.microsoft.com/office/powerpoint/2010/main" val="36759114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BA9F0-70E8-DB17-2B66-F240F9A9A5AE}"/>
              </a:ext>
            </a:extLst>
          </p:cNvPr>
          <p:cNvSpPr>
            <a:spLocks noGrp="1"/>
          </p:cNvSpPr>
          <p:nvPr>
            <p:ph type="title"/>
          </p:nvPr>
        </p:nvSpPr>
        <p:spPr/>
        <p:txBody>
          <a:bodyPr/>
          <a:lstStyle/>
          <a:p>
            <a:r>
              <a:rPr lang="en-US" dirty="0"/>
              <a:t>Structure of every completion</a:t>
            </a:r>
          </a:p>
        </p:txBody>
      </p:sp>
      <p:pic>
        <p:nvPicPr>
          <p:cNvPr id="7" name="Picture 6">
            <a:extLst>
              <a:ext uri="{FF2B5EF4-FFF2-40B4-BE49-F238E27FC236}">
                <a16:creationId xmlns:a16="http://schemas.microsoft.com/office/drawing/2014/main" id="{E9DD7DF5-ABBA-725F-5C26-D7D36267AE06}"/>
              </a:ext>
            </a:extLst>
          </p:cNvPr>
          <p:cNvPicPr>
            <a:picLocks noChangeAspect="1"/>
          </p:cNvPicPr>
          <p:nvPr/>
        </p:nvPicPr>
        <p:blipFill>
          <a:blip r:embed="rId2"/>
          <a:stretch>
            <a:fillRect/>
          </a:stretch>
        </p:blipFill>
        <p:spPr>
          <a:xfrm>
            <a:off x="1705234" y="2349070"/>
            <a:ext cx="7721600" cy="2717800"/>
          </a:xfrm>
          <a:prstGeom prst="rect">
            <a:avLst/>
          </a:prstGeom>
        </p:spPr>
      </p:pic>
    </p:spTree>
    <p:extLst>
      <p:ext uri="{BB962C8B-B14F-4D97-AF65-F5344CB8AC3E}">
        <p14:creationId xmlns:p14="http://schemas.microsoft.com/office/powerpoint/2010/main" val="21414178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B5EED-0EAB-02AA-0049-E24F332FB0AD}"/>
              </a:ext>
            </a:extLst>
          </p:cNvPr>
          <p:cNvSpPr>
            <a:spLocks noGrp="1"/>
          </p:cNvSpPr>
          <p:nvPr>
            <p:ph type="title"/>
          </p:nvPr>
        </p:nvSpPr>
        <p:spPr/>
        <p:txBody>
          <a:bodyPr/>
          <a:lstStyle/>
          <a:p>
            <a:r>
              <a:rPr lang="en-US" dirty="0" err="1"/>
              <a:t>ReAct</a:t>
            </a:r>
            <a:r>
              <a:rPr lang="en-US" dirty="0"/>
              <a:t> loop in Spell</a:t>
            </a:r>
          </a:p>
        </p:txBody>
      </p:sp>
      <p:sp>
        <p:nvSpPr>
          <p:cNvPr id="9" name="Rectangle 8">
            <a:extLst>
              <a:ext uri="{FF2B5EF4-FFF2-40B4-BE49-F238E27FC236}">
                <a16:creationId xmlns:a16="http://schemas.microsoft.com/office/drawing/2014/main" id="{4B1233F7-6AC5-874A-7F32-4E303DD3B164}"/>
              </a:ext>
            </a:extLst>
          </p:cNvPr>
          <p:cNvSpPr/>
          <p:nvPr/>
        </p:nvSpPr>
        <p:spPr>
          <a:xfrm>
            <a:off x="3111125" y="4618311"/>
            <a:ext cx="1030147" cy="2748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Prompt</a:t>
            </a:r>
          </a:p>
        </p:txBody>
      </p:sp>
      <p:sp>
        <p:nvSpPr>
          <p:cNvPr id="10" name="Rectangle 9">
            <a:extLst>
              <a:ext uri="{FF2B5EF4-FFF2-40B4-BE49-F238E27FC236}">
                <a16:creationId xmlns:a16="http://schemas.microsoft.com/office/drawing/2014/main" id="{00A8FC11-E7A5-7029-E5E3-94916BE73AA2}"/>
              </a:ext>
            </a:extLst>
          </p:cNvPr>
          <p:cNvSpPr/>
          <p:nvPr/>
        </p:nvSpPr>
        <p:spPr>
          <a:xfrm>
            <a:off x="4141272" y="4618311"/>
            <a:ext cx="1383969" cy="27489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Response</a:t>
            </a:r>
          </a:p>
        </p:txBody>
      </p:sp>
      <p:sp>
        <p:nvSpPr>
          <p:cNvPr id="11" name="Rectangle 10">
            <a:extLst>
              <a:ext uri="{FF2B5EF4-FFF2-40B4-BE49-F238E27FC236}">
                <a16:creationId xmlns:a16="http://schemas.microsoft.com/office/drawing/2014/main" id="{C1EBA344-516B-0319-AEBB-5A43A6FA2C20}"/>
              </a:ext>
            </a:extLst>
          </p:cNvPr>
          <p:cNvSpPr/>
          <p:nvPr/>
        </p:nvSpPr>
        <p:spPr>
          <a:xfrm>
            <a:off x="5527821" y="4618311"/>
            <a:ext cx="1383969" cy="27489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 output</a:t>
            </a:r>
          </a:p>
        </p:txBody>
      </p:sp>
      <p:cxnSp>
        <p:nvCxnSpPr>
          <p:cNvPr id="13" name="Straight Connector 12">
            <a:extLst>
              <a:ext uri="{FF2B5EF4-FFF2-40B4-BE49-F238E27FC236}">
                <a16:creationId xmlns:a16="http://schemas.microsoft.com/office/drawing/2014/main" id="{1550AF04-5F2B-E374-8A7C-E8AEC08F22EF}"/>
              </a:ext>
            </a:extLst>
          </p:cNvPr>
          <p:cNvCxnSpPr>
            <a:cxnSpLocks/>
          </p:cNvCxnSpPr>
          <p:nvPr/>
        </p:nvCxnSpPr>
        <p:spPr>
          <a:xfrm flipH="1">
            <a:off x="3111125" y="3429000"/>
            <a:ext cx="1574086" cy="1189311"/>
          </a:xfrm>
          <a:prstGeom prst="line">
            <a:avLst/>
          </a:prstGeom>
        </p:spPr>
        <p:style>
          <a:lnRef idx="2">
            <a:schemeClr val="dk1"/>
          </a:lnRef>
          <a:fillRef idx="0">
            <a:schemeClr val="dk1"/>
          </a:fillRef>
          <a:effectRef idx="1">
            <a:schemeClr val="dk1"/>
          </a:effectRef>
          <a:fontRef idx="minor">
            <a:schemeClr val="tx1"/>
          </a:fontRef>
        </p:style>
      </p:cxnSp>
      <p:cxnSp>
        <p:nvCxnSpPr>
          <p:cNvPr id="14" name="Straight Connector 13">
            <a:extLst>
              <a:ext uri="{FF2B5EF4-FFF2-40B4-BE49-F238E27FC236}">
                <a16:creationId xmlns:a16="http://schemas.microsoft.com/office/drawing/2014/main" id="{25C4B54D-E444-C48E-A1C3-D3719E90F184}"/>
              </a:ext>
            </a:extLst>
          </p:cNvPr>
          <p:cNvCxnSpPr>
            <a:cxnSpLocks/>
          </p:cNvCxnSpPr>
          <p:nvPr/>
        </p:nvCxnSpPr>
        <p:spPr>
          <a:xfrm flipH="1">
            <a:off x="5525241" y="3429000"/>
            <a:ext cx="341520" cy="1189311"/>
          </a:xfrm>
          <a:prstGeom prst="line">
            <a:avLst/>
          </a:prstGeom>
        </p:spPr>
        <p:style>
          <a:lnRef idx="2">
            <a:schemeClr val="dk1"/>
          </a:lnRef>
          <a:fillRef idx="0">
            <a:schemeClr val="dk1"/>
          </a:fillRef>
          <a:effectRef idx="1">
            <a:schemeClr val="dk1"/>
          </a:effectRef>
          <a:fontRef idx="minor">
            <a:schemeClr val="tx1"/>
          </a:fontRef>
        </p:style>
      </p:cxnSp>
      <p:cxnSp>
        <p:nvCxnSpPr>
          <p:cNvPr id="18" name="Straight Connector 17">
            <a:extLst>
              <a:ext uri="{FF2B5EF4-FFF2-40B4-BE49-F238E27FC236}">
                <a16:creationId xmlns:a16="http://schemas.microsoft.com/office/drawing/2014/main" id="{A4F58EB8-241D-4A87-FFF3-34E576F0B1C5}"/>
              </a:ext>
            </a:extLst>
          </p:cNvPr>
          <p:cNvCxnSpPr>
            <a:cxnSpLocks/>
          </p:cNvCxnSpPr>
          <p:nvPr/>
        </p:nvCxnSpPr>
        <p:spPr>
          <a:xfrm flipH="1">
            <a:off x="5518322" y="3429000"/>
            <a:ext cx="1735918" cy="1189311"/>
          </a:xfrm>
          <a:prstGeom prst="line">
            <a:avLst/>
          </a:prstGeom>
        </p:spPr>
        <p:style>
          <a:lnRef idx="2">
            <a:schemeClr val="dk1"/>
          </a:lnRef>
          <a:fillRef idx="0">
            <a:schemeClr val="dk1"/>
          </a:fillRef>
          <a:effectRef idx="1">
            <a:schemeClr val="dk1"/>
          </a:effectRef>
          <a:fontRef idx="minor">
            <a:schemeClr val="tx1"/>
          </a:fontRef>
        </p:style>
      </p:cxnSp>
      <p:cxnSp>
        <p:nvCxnSpPr>
          <p:cNvPr id="20" name="Straight Connector 19">
            <a:extLst>
              <a:ext uri="{FF2B5EF4-FFF2-40B4-BE49-F238E27FC236}">
                <a16:creationId xmlns:a16="http://schemas.microsoft.com/office/drawing/2014/main" id="{7A1A50D1-3EC1-80A6-6AA9-02CFE016F3EC}"/>
              </a:ext>
            </a:extLst>
          </p:cNvPr>
          <p:cNvCxnSpPr>
            <a:cxnSpLocks/>
          </p:cNvCxnSpPr>
          <p:nvPr/>
        </p:nvCxnSpPr>
        <p:spPr>
          <a:xfrm flipH="1">
            <a:off x="6911790" y="3429000"/>
            <a:ext cx="1387479" cy="1189311"/>
          </a:xfrm>
          <a:prstGeom prst="line">
            <a:avLst/>
          </a:prstGeom>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860CEBCB-FA88-AB54-4D97-E33A19A7E046}"/>
              </a:ext>
            </a:extLst>
          </p:cNvPr>
          <p:cNvSpPr txBox="1"/>
          <p:nvPr/>
        </p:nvSpPr>
        <p:spPr>
          <a:xfrm>
            <a:off x="1853796" y="4401817"/>
            <a:ext cx="1253869" cy="707886"/>
          </a:xfrm>
          <a:prstGeom prst="rect">
            <a:avLst/>
          </a:prstGeom>
          <a:noFill/>
        </p:spPr>
        <p:txBody>
          <a:bodyPr wrap="none" rtlCol="0">
            <a:spAutoFit/>
          </a:bodyPr>
          <a:lstStyle/>
          <a:p>
            <a:r>
              <a:rPr lang="en-US" sz="4000" dirty="0"/>
              <a:t>LLM(</a:t>
            </a:r>
          </a:p>
        </p:txBody>
      </p:sp>
      <p:sp>
        <p:nvSpPr>
          <p:cNvPr id="23" name="TextBox 22">
            <a:extLst>
              <a:ext uri="{FF2B5EF4-FFF2-40B4-BE49-F238E27FC236}">
                <a16:creationId xmlns:a16="http://schemas.microsoft.com/office/drawing/2014/main" id="{7F309AD2-F9DF-3065-63D7-52F9D477CA69}"/>
              </a:ext>
            </a:extLst>
          </p:cNvPr>
          <p:cNvSpPr txBox="1"/>
          <p:nvPr/>
        </p:nvSpPr>
        <p:spPr>
          <a:xfrm>
            <a:off x="6991326" y="4401817"/>
            <a:ext cx="335348" cy="707886"/>
          </a:xfrm>
          <a:prstGeom prst="rect">
            <a:avLst/>
          </a:prstGeom>
          <a:noFill/>
        </p:spPr>
        <p:txBody>
          <a:bodyPr wrap="none" rtlCol="0">
            <a:spAutoFit/>
          </a:bodyPr>
          <a:lstStyle/>
          <a:p>
            <a:r>
              <a:rPr lang="en-US" sz="4000" dirty="0"/>
              <a:t>)</a:t>
            </a:r>
          </a:p>
        </p:txBody>
      </p:sp>
      <p:cxnSp>
        <p:nvCxnSpPr>
          <p:cNvPr id="24" name="Straight Connector 23">
            <a:extLst>
              <a:ext uri="{FF2B5EF4-FFF2-40B4-BE49-F238E27FC236}">
                <a16:creationId xmlns:a16="http://schemas.microsoft.com/office/drawing/2014/main" id="{DC3470CA-352C-44A2-FFE0-5B1F349977FE}"/>
              </a:ext>
            </a:extLst>
          </p:cNvPr>
          <p:cNvCxnSpPr>
            <a:cxnSpLocks/>
            <a:endCxn id="22" idx="0"/>
          </p:cNvCxnSpPr>
          <p:nvPr/>
        </p:nvCxnSpPr>
        <p:spPr>
          <a:xfrm flipH="1">
            <a:off x="2480731" y="3429000"/>
            <a:ext cx="186529" cy="972817"/>
          </a:xfrm>
          <a:prstGeom prst="line">
            <a:avLst/>
          </a:prstGeom>
        </p:spPr>
        <p:style>
          <a:lnRef idx="2">
            <a:schemeClr val="dk1"/>
          </a:lnRef>
          <a:fillRef idx="0">
            <a:schemeClr val="dk1"/>
          </a:fillRef>
          <a:effectRef idx="1">
            <a:schemeClr val="dk1"/>
          </a:effectRef>
          <a:fontRef idx="minor">
            <a:schemeClr val="tx1"/>
          </a:fontRef>
        </p:style>
      </p:cxnSp>
      <p:pic>
        <p:nvPicPr>
          <p:cNvPr id="31" name="Picture 30">
            <a:extLst>
              <a:ext uri="{FF2B5EF4-FFF2-40B4-BE49-F238E27FC236}">
                <a16:creationId xmlns:a16="http://schemas.microsoft.com/office/drawing/2014/main" id="{9113A8F1-D948-EE93-9ECE-9752CFADF4E1}"/>
              </a:ext>
            </a:extLst>
          </p:cNvPr>
          <p:cNvPicPr>
            <a:picLocks noChangeAspect="1"/>
          </p:cNvPicPr>
          <p:nvPr/>
        </p:nvPicPr>
        <p:blipFill>
          <a:blip r:embed="rId2"/>
          <a:stretch>
            <a:fillRect/>
          </a:stretch>
        </p:blipFill>
        <p:spPr>
          <a:xfrm>
            <a:off x="2209800" y="3042170"/>
            <a:ext cx="7772400" cy="340673"/>
          </a:xfrm>
          <a:prstGeom prst="rect">
            <a:avLst/>
          </a:prstGeom>
        </p:spPr>
      </p:pic>
      <p:pic>
        <p:nvPicPr>
          <p:cNvPr id="32" name="Picture 31">
            <a:extLst>
              <a:ext uri="{FF2B5EF4-FFF2-40B4-BE49-F238E27FC236}">
                <a16:creationId xmlns:a16="http://schemas.microsoft.com/office/drawing/2014/main" id="{5CAF0BB6-0A2F-C0F9-78D5-8CF7F077995D}"/>
              </a:ext>
            </a:extLst>
          </p:cNvPr>
          <p:cNvPicPr>
            <a:picLocks noChangeAspect="1"/>
          </p:cNvPicPr>
          <p:nvPr/>
        </p:nvPicPr>
        <p:blipFill>
          <a:blip r:embed="rId3"/>
          <a:stretch>
            <a:fillRect/>
          </a:stretch>
        </p:blipFill>
        <p:spPr>
          <a:xfrm>
            <a:off x="3493540" y="2023196"/>
            <a:ext cx="3162300" cy="330200"/>
          </a:xfrm>
          <a:prstGeom prst="rect">
            <a:avLst/>
          </a:prstGeom>
        </p:spPr>
      </p:pic>
      <p:sp>
        <p:nvSpPr>
          <p:cNvPr id="33" name="TextBox 32">
            <a:extLst>
              <a:ext uri="{FF2B5EF4-FFF2-40B4-BE49-F238E27FC236}">
                <a16:creationId xmlns:a16="http://schemas.microsoft.com/office/drawing/2014/main" id="{46F35441-0C87-8618-BB18-98C3D7E109A3}"/>
              </a:ext>
            </a:extLst>
          </p:cNvPr>
          <p:cNvSpPr txBox="1"/>
          <p:nvPr/>
        </p:nvSpPr>
        <p:spPr>
          <a:xfrm rot="16200000">
            <a:off x="4818049" y="2323873"/>
            <a:ext cx="513282" cy="830997"/>
          </a:xfrm>
          <a:prstGeom prst="rect">
            <a:avLst/>
          </a:prstGeom>
          <a:noFill/>
        </p:spPr>
        <p:txBody>
          <a:bodyPr wrap="none" rtlCol="0">
            <a:spAutoFit/>
          </a:bodyPr>
          <a:lstStyle/>
          <a:p>
            <a:r>
              <a:rPr lang="en-US" sz="4800" b="1" dirty="0"/>
              <a:t>=</a:t>
            </a:r>
          </a:p>
        </p:txBody>
      </p:sp>
    </p:spTree>
    <p:extLst>
      <p:ext uri="{BB962C8B-B14F-4D97-AF65-F5344CB8AC3E}">
        <p14:creationId xmlns:p14="http://schemas.microsoft.com/office/powerpoint/2010/main" val="6387466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A1E3E-9DE1-0D68-3145-C7BBEF1480FA}"/>
              </a:ext>
            </a:extLst>
          </p:cNvPr>
          <p:cNvSpPr>
            <a:spLocks noGrp="1"/>
          </p:cNvSpPr>
          <p:nvPr>
            <p:ph type="title"/>
          </p:nvPr>
        </p:nvSpPr>
        <p:spPr>
          <a:xfrm>
            <a:off x="838200" y="2867025"/>
            <a:ext cx="10515600" cy="1325563"/>
          </a:xfrm>
        </p:spPr>
        <p:txBody>
          <a:bodyPr/>
          <a:lstStyle/>
          <a:p>
            <a:r>
              <a:rPr lang="en-US" dirty="0"/>
              <a:t>Games impossible with </a:t>
            </a:r>
            <a:r>
              <a:rPr lang="en-US" dirty="0" err="1"/>
              <a:t>ReAct</a:t>
            </a:r>
            <a:endParaRPr lang="en-US" dirty="0"/>
          </a:p>
        </p:txBody>
      </p:sp>
    </p:spTree>
    <p:extLst>
      <p:ext uri="{BB962C8B-B14F-4D97-AF65-F5344CB8AC3E}">
        <p14:creationId xmlns:p14="http://schemas.microsoft.com/office/powerpoint/2010/main" val="5261687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AE82F-1E8B-007B-C9E2-4A253CCB9923}"/>
              </a:ext>
            </a:extLst>
          </p:cNvPr>
          <p:cNvSpPr>
            <a:spLocks noGrp="1"/>
          </p:cNvSpPr>
          <p:nvPr>
            <p:ph type="title"/>
          </p:nvPr>
        </p:nvSpPr>
        <p:spPr/>
        <p:txBody>
          <a:bodyPr/>
          <a:lstStyle/>
          <a:p>
            <a:r>
              <a:rPr lang="en-US" dirty="0"/>
              <a:t>Coin flip game</a:t>
            </a:r>
          </a:p>
        </p:txBody>
      </p:sp>
      <p:sp>
        <p:nvSpPr>
          <p:cNvPr id="3" name="Content Placeholder 2">
            <a:extLst>
              <a:ext uri="{FF2B5EF4-FFF2-40B4-BE49-F238E27FC236}">
                <a16:creationId xmlns:a16="http://schemas.microsoft.com/office/drawing/2014/main" id="{6E37843B-D703-119E-4791-7D4A83E23742}"/>
              </a:ext>
            </a:extLst>
          </p:cNvPr>
          <p:cNvSpPr>
            <a:spLocks noGrp="1"/>
          </p:cNvSpPr>
          <p:nvPr>
            <p:ph idx="1"/>
          </p:nvPr>
        </p:nvSpPr>
        <p:spPr/>
        <p:txBody>
          <a:bodyPr/>
          <a:lstStyle/>
          <a:p>
            <a:pPr marL="0" indent="0">
              <a:buNone/>
            </a:pPr>
            <a:r>
              <a:rPr lang="en-US" dirty="0"/>
              <a:t>Flip a coin programmatically. If it lands heads, print an h and pass this exact prompt onto a child LLM, using its binding, so that they can do the same thing. If it lands tails, print a t. Think about your solution before you write it; plan it, check its correctness in your head before implementing it.</a:t>
            </a:r>
          </a:p>
        </p:txBody>
      </p:sp>
    </p:spTree>
    <p:extLst>
      <p:ext uri="{BB962C8B-B14F-4D97-AF65-F5344CB8AC3E}">
        <p14:creationId xmlns:p14="http://schemas.microsoft.com/office/powerpoint/2010/main" val="24545324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F924B73-C724-864D-70B0-A544AB721234}"/>
              </a:ext>
            </a:extLst>
          </p:cNvPr>
          <p:cNvSpPr txBox="1"/>
          <p:nvPr/>
        </p:nvSpPr>
        <p:spPr>
          <a:xfrm>
            <a:off x="2895600" y="474345"/>
            <a:ext cx="6096000" cy="369332"/>
          </a:xfrm>
          <a:prstGeom prst="rect">
            <a:avLst/>
          </a:prstGeom>
          <a:noFill/>
        </p:spPr>
        <p:txBody>
          <a:bodyPr wrap="square">
            <a:spAutoFit/>
          </a:bodyPr>
          <a:lstStyle/>
          <a:p>
            <a:endParaRPr lang="en-US" dirty="0"/>
          </a:p>
        </p:txBody>
      </p:sp>
      <p:sp>
        <p:nvSpPr>
          <p:cNvPr id="6" name="TextBox 5">
            <a:extLst>
              <a:ext uri="{FF2B5EF4-FFF2-40B4-BE49-F238E27FC236}">
                <a16:creationId xmlns:a16="http://schemas.microsoft.com/office/drawing/2014/main" id="{AAFB6766-ACCE-3758-EFD8-73123BBBA8D2}"/>
              </a:ext>
            </a:extLst>
          </p:cNvPr>
          <p:cNvSpPr txBox="1"/>
          <p:nvPr/>
        </p:nvSpPr>
        <p:spPr>
          <a:xfrm>
            <a:off x="2895600" y="440690"/>
            <a:ext cx="6096000" cy="5909310"/>
          </a:xfrm>
          <a:prstGeom prst="rect">
            <a:avLst/>
          </a:prstGeom>
          <a:noFill/>
        </p:spPr>
        <p:txBody>
          <a:bodyPr wrap="square">
            <a:spAutoFit/>
          </a:bodyPr>
          <a:lstStyle/>
          <a:p>
            <a:r>
              <a:rPr lang="en-US" dirty="0">
                <a:solidFill>
                  <a:schemeClr val="bg1">
                    <a:lumMod val="50000"/>
                  </a:schemeClr>
                </a:solidFill>
              </a:rPr>
              <a:t>(def interior (do (def completion (cat \"(def interior \" (pr-str (</a:t>
            </a:r>
            <a:r>
              <a:rPr lang="en-US" dirty="0" err="1">
                <a:solidFill>
                  <a:schemeClr val="bg1">
                    <a:lumMod val="50000"/>
                  </a:schemeClr>
                </a:solidFill>
              </a:rPr>
              <a:t>uneval</a:t>
            </a:r>
            <a:r>
              <a:rPr lang="en-US" dirty="0">
                <a:solidFill>
                  <a:schemeClr val="bg1">
                    <a:lumMod val="50000"/>
                  </a:schemeClr>
                </a:solidFill>
              </a:rPr>
              <a:t> 'interior)) \")\")) </a:t>
            </a:r>
            <a:r>
              <a:rPr lang="en-US" dirty="0">
                <a:solidFill>
                  <a:srgbClr val="FF0000"/>
                </a:solidFill>
              </a:rPr>
              <a:t>(def prompt \"Flip a coin programmatically. If it lands heads, print an h and pass this exact prompt onto a child LLM, using its binding, so that they can do the same thing. If it lands tails, print a t. Think about your solution before you write it; plan it, check its correctness in your head before implementing it.\")</a:t>
            </a:r>
          </a:p>
          <a:p>
            <a:r>
              <a:rPr lang="en-US" dirty="0">
                <a:solidFill>
                  <a:schemeClr val="bg1">
                    <a:lumMod val="50000"/>
                  </a:schemeClr>
                </a:solidFill>
              </a:rPr>
              <a:t> (do</a:t>
            </a:r>
          </a:p>
          <a:p>
            <a:r>
              <a:rPr lang="en-US" dirty="0">
                <a:solidFill>
                  <a:schemeClr val="bg1">
                    <a:lumMod val="50000"/>
                  </a:schemeClr>
                </a:solidFill>
              </a:rPr>
              <a:t>  (def thought</a:t>
            </a:r>
          </a:p>
          <a:p>
            <a:r>
              <a:rPr lang="en-US" dirty="0">
                <a:solidFill>
                  <a:schemeClr val="bg1">
                    <a:lumMod val="50000"/>
                  </a:schemeClr>
                </a:solidFill>
              </a:rPr>
              <a:t>    (str</a:t>
            </a:r>
          </a:p>
          <a:p>
            <a:r>
              <a:rPr lang="en-US" dirty="0">
                <a:solidFill>
                  <a:schemeClr val="bg1">
                    <a:lumMod val="50000"/>
                  </a:schemeClr>
                </a:solidFill>
              </a:rPr>
              <a:t>      "Plan: generate a fair coin with (rand). If &lt;0.5 =&gt; heads.\n"</a:t>
            </a:r>
          </a:p>
          <a:p>
            <a:r>
              <a:rPr lang="en-US" dirty="0">
                <a:solidFill>
                  <a:schemeClr val="bg1">
                    <a:lumMod val="50000"/>
                  </a:schemeClr>
                </a:solidFill>
              </a:rPr>
              <a:t>      "If heads: return (cat \"h\" (</a:t>
            </a:r>
            <a:r>
              <a:rPr lang="en-US" dirty="0" err="1">
                <a:solidFill>
                  <a:schemeClr val="bg1">
                    <a:lumMod val="50000"/>
                  </a:schemeClr>
                </a:solidFill>
              </a:rPr>
              <a:t>llm</a:t>
            </a:r>
            <a:r>
              <a:rPr lang="en-US" dirty="0">
                <a:solidFill>
                  <a:schemeClr val="bg1">
                    <a:lumMod val="50000"/>
                  </a:schemeClr>
                </a:solidFill>
              </a:rPr>
              <a:t> prompt)) so we both emit 'h' and delegate the same prompt via the prompt binding.\n"</a:t>
            </a:r>
          </a:p>
          <a:p>
            <a:r>
              <a:rPr lang="en-US" dirty="0">
                <a:solidFill>
                  <a:schemeClr val="bg1">
                    <a:lumMod val="50000"/>
                  </a:schemeClr>
                </a:solidFill>
              </a:rPr>
              <a:t>      "If tails: return \"t\".\n"</a:t>
            </a:r>
          </a:p>
          <a:p>
            <a:r>
              <a:rPr lang="en-US" dirty="0">
                <a:solidFill>
                  <a:schemeClr val="bg1">
                    <a:lumMod val="50000"/>
                  </a:schemeClr>
                </a:solidFill>
              </a:rPr>
              <a:t>      "Correctness: rand ∈ [0,1); threshold 0.5 gives 50/50. Child receives same prompt string; it has its own prompt binding from its preamble, so we pass the exact prompt value explicitly."))</a:t>
            </a:r>
          </a:p>
          <a:p>
            <a:r>
              <a:rPr lang="en-US" dirty="0">
                <a:solidFill>
                  <a:schemeClr val="bg1">
                    <a:lumMod val="50000"/>
                  </a:schemeClr>
                </a:solidFill>
              </a:rPr>
              <a:t>  (if (&lt; (rand) 0.5)</a:t>
            </a:r>
          </a:p>
          <a:p>
            <a:r>
              <a:rPr lang="en-US" dirty="0">
                <a:solidFill>
                  <a:schemeClr val="bg1">
                    <a:lumMod val="50000"/>
                  </a:schemeClr>
                </a:solidFill>
              </a:rPr>
              <a:t>    (cat "h" (</a:t>
            </a:r>
            <a:r>
              <a:rPr lang="en-US" dirty="0" err="1">
                <a:solidFill>
                  <a:schemeClr val="bg1">
                    <a:lumMod val="50000"/>
                  </a:schemeClr>
                </a:solidFill>
              </a:rPr>
              <a:t>llm</a:t>
            </a:r>
            <a:r>
              <a:rPr lang="en-US" dirty="0">
                <a:solidFill>
                  <a:schemeClr val="bg1">
                    <a:lumMod val="50000"/>
                  </a:schemeClr>
                </a:solidFill>
              </a:rPr>
              <a:t> prompt))</a:t>
            </a:r>
          </a:p>
          <a:p>
            <a:r>
              <a:rPr lang="en-US" dirty="0">
                <a:solidFill>
                  <a:schemeClr val="bg1">
                    <a:lumMod val="50000"/>
                  </a:schemeClr>
                </a:solidFill>
              </a:rPr>
              <a:t>    "t")))))</a:t>
            </a:r>
          </a:p>
        </p:txBody>
      </p:sp>
      <p:sp>
        <p:nvSpPr>
          <p:cNvPr id="7" name="TextBox 6">
            <a:extLst>
              <a:ext uri="{FF2B5EF4-FFF2-40B4-BE49-F238E27FC236}">
                <a16:creationId xmlns:a16="http://schemas.microsoft.com/office/drawing/2014/main" id="{5A7BCBA0-769C-3A62-F32A-4CAB3F0A2A29}"/>
              </a:ext>
            </a:extLst>
          </p:cNvPr>
          <p:cNvSpPr txBox="1"/>
          <p:nvPr/>
        </p:nvSpPr>
        <p:spPr>
          <a:xfrm>
            <a:off x="10121900" y="6350000"/>
            <a:ext cx="1430713" cy="369332"/>
          </a:xfrm>
          <a:prstGeom prst="rect">
            <a:avLst/>
          </a:prstGeom>
          <a:noFill/>
        </p:spPr>
        <p:txBody>
          <a:bodyPr wrap="none" rtlCol="0">
            <a:spAutoFit/>
          </a:bodyPr>
          <a:lstStyle/>
          <a:p>
            <a:r>
              <a:rPr lang="en-US" dirty="0"/>
              <a:t>ChatGPT 5.2</a:t>
            </a:r>
          </a:p>
        </p:txBody>
      </p:sp>
    </p:spTree>
    <p:extLst>
      <p:ext uri="{BB962C8B-B14F-4D97-AF65-F5344CB8AC3E}">
        <p14:creationId xmlns:p14="http://schemas.microsoft.com/office/powerpoint/2010/main" val="6731231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F23D0-BEE9-E272-B0ED-61EB28FC965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C691616-1691-96A0-BD8A-09E6E0B1CCF7}"/>
              </a:ext>
            </a:extLst>
          </p:cNvPr>
          <p:cNvSpPr txBox="1"/>
          <p:nvPr/>
        </p:nvSpPr>
        <p:spPr>
          <a:xfrm>
            <a:off x="2895600" y="474345"/>
            <a:ext cx="6096000" cy="369332"/>
          </a:xfrm>
          <a:prstGeom prst="rect">
            <a:avLst/>
          </a:prstGeom>
          <a:noFill/>
        </p:spPr>
        <p:txBody>
          <a:bodyPr wrap="square">
            <a:spAutoFit/>
          </a:bodyPr>
          <a:lstStyle/>
          <a:p>
            <a:endParaRPr lang="en-US" dirty="0"/>
          </a:p>
        </p:txBody>
      </p:sp>
      <p:sp>
        <p:nvSpPr>
          <p:cNvPr id="6" name="TextBox 5">
            <a:extLst>
              <a:ext uri="{FF2B5EF4-FFF2-40B4-BE49-F238E27FC236}">
                <a16:creationId xmlns:a16="http://schemas.microsoft.com/office/drawing/2014/main" id="{AF142744-A209-6A44-6EF9-0E9D89CF4F7E}"/>
              </a:ext>
            </a:extLst>
          </p:cNvPr>
          <p:cNvSpPr txBox="1"/>
          <p:nvPr/>
        </p:nvSpPr>
        <p:spPr>
          <a:xfrm>
            <a:off x="2895600" y="440690"/>
            <a:ext cx="6096000" cy="5909310"/>
          </a:xfrm>
          <a:prstGeom prst="rect">
            <a:avLst/>
          </a:prstGeom>
          <a:noFill/>
        </p:spPr>
        <p:txBody>
          <a:bodyPr wrap="square">
            <a:spAutoFit/>
          </a:bodyPr>
          <a:lstStyle/>
          <a:p>
            <a:r>
              <a:rPr lang="en-US" dirty="0">
                <a:solidFill>
                  <a:schemeClr val="bg1">
                    <a:lumMod val="50000"/>
                  </a:schemeClr>
                </a:solidFill>
              </a:rPr>
              <a:t>(def interior (do (def completion (cat \"(def interior \" (pr-str (</a:t>
            </a:r>
            <a:r>
              <a:rPr lang="en-US" dirty="0" err="1">
                <a:solidFill>
                  <a:schemeClr val="bg1">
                    <a:lumMod val="50000"/>
                  </a:schemeClr>
                </a:solidFill>
              </a:rPr>
              <a:t>uneval</a:t>
            </a:r>
            <a:r>
              <a:rPr lang="en-US" dirty="0">
                <a:solidFill>
                  <a:schemeClr val="bg1">
                    <a:lumMod val="50000"/>
                  </a:schemeClr>
                </a:solidFill>
              </a:rPr>
              <a:t> 'interior)) \")\")) (def prompt \"Flip a coin programmatically. If it lands heads, print an h and pass this exact prompt onto a child LLM, using its binding, so that they can do the same thing. If it lands tails, print a t. Think about your solution before you write it; plan it, check its correctness in your head before implementing it.\")</a:t>
            </a:r>
          </a:p>
          <a:p>
            <a:r>
              <a:rPr lang="en-US" dirty="0">
                <a:solidFill>
                  <a:schemeClr val="bg1">
                    <a:lumMod val="50000"/>
                  </a:schemeClr>
                </a:solidFill>
              </a:rPr>
              <a:t> (do</a:t>
            </a:r>
          </a:p>
          <a:p>
            <a:r>
              <a:rPr lang="en-US" dirty="0">
                <a:solidFill>
                  <a:srgbClr val="FFC000"/>
                </a:solidFill>
              </a:rPr>
              <a:t>  (def thought</a:t>
            </a:r>
          </a:p>
          <a:p>
            <a:r>
              <a:rPr lang="en-US" dirty="0">
                <a:solidFill>
                  <a:srgbClr val="FFC000"/>
                </a:solidFill>
              </a:rPr>
              <a:t>    (str</a:t>
            </a:r>
          </a:p>
          <a:p>
            <a:r>
              <a:rPr lang="en-US" dirty="0">
                <a:solidFill>
                  <a:srgbClr val="FFC000"/>
                </a:solidFill>
              </a:rPr>
              <a:t>      "Plan: generate a fair coin with (rand). If &lt;0.5 =&gt; heads.\n"</a:t>
            </a:r>
          </a:p>
          <a:p>
            <a:r>
              <a:rPr lang="en-US" dirty="0">
                <a:solidFill>
                  <a:srgbClr val="FFC000"/>
                </a:solidFill>
              </a:rPr>
              <a:t>      "If heads: return (cat \"h\" (</a:t>
            </a:r>
            <a:r>
              <a:rPr lang="en-US" dirty="0" err="1">
                <a:solidFill>
                  <a:srgbClr val="FFC000"/>
                </a:solidFill>
              </a:rPr>
              <a:t>llm</a:t>
            </a:r>
            <a:r>
              <a:rPr lang="en-US" dirty="0">
                <a:solidFill>
                  <a:srgbClr val="FFC000"/>
                </a:solidFill>
              </a:rPr>
              <a:t> prompt)) so we both emit 'h' and delegate the same prompt via the prompt binding.\n"</a:t>
            </a:r>
          </a:p>
          <a:p>
            <a:r>
              <a:rPr lang="en-US" dirty="0">
                <a:solidFill>
                  <a:srgbClr val="FFC000"/>
                </a:solidFill>
              </a:rPr>
              <a:t>      "If tails: return \"t\".\n"</a:t>
            </a:r>
          </a:p>
          <a:p>
            <a:r>
              <a:rPr lang="en-US" dirty="0">
                <a:solidFill>
                  <a:srgbClr val="FFC000"/>
                </a:solidFill>
              </a:rPr>
              <a:t>      "Correctness: rand ∈ [0,1); threshold 0.5 gives 50/50. Child receives same prompt string; it has its own prompt binding from its preamble, so we pass the exact prompt value explicitly."))</a:t>
            </a:r>
          </a:p>
          <a:p>
            <a:r>
              <a:rPr lang="en-US" dirty="0">
                <a:solidFill>
                  <a:schemeClr val="bg1">
                    <a:lumMod val="50000"/>
                  </a:schemeClr>
                </a:solidFill>
              </a:rPr>
              <a:t>  (if (&lt; (rand) 0.5)</a:t>
            </a:r>
          </a:p>
          <a:p>
            <a:r>
              <a:rPr lang="en-US" dirty="0">
                <a:solidFill>
                  <a:schemeClr val="bg1">
                    <a:lumMod val="50000"/>
                  </a:schemeClr>
                </a:solidFill>
              </a:rPr>
              <a:t>    (cat "h" (</a:t>
            </a:r>
            <a:r>
              <a:rPr lang="en-US" dirty="0" err="1">
                <a:solidFill>
                  <a:schemeClr val="bg1">
                    <a:lumMod val="50000"/>
                  </a:schemeClr>
                </a:solidFill>
              </a:rPr>
              <a:t>llm</a:t>
            </a:r>
            <a:r>
              <a:rPr lang="en-US" dirty="0">
                <a:solidFill>
                  <a:schemeClr val="bg1">
                    <a:lumMod val="50000"/>
                  </a:schemeClr>
                </a:solidFill>
              </a:rPr>
              <a:t> prompt))</a:t>
            </a:r>
          </a:p>
          <a:p>
            <a:r>
              <a:rPr lang="en-US" dirty="0">
                <a:solidFill>
                  <a:schemeClr val="bg1">
                    <a:lumMod val="50000"/>
                  </a:schemeClr>
                </a:solidFill>
              </a:rPr>
              <a:t>    "t")))))</a:t>
            </a:r>
          </a:p>
        </p:txBody>
      </p:sp>
      <p:sp>
        <p:nvSpPr>
          <p:cNvPr id="2" name="TextBox 1">
            <a:extLst>
              <a:ext uri="{FF2B5EF4-FFF2-40B4-BE49-F238E27FC236}">
                <a16:creationId xmlns:a16="http://schemas.microsoft.com/office/drawing/2014/main" id="{2C367AE5-8A92-72CD-787C-B5F27F8DEA1B}"/>
              </a:ext>
            </a:extLst>
          </p:cNvPr>
          <p:cNvSpPr txBox="1"/>
          <p:nvPr/>
        </p:nvSpPr>
        <p:spPr>
          <a:xfrm>
            <a:off x="10121900" y="6350000"/>
            <a:ext cx="1430713" cy="369332"/>
          </a:xfrm>
          <a:prstGeom prst="rect">
            <a:avLst/>
          </a:prstGeom>
          <a:noFill/>
        </p:spPr>
        <p:txBody>
          <a:bodyPr wrap="none" rtlCol="0">
            <a:spAutoFit/>
          </a:bodyPr>
          <a:lstStyle/>
          <a:p>
            <a:r>
              <a:rPr lang="en-US" dirty="0"/>
              <a:t>ChatGPT 5.2</a:t>
            </a:r>
          </a:p>
        </p:txBody>
      </p:sp>
    </p:spTree>
    <p:extLst>
      <p:ext uri="{BB962C8B-B14F-4D97-AF65-F5344CB8AC3E}">
        <p14:creationId xmlns:p14="http://schemas.microsoft.com/office/powerpoint/2010/main" val="5741075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56B9C-C537-1594-36C2-4ECDF1470BA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AAC5B03-6413-2BE1-E563-2EA40E3393F1}"/>
              </a:ext>
            </a:extLst>
          </p:cNvPr>
          <p:cNvSpPr txBox="1"/>
          <p:nvPr/>
        </p:nvSpPr>
        <p:spPr>
          <a:xfrm>
            <a:off x="2895600" y="474345"/>
            <a:ext cx="6096000" cy="369332"/>
          </a:xfrm>
          <a:prstGeom prst="rect">
            <a:avLst/>
          </a:prstGeom>
          <a:noFill/>
        </p:spPr>
        <p:txBody>
          <a:bodyPr wrap="square">
            <a:spAutoFit/>
          </a:bodyPr>
          <a:lstStyle/>
          <a:p>
            <a:endParaRPr lang="en-US" dirty="0"/>
          </a:p>
        </p:txBody>
      </p:sp>
      <p:sp>
        <p:nvSpPr>
          <p:cNvPr id="6" name="TextBox 5">
            <a:extLst>
              <a:ext uri="{FF2B5EF4-FFF2-40B4-BE49-F238E27FC236}">
                <a16:creationId xmlns:a16="http://schemas.microsoft.com/office/drawing/2014/main" id="{CBB26BCC-3971-AC7A-834E-0ABF7938483A}"/>
              </a:ext>
            </a:extLst>
          </p:cNvPr>
          <p:cNvSpPr txBox="1"/>
          <p:nvPr/>
        </p:nvSpPr>
        <p:spPr>
          <a:xfrm>
            <a:off x="2895600" y="440690"/>
            <a:ext cx="6096000" cy="5909310"/>
          </a:xfrm>
          <a:prstGeom prst="rect">
            <a:avLst/>
          </a:prstGeom>
          <a:noFill/>
        </p:spPr>
        <p:txBody>
          <a:bodyPr wrap="square">
            <a:spAutoFit/>
          </a:bodyPr>
          <a:lstStyle/>
          <a:p>
            <a:r>
              <a:rPr lang="en-US" dirty="0">
                <a:solidFill>
                  <a:schemeClr val="bg1">
                    <a:lumMod val="50000"/>
                  </a:schemeClr>
                </a:solidFill>
              </a:rPr>
              <a:t>(def interior (do (def completion (cat \"(def interior \" (pr-str (</a:t>
            </a:r>
            <a:r>
              <a:rPr lang="en-US" dirty="0" err="1">
                <a:solidFill>
                  <a:schemeClr val="bg1">
                    <a:lumMod val="50000"/>
                  </a:schemeClr>
                </a:solidFill>
              </a:rPr>
              <a:t>uneval</a:t>
            </a:r>
            <a:r>
              <a:rPr lang="en-US" dirty="0">
                <a:solidFill>
                  <a:schemeClr val="bg1">
                    <a:lumMod val="50000"/>
                  </a:schemeClr>
                </a:solidFill>
              </a:rPr>
              <a:t> 'interior)) \")\")) (def prompt \"Flip a coin programmatically. If it lands heads, print an h and pass this exact prompt onto a child LLM, using its binding, so that they can do the same thing. If it lands tails, print a t. Think about your solution before you write it; plan it, check its correctness in your head before implementing it.\")</a:t>
            </a:r>
          </a:p>
          <a:p>
            <a:r>
              <a:rPr lang="en-US" dirty="0">
                <a:solidFill>
                  <a:schemeClr val="bg1">
                    <a:lumMod val="50000"/>
                  </a:schemeClr>
                </a:solidFill>
              </a:rPr>
              <a:t> (do</a:t>
            </a:r>
          </a:p>
          <a:p>
            <a:r>
              <a:rPr lang="en-US" dirty="0">
                <a:solidFill>
                  <a:schemeClr val="bg1">
                    <a:lumMod val="50000"/>
                  </a:schemeClr>
                </a:solidFill>
              </a:rPr>
              <a:t>  (def thought</a:t>
            </a:r>
          </a:p>
          <a:p>
            <a:r>
              <a:rPr lang="en-US" dirty="0">
                <a:solidFill>
                  <a:schemeClr val="bg1">
                    <a:lumMod val="50000"/>
                  </a:schemeClr>
                </a:solidFill>
              </a:rPr>
              <a:t>    (str</a:t>
            </a:r>
          </a:p>
          <a:p>
            <a:r>
              <a:rPr lang="en-US" dirty="0">
                <a:solidFill>
                  <a:schemeClr val="bg1">
                    <a:lumMod val="50000"/>
                  </a:schemeClr>
                </a:solidFill>
              </a:rPr>
              <a:t>      "Plan: generate a fair coin with (rand). If &lt;0.5 =&gt; heads.\n"</a:t>
            </a:r>
          </a:p>
          <a:p>
            <a:r>
              <a:rPr lang="en-US" dirty="0">
                <a:solidFill>
                  <a:schemeClr val="bg1">
                    <a:lumMod val="50000"/>
                  </a:schemeClr>
                </a:solidFill>
              </a:rPr>
              <a:t>      "If heads: return (cat \"h\" (</a:t>
            </a:r>
            <a:r>
              <a:rPr lang="en-US" dirty="0" err="1">
                <a:solidFill>
                  <a:schemeClr val="bg1">
                    <a:lumMod val="50000"/>
                  </a:schemeClr>
                </a:solidFill>
              </a:rPr>
              <a:t>llm</a:t>
            </a:r>
            <a:r>
              <a:rPr lang="en-US" dirty="0">
                <a:solidFill>
                  <a:schemeClr val="bg1">
                    <a:lumMod val="50000"/>
                  </a:schemeClr>
                </a:solidFill>
              </a:rPr>
              <a:t> prompt)) so we both emit 'h' and delegate the same prompt via the prompt binding.\n"</a:t>
            </a:r>
          </a:p>
          <a:p>
            <a:r>
              <a:rPr lang="en-US" dirty="0">
                <a:solidFill>
                  <a:schemeClr val="bg1">
                    <a:lumMod val="50000"/>
                  </a:schemeClr>
                </a:solidFill>
              </a:rPr>
              <a:t>      "If tails: return \"t\".\n"</a:t>
            </a:r>
          </a:p>
          <a:p>
            <a:r>
              <a:rPr lang="en-US" dirty="0">
                <a:solidFill>
                  <a:schemeClr val="bg1">
                    <a:lumMod val="50000"/>
                  </a:schemeClr>
                </a:solidFill>
              </a:rPr>
              <a:t>      "Correctness: rand ∈ [0,1); threshold 0.5 gives 50/50. Child receives same prompt string; it has its own prompt binding from its preamble, so we pass the exact prompt value explicitly."))</a:t>
            </a:r>
          </a:p>
          <a:p>
            <a:r>
              <a:rPr lang="en-US" dirty="0">
                <a:solidFill>
                  <a:schemeClr val="bg1">
                    <a:lumMod val="50000"/>
                  </a:schemeClr>
                </a:solidFill>
              </a:rPr>
              <a:t>  </a:t>
            </a:r>
            <a:r>
              <a:rPr lang="en-US" dirty="0">
                <a:solidFill>
                  <a:srgbClr val="0070C0"/>
                </a:solidFill>
              </a:rPr>
              <a:t>(if (&lt; (rand) 0.5)</a:t>
            </a:r>
          </a:p>
          <a:p>
            <a:r>
              <a:rPr lang="en-US" dirty="0">
                <a:solidFill>
                  <a:srgbClr val="0070C0"/>
                </a:solidFill>
              </a:rPr>
              <a:t>    (cat "h" (</a:t>
            </a:r>
            <a:r>
              <a:rPr lang="en-US" dirty="0" err="1">
                <a:solidFill>
                  <a:srgbClr val="0070C0"/>
                </a:solidFill>
              </a:rPr>
              <a:t>llm</a:t>
            </a:r>
            <a:r>
              <a:rPr lang="en-US" dirty="0">
                <a:solidFill>
                  <a:srgbClr val="0070C0"/>
                </a:solidFill>
              </a:rPr>
              <a:t> prompt))</a:t>
            </a:r>
          </a:p>
          <a:p>
            <a:r>
              <a:rPr lang="en-US" dirty="0">
                <a:solidFill>
                  <a:srgbClr val="0070C0"/>
                </a:solidFill>
              </a:rPr>
              <a:t>    "t")))</a:t>
            </a:r>
            <a:r>
              <a:rPr lang="en-US" dirty="0">
                <a:solidFill>
                  <a:schemeClr val="bg1">
                    <a:lumMod val="50000"/>
                  </a:schemeClr>
                </a:solidFill>
              </a:rPr>
              <a:t>))</a:t>
            </a:r>
          </a:p>
        </p:txBody>
      </p:sp>
      <p:sp>
        <p:nvSpPr>
          <p:cNvPr id="2" name="TextBox 1">
            <a:extLst>
              <a:ext uri="{FF2B5EF4-FFF2-40B4-BE49-F238E27FC236}">
                <a16:creationId xmlns:a16="http://schemas.microsoft.com/office/drawing/2014/main" id="{5153D8EA-1555-58DC-6320-945568FB94BD}"/>
              </a:ext>
            </a:extLst>
          </p:cNvPr>
          <p:cNvSpPr txBox="1"/>
          <p:nvPr/>
        </p:nvSpPr>
        <p:spPr>
          <a:xfrm>
            <a:off x="10121900" y="6350000"/>
            <a:ext cx="1430713" cy="369332"/>
          </a:xfrm>
          <a:prstGeom prst="rect">
            <a:avLst/>
          </a:prstGeom>
          <a:noFill/>
        </p:spPr>
        <p:txBody>
          <a:bodyPr wrap="none" rtlCol="0">
            <a:spAutoFit/>
          </a:bodyPr>
          <a:lstStyle/>
          <a:p>
            <a:r>
              <a:rPr lang="en-US" dirty="0"/>
              <a:t>ChatGPT 5.2</a:t>
            </a:r>
          </a:p>
        </p:txBody>
      </p:sp>
    </p:spTree>
    <p:extLst>
      <p:ext uri="{BB962C8B-B14F-4D97-AF65-F5344CB8AC3E}">
        <p14:creationId xmlns:p14="http://schemas.microsoft.com/office/powerpoint/2010/main" val="36595828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EFE20-C7D2-0B78-2D0A-7C05DB609B6A}"/>
              </a:ext>
            </a:extLst>
          </p:cNvPr>
          <p:cNvSpPr>
            <a:spLocks noGrp="1"/>
          </p:cNvSpPr>
          <p:nvPr>
            <p:ph type="title"/>
          </p:nvPr>
        </p:nvSpPr>
        <p:spPr/>
        <p:txBody>
          <a:bodyPr/>
          <a:lstStyle/>
          <a:p>
            <a:r>
              <a:rPr lang="en-US" dirty="0"/>
              <a:t>20 questions</a:t>
            </a:r>
          </a:p>
        </p:txBody>
      </p:sp>
      <p:sp>
        <p:nvSpPr>
          <p:cNvPr id="3" name="Content Placeholder 2">
            <a:extLst>
              <a:ext uri="{FF2B5EF4-FFF2-40B4-BE49-F238E27FC236}">
                <a16:creationId xmlns:a16="http://schemas.microsoft.com/office/drawing/2014/main" id="{AFDF0B44-2C6A-AE76-3347-9DB51996CE47}"/>
              </a:ext>
            </a:extLst>
          </p:cNvPr>
          <p:cNvSpPr>
            <a:spLocks noGrp="1"/>
          </p:cNvSpPr>
          <p:nvPr>
            <p:ph idx="1"/>
          </p:nvPr>
        </p:nvSpPr>
        <p:spPr/>
        <p:txBody>
          <a:bodyPr/>
          <a:lstStyle/>
          <a:p>
            <a:pPr marL="0" indent="0">
              <a:buNone/>
            </a:pPr>
            <a:r>
              <a:rPr lang="en-US" dirty="0"/>
              <a:t>Play 20 questions. You are the orchestrator who picks a secret word. Create two subagent roles: (1) a CHECKER who knows the secret and answers yes/no honestly, (2) a WORKER who does NOT  know the secret and must guess by asking questions. The worker should adapt its questions based on previous answers. Loop until the worker guesses correctly or runs out of guesses.</a:t>
            </a:r>
          </a:p>
        </p:txBody>
      </p:sp>
    </p:spTree>
    <p:extLst>
      <p:ext uri="{BB962C8B-B14F-4D97-AF65-F5344CB8AC3E}">
        <p14:creationId xmlns:p14="http://schemas.microsoft.com/office/powerpoint/2010/main" val="10964779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65C8972-E442-D697-9118-7B6A7B30DF82}"/>
              </a:ext>
            </a:extLst>
          </p:cNvPr>
          <p:cNvSpPr txBox="1"/>
          <p:nvPr/>
        </p:nvSpPr>
        <p:spPr>
          <a:xfrm>
            <a:off x="698500" y="165954"/>
            <a:ext cx="11036300" cy="6463308"/>
          </a:xfrm>
          <a:prstGeom prst="rect">
            <a:avLst/>
          </a:prstGeom>
          <a:noFill/>
        </p:spPr>
        <p:txBody>
          <a:bodyPr wrap="square">
            <a:spAutoFit/>
          </a:bodyPr>
          <a:lstStyle/>
          <a:p>
            <a:r>
              <a:rPr lang="en-US" dirty="0"/>
              <a:t>(def interior (do (def completion (cat \"(def interior \" (pr-str (</a:t>
            </a:r>
            <a:r>
              <a:rPr lang="en-US" dirty="0" err="1"/>
              <a:t>uneval</a:t>
            </a:r>
            <a:r>
              <a:rPr lang="en-US" dirty="0"/>
              <a:t> 'interior)) \")\")) (def prompt \"Play 20 questions...\") </a:t>
            </a:r>
          </a:p>
          <a:p>
            <a:r>
              <a:rPr lang="en-US" dirty="0"/>
              <a:t>  (do</a:t>
            </a:r>
          </a:p>
          <a:p>
            <a:r>
              <a:rPr lang="en-US" dirty="0"/>
              <a:t>    </a:t>
            </a:r>
            <a:r>
              <a:rPr lang="en-US" dirty="0">
                <a:solidFill>
                  <a:srgbClr val="FF0000"/>
                </a:solidFill>
              </a:rPr>
              <a:t>(def secret "octopus")</a:t>
            </a:r>
          </a:p>
          <a:p>
            <a:r>
              <a:rPr lang="en-US" dirty="0"/>
              <a:t>    (</a:t>
            </a:r>
            <a:r>
              <a:rPr lang="en-US" dirty="0" err="1"/>
              <a:t>defn</a:t>
            </a:r>
            <a:r>
              <a:rPr lang="en-US" dirty="0"/>
              <a:t> checker-respond [question]</a:t>
            </a:r>
          </a:p>
          <a:p>
            <a:r>
              <a:rPr lang="en-US" dirty="0"/>
              <a:t>      (let [q (trim question)]</a:t>
            </a:r>
          </a:p>
          <a:p>
            <a:r>
              <a:rPr lang="en-US" dirty="0"/>
              <a:t>        (</a:t>
            </a:r>
            <a:r>
              <a:rPr lang="en-US" dirty="0" err="1"/>
              <a:t>cond</a:t>
            </a:r>
            <a:endParaRPr lang="en-US" dirty="0"/>
          </a:p>
          <a:p>
            <a:r>
              <a:rPr lang="en-US" dirty="0"/>
              <a:t>          (or (= q "Is it an animal?")</a:t>
            </a:r>
          </a:p>
          <a:p>
            <a:r>
              <a:rPr lang="en-US" dirty="0"/>
              <a:t>              (= q "Animal?"))</a:t>
            </a:r>
          </a:p>
          <a:p>
            <a:r>
              <a:rPr lang="en-US" dirty="0"/>
              <a:t>          "yes"</a:t>
            </a:r>
          </a:p>
          <a:p>
            <a:r>
              <a:rPr lang="en-US" dirty="0"/>
              <a:t>	…</a:t>
            </a:r>
          </a:p>
          <a:p>
            <a:r>
              <a:rPr lang="en-US" dirty="0"/>
              <a:t>          ;; Fallback: ask an LLM to answer yes/no based on the secret.</a:t>
            </a:r>
          </a:p>
          <a:p>
            <a:r>
              <a:rPr lang="en-US" dirty="0"/>
              <a:t>          :else</a:t>
            </a:r>
          </a:p>
          <a:p>
            <a:r>
              <a:rPr lang="en-US" dirty="0"/>
              <a:t>          (let [resp (trim (leaf-</a:t>
            </a:r>
            <a:r>
              <a:rPr lang="en-US" dirty="0" err="1"/>
              <a:t>llm</a:t>
            </a:r>
            <a:endParaRPr lang="en-US" dirty="0"/>
          </a:p>
          <a:p>
            <a:r>
              <a:rPr lang="en-US" dirty="0"/>
              <a:t>                            (cat "You are CHECKER in 20 questions. Secret word: " secret</a:t>
            </a:r>
          </a:p>
          <a:p>
            <a:r>
              <a:rPr lang="en-US" dirty="0"/>
              <a:t>                                 ". Answer ONLY '</a:t>
            </a:r>
            <a:r>
              <a:rPr lang="en-US" dirty="0" err="1"/>
              <a:t>yes'</a:t>
            </a:r>
            <a:r>
              <a:rPr lang="en-US" dirty="0"/>
              <a:t> or 'no' (no punctuation). "</a:t>
            </a:r>
          </a:p>
          <a:p>
            <a:r>
              <a:rPr lang="en-US" dirty="0"/>
              <a:t>                                 "Question: " q)))]</a:t>
            </a:r>
          </a:p>
          <a:p>
            <a:r>
              <a:rPr lang="en-US" dirty="0"/>
              <a:t>            (if (or (= resp "yes") (= resp "no")) resp "no")))))</a:t>
            </a:r>
          </a:p>
          <a:p>
            <a:r>
              <a:rPr lang="en-US" dirty="0"/>
              <a:t>    (</a:t>
            </a:r>
            <a:r>
              <a:rPr lang="en-US" dirty="0" err="1"/>
              <a:t>defn</a:t>
            </a:r>
            <a:r>
              <a:rPr lang="en-US" dirty="0"/>
              <a:t> worker-next [history]</a:t>
            </a:r>
          </a:p>
          <a:p>
            <a:r>
              <a:rPr lang="en-US" dirty="0"/>
              <a:t>      (leaf-</a:t>
            </a:r>
            <a:r>
              <a:rPr lang="en-US" dirty="0" err="1"/>
              <a:t>llm</a:t>
            </a:r>
            <a:endParaRPr lang="en-US" dirty="0"/>
          </a:p>
          <a:p>
            <a:r>
              <a:rPr lang="en-US" dirty="0"/>
              <a:t>        (cat</a:t>
            </a:r>
          </a:p>
          <a:p>
            <a:r>
              <a:rPr lang="en-US" dirty="0"/>
              <a:t>          "You are WORKER playing 20 questions. …</a:t>
            </a:r>
          </a:p>
          <a:p>
            <a:endParaRPr lang="en-US" dirty="0"/>
          </a:p>
        </p:txBody>
      </p:sp>
      <p:sp>
        <p:nvSpPr>
          <p:cNvPr id="7" name="Rectangle 6">
            <a:extLst>
              <a:ext uri="{FF2B5EF4-FFF2-40B4-BE49-F238E27FC236}">
                <a16:creationId xmlns:a16="http://schemas.microsoft.com/office/drawing/2014/main" id="{51DDD1AE-3BE1-C28D-6B15-82CA17BF9515}"/>
              </a:ext>
            </a:extLst>
          </p:cNvPr>
          <p:cNvSpPr/>
          <p:nvPr/>
        </p:nvSpPr>
        <p:spPr>
          <a:xfrm>
            <a:off x="2044700" y="1003300"/>
            <a:ext cx="990600" cy="3302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70209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0C0DB-CB99-C050-6936-94C132EE912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3D784B7-14E2-AF9A-D6E0-90C4ADA788CB}"/>
              </a:ext>
            </a:extLst>
          </p:cNvPr>
          <p:cNvSpPr txBox="1"/>
          <p:nvPr/>
        </p:nvSpPr>
        <p:spPr>
          <a:xfrm>
            <a:off x="698500" y="165954"/>
            <a:ext cx="11036300" cy="6463308"/>
          </a:xfrm>
          <a:prstGeom prst="rect">
            <a:avLst/>
          </a:prstGeom>
          <a:noFill/>
        </p:spPr>
        <p:txBody>
          <a:bodyPr wrap="square">
            <a:spAutoFit/>
          </a:bodyPr>
          <a:lstStyle/>
          <a:p>
            <a:r>
              <a:rPr lang="en-US" dirty="0"/>
              <a:t>(def interior (do (def completion (cat \"(def interior \" (pr-str (</a:t>
            </a:r>
            <a:r>
              <a:rPr lang="en-US" dirty="0" err="1"/>
              <a:t>uneval</a:t>
            </a:r>
            <a:r>
              <a:rPr lang="en-US" dirty="0"/>
              <a:t> 'interior)) \")\")) (def prompt \"Play 20 questions...\") </a:t>
            </a:r>
          </a:p>
          <a:p>
            <a:r>
              <a:rPr lang="en-US" dirty="0"/>
              <a:t>  (do</a:t>
            </a:r>
          </a:p>
          <a:p>
            <a:r>
              <a:rPr lang="en-US" dirty="0"/>
              <a:t>    (def secret "octopus")</a:t>
            </a:r>
          </a:p>
          <a:p>
            <a:r>
              <a:rPr lang="en-US" dirty="0">
                <a:solidFill>
                  <a:srgbClr val="FFC000"/>
                </a:solidFill>
              </a:rPr>
              <a:t>    (</a:t>
            </a:r>
            <a:r>
              <a:rPr lang="en-US" dirty="0" err="1">
                <a:solidFill>
                  <a:srgbClr val="FFC000"/>
                </a:solidFill>
              </a:rPr>
              <a:t>defn</a:t>
            </a:r>
            <a:r>
              <a:rPr lang="en-US" dirty="0">
                <a:solidFill>
                  <a:srgbClr val="FFC000"/>
                </a:solidFill>
              </a:rPr>
              <a:t> checker-respond [question]</a:t>
            </a:r>
          </a:p>
          <a:p>
            <a:r>
              <a:rPr lang="en-US" dirty="0">
                <a:solidFill>
                  <a:srgbClr val="FFC000"/>
                </a:solidFill>
              </a:rPr>
              <a:t>      (let [q (trim question)]</a:t>
            </a:r>
          </a:p>
          <a:p>
            <a:r>
              <a:rPr lang="en-US" dirty="0">
                <a:solidFill>
                  <a:srgbClr val="FFC000"/>
                </a:solidFill>
              </a:rPr>
              <a:t>        (</a:t>
            </a:r>
            <a:r>
              <a:rPr lang="en-US" dirty="0" err="1">
                <a:solidFill>
                  <a:srgbClr val="FFC000"/>
                </a:solidFill>
              </a:rPr>
              <a:t>cond</a:t>
            </a:r>
            <a:endParaRPr lang="en-US" dirty="0">
              <a:solidFill>
                <a:srgbClr val="FFC000"/>
              </a:solidFill>
            </a:endParaRPr>
          </a:p>
          <a:p>
            <a:r>
              <a:rPr lang="en-US" dirty="0">
                <a:solidFill>
                  <a:srgbClr val="FFC000"/>
                </a:solidFill>
              </a:rPr>
              <a:t>          (or (= q "Is it an animal?")</a:t>
            </a:r>
          </a:p>
          <a:p>
            <a:r>
              <a:rPr lang="en-US" dirty="0">
                <a:solidFill>
                  <a:srgbClr val="FFC000"/>
                </a:solidFill>
              </a:rPr>
              <a:t>              (= q "Animal?"))</a:t>
            </a:r>
          </a:p>
          <a:p>
            <a:r>
              <a:rPr lang="en-US" dirty="0">
                <a:solidFill>
                  <a:srgbClr val="FFC000"/>
                </a:solidFill>
              </a:rPr>
              <a:t>          "yes"</a:t>
            </a:r>
          </a:p>
          <a:p>
            <a:r>
              <a:rPr lang="en-US" dirty="0">
                <a:solidFill>
                  <a:srgbClr val="FFC000"/>
                </a:solidFill>
              </a:rPr>
              <a:t>	… </a:t>
            </a:r>
          </a:p>
          <a:p>
            <a:r>
              <a:rPr lang="en-US" dirty="0"/>
              <a:t>          ;; Fallback: ask an LLM to answer yes/no based on the secret.</a:t>
            </a:r>
            <a:r>
              <a:rPr lang="en-US" dirty="0">
                <a:solidFill>
                  <a:srgbClr val="FFC000"/>
                </a:solidFill>
              </a:rPr>
              <a:t>          </a:t>
            </a:r>
          </a:p>
          <a:p>
            <a:r>
              <a:rPr lang="en-US" dirty="0">
                <a:solidFill>
                  <a:srgbClr val="FFC000"/>
                </a:solidFill>
              </a:rPr>
              <a:t>          :else</a:t>
            </a:r>
          </a:p>
          <a:p>
            <a:r>
              <a:rPr lang="en-US" dirty="0">
                <a:solidFill>
                  <a:srgbClr val="FFC000"/>
                </a:solidFill>
              </a:rPr>
              <a:t>          (let [resp (trim (leaf-</a:t>
            </a:r>
            <a:r>
              <a:rPr lang="en-US" dirty="0" err="1">
                <a:solidFill>
                  <a:srgbClr val="FFC000"/>
                </a:solidFill>
              </a:rPr>
              <a:t>llm</a:t>
            </a:r>
            <a:endParaRPr lang="en-US" dirty="0">
              <a:solidFill>
                <a:srgbClr val="FFC000"/>
              </a:solidFill>
            </a:endParaRPr>
          </a:p>
          <a:p>
            <a:r>
              <a:rPr lang="en-US" dirty="0">
                <a:solidFill>
                  <a:srgbClr val="FFC000"/>
                </a:solidFill>
              </a:rPr>
              <a:t>                            (cat "You are CHECKER in 20 questions. Secret word: " secret</a:t>
            </a:r>
          </a:p>
          <a:p>
            <a:r>
              <a:rPr lang="en-US" dirty="0">
                <a:solidFill>
                  <a:srgbClr val="FFC000"/>
                </a:solidFill>
              </a:rPr>
              <a:t>                                 ". Answer ONLY '</a:t>
            </a:r>
            <a:r>
              <a:rPr lang="en-US" dirty="0" err="1">
                <a:solidFill>
                  <a:srgbClr val="FFC000"/>
                </a:solidFill>
              </a:rPr>
              <a:t>yes'</a:t>
            </a:r>
            <a:r>
              <a:rPr lang="en-US" dirty="0">
                <a:solidFill>
                  <a:srgbClr val="FFC000"/>
                </a:solidFill>
              </a:rPr>
              <a:t> or 'no' (no punctuation). "</a:t>
            </a:r>
          </a:p>
          <a:p>
            <a:r>
              <a:rPr lang="en-US" dirty="0">
                <a:solidFill>
                  <a:srgbClr val="FFC000"/>
                </a:solidFill>
              </a:rPr>
              <a:t>                                 "Question: " q)))]</a:t>
            </a:r>
          </a:p>
          <a:p>
            <a:r>
              <a:rPr lang="en-US" dirty="0">
                <a:solidFill>
                  <a:srgbClr val="FFC000"/>
                </a:solidFill>
              </a:rPr>
              <a:t>            (if (or (= resp "yes") (= resp "no")) resp "no")))))</a:t>
            </a:r>
          </a:p>
          <a:p>
            <a:r>
              <a:rPr lang="en-US" dirty="0"/>
              <a:t>    (</a:t>
            </a:r>
            <a:r>
              <a:rPr lang="en-US" dirty="0" err="1"/>
              <a:t>defn</a:t>
            </a:r>
            <a:r>
              <a:rPr lang="en-US" dirty="0"/>
              <a:t> worker-next [history]</a:t>
            </a:r>
          </a:p>
          <a:p>
            <a:r>
              <a:rPr lang="en-US" dirty="0"/>
              <a:t>      (leaf-</a:t>
            </a:r>
            <a:r>
              <a:rPr lang="en-US" dirty="0" err="1"/>
              <a:t>llm</a:t>
            </a:r>
            <a:endParaRPr lang="en-US" dirty="0"/>
          </a:p>
          <a:p>
            <a:r>
              <a:rPr lang="en-US" dirty="0"/>
              <a:t>        (cat</a:t>
            </a:r>
          </a:p>
          <a:p>
            <a:r>
              <a:rPr lang="en-US" dirty="0"/>
              <a:t>          "You are WORKER playing 20 questions. …</a:t>
            </a:r>
          </a:p>
          <a:p>
            <a:endParaRPr lang="en-US" dirty="0"/>
          </a:p>
        </p:txBody>
      </p:sp>
      <p:sp>
        <p:nvSpPr>
          <p:cNvPr id="2" name="Rectangle 1">
            <a:extLst>
              <a:ext uri="{FF2B5EF4-FFF2-40B4-BE49-F238E27FC236}">
                <a16:creationId xmlns:a16="http://schemas.microsoft.com/office/drawing/2014/main" id="{E0A93068-6622-371E-FE51-6E37A0BE596C}"/>
              </a:ext>
            </a:extLst>
          </p:cNvPr>
          <p:cNvSpPr/>
          <p:nvPr/>
        </p:nvSpPr>
        <p:spPr>
          <a:xfrm>
            <a:off x="2044700" y="1003300"/>
            <a:ext cx="990600" cy="3302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23721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76321-72EE-7470-3C70-A240BCB9AE2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0AAD908-4740-96B9-6ED5-A66CEAFC3025}"/>
              </a:ext>
            </a:extLst>
          </p:cNvPr>
          <p:cNvSpPr txBox="1"/>
          <p:nvPr/>
        </p:nvSpPr>
        <p:spPr>
          <a:xfrm>
            <a:off x="698500" y="165954"/>
            <a:ext cx="11036300" cy="6463308"/>
          </a:xfrm>
          <a:prstGeom prst="rect">
            <a:avLst/>
          </a:prstGeom>
          <a:noFill/>
        </p:spPr>
        <p:txBody>
          <a:bodyPr wrap="square">
            <a:spAutoFit/>
          </a:bodyPr>
          <a:lstStyle/>
          <a:p>
            <a:r>
              <a:rPr lang="en-US" dirty="0"/>
              <a:t>(def interior (do (def completion (cat \"(def interior \" (pr-str (</a:t>
            </a:r>
            <a:r>
              <a:rPr lang="en-US" dirty="0" err="1"/>
              <a:t>uneval</a:t>
            </a:r>
            <a:r>
              <a:rPr lang="en-US" dirty="0"/>
              <a:t> 'interior)) \")\")) (def prompt \"Play 20 questions...\") </a:t>
            </a:r>
          </a:p>
          <a:p>
            <a:r>
              <a:rPr lang="en-US" dirty="0"/>
              <a:t>  (do</a:t>
            </a:r>
          </a:p>
          <a:p>
            <a:r>
              <a:rPr lang="en-US" dirty="0"/>
              <a:t>    (def secret "octopus")</a:t>
            </a:r>
          </a:p>
          <a:p>
            <a:r>
              <a:rPr lang="en-US" dirty="0"/>
              <a:t>    (</a:t>
            </a:r>
            <a:r>
              <a:rPr lang="en-US" dirty="0" err="1"/>
              <a:t>defn</a:t>
            </a:r>
            <a:r>
              <a:rPr lang="en-US" dirty="0"/>
              <a:t> checker-respond [question]</a:t>
            </a:r>
          </a:p>
          <a:p>
            <a:r>
              <a:rPr lang="en-US" dirty="0"/>
              <a:t>      (let [q (trim question)]</a:t>
            </a:r>
          </a:p>
          <a:p>
            <a:r>
              <a:rPr lang="en-US" dirty="0"/>
              <a:t>        (</a:t>
            </a:r>
            <a:r>
              <a:rPr lang="en-US" dirty="0" err="1"/>
              <a:t>cond</a:t>
            </a:r>
            <a:endParaRPr lang="en-US" dirty="0"/>
          </a:p>
          <a:p>
            <a:r>
              <a:rPr lang="en-US" dirty="0"/>
              <a:t>          (or (= q "Is it an animal?")</a:t>
            </a:r>
          </a:p>
          <a:p>
            <a:r>
              <a:rPr lang="en-US" dirty="0"/>
              <a:t>              (= q "Animal?"))</a:t>
            </a:r>
          </a:p>
          <a:p>
            <a:r>
              <a:rPr lang="en-US" dirty="0"/>
              <a:t>          "yes"</a:t>
            </a:r>
          </a:p>
          <a:p>
            <a:r>
              <a:rPr lang="en-US" dirty="0"/>
              <a:t>	…</a:t>
            </a:r>
          </a:p>
          <a:p>
            <a:r>
              <a:rPr lang="en-US" dirty="0"/>
              <a:t>          ;; Fallback: ask an LLM to answer yes/no based on the secret.</a:t>
            </a:r>
          </a:p>
          <a:p>
            <a:r>
              <a:rPr lang="en-US" dirty="0"/>
              <a:t>          :else</a:t>
            </a:r>
          </a:p>
          <a:p>
            <a:r>
              <a:rPr lang="en-US" dirty="0"/>
              <a:t>          (let [resp (trim (leaf-</a:t>
            </a:r>
            <a:r>
              <a:rPr lang="en-US" dirty="0" err="1"/>
              <a:t>llm</a:t>
            </a:r>
            <a:endParaRPr lang="en-US" dirty="0"/>
          </a:p>
          <a:p>
            <a:r>
              <a:rPr lang="en-US" dirty="0"/>
              <a:t>                            (cat "You are CHECKER in 20 questions. Secret word: " secret</a:t>
            </a:r>
          </a:p>
          <a:p>
            <a:r>
              <a:rPr lang="en-US" dirty="0"/>
              <a:t>                                 ". Answer ONLY '</a:t>
            </a:r>
            <a:r>
              <a:rPr lang="en-US" dirty="0" err="1"/>
              <a:t>yes'</a:t>
            </a:r>
            <a:r>
              <a:rPr lang="en-US" dirty="0"/>
              <a:t> or 'no' (no punctuation). "</a:t>
            </a:r>
          </a:p>
          <a:p>
            <a:r>
              <a:rPr lang="en-US" dirty="0"/>
              <a:t>                                 "Question: " q)))]</a:t>
            </a:r>
          </a:p>
          <a:p>
            <a:r>
              <a:rPr lang="en-US" dirty="0"/>
              <a:t>            (if (or (= resp "yes") (= resp "no")) resp "no")))))</a:t>
            </a:r>
          </a:p>
          <a:p>
            <a:r>
              <a:rPr lang="en-US" dirty="0">
                <a:solidFill>
                  <a:srgbClr val="FFC000"/>
                </a:solidFill>
              </a:rPr>
              <a:t>    (</a:t>
            </a:r>
            <a:r>
              <a:rPr lang="en-US" dirty="0" err="1">
                <a:solidFill>
                  <a:srgbClr val="FFC000"/>
                </a:solidFill>
              </a:rPr>
              <a:t>defn</a:t>
            </a:r>
            <a:r>
              <a:rPr lang="en-US" dirty="0">
                <a:solidFill>
                  <a:srgbClr val="FFC000"/>
                </a:solidFill>
              </a:rPr>
              <a:t> worker-next [history]</a:t>
            </a:r>
          </a:p>
          <a:p>
            <a:r>
              <a:rPr lang="en-US" dirty="0">
                <a:solidFill>
                  <a:srgbClr val="FFC000"/>
                </a:solidFill>
              </a:rPr>
              <a:t>      (leaf-</a:t>
            </a:r>
            <a:r>
              <a:rPr lang="en-US" dirty="0" err="1">
                <a:solidFill>
                  <a:srgbClr val="FFC000"/>
                </a:solidFill>
              </a:rPr>
              <a:t>llm</a:t>
            </a:r>
            <a:endParaRPr lang="en-US" dirty="0">
              <a:solidFill>
                <a:srgbClr val="FFC000"/>
              </a:solidFill>
            </a:endParaRPr>
          </a:p>
          <a:p>
            <a:r>
              <a:rPr lang="en-US" dirty="0">
                <a:solidFill>
                  <a:srgbClr val="FFC000"/>
                </a:solidFill>
              </a:rPr>
              <a:t>        (cat</a:t>
            </a:r>
          </a:p>
          <a:p>
            <a:r>
              <a:rPr lang="en-US" dirty="0">
                <a:solidFill>
                  <a:srgbClr val="FFC000"/>
                </a:solidFill>
              </a:rPr>
              <a:t>          "You are WORKER playing 20 questions. …</a:t>
            </a:r>
          </a:p>
          <a:p>
            <a:endParaRPr lang="en-US" dirty="0"/>
          </a:p>
        </p:txBody>
      </p:sp>
      <p:sp>
        <p:nvSpPr>
          <p:cNvPr id="2" name="Rectangle 1">
            <a:extLst>
              <a:ext uri="{FF2B5EF4-FFF2-40B4-BE49-F238E27FC236}">
                <a16:creationId xmlns:a16="http://schemas.microsoft.com/office/drawing/2014/main" id="{77AD6A5D-7CD1-DFFF-007F-BC46453854AD}"/>
              </a:ext>
            </a:extLst>
          </p:cNvPr>
          <p:cNvSpPr/>
          <p:nvPr/>
        </p:nvSpPr>
        <p:spPr>
          <a:xfrm>
            <a:off x="2044700" y="1003300"/>
            <a:ext cx="990600" cy="3302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900060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E496EBE-E7B9-F51D-8ED0-13DF01F1571D}"/>
              </a:ext>
            </a:extLst>
          </p:cNvPr>
          <p:cNvSpPr txBox="1"/>
          <p:nvPr/>
        </p:nvSpPr>
        <p:spPr>
          <a:xfrm>
            <a:off x="2870200" y="356444"/>
            <a:ext cx="6096000" cy="5078313"/>
          </a:xfrm>
          <a:prstGeom prst="rect">
            <a:avLst/>
          </a:prstGeom>
          <a:noFill/>
        </p:spPr>
        <p:txBody>
          <a:bodyPr wrap="square">
            <a:spAutoFit/>
          </a:bodyPr>
          <a:lstStyle/>
          <a:p>
            <a:endParaRPr lang="en-US" dirty="0"/>
          </a:p>
          <a:p>
            <a:r>
              <a:rPr lang="en-US" dirty="0"/>
              <a:t>    </a:t>
            </a:r>
            <a:r>
              <a:rPr lang="en-US" dirty="0">
                <a:solidFill>
                  <a:srgbClr val="00B050"/>
                </a:solidFill>
              </a:rPr>
              <a:t>(</a:t>
            </a:r>
            <a:r>
              <a:rPr lang="en-US" dirty="0" err="1">
                <a:solidFill>
                  <a:srgbClr val="00B050"/>
                </a:solidFill>
              </a:rPr>
              <a:t>defn</a:t>
            </a:r>
            <a:r>
              <a:rPr lang="en-US" dirty="0">
                <a:solidFill>
                  <a:srgbClr val="00B050"/>
                </a:solidFill>
              </a:rPr>
              <a:t> loop-game [n history]</a:t>
            </a:r>
          </a:p>
          <a:p>
            <a:r>
              <a:rPr lang="en-US" dirty="0">
                <a:solidFill>
                  <a:srgbClr val="00B050"/>
                </a:solidFill>
              </a:rPr>
              <a:t>      (if (&gt; n 20)</a:t>
            </a:r>
          </a:p>
          <a:p>
            <a:r>
              <a:rPr lang="en-US" dirty="0">
                <a:solidFill>
                  <a:srgbClr val="00B050"/>
                </a:solidFill>
              </a:rPr>
              <a:t>        (cat "Out of questions.\</a:t>
            </a:r>
            <a:r>
              <a:rPr lang="en-US" dirty="0" err="1">
                <a:solidFill>
                  <a:srgbClr val="00B050"/>
                </a:solidFill>
              </a:rPr>
              <a:t>nSecret</a:t>
            </a:r>
            <a:r>
              <a:rPr lang="en-US" dirty="0">
                <a:solidFill>
                  <a:srgbClr val="00B050"/>
                </a:solidFill>
              </a:rPr>
              <a:t> was: " secret "\n\</a:t>
            </a:r>
            <a:r>
              <a:rPr lang="en-US" dirty="0" err="1">
                <a:solidFill>
                  <a:srgbClr val="00B050"/>
                </a:solidFill>
              </a:rPr>
              <a:t>nTranscript</a:t>
            </a:r>
            <a:r>
              <a:rPr lang="en-US" dirty="0">
                <a:solidFill>
                  <a:srgbClr val="00B050"/>
                </a:solidFill>
              </a:rPr>
              <a:t>:\n" history)</a:t>
            </a:r>
          </a:p>
          <a:p>
            <a:r>
              <a:rPr lang="en-US" dirty="0">
                <a:solidFill>
                  <a:srgbClr val="00B050"/>
                </a:solidFill>
              </a:rPr>
              <a:t>        (let [q (trim (worker-next history))</a:t>
            </a:r>
          </a:p>
          <a:p>
            <a:r>
              <a:rPr lang="en-US" dirty="0">
                <a:solidFill>
                  <a:srgbClr val="00B050"/>
                </a:solidFill>
              </a:rPr>
              <a:t>              a (checker-respond q)</a:t>
            </a:r>
          </a:p>
          <a:p>
            <a:r>
              <a:rPr lang="en-US" dirty="0">
                <a:solidFill>
                  <a:srgbClr val="00B050"/>
                </a:solidFill>
              </a:rPr>
              <a:t>              history2 (cat history "Q" n ": " q "\</a:t>
            </a:r>
            <a:r>
              <a:rPr lang="en-US" dirty="0" err="1">
                <a:solidFill>
                  <a:srgbClr val="00B050"/>
                </a:solidFill>
              </a:rPr>
              <a:t>nA</a:t>
            </a:r>
            <a:r>
              <a:rPr lang="en-US" dirty="0">
                <a:solidFill>
                  <a:srgbClr val="00B050"/>
                </a:solidFill>
              </a:rPr>
              <a:t>" n ": " a "\n")</a:t>
            </a:r>
          </a:p>
          <a:p>
            <a:r>
              <a:rPr lang="en-US" dirty="0">
                <a:solidFill>
                  <a:srgbClr val="00B050"/>
                </a:solidFill>
              </a:rPr>
              <a:t>              g (worker-guess history2)]</a:t>
            </a:r>
          </a:p>
          <a:p>
            <a:r>
              <a:rPr lang="en-US" dirty="0">
                <a:solidFill>
                  <a:srgbClr val="00B050"/>
                </a:solidFill>
              </a:rPr>
              <a:t>          (if (= (trim g) "NO_GUESS")</a:t>
            </a:r>
          </a:p>
          <a:p>
            <a:r>
              <a:rPr lang="en-US" dirty="0">
                <a:solidFill>
                  <a:srgbClr val="00B050"/>
                </a:solidFill>
              </a:rPr>
              <a:t>            (loop-game (+ n 1) history2)</a:t>
            </a:r>
          </a:p>
          <a:p>
            <a:r>
              <a:rPr lang="en-US" dirty="0">
                <a:solidFill>
                  <a:srgbClr val="00B050"/>
                </a:solidFill>
              </a:rPr>
              <a:t>            (if (= (trim g) secret)</a:t>
            </a:r>
          </a:p>
          <a:p>
            <a:r>
              <a:rPr lang="en-US" dirty="0">
                <a:solidFill>
                  <a:srgbClr val="00B050"/>
                </a:solidFill>
              </a:rPr>
              <a:t>              (cat "WORKER guesses: " g "\</a:t>
            </a:r>
            <a:r>
              <a:rPr lang="en-US" dirty="0" err="1">
                <a:solidFill>
                  <a:srgbClr val="00B050"/>
                </a:solidFill>
              </a:rPr>
              <a:t>nResult</a:t>
            </a:r>
            <a:r>
              <a:rPr lang="en-US" dirty="0">
                <a:solidFill>
                  <a:srgbClr val="00B050"/>
                </a:solidFill>
              </a:rPr>
              <a:t>: correct.\n\</a:t>
            </a:r>
            <a:r>
              <a:rPr lang="en-US" dirty="0" err="1">
                <a:solidFill>
                  <a:srgbClr val="00B050"/>
                </a:solidFill>
              </a:rPr>
              <a:t>nTranscript</a:t>
            </a:r>
            <a:r>
              <a:rPr lang="en-US" dirty="0">
                <a:solidFill>
                  <a:srgbClr val="00B050"/>
                </a:solidFill>
              </a:rPr>
              <a:t>:\n" history2)</a:t>
            </a:r>
          </a:p>
          <a:p>
            <a:r>
              <a:rPr lang="en-US" dirty="0">
                <a:solidFill>
                  <a:srgbClr val="00B050"/>
                </a:solidFill>
              </a:rPr>
              <a:t>              (loop-game (+ n 1) (cat history2 "WORKER guesses: " g "\</a:t>
            </a:r>
            <a:r>
              <a:rPr lang="en-US" dirty="0" err="1">
                <a:solidFill>
                  <a:srgbClr val="00B050"/>
                </a:solidFill>
              </a:rPr>
              <a:t>nResult</a:t>
            </a:r>
            <a:r>
              <a:rPr lang="en-US" dirty="0">
                <a:solidFill>
                  <a:srgbClr val="00B050"/>
                </a:solidFill>
              </a:rPr>
              <a:t>: incorrect.\n")))))))</a:t>
            </a:r>
            <a:br>
              <a:rPr lang="en-US" dirty="0">
                <a:solidFill>
                  <a:srgbClr val="00B050"/>
                </a:solidFill>
              </a:rPr>
            </a:br>
            <a:br>
              <a:rPr lang="en-US" dirty="0"/>
            </a:br>
            <a:r>
              <a:rPr lang="en-US" dirty="0"/>
              <a:t>(loop-game 1 ""))</a:t>
            </a:r>
          </a:p>
        </p:txBody>
      </p:sp>
    </p:spTree>
    <p:extLst>
      <p:ext uri="{BB962C8B-B14F-4D97-AF65-F5344CB8AC3E}">
        <p14:creationId xmlns:p14="http://schemas.microsoft.com/office/powerpoint/2010/main" val="27882000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8FDF916-A1AE-BF45-89F4-124248B1EEEA}"/>
              </a:ext>
            </a:extLst>
          </p:cNvPr>
          <p:cNvSpPr txBox="1"/>
          <p:nvPr/>
        </p:nvSpPr>
        <p:spPr>
          <a:xfrm>
            <a:off x="1778000" y="335845"/>
            <a:ext cx="6096000" cy="6186309"/>
          </a:xfrm>
          <a:prstGeom prst="rect">
            <a:avLst/>
          </a:prstGeom>
          <a:noFill/>
        </p:spPr>
        <p:txBody>
          <a:bodyPr wrap="square">
            <a:spAutoFit/>
          </a:bodyPr>
          <a:lstStyle/>
          <a:p>
            <a:r>
              <a:rPr lang="en-US" dirty="0"/>
              <a:t>  Transcript:</a:t>
            </a:r>
          </a:p>
          <a:p>
            <a:r>
              <a:rPr lang="en-US" dirty="0"/>
              <a:t>  Q1: Is it a physical object?</a:t>
            </a:r>
          </a:p>
          <a:p>
            <a:r>
              <a:rPr lang="en-US" dirty="0"/>
              <a:t>  A1: yes</a:t>
            </a:r>
          </a:p>
          <a:p>
            <a:r>
              <a:rPr lang="en-US" dirty="0"/>
              <a:t>  Q2: Is it something typically found indoors?</a:t>
            </a:r>
          </a:p>
          <a:p>
            <a:r>
              <a:rPr lang="en-US" dirty="0"/>
              <a:t>  A2: no</a:t>
            </a:r>
          </a:p>
          <a:p>
            <a:r>
              <a:rPr lang="en-US" dirty="0"/>
              <a:t>  Q3: Is it a natural object (not man-made)?</a:t>
            </a:r>
          </a:p>
          <a:p>
            <a:r>
              <a:rPr lang="en-US" dirty="0"/>
              <a:t>  A3: yes</a:t>
            </a:r>
          </a:p>
          <a:p>
            <a:r>
              <a:rPr lang="en-US" dirty="0"/>
              <a:t>  Q4: Is it a living thing (like a plant or animal)?</a:t>
            </a:r>
          </a:p>
          <a:p>
            <a:r>
              <a:rPr lang="en-US" dirty="0"/>
              <a:t>  A4: yes</a:t>
            </a:r>
          </a:p>
          <a:p>
            <a:r>
              <a:rPr lang="en-US" dirty="0"/>
              <a:t>  Q5: Is it an animal?</a:t>
            </a:r>
          </a:p>
          <a:p>
            <a:r>
              <a:rPr lang="en-US" dirty="0"/>
              <a:t>  A5: yes</a:t>
            </a:r>
          </a:p>
          <a:p>
            <a:r>
              <a:rPr lang="en-US" dirty="0"/>
              <a:t>  Q6: Is it a vertebrate (does it have a backbone)?</a:t>
            </a:r>
          </a:p>
          <a:p>
            <a:r>
              <a:rPr lang="en-US" dirty="0"/>
              <a:t>  A6: no</a:t>
            </a:r>
          </a:p>
          <a:p>
            <a:r>
              <a:rPr lang="en-US" dirty="0"/>
              <a:t>  Q7: Is it an insect (has six legs and three body segments)?</a:t>
            </a:r>
          </a:p>
          <a:p>
            <a:r>
              <a:rPr lang="en-US" dirty="0"/>
              <a:t>  A7: no</a:t>
            </a:r>
          </a:p>
          <a:p>
            <a:r>
              <a:rPr lang="en-US" dirty="0"/>
              <a:t>  WORKER guesses: spider</a:t>
            </a:r>
          </a:p>
          <a:p>
            <a:r>
              <a:rPr lang="en-US" dirty="0"/>
              <a:t>  Result: incorrect.</a:t>
            </a:r>
          </a:p>
          <a:p>
            <a:r>
              <a:rPr lang="en-US" dirty="0"/>
              <a:t>  Q8: Is it a mollusk (like a snail, slug, clam, or octopus)?</a:t>
            </a:r>
          </a:p>
          <a:p>
            <a:r>
              <a:rPr lang="en-US" dirty="0"/>
              <a:t>  A8: yes</a:t>
            </a:r>
          </a:p>
          <a:p>
            <a:r>
              <a:rPr lang="en-US" dirty="0"/>
              <a:t>WORKER guesses: octopus</a:t>
            </a:r>
          </a:p>
          <a:p>
            <a:r>
              <a:rPr lang="en-US" dirty="0"/>
              <a:t>  Result: correct.</a:t>
            </a:r>
          </a:p>
          <a:p>
            <a:endParaRPr lang="en-US" dirty="0"/>
          </a:p>
        </p:txBody>
      </p:sp>
      <p:pic>
        <p:nvPicPr>
          <p:cNvPr id="1026" name="Picture 2" descr="Octopus clip art Images - Free Download on Freepik">
            <a:extLst>
              <a:ext uri="{FF2B5EF4-FFF2-40B4-BE49-F238E27FC236}">
                <a16:creationId xmlns:a16="http://schemas.microsoft.com/office/drawing/2014/main" id="{2C7F4B14-9EFE-7E4F-4849-A8199582A8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74000" y="1884106"/>
            <a:ext cx="3581400" cy="2859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0387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1924</TotalTime>
  <Words>2516</Words>
  <Application>Microsoft Macintosh PowerPoint</Application>
  <PresentationFormat>Widescreen</PresentationFormat>
  <Paragraphs>350</Paragraphs>
  <Slides>35</Slides>
  <Notes>0</Notes>
  <HiddenSlides>6</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Aptos</vt:lpstr>
      <vt:lpstr>Aptos Display</vt:lpstr>
      <vt:lpstr>Arial</vt:lpstr>
      <vt:lpstr>Office Theme</vt:lpstr>
      <vt:lpstr>Programming language for AI agents</vt:lpstr>
      <vt:lpstr>What is an agent?</vt:lpstr>
      <vt:lpstr>ReAct loop</vt:lpstr>
      <vt:lpstr>PowerPoint Presentation</vt:lpstr>
      <vt:lpstr>“Progressive disclosure”</vt:lpstr>
      <vt:lpstr>Limitations</vt:lpstr>
      <vt:lpstr>Orchestration: hot topic</vt:lpstr>
      <vt:lpstr>Early findings</vt:lpstr>
      <vt:lpstr>What this motivates</vt:lpstr>
      <vt:lpstr>What this motivates</vt:lpstr>
      <vt:lpstr>Spell (self-prompting execution language for LLMs)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Spell (self-prompting execution language for LLMs)</vt:lpstr>
      <vt:lpstr>Context = code</vt:lpstr>
      <vt:lpstr>Environment = context</vt:lpstr>
      <vt:lpstr>Why not Python?</vt:lpstr>
      <vt:lpstr>Structure of every completion</vt:lpstr>
      <vt:lpstr>ReAct loop in Spell</vt:lpstr>
      <vt:lpstr>Games impossible with ReAct</vt:lpstr>
      <vt:lpstr>Coin flip game</vt:lpstr>
      <vt:lpstr>PowerPoint Presentation</vt:lpstr>
      <vt:lpstr>PowerPoint Presentation</vt:lpstr>
      <vt:lpstr>PowerPoint Presentation</vt:lpstr>
      <vt:lpstr>20 questions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O'Connor, Luke J</dc:creator>
  <cp:lastModifiedBy>O'Connor, Luke J</cp:lastModifiedBy>
  <cp:revision>91</cp:revision>
  <dcterms:created xsi:type="dcterms:W3CDTF">2026-02-02T15:31:31Z</dcterms:created>
  <dcterms:modified xsi:type="dcterms:W3CDTF">2026-03-03T17:24:54Z</dcterms:modified>
</cp:coreProperties>
</file>