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8"/>
  </p:notesMasterIdLst>
  <p:sldIdLst>
    <p:sldId id="256" r:id="rId2"/>
    <p:sldId id="285" r:id="rId3"/>
    <p:sldId id="327" r:id="rId4"/>
    <p:sldId id="301" r:id="rId5"/>
    <p:sldId id="304" r:id="rId6"/>
    <p:sldId id="305" r:id="rId7"/>
    <p:sldId id="286" r:id="rId8"/>
    <p:sldId id="257" r:id="rId9"/>
    <p:sldId id="298" r:id="rId10"/>
    <p:sldId id="287" r:id="rId11"/>
    <p:sldId id="307" r:id="rId12"/>
    <p:sldId id="306" r:id="rId13"/>
    <p:sldId id="328" r:id="rId14"/>
    <p:sldId id="296" r:id="rId15"/>
    <p:sldId id="303" r:id="rId16"/>
    <p:sldId id="329" r:id="rId17"/>
    <p:sldId id="325" r:id="rId18"/>
    <p:sldId id="331" r:id="rId19"/>
    <p:sldId id="330" r:id="rId20"/>
    <p:sldId id="299" r:id="rId21"/>
    <p:sldId id="308" r:id="rId22"/>
    <p:sldId id="312" r:id="rId23"/>
    <p:sldId id="333" r:id="rId24"/>
    <p:sldId id="334" r:id="rId25"/>
    <p:sldId id="337" r:id="rId26"/>
    <p:sldId id="338" r:id="rId27"/>
    <p:sldId id="339" r:id="rId28"/>
    <p:sldId id="351" r:id="rId29"/>
    <p:sldId id="340" r:id="rId30"/>
    <p:sldId id="345" r:id="rId31"/>
    <p:sldId id="342" r:id="rId32"/>
    <p:sldId id="341" r:id="rId33"/>
    <p:sldId id="343" r:id="rId34"/>
    <p:sldId id="262" r:id="rId35"/>
    <p:sldId id="346" r:id="rId36"/>
    <p:sldId id="347" r:id="rId37"/>
    <p:sldId id="349" r:id="rId38"/>
    <p:sldId id="348" r:id="rId39"/>
    <p:sldId id="291" r:id="rId40"/>
    <p:sldId id="350" r:id="rId41"/>
    <p:sldId id="292" r:id="rId42"/>
    <p:sldId id="266" r:id="rId43"/>
    <p:sldId id="267" r:id="rId44"/>
    <p:sldId id="309" r:id="rId45"/>
    <p:sldId id="310" r:id="rId46"/>
    <p:sldId id="314" r:id="rId47"/>
    <p:sldId id="316" r:id="rId48"/>
    <p:sldId id="317" r:id="rId49"/>
    <p:sldId id="318" r:id="rId50"/>
    <p:sldId id="315" r:id="rId51"/>
    <p:sldId id="275" r:id="rId52"/>
    <p:sldId id="276" r:id="rId53"/>
    <p:sldId id="279" r:id="rId54"/>
    <p:sldId id="280" r:id="rId55"/>
    <p:sldId id="278" r:id="rId56"/>
    <p:sldId id="277"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718"/>
    <p:restoredTop sz="94659"/>
  </p:normalViewPr>
  <p:slideViewPr>
    <p:cSldViewPr snapToGrid="0">
      <p:cViewPr varScale="1">
        <p:scale>
          <a:sx n="125" d="100"/>
          <a:sy n="125" d="100"/>
        </p:scale>
        <p:origin x="176" y="6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1DE1D4-4C18-A34D-8788-7DD6FD639AAE}" type="datetimeFigureOut">
              <a:rPr lang="en-US" smtClean="0"/>
              <a:t>3/13/26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B8CA95-F8BA-DE4A-AB3F-DA5A81EC0799}" type="slidenum">
              <a:rPr lang="en-US" smtClean="0"/>
              <a:t>‹#›</a:t>
            </a:fld>
            <a:endParaRPr lang="en-US"/>
          </a:p>
        </p:txBody>
      </p:sp>
    </p:spTree>
    <p:extLst>
      <p:ext uri="{BB962C8B-B14F-4D97-AF65-F5344CB8AC3E}">
        <p14:creationId xmlns:p14="http://schemas.microsoft.com/office/powerpoint/2010/main" val="3627953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B8CA95-F8BA-DE4A-AB3F-DA5A81EC0799}" type="slidenum">
              <a:rPr lang="en-US" smtClean="0"/>
              <a:t>36</a:t>
            </a:fld>
            <a:endParaRPr lang="en-US"/>
          </a:p>
        </p:txBody>
      </p:sp>
    </p:spTree>
    <p:extLst>
      <p:ext uri="{BB962C8B-B14F-4D97-AF65-F5344CB8AC3E}">
        <p14:creationId xmlns:p14="http://schemas.microsoft.com/office/powerpoint/2010/main" val="7891825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B8CA95-F8BA-DE4A-AB3F-DA5A81EC0799}" type="slidenum">
              <a:rPr lang="en-US" smtClean="0"/>
              <a:t>45</a:t>
            </a:fld>
            <a:endParaRPr lang="en-US"/>
          </a:p>
        </p:txBody>
      </p:sp>
    </p:spTree>
    <p:extLst>
      <p:ext uri="{BB962C8B-B14F-4D97-AF65-F5344CB8AC3E}">
        <p14:creationId xmlns:p14="http://schemas.microsoft.com/office/powerpoint/2010/main" val="2901084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7D37F-5E93-DE6F-3CF0-F8F827F289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EF5160-F6A9-65FD-BF37-5998AD9AE4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0B959CA-8C74-3E12-F9A1-07CB0A499E8D}"/>
              </a:ext>
            </a:extLst>
          </p:cNvPr>
          <p:cNvSpPr>
            <a:spLocks noGrp="1"/>
          </p:cNvSpPr>
          <p:nvPr>
            <p:ph type="dt" sz="half" idx="10"/>
          </p:nvPr>
        </p:nvSpPr>
        <p:spPr/>
        <p:txBody>
          <a:bodyPr/>
          <a:lstStyle/>
          <a:p>
            <a:fld id="{613B060C-E44F-2A46-BC3C-1233D286DD85}" type="datetimeFigureOut">
              <a:rPr lang="en-US" smtClean="0"/>
              <a:t>3/13/26</a:t>
            </a:fld>
            <a:endParaRPr lang="en-US"/>
          </a:p>
        </p:txBody>
      </p:sp>
      <p:sp>
        <p:nvSpPr>
          <p:cNvPr id="5" name="Footer Placeholder 4">
            <a:extLst>
              <a:ext uri="{FF2B5EF4-FFF2-40B4-BE49-F238E27FC236}">
                <a16:creationId xmlns:a16="http://schemas.microsoft.com/office/drawing/2014/main" id="{A0DBEE68-0504-D47B-D275-0B0CDC63F9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3696FE-9F7B-DA08-BA09-A8AECC99986E}"/>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1556406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3C1A0-DEB3-812D-9F01-D2CCEE153C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357BC2-B3DA-02EF-7985-84B511CB84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2A63DA-2C85-5F0C-CCD8-7F9454BDA9D3}"/>
              </a:ext>
            </a:extLst>
          </p:cNvPr>
          <p:cNvSpPr>
            <a:spLocks noGrp="1"/>
          </p:cNvSpPr>
          <p:nvPr>
            <p:ph type="dt" sz="half" idx="10"/>
          </p:nvPr>
        </p:nvSpPr>
        <p:spPr/>
        <p:txBody>
          <a:bodyPr/>
          <a:lstStyle/>
          <a:p>
            <a:fld id="{613B060C-E44F-2A46-BC3C-1233D286DD85}" type="datetimeFigureOut">
              <a:rPr lang="en-US" smtClean="0"/>
              <a:t>3/13/26</a:t>
            </a:fld>
            <a:endParaRPr lang="en-US"/>
          </a:p>
        </p:txBody>
      </p:sp>
      <p:sp>
        <p:nvSpPr>
          <p:cNvPr id="5" name="Footer Placeholder 4">
            <a:extLst>
              <a:ext uri="{FF2B5EF4-FFF2-40B4-BE49-F238E27FC236}">
                <a16:creationId xmlns:a16="http://schemas.microsoft.com/office/drawing/2014/main" id="{B5C302FD-0E0D-6B27-C816-C373D4A9AC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9407FD-FA8F-4B4E-3D7F-E29DD5E9F6D9}"/>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4207976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BA34C-1E95-1925-4BC2-DFA61C18EC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E9A4ECA-5813-4196-4F1D-31F9B6ED62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9C698C-9648-B9A2-321B-88CE6722AC29}"/>
              </a:ext>
            </a:extLst>
          </p:cNvPr>
          <p:cNvSpPr>
            <a:spLocks noGrp="1"/>
          </p:cNvSpPr>
          <p:nvPr>
            <p:ph type="dt" sz="half" idx="10"/>
          </p:nvPr>
        </p:nvSpPr>
        <p:spPr/>
        <p:txBody>
          <a:bodyPr/>
          <a:lstStyle/>
          <a:p>
            <a:fld id="{613B060C-E44F-2A46-BC3C-1233D286DD85}" type="datetimeFigureOut">
              <a:rPr lang="en-US" smtClean="0"/>
              <a:t>3/13/26</a:t>
            </a:fld>
            <a:endParaRPr lang="en-US"/>
          </a:p>
        </p:txBody>
      </p:sp>
      <p:sp>
        <p:nvSpPr>
          <p:cNvPr id="5" name="Footer Placeholder 4">
            <a:extLst>
              <a:ext uri="{FF2B5EF4-FFF2-40B4-BE49-F238E27FC236}">
                <a16:creationId xmlns:a16="http://schemas.microsoft.com/office/drawing/2014/main" id="{2AD2AF4A-81F6-55EA-F070-BC15496174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E2B60B-5409-AB86-9CEB-C8DA09932BA7}"/>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3632269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17D7F-C9C3-27E4-28D8-29A01C127A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089596-3216-833F-87ED-45E00A5A47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B73883-3F3F-6D2E-9427-60AE9BAA9F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18364FD-D128-39CE-0467-FFAEA0F3B07B}"/>
              </a:ext>
            </a:extLst>
          </p:cNvPr>
          <p:cNvSpPr>
            <a:spLocks noGrp="1"/>
          </p:cNvSpPr>
          <p:nvPr>
            <p:ph type="dt" sz="half" idx="10"/>
          </p:nvPr>
        </p:nvSpPr>
        <p:spPr/>
        <p:txBody>
          <a:bodyPr/>
          <a:lstStyle/>
          <a:p>
            <a:fld id="{613B060C-E44F-2A46-BC3C-1233D286DD85}" type="datetimeFigureOut">
              <a:rPr lang="en-US" smtClean="0"/>
              <a:t>3/13/26</a:t>
            </a:fld>
            <a:endParaRPr lang="en-US"/>
          </a:p>
        </p:txBody>
      </p:sp>
      <p:sp>
        <p:nvSpPr>
          <p:cNvPr id="6" name="Footer Placeholder 5">
            <a:extLst>
              <a:ext uri="{FF2B5EF4-FFF2-40B4-BE49-F238E27FC236}">
                <a16:creationId xmlns:a16="http://schemas.microsoft.com/office/drawing/2014/main" id="{9F3567CE-42C3-33E7-7985-C65AE5B105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9893AF-6D89-FAA8-6A8D-142998087250}"/>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4228378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CC758-5E22-4710-FB2E-3D9F21CD75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286CAC7-9A91-9805-759E-E9603EA985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5F66FA1-F6E5-CFD1-6906-D2EF599245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BC7408-181F-01EB-C2DA-74E1CE7D63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735773-FC68-51C9-D19A-4B120F2863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863CD2D-062F-EA23-228E-5F66310CAB85}"/>
              </a:ext>
            </a:extLst>
          </p:cNvPr>
          <p:cNvSpPr>
            <a:spLocks noGrp="1"/>
          </p:cNvSpPr>
          <p:nvPr>
            <p:ph type="dt" sz="half" idx="10"/>
          </p:nvPr>
        </p:nvSpPr>
        <p:spPr/>
        <p:txBody>
          <a:bodyPr/>
          <a:lstStyle/>
          <a:p>
            <a:fld id="{613B060C-E44F-2A46-BC3C-1233D286DD85}" type="datetimeFigureOut">
              <a:rPr lang="en-US" smtClean="0"/>
              <a:t>3/13/26</a:t>
            </a:fld>
            <a:endParaRPr lang="en-US"/>
          </a:p>
        </p:txBody>
      </p:sp>
      <p:sp>
        <p:nvSpPr>
          <p:cNvPr id="8" name="Footer Placeholder 7">
            <a:extLst>
              <a:ext uri="{FF2B5EF4-FFF2-40B4-BE49-F238E27FC236}">
                <a16:creationId xmlns:a16="http://schemas.microsoft.com/office/drawing/2014/main" id="{75C03F9C-8777-D137-3CA8-8102B7791C3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B1227CD-5AAF-5FA1-9888-2E0C13C6963E}"/>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3142353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C12C0-5913-116A-ABDA-ED5ECF1D2BF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8A4ABB1-797C-F7C2-607C-BBCD79BEF379}"/>
              </a:ext>
            </a:extLst>
          </p:cNvPr>
          <p:cNvSpPr>
            <a:spLocks noGrp="1"/>
          </p:cNvSpPr>
          <p:nvPr>
            <p:ph type="dt" sz="half" idx="10"/>
          </p:nvPr>
        </p:nvSpPr>
        <p:spPr/>
        <p:txBody>
          <a:bodyPr/>
          <a:lstStyle/>
          <a:p>
            <a:fld id="{613B060C-E44F-2A46-BC3C-1233D286DD85}" type="datetimeFigureOut">
              <a:rPr lang="en-US" smtClean="0"/>
              <a:t>3/13/26</a:t>
            </a:fld>
            <a:endParaRPr lang="en-US"/>
          </a:p>
        </p:txBody>
      </p:sp>
      <p:sp>
        <p:nvSpPr>
          <p:cNvPr id="4" name="Footer Placeholder 3">
            <a:extLst>
              <a:ext uri="{FF2B5EF4-FFF2-40B4-BE49-F238E27FC236}">
                <a16:creationId xmlns:a16="http://schemas.microsoft.com/office/drawing/2014/main" id="{C1146DD4-9BB6-18BF-B543-A2DC8B5A7D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3DBD41A-8AED-27DC-8037-693538DF58B0}"/>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2109558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5B9AC2-A3D6-A0B5-7EAC-AF55C43454BD}"/>
              </a:ext>
            </a:extLst>
          </p:cNvPr>
          <p:cNvSpPr>
            <a:spLocks noGrp="1"/>
          </p:cNvSpPr>
          <p:nvPr>
            <p:ph type="dt" sz="half" idx="10"/>
          </p:nvPr>
        </p:nvSpPr>
        <p:spPr/>
        <p:txBody>
          <a:bodyPr/>
          <a:lstStyle/>
          <a:p>
            <a:fld id="{613B060C-E44F-2A46-BC3C-1233D286DD85}" type="datetimeFigureOut">
              <a:rPr lang="en-US" smtClean="0"/>
              <a:t>3/13/26</a:t>
            </a:fld>
            <a:endParaRPr lang="en-US"/>
          </a:p>
        </p:txBody>
      </p:sp>
      <p:sp>
        <p:nvSpPr>
          <p:cNvPr id="3" name="Footer Placeholder 2">
            <a:extLst>
              <a:ext uri="{FF2B5EF4-FFF2-40B4-BE49-F238E27FC236}">
                <a16:creationId xmlns:a16="http://schemas.microsoft.com/office/drawing/2014/main" id="{5A1D7D08-5B8D-2143-BE71-DD60F3D8FCF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E3ADD2D-65FC-71C9-780A-791EA824E08B}"/>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2211089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7FB16-6C21-8DF3-C3AD-D2829F9EC5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E87F28F-81CC-DA86-DC10-A8FC013A05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30AD75-1AD2-17A7-7D2D-BA90DF73C7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A7E133-F6CE-2644-A0FD-78956E9F7BD9}"/>
              </a:ext>
            </a:extLst>
          </p:cNvPr>
          <p:cNvSpPr>
            <a:spLocks noGrp="1"/>
          </p:cNvSpPr>
          <p:nvPr>
            <p:ph type="dt" sz="half" idx="10"/>
          </p:nvPr>
        </p:nvSpPr>
        <p:spPr/>
        <p:txBody>
          <a:bodyPr/>
          <a:lstStyle/>
          <a:p>
            <a:fld id="{613B060C-E44F-2A46-BC3C-1233D286DD85}" type="datetimeFigureOut">
              <a:rPr lang="en-US" smtClean="0"/>
              <a:t>3/13/26</a:t>
            </a:fld>
            <a:endParaRPr lang="en-US"/>
          </a:p>
        </p:txBody>
      </p:sp>
      <p:sp>
        <p:nvSpPr>
          <p:cNvPr id="6" name="Footer Placeholder 5">
            <a:extLst>
              <a:ext uri="{FF2B5EF4-FFF2-40B4-BE49-F238E27FC236}">
                <a16:creationId xmlns:a16="http://schemas.microsoft.com/office/drawing/2014/main" id="{CBD6E168-3C06-61A3-A7EA-27D22ADE2E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0B3E44-BBFC-77B2-AA17-51DEFC0C1742}"/>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3260932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D1639-D687-C3D9-7B90-FBF5ECADA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E1EF093-F5A4-927F-3691-E8FEF93395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64DD80B-5CDB-1B89-1705-1ABDAC6070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B9223D-F9D1-F332-6392-F993D0993B0B}"/>
              </a:ext>
            </a:extLst>
          </p:cNvPr>
          <p:cNvSpPr>
            <a:spLocks noGrp="1"/>
          </p:cNvSpPr>
          <p:nvPr>
            <p:ph type="dt" sz="half" idx="10"/>
          </p:nvPr>
        </p:nvSpPr>
        <p:spPr/>
        <p:txBody>
          <a:bodyPr/>
          <a:lstStyle/>
          <a:p>
            <a:fld id="{613B060C-E44F-2A46-BC3C-1233D286DD85}" type="datetimeFigureOut">
              <a:rPr lang="en-US" smtClean="0"/>
              <a:t>3/13/26</a:t>
            </a:fld>
            <a:endParaRPr lang="en-US"/>
          </a:p>
        </p:txBody>
      </p:sp>
      <p:sp>
        <p:nvSpPr>
          <p:cNvPr id="6" name="Footer Placeholder 5">
            <a:extLst>
              <a:ext uri="{FF2B5EF4-FFF2-40B4-BE49-F238E27FC236}">
                <a16:creationId xmlns:a16="http://schemas.microsoft.com/office/drawing/2014/main" id="{AC2B1480-84D6-759E-498E-66A1EC8847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3D1EB7-7B67-B624-9BB8-88E56F675706}"/>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3576195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AE547-3714-0DFE-93C9-7C25C0ACB9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23295A6-0177-55F7-51B3-71F655CB47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BF6997-4D6C-C52D-8F87-9B16AF71841C}"/>
              </a:ext>
            </a:extLst>
          </p:cNvPr>
          <p:cNvSpPr>
            <a:spLocks noGrp="1"/>
          </p:cNvSpPr>
          <p:nvPr>
            <p:ph type="dt" sz="half" idx="10"/>
          </p:nvPr>
        </p:nvSpPr>
        <p:spPr/>
        <p:txBody>
          <a:bodyPr/>
          <a:lstStyle/>
          <a:p>
            <a:fld id="{613B060C-E44F-2A46-BC3C-1233D286DD85}" type="datetimeFigureOut">
              <a:rPr lang="en-US" smtClean="0"/>
              <a:t>3/13/26</a:t>
            </a:fld>
            <a:endParaRPr lang="en-US"/>
          </a:p>
        </p:txBody>
      </p:sp>
      <p:sp>
        <p:nvSpPr>
          <p:cNvPr id="5" name="Footer Placeholder 4">
            <a:extLst>
              <a:ext uri="{FF2B5EF4-FFF2-40B4-BE49-F238E27FC236}">
                <a16:creationId xmlns:a16="http://schemas.microsoft.com/office/drawing/2014/main" id="{5CC282D9-8A12-C333-FC52-7F90B8174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B191F6-4238-1062-F37C-FCEE9906D31B}"/>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3993694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69D08E-A793-D8C8-A235-B36DA0286E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231DE7F-0BF5-1B15-2C46-8CE47972F2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D9E5BE-71A9-A123-A4C7-62C298708AC5}"/>
              </a:ext>
            </a:extLst>
          </p:cNvPr>
          <p:cNvSpPr>
            <a:spLocks noGrp="1"/>
          </p:cNvSpPr>
          <p:nvPr>
            <p:ph type="dt" sz="half" idx="10"/>
          </p:nvPr>
        </p:nvSpPr>
        <p:spPr/>
        <p:txBody>
          <a:bodyPr/>
          <a:lstStyle/>
          <a:p>
            <a:fld id="{613B060C-E44F-2A46-BC3C-1233D286DD85}" type="datetimeFigureOut">
              <a:rPr lang="en-US" smtClean="0"/>
              <a:t>3/13/26</a:t>
            </a:fld>
            <a:endParaRPr lang="en-US"/>
          </a:p>
        </p:txBody>
      </p:sp>
      <p:sp>
        <p:nvSpPr>
          <p:cNvPr id="5" name="Footer Placeholder 4">
            <a:extLst>
              <a:ext uri="{FF2B5EF4-FFF2-40B4-BE49-F238E27FC236}">
                <a16:creationId xmlns:a16="http://schemas.microsoft.com/office/drawing/2014/main" id="{12A132F3-F31B-A579-D988-63337C49B8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04B06A-1473-3083-A674-48C7B79C3CB0}"/>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2915065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4AA27D-E5D2-FAFC-4265-FE2BCF36F1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54F5719-AC88-6F4B-EECB-DD41ED0235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D5D6AD-D7FB-7ACC-CD24-D284B0ED6A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13B060C-E44F-2A46-BC3C-1233D286DD85}" type="datetimeFigureOut">
              <a:rPr lang="en-US" smtClean="0"/>
              <a:t>3/13/26</a:t>
            </a:fld>
            <a:endParaRPr lang="en-US"/>
          </a:p>
        </p:txBody>
      </p:sp>
      <p:sp>
        <p:nvSpPr>
          <p:cNvPr id="5" name="Footer Placeholder 4">
            <a:extLst>
              <a:ext uri="{FF2B5EF4-FFF2-40B4-BE49-F238E27FC236}">
                <a16:creationId xmlns:a16="http://schemas.microsoft.com/office/drawing/2014/main" id="{F6BCD0BA-265B-02F9-5091-26C6D5380E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16F7076-55AC-A02F-8E01-2D7E615DC9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F02B05-3B47-5E43-ACC0-66286D1A7179}" type="slidenum">
              <a:rPr lang="en-US" smtClean="0"/>
              <a:t>‹#›</a:t>
            </a:fld>
            <a:endParaRPr lang="en-US"/>
          </a:p>
        </p:txBody>
      </p:sp>
    </p:spTree>
    <p:extLst>
      <p:ext uri="{BB962C8B-B14F-4D97-AF65-F5344CB8AC3E}">
        <p14:creationId xmlns:p14="http://schemas.microsoft.com/office/powerpoint/2010/main" val="3815907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AB17C-F214-AB2B-F65A-79DC06F7C398}"/>
              </a:ext>
            </a:extLst>
          </p:cNvPr>
          <p:cNvSpPr>
            <a:spLocks noGrp="1"/>
          </p:cNvSpPr>
          <p:nvPr>
            <p:ph type="ctrTitle"/>
          </p:nvPr>
        </p:nvSpPr>
        <p:spPr>
          <a:xfrm>
            <a:off x="1524000" y="2235200"/>
            <a:ext cx="9144000" cy="2387600"/>
          </a:xfrm>
        </p:spPr>
        <p:txBody>
          <a:bodyPr/>
          <a:lstStyle/>
          <a:p>
            <a:r>
              <a:rPr lang="en-US" dirty="0"/>
              <a:t>Programming language for AI agents</a:t>
            </a:r>
          </a:p>
        </p:txBody>
      </p:sp>
    </p:spTree>
    <p:extLst>
      <p:ext uri="{BB962C8B-B14F-4D97-AF65-F5344CB8AC3E}">
        <p14:creationId xmlns:p14="http://schemas.microsoft.com/office/powerpoint/2010/main" val="3991845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4E101-F945-4C94-6796-0D5A6E97A68D}"/>
              </a:ext>
            </a:extLst>
          </p:cNvPr>
          <p:cNvSpPr>
            <a:spLocks noGrp="1"/>
          </p:cNvSpPr>
          <p:nvPr>
            <p:ph type="title"/>
          </p:nvPr>
        </p:nvSpPr>
        <p:spPr/>
        <p:txBody>
          <a:bodyPr/>
          <a:lstStyle/>
          <a:p>
            <a:r>
              <a:rPr lang="en-US" dirty="0"/>
              <a:t>One definition of “agent”</a:t>
            </a:r>
          </a:p>
        </p:txBody>
      </p:sp>
      <p:sp>
        <p:nvSpPr>
          <p:cNvPr id="3" name="Content Placeholder 2">
            <a:extLst>
              <a:ext uri="{FF2B5EF4-FFF2-40B4-BE49-F238E27FC236}">
                <a16:creationId xmlns:a16="http://schemas.microsoft.com/office/drawing/2014/main" id="{75145904-5EB8-5BA3-86C3-618F6ACF6604}"/>
              </a:ext>
            </a:extLst>
          </p:cNvPr>
          <p:cNvSpPr>
            <a:spLocks noGrp="1"/>
          </p:cNvSpPr>
          <p:nvPr>
            <p:ph idx="1"/>
          </p:nvPr>
        </p:nvSpPr>
        <p:spPr>
          <a:xfrm>
            <a:off x="838200" y="1852519"/>
            <a:ext cx="10515600" cy="4351338"/>
          </a:xfrm>
        </p:spPr>
        <p:txBody>
          <a:bodyPr/>
          <a:lstStyle/>
          <a:p>
            <a:pPr marL="0" indent="0">
              <a:buNone/>
            </a:pPr>
            <a:r>
              <a:rPr lang="en-US" dirty="0"/>
              <a:t>Program which combines deterministic computation (harness) with intelligent computation (LM)</a:t>
            </a:r>
          </a:p>
          <a:p>
            <a:pPr marL="0" indent="0">
              <a:buNone/>
            </a:pPr>
            <a:r>
              <a:rPr lang="en-US" dirty="0"/>
              <a:t>Traditionally:</a:t>
            </a:r>
          </a:p>
          <a:p>
            <a:pPr marL="514350" indent="-514350">
              <a:buFont typeface="+mj-lt"/>
              <a:buAutoNum type="arabicPeriod"/>
            </a:pPr>
            <a:r>
              <a:rPr lang="en-US" dirty="0"/>
              <a:t>LM partially controls harness via tool calling</a:t>
            </a:r>
          </a:p>
          <a:p>
            <a:pPr marL="514350" indent="-514350">
              <a:buFont typeface="+mj-lt"/>
              <a:buAutoNum type="arabicPeriod"/>
            </a:pPr>
            <a:r>
              <a:rPr lang="en-US" dirty="0"/>
              <a:t>Harness partially controls LM by determining context (“context engineering”) and actually calling it</a:t>
            </a:r>
          </a:p>
        </p:txBody>
      </p:sp>
    </p:spTree>
    <p:extLst>
      <p:ext uri="{BB962C8B-B14F-4D97-AF65-F5344CB8AC3E}">
        <p14:creationId xmlns:p14="http://schemas.microsoft.com/office/powerpoint/2010/main" val="4284529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72906-AAC8-87DE-E73F-C3AE853BB81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73DD34-E83D-4A8A-65F1-23DD146E824C}"/>
              </a:ext>
            </a:extLst>
          </p:cNvPr>
          <p:cNvSpPr txBox="1"/>
          <p:nvPr/>
        </p:nvSpPr>
        <p:spPr>
          <a:xfrm>
            <a:off x="1141934" y="3910972"/>
            <a:ext cx="8937496" cy="1200329"/>
          </a:xfrm>
          <a:prstGeom prst="rect">
            <a:avLst/>
          </a:prstGeom>
          <a:noFill/>
        </p:spPr>
        <p:txBody>
          <a:bodyPr wrap="square" rtlCol="0">
            <a:spAutoFit/>
          </a:bodyPr>
          <a:lstStyle/>
          <a:p>
            <a:pPr marL="342900" indent="-342900">
              <a:buAutoNum type="arabicParenBoth"/>
            </a:pPr>
            <a:r>
              <a:rPr lang="en-US" dirty="0"/>
              <a:t>Invocation: call the model with some prefix</a:t>
            </a:r>
          </a:p>
          <a:p>
            <a:pPr marL="342900" indent="-342900">
              <a:buAutoNum type="arabicParenBoth"/>
            </a:pPr>
            <a:r>
              <a:rPr lang="en-US" dirty="0"/>
              <a:t>Generation: model thinks and responds with tool call or program</a:t>
            </a:r>
          </a:p>
          <a:p>
            <a:pPr marL="342900" indent="-342900">
              <a:buAutoNum type="arabicParenBoth"/>
            </a:pPr>
            <a:r>
              <a:rPr lang="en-US" dirty="0"/>
              <a:t>Execution: execute tool call</a:t>
            </a:r>
          </a:p>
          <a:p>
            <a:pPr marL="342900" indent="-342900">
              <a:buAutoNum type="arabicParenBoth"/>
            </a:pPr>
            <a:r>
              <a:rPr lang="en-US" dirty="0"/>
              <a:t>Prefix building: produce new prefix and return to (1)</a:t>
            </a:r>
          </a:p>
        </p:txBody>
      </p:sp>
      <p:pic>
        <p:nvPicPr>
          <p:cNvPr id="19" name="Picture 18" descr="A close-up of a paper&#10;&#10;AI-generated content may be incorrect.">
            <a:extLst>
              <a:ext uri="{FF2B5EF4-FFF2-40B4-BE49-F238E27FC236}">
                <a16:creationId xmlns:a16="http://schemas.microsoft.com/office/drawing/2014/main" id="{13A2C9BE-7A40-C400-A8A5-DBEE43B5D4C7}"/>
              </a:ext>
            </a:extLst>
          </p:cNvPr>
          <p:cNvPicPr>
            <a:picLocks noChangeAspect="1"/>
          </p:cNvPicPr>
          <p:nvPr/>
        </p:nvPicPr>
        <p:blipFill>
          <a:blip r:embed="rId2"/>
          <a:stretch>
            <a:fillRect/>
          </a:stretch>
        </p:blipFill>
        <p:spPr>
          <a:xfrm>
            <a:off x="1141934" y="499939"/>
            <a:ext cx="7772400" cy="2651371"/>
          </a:xfrm>
          <a:prstGeom prst="rect">
            <a:avLst/>
          </a:prstGeom>
        </p:spPr>
      </p:pic>
      <p:sp>
        <p:nvSpPr>
          <p:cNvPr id="25" name="TextBox 24">
            <a:extLst>
              <a:ext uri="{FF2B5EF4-FFF2-40B4-BE49-F238E27FC236}">
                <a16:creationId xmlns:a16="http://schemas.microsoft.com/office/drawing/2014/main" id="{D3299FC1-ACF4-F5CA-0A5C-F735C971E31C}"/>
              </a:ext>
            </a:extLst>
          </p:cNvPr>
          <p:cNvSpPr txBox="1"/>
          <p:nvPr/>
        </p:nvSpPr>
        <p:spPr>
          <a:xfrm>
            <a:off x="4932291" y="3059668"/>
            <a:ext cx="678391" cy="369332"/>
          </a:xfrm>
          <a:prstGeom prst="rect">
            <a:avLst/>
          </a:prstGeom>
          <a:noFill/>
        </p:spPr>
        <p:txBody>
          <a:bodyPr wrap="none" rtlCol="0">
            <a:spAutoFit/>
          </a:bodyPr>
          <a:lstStyle/>
          <a:p>
            <a:r>
              <a:rPr lang="en-US" dirty="0"/>
              <a:t>2023</a:t>
            </a:r>
          </a:p>
        </p:txBody>
      </p:sp>
    </p:spTree>
    <p:extLst>
      <p:ext uri="{BB962C8B-B14F-4D97-AF65-F5344CB8AC3E}">
        <p14:creationId xmlns:p14="http://schemas.microsoft.com/office/powerpoint/2010/main" val="2708643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015-dag-orchestrators">
            <a:extLst>
              <a:ext uri="{FF2B5EF4-FFF2-40B4-BE49-F238E27FC236}">
                <a16:creationId xmlns:a16="http://schemas.microsoft.com/office/drawing/2014/main" id="{79A3FDB0-34D0-3DFD-1004-63D359B62B0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060"/>
          <a:stretch>
            <a:fillRect/>
          </a:stretch>
        </p:blipFill>
        <p:spPr bwMode="auto">
          <a:xfrm>
            <a:off x="1502866" y="1949183"/>
            <a:ext cx="8263157" cy="367043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D06F316-D919-1AE0-BADD-C362D0E71997}"/>
              </a:ext>
            </a:extLst>
          </p:cNvPr>
          <p:cNvSpPr txBox="1"/>
          <p:nvPr/>
        </p:nvSpPr>
        <p:spPr>
          <a:xfrm>
            <a:off x="3462425" y="1425963"/>
            <a:ext cx="3716017" cy="523220"/>
          </a:xfrm>
          <a:prstGeom prst="rect">
            <a:avLst/>
          </a:prstGeom>
          <a:noFill/>
        </p:spPr>
        <p:txBody>
          <a:bodyPr wrap="none" rtlCol="0">
            <a:spAutoFit/>
          </a:bodyPr>
          <a:lstStyle/>
          <a:p>
            <a:r>
              <a:rPr lang="en-US" sz="2800" dirty="0"/>
              <a:t>Traditional control flow</a:t>
            </a:r>
          </a:p>
        </p:txBody>
      </p:sp>
      <p:sp>
        <p:nvSpPr>
          <p:cNvPr id="3" name="TextBox 2">
            <a:extLst>
              <a:ext uri="{FF2B5EF4-FFF2-40B4-BE49-F238E27FC236}">
                <a16:creationId xmlns:a16="http://schemas.microsoft.com/office/drawing/2014/main" id="{CD4EAFB8-EDC4-52F5-5DF1-2F95BBFF996F}"/>
              </a:ext>
            </a:extLst>
          </p:cNvPr>
          <p:cNvSpPr txBox="1"/>
          <p:nvPr/>
        </p:nvSpPr>
        <p:spPr>
          <a:xfrm>
            <a:off x="7908587" y="6410835"/>
            <a:ext cx="4175081" cy="369332"/>
          </a:xfrm>
          <a:prstGeom prst="rect">
            <a:avLst/>
          </a:prstGeom>
          <a:noFill/>
        </p:spPr>
        <p:txBody>
          <a:bodyPr wrap="square" rtlCol="0">
            <a:spAutoFit/>
          </a:bodyPr>
          <a:lstStyle/>
          <a:p>
            <a:r>
              <a:rPr lang="en-US" dirty="0"/>
              <a:t>Dex Horthy “12 factor agents”, 2025</a:t>
            </a:r>
          </a:p>
        </p:txBody>
      </p:sp>
    </p:spTree>
    <p:extLst>
      <p:ext uri="{BB962C8B-B14F-4D97-AF65-F5344CB8AC3E}">
        <p14:creationId xmlns:p14="http://schemas.microsoft.com/office/powerpoint/2010/main" val="3743875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3EEB6-E0D6-6BB5-35DE-444C4E5F1775}"/>
            </a:ext>
          </a:extLst>
        </p:cNvPr>
        <p:cNvGrpSpPr/>
        <p:nvPr/>
      </p:nvGrpSpPr>
      <p:grpSpPr>
        <a:xfrm>
          <a:off x="0" y="0"/>
          <a:ext cx="0" cy="0"/>
          <a:chOff x="0" y="0"/>
          <a:chExt cx="0" cy="0"/>
        </a:xfrm>
      </p:grpSpPr>
      <p:pic>
        <p:nvPicPr>
          <p:cNvPr id="5122" name="Picture 2" descr="026-agent-dag-lines">
            <a:extLst>
              <a:ext uri="{FF2B5EF4-FFF2-40B4-BE49-F238E27FC236}">
                <a16:creationId xmlns:a16="http://schemas.microsoft.com/office/drawing/2014/main" id="{DBA165DF-2183-B4F6-8439-7AAE3B1768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87400"/>
            <a:ext cx="12192000" cy="528161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F5F70E3-BA80-2B97-0531-782D358D48C4}"/>
              </a:ext>
            </a:extLst>
          </p:cNvPr>
          <p:cNvSpPr txBox="1"/>
          <p:nvPr/>
        </p:nvSpPr>
        <p:spPr>
          <a:xfrm>
            <a:off x="7908587" y="6410835"/>
            <a:ext cx="4175081" cy="369332"/>
          </a:xfrm>
          <a:prstGeom prst="rect">
            <a:avLst/>
          </a:prstGeom>
          <a:noFill/>
        </p:spPr>
        <p:txBody>
          <a:bodyPr wrap="square" rtlCol="0">
            <a:spAutoFit/>
          </a:bodyPr>
          <a:lstStyle/>
          <a:p>
            <a:r>
              <a:rPr lang="en-US" dirty="0"/>
              <a:t>Dex Horthy “12 factor agents”, 2025</a:t>
            </a:r>
          </a:p>
        </p:txBody>
      </p:sp>
    </p:spTree>
    <p:extLst>
      <p:ext uri="{BB962C8B-B14F-4D97-AF65-F5344CB8AC3E}">
        <p14:creationId xmlns:p14="http://schemas.microsoft.com/office/powerpoint/2010/main" val="996122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9D70A-20EE-205E-3AA9-C732142A2A0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6BA3A94-FBD3-CCC1-531D-2F96DBEF8FFE}"/>
              </a:ext>
            </a:extLst>
          </p:cNvPr>
          <p:cNvSpPr txBox="1"/>
          <p:nvPr/>
        </p:nvSpPr>
        <p:spPr>
          <a:xfrm>
            <a:off x="8741378" y="6410835"/>
            <a:ext cx="3342290" cy="369332"/>
          </a:xfrm>
          <a:prstGeom prst="rect">
            <a:avLst/>
          </a:prstGeom>
          <a:noFill/>
        </p:spPr>
        <p:txBody>
          <a:bodyPr wrap="square" rtlCol="0">
            <a:spAutoFit/>
          </a:bodyPr>
          <a:lstStyle/>
          <a:p>
            <a:r>
              <a:rPr lang="en-US" dirty="0"/>
              <a:t>Dex Horthy, 12 factor agents </a:t>
            </a:r>
          </a:p>
        </p:txBody>
      </p:sp>
      <p:pic>
        <p:nvPicPr>
          <p:cNvPr id="7170" name="Picture 2">
            <a:extLst>
              <a:ext uri="{FF2B5EF4-FFF2-40B4-BE49-F238E27FC236}">
                <a16:creationId xmlns:a16="http://schemas.microsoft.com/office/drawing/2014/main" id="{AB85CEBF-57B1-DF99-DAB0-3D82197BFF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42925"/>
            <a:ext cx="12192000" cy="5770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0019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5DC36-3C58-4A1A-BEE2-2CD46B5409AF}"/>
              </a:ext>
            </a:extLst>
          </p:cNvPr>
          <p:cNvSpPr>
            <a:spLocks noGrp="1"/>
          </p:cNvSpPr>
          <p:nvPr>
            <p:ph type="title"/>
          </p:nvPr>
        </p:nvSpPr>
        <p:spPr/>
        <p:txBody>
          <a:bodyPr/>
          <a:lstStyle/>
          <a:p>
            <a:r>
              <a:rPr lang="en-US" dirty="0" err="1"/>
              <a:t>ReAct</a:t>
            </a:r>
            <a:r>
              <a:rPr lang="en-US" dirty="0"/>
              <a:t> loop</a:t>
            </a:r>
          </a:p>
        </p:txBody>
      </p:sp>
      <p:sp>
        <p:nvSpPr>
          <p:cNvPr id="3" name="Content Placeholder 2">
            <a:extLst>
              <a:ext uri="{FF2B5EF4-FFF2-40B4-BE49-F238E27FC236}">
                <a16:creationId xmlns:a16="http://schemas.microsoft.com/office/drawing/2014/main" id="{64A22680-113C-1396-FEED-D314CD2C6984}"/>
              </a:ext>
            </a:extLst>
          </p:cNvPr>
          <p:cNvSpPr>
            <a:spLocks noGrp="1"/>
          </p:cNvSpPr>
          <p:nvPr>
            <p:ph idx="1"/>
          </p:nvPr>
        </p:nvSpPr>
        <p:spPr>
          <a:xfrm>
            <a:off x="838200" y="1690688"/>
            <a:ext cx="6639838" cy="4351338"/>
          </a:xfrm>
        </p:spPr>
        <p:txBody>
          <a:bodyPr>
            <a:normAutofit/>
          </a:bodyPr>
          <a:lstStyle/>
          <a:p>
            <a:pPr marL="0" indent="0">
              <a:buNone/>
            </a:pPr>
            <a:r>
              <a:rPr lang="en-US" sz="2400" dirty="0"/>
              <a:t>prefix ←  prompt</a:t>
            </a:r>
          </a:p>
          <a:p>
            <a:pPr marL="0" indent="0">
              <a:buNone/>
            </a:pPr>
            <a:r>
              <a:rPr lang="en-US" sz="2400" dirty="0"/>
              <a:t>loop:</a:t>
            </a:r>
          </a:p>
          <a:p>
            <a:pPr marL="0" indent="0">
              <a:buNone/>
            </a:pPr>
            <a:r>
              <a:rPr lang="en-US" sz="2400" dirty="0"/>
              <a:t>    response, tool-call ← </a:t>
            </a:r>
            <a:r>
              <a:rPr lang="en-US" sz="2400" dirty="0" err="1"/>
              <a:t>llm</a:t>
            </a:r>
            <a:r>
              <a:rPr lang="en-US" sz="2400" dirty="0"/>
              <a:t>(prefix)</a:t>
            </a:r>
          </a:p>
          <a:p>
            <a:pPr marL="0" indent="0">
              <a:buNone/>
            </a:pPr>
            <a:r>
              <a:rPr lang="en-US" sz="2400" dirty="0"/>
              <a:t>    tool-result  ← eval(tool-call)</a:t>
            </a:r>
            <a:br>
              <a:rPr lang="en-US" sz="2400" dirty="0"/>
            </a:br>
            <a:r>
              <a:rPr lang="en-US" sz="2400" dirty="0"/>
              <a:t>    completion ← prefix + response+ tool-result</a:t>
            </a:r>
          </a:p>
          <a:p>
            <a:pPr marL="0" indent="0">
              <a:buNone/>
            </a:pPr>
            <a:r>
              <a:rPr lang="en-US" sz="2400" dirty="0"/>
              <a:t>    if </a:t>
            </a:r>
            <a:r>
              <a:rPr lang="en-US" sz="2400" dirty="0" err="1"/>
              <a:t>response.is</a:t>
            </a:r>
            <a:r>
              <a:rPr lang="en-US" sz="2400" dirty="0"/>
              <a:t>-final:</a:t>
            </a:r>
          </a:p>
          <a:p>
            <a:pPr marL="0" indent="0">
              <a:buNone/>
            </a:pPr>
            <a:r>
              <a:rPr lang="en-US" sz="2400" dirty="0"/>
              <a:t>        return completion</a:t>
            </a:r>
          </a:p>
          <a:p>
            <a:pPr marL="0" indent="0">
              <a:buNone/>
            </a:pPr>
            <a:r>
              <a:rPr lang="en-US" sz="2400" dirty="0"/>
              <a:t>    prefix ← completion</a:t>
            </a:r>
          </a:p>
        </p:txBody>
      </p:sp>
      <p:sp>
        <p:nvSpPr>
          <p:cNvPr id="4" name="TextBox 3">
            <a:extLst>
              <a:ext uri="{FF2B5EF4-FFF2-40B4-BE49-F238E27FC236}">
                <a16:creationId xmlns:a16="http://schemas.microsoft.com/office/drawing/2014/main" id="{4F3AA296-C767-BC8E-FF6D-0390192733E7}"/>
              </a:ext>
            </a:extLst>
          </p:cNvPr>
          <p:cNvSpPr txBox="1"/>
          <p:nvPr/>
        </p:nvSpPr>
        <p:spPr>
          <a:xfrm>
            <a:off x="9068844" y="6308209"/>
            <a:ext cx="2142894" cy="369332"/>
          </a:xfrm>
          <a:prstGeom prst="rect">
            <a:avLst/>
          </a:prstGeom>
          <a:noFill/>
        </p:spPr>
        <p:txBody>
          <a:bodyPr wrap="none" rtlCol="0">
            <a:spAutoFit/>
          </a:bodyPr>
          <a:lstStyle/>
          <a:p>
            <a:r>
              <a:rPr lang="en-US" dirty="0"/>
              <a:t>Yao et al. 2023 ICLR</a:t>
            </a:r>
          </a:p>
        </p:txBody>
      </p:sp>
      <p:pic>
        <p:nvPicPr>
          <p:cNvPr id="5" name="Picture 2" descr="Implementing ReAct Agentic Pattern From Scratch">
            <a:extLst>
              <a:ext uri="{FF2B5EF4-FFF2-40B4-BE49-F238E27FC236}">
                <a16:creationId xmlns:a16="http://schemas.microsoft.com/office/drawing/2014/main" id="{58320706-C3C5-9016-CFB3-4960F6EA94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3461" y="3958846"/>
            <a:ext cx="5655197" cy="1822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3625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F2B2EA-8743-EC3F-E017-0B98699211D2}"/>
              </a:ext>
            </a:extLst>
          </p:cNvPr>
          <p:cNvSpPr/>
          <p:nvPr/>
        </p:nvSpPr>
        <p:spPr>
          <a:xfrm>
            <a:off x="2163277" y="2235135"/>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7" name="Rectangle 6">
            <a:extLst>
              <a:ext uri="{FF2B5EF4-FFF2-40B4-BE49-F238E27FC236}">
                <a16:creationId xmlns:a16="http://schemas.microsoft.com/office/drawing/2014/main" id="{304D26FB-14D4-523A-0449-373173FB3766}"/>
              </a:ext>
            </a:extLst>
          </p:cNvPr>
          <p:cNvSpPr/>
          <p:nvPr/>
        </p:nvSpPr>
        <p:spPr>
          <a:xfrm>
            <a:off x="2163278" y="4195867"/>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8" name="Rectangle 7">
            <a:extLst>
              <a:ext uri="{FF2B5EF4-FFF2-40B4-BE49-F238E27FC236}">
                <a16:creationId xmlns:a16="http://schemas.microsoft.com/office/drawing/2014/main" id="{61EFAD1D-ECBA-E7B2-3A3E-F3392E649901}"/>
              </a:ext>
            </a:extLst>
          </p:cNvPr>
          <p:cNvSpPr/>
          <p:nvPr/>
        </p:nvSpPr>
        <p:spPr>
          <a:xfrm>
            <a:off x="3193425" y="4195867"/>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9" name="Rectangle 8">
            <a:extLst>
              <a:ext uri="{FF2B5EF4-FFF2-40B4-BE49-F238E27FC236}">
                <a16:creationId xmlns:a16="http://schemas.microsoft.com/office/drawing/2014/main" id="{5CCD7409-2354-65D5-703B-C5FABA0F64CA}"/>
              </a:ext>
            </a:extLst>
          </p:cNvPr>
          <p:cNvSpPr/>
          <p:nvPr/>
        </p:nvSpPr>
        <p:spPr>
          <a:xfrm>
            <a:off x="4577394" y="4195866"/>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10" name="Rectangle 9">
            <a:extLst>
              <a:ext uri="{FF2B5EF4-FFF2-40B4-BE49-F238E27FC236}">
                <a16:creationId xmlns:a16="http://schemas.microsoft.com/office/drawing/2014/main" id="{093250EC-4A37-A97C-8801-41F2AC70B8C6}"/>
              </a:ext>
            </a:extLst>
          </p:cNvPr>
          <p:cNvSpPr/>
          <p:nvPr/>
        </p:nvSpPr>
        <p:spPr>
          <a:xfrm>
            <a:off x="5961363" y="4195867"/>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1" name="Rectangle 10">
            <a:extLst>
              <a:ext uri="{FF2B5EF4-FFF2-40B4-BE49-F238E27FC236}">
                <a16:creationId xmlns:a16="http://schemas.microsoft.com/office/drawing/2014/main" id="{A7CE154F-4759-AFA6-32D0-78B5686BBD64}"/>
              </a:ext>
            </a:extLst>
          </p:cNvPr>
          <p:cNvSpPr/>
          <p:nvPr/>
        </p:nvSpPr>
        <p:spPr>
          <a:xfrm>
            <a:off x="7345332" y="4195866"/>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12" name="Rectangle 11">
            <a:extLst>
              <a:ext uri="{FF2B5EF4-FFF2-40B4-BE49-F238E27FC236}">
                <a16:creationId xmlns:a16="http://schemas.microsoft.com/office/drawing/2014/main" id="{E511E3D2-AD69-4366-A33E-77A4770B297F}"/>
              </a:ext>
            </a:extLst>
          </p:cNvPr>
          <p:cNvSpPr/>
          <p:nvPr/>
        </p:nvSpPr>
        <p:spPr>
          <a:xfrm>
            <a:off x="8729301" y="4195866"/>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4" name="Rectangle 13">
            <a:extLst>
              <a:ext uri="{FF2B5EF4-FFF2-40B4-BE49-F238E27FC236}">
                <a16:creationId xmlns:a16="http://schemas.microsoft.com/office/drawing/2014/main" id="{819FBA50-8BFF-4592-FA51-68A4DD16077B}"/>
              </a:ext>
            </a:extLst>
          </p:cNvPr>
          <p:cNvSpPr/>
          <p:nvPr/>
        </p:nvSpPr>
        <p:spPr>
          <a:xfrm>
            <a:off x="2163278" y="3783515"/>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15" name="Rectangle 14">
            <a:extLst>
              <a:ext uri="{FF2B5EF4-FFF2-40B4-BE49-F238E27FC236}">
                <a16:creationId xmlns:a16="http://schemas.microsoft.com/office/drawing/2014/main" id="{F228B26A-0502-0288-993A-8CEDF0F36190}"/>
              </a:ext>
            </a:extLst>
          </p:cNvPr>
          <p:cNvSpPr/>
          <p:nvPr/>
        </p:nvSpPr>
        <p:spPr>
          <a:xfrm>
            <a:off x="3193425" y="3783515"/>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6" name="Rectangle 15">
            <a:extLst>
              <a:ext uri="{FF2B5EF4-FFF2-40B4-BE49-F238E27FC236}">
                <a16:creationId xmlns:a16="http://schemas.microsoft.com/office/drawing/2014/main" id="{675068AF-A7F8-A152-5FC9-F0CFA46D4AB1}"/>
              </a:ext>
            </a:extLst>
          </p:cNvPr>
          <p:cNvSpPr/>
          <p:nvPr/>
        </p:nvSpPr>
        <p:spPr>
          <a:xfrm>
            <a:off x="4577394" y="3783514"/>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17" name="Rectangle 16">
            <a:extLst>
              <a:ext uri="{FF2B5EF4-FFF2-40B4-BE49-F238E27FC236}">
                <a16:creationId xmlns:a16="http://schemas.microsoft.com/office/drawing/2014/main" id="{F748ED0D-4CBC-442B-E66A-D04B01611E50}"/>
              </a:ext>
            </a:extLst>
          </p:cNvPr>
          <p:cNvSpPr/>
          <p:nvPr/>
        </p:nvSpPr>
        <p:spPr>
          <a:xfrm>
            <a:off x="5961363" y="3783515"/>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8" name="Rectangle 17">
            <a:extLst>
              <a:ext uri="{FF2B5EF4-FFF2-40B4-BE49-F238E27FC236}">
                <a16:creationId xmlns:a16="http://schemas.microsoft.com/office/drawing/2014/main" id="{2D7F6562-D5F1-40CD-EE14-9EB13C44D57C}"/>
              </a:ext>
            </a:extLst>
          </p:cNvPr>
          <p:cNvSpPr/>
          <p:nvPr/>
        </p:nvSpPr>
        <p:spPr>
          <a:xfrm>
            <a:off x="7345332" y="3783514"/>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21" name="Rectangle 20">
            <a:extLst>
              <a:ext uri="{FF2B5EF4-FFF2-40B4-BE49-F238E27FC236}">
                <a16:creationId xmlns:a16="http://schemas.microsoft.com/office/drawing/2014/main" id="{CFFF3F7C-14F0-F3BE-6589-75FF5A9A414E}"/>
              </a:ext>
            </a:extLst>
          </p:cNvPr>
          <p:cNvSpPr/>
          <p:nvPr/>
        </p:nvSpPr>
        <p:spPr>
          <a:xfrm>
            <a:off x="2163278" y="3348748"/>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22" name="Rectangle 21">
            <a:extLst>
              <a:ext uri="{FF2B5EF4-FFF2-40B4-BE49-F238E27FC236}">
                <a16:creationId xmlns:a16="http://schemas.microsoft.com/office/drawing/2014/main" id="{1D7EDF62-1BF3-699C-6EE9-5086C1604B8B}"/>
              </a:ext>
            </a:extLst>
          </p:cNvPr>
          <p:cNvSpPr/>
          <p:nvPr/>
        </p:nvSpPr>
        <p:spPr>
          <a:xfrm>
            <a:off x="3193425" y="334874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23" name="Rectangle 22">
            <a:extLst>
              <a:ext uri="{FF2B5EF4-FFF2-40B4-BE49-F238E27FC236}">
                <a16:creationId xmlns:a16="http://schemas.microsoft.com/office/drawing/2014/main" id="{E670D562-B4A4-0ABE-D8B4-6532E561ADE0}"/>
              </a:ext>
            </a:extLst>
          </p:cNvPr>
          <p:cNvSpPr/>
          <p:nvPr/>
        </p:nvSpPr>
        <p:spPr>
          <a:xfrm>
            <a:off x="4577394" y="3348747"/>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24" name="Rectangle 23">
            <a:extLst>
              <a:ext uri="{FF2B5EF4-FFF2-40B4-BE49-F238E27FC236}">
                <a16:creationId xmlns:a16="http://schemas.microsoft.com/office/drawing/2014/main" id="{140D3CBA-AB5E-AC53-2FCB-1FBFB567583D}"/>
              </a:ext>
            </a:extLst>
          </p:cNvPr>
          <p:cNvSpPr/>
          <p:nvPr/>
        </p:nvSpPr>
        <p:spPr>
          <a:xfrm>
            <a:off x="5961363" y="334874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28" name="Rectangle 27">
            <a:extLst>
              <a:ext uri="{FF2B5EF4-FFF2-40B4-BE49-F238E27FC236}">
                <a16:creationId xmlns:a16="http://schemas.microsoft.com/office/drawing/2014/main" id="{0A31EDF1-0A30-AD46-6F10-C1072E9F96C4}"/>
              </a:ext>
            </a:extLst>
          </p:cNvPr>
          <p:cNvSpPr/>
          <p:nvPr/>
        </p:nvSpPr>
        <p:spPr>
          <a:xfrm>
            <a:off x="2163278" y="2958829"/>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29" name="Rectangle 28">
            <a:extLst>
              <a:ext uri="{FF2B5EF4-FFF2-40B4-BE49-F238E27FC236}">
                <a16:creationId xmlns:a16="http://schemas.microsoft.com/office/drawing/2014/main" id="{E96A2019-40DE-D02E-D8C0-BCB85C28A0D4}"/>
              </a:ext>
            </a:extLst>
          </p:cNvPr>
          <p:cNvSpPr/>
          <p:nvPr/>
        </p:nvSpPr>
        <p:spPr>
          <a:xfrm>
            <a:off x="3193425" y="29588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30" name="Rectangle 29">
            <a:extLst>
              <a:ext uri="{FF2B5EF4-FFF2-40B4-BE49-F238E27FC236}">
                <a16:creationId xmlns:a16="http://schemas.microsoft.com/office/drawing/2014/main" id="{77805500-D018-DDCF-AAA6-9E7EC4AF0179}"/>
              </a:ext>
            </a:extLst>
          </p:cNvPr>
          <p:cNvSpPr/>
          <p:nvPr/>
        </p:nvSpPr>
        <p:spPr>
          <a:xfrm>
            <a:off x="4577394" y="29588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35" name="Rectangle 34">
            <a:extLst>
              <a:ext uri="{FF2B5EF4-FFF2-40B4-BE49-F238E27FC236}">
                <a16:creationId xmlns:a16="http://schemas.microsoft.com/office/drawing/2014/main" id="{321B081F-E2E5-F1F5-C8B6-5AC83F655CA4}"/>
              </a:ext>
            </a:extLst>
          </p:cNvPr>
          <p:cNvSpPr/>
          <p:nvPr/>
        </p:nvSpPr>
        <p:spPr>
          <a:xfrm>
            <a:off x="2163278" y="2615200"/>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36" name="Rectangle 35">
            <a:extLst>
              <a:ext uri="{FF2B5EF4-FFF2-40B4-BE49-F238E27FC236}">
                <a16:creationId xmlns:a16="http://schemas.microsoft.com/office/drawing/2014/main" id="{B2EE0699-BBEF-8BF1-4557-F23B87E02E54}"/>
              </a:ext>
            </a:extLst>
          </p:cNvPr>
          <p:cNvSpPr/>
          <p:nvPr/>
        </p:nvSpPr>
        <p:spPr>
          <a:xfrm>
            <a:off x="3193425" y="2615200"/>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3" name="TextBox 2">
            <a:extLst>
              <a:ext uri="{FF2B5EF4-FFF2-40B4-BE49-F238E27FC236}">
                <a16:creationId xmlns:a16="http://schemas.microsoft.com/office/drawing/2014/main" id="{9692D612-4C20-66F1-7113-6AA8588C267F}"/>
              </a:ext>
            </a:extLst>
          </p:cNvPr>
          <p:cNvSpPr txBox="1"/>
          <p:nvPr/>
        </p:nvSpPr>
        <p:spPr>
          <a:xfrm>
            <a:off x="2262535" y="4757266"/>
            <a:ext cx="381836"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3666145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77196-99F0-6079-032C-B9C3F81E993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DBFF4F1-DF08-EE03-A94D-A7B3F3E121C7}"/>
              </a:ext>
            </a:extLst>
          </p:cNvPr>
          <p:cNvSpPr/>
          <p:nvPr/>
        </p:nvSpPr>
        <p:spPr>
          <a:xfrm>
            <a:off x="558126" y="2444892"/>
            <a:ext cx="1310220" cy="3108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5" name="Rectangle 4">
            <a:extLst>
              <a:ext uri="{FF2B5EF4-FFF2-40B4-BE49-F238E27FC236}">
                <a16:creationId xmlns:a16="http://schemas.microsoft.com/office/drawing/2014/main" id="{D2047F77-8B99-9667-6A53-375A5BA1F6CF}"/>
              </a:ext>
            </a:extLst>
          </p:cNvPr>
          <p:cNvSpPr/>
          <p:nvPr/>
        </p:nvSpPr>
        <p:spPr>
          <a:xfrm>
            <a:off x="1868347" y="2444893"/>
            <a:ext cx="1760238" cy="31087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6" name="Rectangle 5">
            <a:extLst>
              <a:ext uri="{FF2B5EF4-FFF2-40B4-BE49-F238E27FC236}">
                <a16:creationId xmlns:a16="http://schemas.microsoft.com/office/drawing/2014/main" id="{FDFB323B-7C05-1A73-C7D9-CE3B07BEE297}"/>
              </a:ext>
            </a:extLst>
          </p:cNvPr>
          <p:cNvSpPr/>
          <p:nvPr/>
        </p:nvSpPr>
        <p:spPr>
          <a:xfrm>
            <a:off x="3628585" y="2444892"/>
            <a:ext cx="1760238" cy="310878"/>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 some-</a:t>
            </a:r>
            <a:r>
              <a:rPr lang="en-US" dirty="0" err="1"/>
              <a:t>dir</a:t>
            </a:r>
            <a:endParaRPr lang="en-US" dirty="0"/>
          </a:p>
        </p:txBody>
      </p:sp>
      <p:sp>
        <p:nvSpPr>
          <p:cNvPr id="7" name="Rectangle 6">
            <a:extLst>
              <a:ext uri="{FF2B5EF4-FFF2-40B4-BE49-F238E27FC236}">
                <a16:creationId xmlns:a16="http://schemas.microsoft.com/office/drawing/2014/main" id="{2B270201-3BB0-A052-5C39-53F860291860}"/>
              </a:ext>
            </a:extLst>
          </p:cNvPr>
          <p:cNvSpPr/>
          <p:nvPr/>
        </p:nvSpPr>
        <p:spPr>
          <a:xfrm>
            <a:off x="5388823" y="2444893"/>
            <a:ext cx="6444590" cy="310877"/>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10,000 files in directory</a:t>
            </a:r>
          </a:p>
        </p:txBody>
      </p:sp>
      <p:grpSp>
        <p:nvGrpSpPr>
          <p:cNvPr id="17" name="Group 16">
            <a:extLst>
              <a:ext uri="{FF2B5EF4-FFF2-40B4-BE49-F238E27FC236}">
                <a16:creationId xmlns:a16="http://schemas.microsoft.com/office/drawing/2014/main" id="{33CD094E-4396-6A51-5007-515DB32E1289}"/>
              </a:ext>
            </a:extLst>
          </p:cNvPr>
          <p:cNvGrpSpPr/>
          <p:nvPr/>
        </p:nvGrpSpPr>
        <p:grpSpPr>
          <a:xfrm>
            <a:off x="558126" y="3964785"/>
            <a:ext cx="1295355" cy="274900"/>
            <a:chOff x="558126" y="3129628"/>
            <a:chExt cx="6566023" cy="274900"/>
          </a:xfrm>
        </p:grpSpPr>
        <p:sp>
          <p:nvSpPr>
            <p:cNvPr id="8" name="Rectangle 7">
              <a:extLst>
                <a:ext uri="{FF2B5EF4-FFF2-40B4-BE49-F238E27FC236}">
                  <a16:creationId xmlns:a16="http://schemas.microsoft.com/office/drawing/2014/main" id="{3BAC7100-4216-1426-F4B9-1E7BDB3ACB14}"/>
                </a:ext>
              </a:extLst>
            </p:cNvPr>
            <p:cNvSpPr/>
            <p:nvPr/>
          </p:nvSpPr>
          <p:spPr>
            <a:xfrm>
              <a:off x="558126" y="3129629"/>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9" name="Rectangle 8">
              <a:extLst>
                <a:ext uri="{FF2B5EF4-FFF2-40B4-BE49-F238E27FC236}">
                  <a16:creationId xmlns:a16="http://schemas.microsoft.com/office/drawing/2014/main" id="{333960F6-973D-0082-F393-0CEF77C2C467}"/>
                </a:ext>
              </a:extLst>
            </p:cNvPr>
            <p:cNvSpPr/>
            <p:nvPr/>
          </p:nvSpPr>
          <p:spPr>
            <a:xfrm>
              <a:off x="1588273"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13" name="Rectangle 12">
              <a:extLst>
                <a:ext uri="{FF2B5EF4-FFF2-40B4-BE49-F238E27FC236}">
                  <a16:creationId xmlns:a16="http://schemas.microsoft.com/office/drawing/2014/main" id="{A7BD7EFB-BB78-C8AA-5672-0F0038EF504D}"/>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14" name="Rectangle 13">
              <a:extLst>
                <a:ext uri="{FF2B5EF4-FFF2-40B4-BE49-F238E27FC236}">
                  <a16:creationId xmlns:a16="http://schemas.microsoft.com/office/drawing/2014/main" id="{8C0BD092-E238-1BE2-A3EE-5B462AF21508}"/>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15" name="Rectangle 14">
              <a:extLst>
                <a:ext uri="{FF2B5EF4-FFF2-40B4-BE49-F238E27FC236}">
                  <a16:creationId xmlns:a16="http://schemas.microsoft.com/office/drawing/2014/main" id="{DCDB4A45-11D4-E5F4-D247-290555A60820}"/>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grpSp>
        <p:nvGrpSpPr>
          <p:cNvPr id="18" name="Group 17">
            <a:extLst>
              <a:ext uri="{FF2B5EF4-FFF2-40B4-BE49-F238E27FC236}">
                <a16:creationId xmlns:a16="http://schemas.microsoft.com/office/drawing/2014/main" id="{861DB988-56A7-0AE0-8ED5-F1A6CEC43AB0}"/>
              </a:ext>
            </a:extLst>
          </p:cNvPr>
          <p:cNvGrpSpPr/>
          <p:nvPr/>
        </p:nvGrpSpPr>
        <p:grpSpPr>
          <a:xfrm>
            <a:off x="1857713" y="3964785"/>
            <a:ext cx="1365157" cy="274900"/>
            <a:chOff x="1588273" y="3129628"/>
            <a:chExt cx="6919845" cy="274900"/>
          </a:xfrm>
        </p:grpSpPr>
        <p:sp>
          <p:nvSpPr>
            <p:cNvPr id="20" name="Rectangle 19">
              <a:extLst>
                <a:ext uri="{FF2B5EF4-FFF2-40B4-BE49-F238E27FC236}">
                  <a16:creationId xmlns:a16="http://schemas.microsoft.com/office/drawing/2014/main" id="{FE8BFEED-C4A9-1588-DF50-FCEA083D541D}"/>
                </a:ext>
              </a:extLst>
            </p:cNvPr>
            <p:cNvSpPr/>
            <p:nvPr/>
          </p:nvSpPr>
          <p:spPr>
            <a:xfrm>
              <a:off x="1588273"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21" name="Rectangle 20">
              <a:extLst>
                <a:ext uri="{FF2B5EF4-FFF2-40B4-BE49-F238E27FC236}">
                  <a16:creationId xmlns:a16="http://schemas.microsoft.com/office/drawing/2014/main" id="{DDD0B3C3-C15A-811A-1DC8-D3CEE5013792}"/>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22" name="Rectangle 21">
              <a:extLst>
                <a:ext uri="{FF2B5EF4-FFF2-40B4-BE49-F238E27FC236}">
                  <a16:creationId xmlns:a16="http://schemas.microsoft.com/office/drawing/2014/main" id="{93E5A50A-5ED5-085D-2F46-39093A11E61B}"/>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23" name="Rectangle 22">
              <a:extLst>
                <a:ext uri="{FF2B5EF4-FFF2-40B4-BE49-F238E27FC236}">
                  <a16:creationId xmlns:a16="http://schemas.microsoft.com/office/drawing/2014/main" id="{5EDF993C-77D9-A49D-D5A7-12F9CE56B5A0}"/>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24" name="Rectangle 23">
              <a:extLst>
                <a:ext uri="{FF2B5EF4-FFF2-40B4-BE49-F238E27FC236}">
                  <a16:creationId xmlns:a16="http://schemas.microsoft.com/office/drawing/2014/main" id="{F9410801-BE9B-7319-51E8-D0A0CA784109}"/>
                </a:ext>
              </a:extLst>
            </p:cNvPr>
            <p:cNvSpPr/>
            <p:nvPr/>
          </p:nvSpPr>
          <p:spPr>
            <a:xfrm>
              <a:off x="7124149" y="312962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grpSp>
        <p:nvGrpSpPr>
          <p:cNvPr id="25" name="Group 24">
            <a:extLst>
              <a:ext uri="{FF2B5EF4-FFF2-40B4-BE49-F238E27FC236}">
                <a16:creationId xmlns:a16="http://schemas.microsoft.com/office/drawing/2014/main" id="{66A70465-7B6D-AA48-984A-6BD2FA5F8751}"/>
              </a:ext>
            </a:extLst>
          </p:cNvPr>
          <p:cNvGrpSpPr/>
          <p:nvPr/>
        </p:nvGrpSpPr>
        <p:grpSpPr>
          <a:xfrm>
            <a:off x="3219279" y="3964784"/>
            <a:ext cx="1092126" cy="274900"/>
            <a:chOff x="2972242" y="3129628"/>
            <a:chExt cx="5535876" cy="274900"/>
          </a:xfrm>
        </p:grpSpPr>
        <p:sp>
          <p:nvSpPr>
            <p:cNvPr id="27" name="Rectangle 26">
              <a:extLst>
                <a:ext uri="{FF2B5EF4-FFF2-40B4-BE49-F238E27FC236}">
                  <a16:creationId xmlns:a16="http://schemas.microsoft.com/office/drawing/2014/main" id="{6892751F-5C6D-4F49-9967-B1793710C3E7}"/>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28" name="Rectangle 27">
              <a:extLst>
                <a:ext uri="{FF2B5EF4-FFF2-40B4-BE49-F238E27FC236}">
                  <a16:creationId xmlns:a16="http://schemas.microsoft.com/office/drawing/2014/main" id="{7F088CEE-4EA9-EA97-8661-5242241AC374}"/>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29" name="Rectangle 28">
              <a:extLst>
                <a:ext uri="{FF2B5EF4-FFF2-40B4-BE49-F238E27FC236}">
                  <a16:creationId xmlns:a16="http://schemas.microsoft.com/office/drawing/2014/main" id="{BED18039-02DD-FBB3-DF84-BB9D1F249A21}"/>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30" name="Rectangle 29">
              <a:extLst>
                <a:ext uri="{FF2B5EF4-FFF2-40B4-BE49-F238E27FC236}">
                  <a16:creationId xmlns:a16="http://schemas.microsoft.com/office/drawing/2014/main" id="{1D367599-7F82-9ED7-A6AB-909B7DD985B9}"/>
                </a:ext>
              </a:extLst>
            </p:cNvPr>
            <p:cNvSpPr/>
            <p:nvPr/>
          </p:nvSpPr>
          <p:spPr>
            <a:xfrm>
              <a:off x="7124149" y="312962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grpSp>
        <p:nvGrpSpPr>
          <p:cNvPr id="43" name="Group 42">
            <a:extLst>
              <a:ext uri="{FF2B5EF4-FFF2-40B4-BE49-F238E27FC236}">
                <a16:creationId xmlns:a16="http://schemas.microsoft.com/office/drawing/2014/main" id="{C018F9C9-BCEC-39D9-FCA9-6267D3C204A9}"/>
              </a:ext>
            </a:extLst>
          </p:cNvPr>
          <p:cNvGrpSpPr/>
          <p:nvPr/>
        </p:nvGrpSpPr>
        <p:grpSpPr>
          <a:xfrm>
            <a:off x="4310223" y="3964783"/>
            <a:ext cx="1092126" cy="274900"/>
            <a:chOff x="2972242" y="3129628"/>
            <a:chExt cx="5535876" cy="274900"/>
          </a:xfrm>
        </p:grpSpPr>
        <p:sp>
          <p:nvSpPr>
            <p:cNvPr id="44" name="Rectangle 43">
              <a:extLst>
                <a:ext uri="{FF2B5EF4-FFF2-40B4-BE49-F238E27FC236}">
                  <a16:creationId xmlns:a16="http://schemas.microsoft.com/office/drawing/2014/main" id="{ACE9D8EF-E916-C506-6197-EC5990C954A3}"/>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45" name="Rectangle 44">
              <a:extLst>
                <a:ext uri="{FF2B5EF4-FFF2-40B4-BE49-F238E27FC236}">
                  <a16:creationId xmlns:a16="http://schemas.microsoft.com/office/drawing/2014/main" id="{6F30EB33-4F06-9705-B8C9-DF0BAC10E3A6}"/>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46" name="Rectangle 45">
              <a:extLst>
                <a:ext uri="{FF2B5EF4-FFF2-40B4-BE49-F238E27FC236}">
                  <a16:creationId xmlns:a16="http://schemas.microsoft.com/office/drawing/2014/main" id="{0897B69C-A201-6DFA-6515-2D354DF9DA8F}"/>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47" name="Rectangle 46">
              <a:extLst>
                <a:ext uri="{FF2B5EF4-FFF2-40B4-BE49-F238E27FC236}">
                  <a16:creationId xmlns:a16="http://schemas.microsoft.com/office/drawing/2014/main" id="{5B8CD6F1-DABA-0B46-4DCE-CD484DC0A6F9}"/>
                </a:ext>
              </a:extLst>
            </p:cNvPr>
            <p:cNvSpPr/>
            <p:nvPr/>
          </p:nvSpPr>
          <p:spPr>
            <a:xfrm>
              <a:off x="7124149" y="312962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grpSp>
        <p:nvGrpSpPr>
          <p:cNvPr id="48" name="Group 47">
            <a:extLst>
              <a:ext uri="{FF2B5EF4-FFF2-40B4-BE49-F238E27FC236}">
                <a16:creationId xmlns:a16="http://schemas.microsoft.com/office/drawing/2014/main" id="{1A737673-EC55-2F2F-A495-5955EEEDE7C5}"/>
              </a:ext>
            </a:extLst>
          </p:cNvPr>
          <p:cNvGrpSpPr/>
          <p:nvPr/>
        </p:nvGrpSpPr>
        <p:grpSpPr>
          <a:xfrm>
            <a:off x="5406580" y="3964782"/>
            <a:ext cx="1092126" cy="274900"/>
            <a:chOff x="2972242" y="3129628"/>
            <a:chExt cx="5535876" cy="274900"/>
          </a:xfrm>
        </p:grpSpPr>
        <p:sp>
          <p:nvSpPr>
            <p:cNvPr id="50" name="Rectangle 49">
              <a:extLst>
                <a:ext uri="{FF2B5EF4-FFF2-40B4-BE49-F238E27FC236}">
                  <a16:creationId xmlns:a16="http://schemas.microsoft.com/office/drawing/2014/main" id="{756EAA61-695D-FFC2-5393-BF31605C4042}"/>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51" name="Rectangle 50">
              <a:extLst>
                <a:ext uri="{FF2B5EF4-FFF2-40B4-BE49-F238E27FC236}">
                  <a16:creationId xmlns:a16="http://schemas.microsoft.com/office/drawing/2014/main" id="{3C64C7D5-CC52-A3EE-9277-0130E23801E7}"/>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52" name="Rectangle 51">
              <a:extLst>
                <a:ext uri="{FF2B5EF4-FFF2-40B4-BE49-F238E27FC236}">
                  <a16:creationId xmlns:a16="http://schemas.microsoft.com/office/drawing/2014/main" id="{F205882E-41ED-BA81-4588-2C13FBBF6840}"/>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53" name="Rectangle 52">
              <a:extLst>
                <a:ext uri="{FF2B5EF4-FFF2-40B4-BE49-F238E27FC236}">
                  <a16:creationId xmlns:a16="http://schemas.microsoft.com/office/drawing/2014/main" id="{AFFF502B-2C41-9B41-C3B6-921D48ACF33E}"/>
                </a:ext>
              </a:extLst>
            </p:cNvPr>
            <p:cNvSpPr/>
            <p:nvPr/>
          </p:nvSpPr>
          <p:spPr>
            <a:xfrm>
              <a:off x="7124149" y="312962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grpSp>
        <p:nvGrpSpPr>
          <p:cNvPr id="54" name="Group 53">
            <a:extLst>
              <a:ext uri="{FF2B5EF4-FFF2-40B4-BE49-F238E27FC236}">
                <a16:creationId xmlns:a16="http://schemas.microsoft.com/office/drawing/2014/main" id="{ACCC695D-1550-F0ED-460C-161A4E7552C0}"/>
              </a:ext>
            </a:extLst>
          </p:cNvPr>
          <p:cNvGrpSpPr/>
          <p:nvPr/>
        </p:nvGrpSpPr>
        <p:grpSpPr>
          <a:xfrm>
            <a:off x="6495114" y="3964781"/>
            <a:ext cx="1092126" cy="274900"/>
            <a:chOff x="2972242" y="3129628"/>
            <a:chExt cx="5535876" cy="274900"/>
          </a:xfrm>
        </p:grpSpPr>
        <p:sp>
          <p:nvSpPr>
            <p:cNvPr id="55" name="Rectangle 54">
              <a:extLst>
                <a:ext uri="{FF2B5EF4-FFF2-40B4-BE49-F238E27FC236}">
                  <a16:creationId xmlns:a16="http://schemas.microsoft.com/office/drawing/2014/main" id="{2F5AD7C1-D2FC-78DF-4324-FF38520DB918}"/>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56" name="Rectangle 55">
              <a:extLst>
                <a:ext uri="{FF2B5EF4-FFF2-40B4-BE49-F238E27FC236}">
                  <a16:creationId xmlns:a16="http://schemas.microsoft.com/office/drawing/2014/main" id="{79FAC859-1293-7934-4AE5-0D805888A7F6}"/>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57" name="Rectangle 56">
              <a:extLst>
                <a:ext uri="{FF2B5EF4-FFF2-40B4-BE49-F238E27FC236}">
                  <a16:creationId xmlns:a16="http://schemas.microsoft.com/office/drawing/2014/main" id="{0BA168E1-2202-2F90-B54E-27C66E8375AE}"/>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58" name="Rectangle 57">
              <a:extLst>
                <a:ext uri="{FF2B5EF4-FFF2-40B4-BE49-F238E27FC236}">
                  <a16:creationId xmlns:a16="http://schemas.microsoft.com/office/drawing/2014/main" id="{228DF8F7-B079-D957-BE04-DB646EBC89A2}"/>
                </a:ext>
              </a:extLst>
            </p:cNvPr>
            <p:cNvSpPr/>
            <p:nvPr/>
          </p:nvSpPr>
          <p:spPr>
            <a:xfrm>
              <a:off x="7124149" y="312962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grpSp>
        <p:nvGrpSpPr>
          <p:cNvPr id="59" name="Group 58">
            <a:extLst>
              <a:ext uri="{FF2B5EF4-FFF2-40B4-BE49-F238E27FC236}">
                <a16:creationId xmlns:a16="http://schemas.microsoft.com/office/drawing/2014/main" id="{2A50B4D5-364B-4E43-0D38-EDA456B8C2F9}"/>
              </a:ext>
            </a:extLst>
          </p:cNvPr>
          <p:cNvGrpSpPr/>
          <p:nvPr/>
        </p:nvGrpSpPr>
        <p:grpSpPr>
          <a:xfrm>
            <a:off x="7586058" y="3964780"/>
            <a:ext cx="1092126" cy="274900"/>
            <a:chOff x="2972242" y="3129628"/>
            <a:chExt cx="5535876" cy="274900"/>
          </a:xfrm>
        </p:grpSpPr>
        <p:sp>
          <p:nvSpPr>
            <p:cNvPr id="60" name="Rectangle 59">
              <a:extLst>
                <a:ext uri="{FF2B5EF4-FFF2-40B4-BE49-F238E27FC236}">
                  <a16:creationId xmlns:a16="http://schemas.microsoft.com/office/drawing/2014/main" id="{BC68D615-DA13-0CFA-D553-2E906E8DC72C}"/>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61" name="Rectangle 60">
              <a:extLst>
                <a:ext uri="{FF2B5EF4-FFF2-40B4-BE49-F238E27FC236}">
                  <a16:creationId xmlns:a16="http://schemas.microsoft.com/office/drawing/2014/main" id="{4977F483-D405-E74F-29CE-495057DB0787}"/>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62" name="Rectangle 61">
              <a:extLst>
                <a:ext uri="{FF2B5EF4-FFF2-40B4-BE49-F238E27FC236}">
                  <a16:creationId xmlns:a16="http://schemas.microsoft.com/office/drawing/2014/main" id="{15EFEF5F-CDD8-8C44-D240-5CB894C6E389}"/>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63" name="Rectangle 62">
              <a:extLst>
                <a:ext uri="{FF2B5EF4-FFF2-40B4-BE49-F238E27FC236}">
                  <a16:creationId xmlns:a16="http://schemas.microsoft.com/office/drawing/2014/main" id="{BC9309F8-D8D4-119C-2996-F6F3EA86EF82}"/>
                </a:ext>
              </a:extLst>
            </p:cNvPr>
            <p:cNvSpPr/>
            <p:nvPr/>
          </p:nvSpPr>
          <p:spPr>
            <a:xfrm>
              <a:off x="7124149" y="312962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grpSp>
        <p:nvGrpSpPr>
          <p:cNvPr id="64" name="Group 63">
            <a:extLst>
              <a:ext uri="{FF2B5EF4-FFF2-40B4-BE49-F238E27FC236}">
                <a16:creationId xmlns:a16="http://schemas.microsoft.com/office/drawing/2014/main" id="{F5D56ECE-58E0-726D-44C4-77801ECF2293}"/>
              </a:ext>
            </a:extLst>
          </p:cNvPr>
          <p:cNvGrpSpPr/>
          <p:nvPr/>
        </p:nvGrpSpPr>
        <p:grpSpPr>
          <a:xfrm>
            <a:off x="8686648" y="3964780"/>
            <a:ext cx="1092126" cy="274900"/>
            <a:chOff x="2972242" y="3129628"/>
            <a:chExt cx="5535876" cy="274900"/>
          </a:xfrm>
        </p:grpSpPr>
        <p:sp>
          <p:nvSpPr>
            <p:cNvPr id="65" name="Rectangle 64">
              <a:extLst>
                <a:ext uri="{FF2B5EF4-FFF2-40B4-BE49-F238E27FC236}">
                  <a16:creationId xmlns:a16="http://schemas.microsoft.com/office/drawing/2014/main" id="{F44605D7-BB22-7E1A-9EC4-06DB4E922A1F}"/>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66" name="Rectangle 65">
              <a:extLst>
                <a:ext uri="{FF2B5EF4-FFF2-40B4-BE49-F238E27FC236}">
                  <a16:creationId xmlns:a16="http://schemas.microsoft.com/office/drawing/2014/main" id="{A8509FCA-4761-8709-F786-574BF8AB0B70}"/>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67" name="Rectangle 66">
              <a:extLst>
                <a:ext uri="{FF2B5EF4-FFF2-40B4-BE49-F238E27FC236}">
                  <a16:creationId xmlns:a16="http://schemas.microsoft.com/office/drawing/2014/main" id="{5FDF74F6-B276-7FFF-FD75-B781E07BFA07}"/>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68" name="Rectangle 67">
              <a:extLst>
                <a:ext uri="{FF2B5EF4-FFF2-40B4-BE49-F238E27FC236}">
                  <a16:creationId xmlns:a16="http://schemas.microsoft.com/office/drawing/2014/main" id="{BB444126-603E-3E7B-E716-398D29FA16EE}"/>
                </a:ext>
              </a:extLst>
            </p:cNvPr>
            <p:cNvSpPr/>
            <p:nvPr/>
          </p:nvSpPr>
          <p:spPr>
            <a:xfrm>
              <a:off x="7124149" y="312962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grpSp>
        <p:nvGrpSpPr>
          <p:cNvPr id="69" name="Group 68">
            <a:extLst>
              <a:ext uri="{FF2B5EF4-FFF2-40B4-BE49-F238E27FC236}">
                <a16:creationId xmlns:a16="http://schemas.microsoft.com/office/drawing/2014/main" id="{9543BCC1-BD37-FD79-F6D5-1A5A2DBDC18F}"/>
              </a:ext>
            </a:extLst>
          </p:cNvPr>
          <p:cNvGrpSpPr/>
          <p:nvPr/>
        </p:nvGrpSpPr>
        <p:grpSpPr>
          <a:xfrm>
            <a:off x="9775182" y="3964779"/>
            <a:ext cx="1092126" cy="274900"/>
            <a:chOff x="2972242" y="3129628"/>
            <a:chExt cx="5535876" cy="274900"/>
          </a:xfrm>
        </p:grpSpPr>
        <p:sp>
          <p:nvSpPr>
            <p:cNvPr id="70" name="Rectangle 69">
              <a:extLst>
                <a:ext uri="{FF2B5EF4-FFF2-40B4-BE49-F238E27FC236}">
                  <a16:creationId xmlns:a16="http://schemas.microsoft.com/office/drawing/2014/main" id="{FF72086F-077E-3195-EF4D-66117F20755C}"/>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71" name="Rectangle 70">
              <a:extLst>
                <a:ext uri="{FF2B5EF4-FFF2-40B4-BE49-F238E27FC236}">
                  <a16:creationId xmlns:a16="http://schemas.microsoft.com/office/drawing/2014/main" id="{5C58DDA2-7E4C-D035-E465-0C7E662C595D}"/>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72" name="Rectangle 71">
              <a:extLst>
                <a:ext uri="{FF2B5EF4-FFF2-40B4-BE49-F238E27FC236}">
                  <a16:creationId xmlns:a16="http://schemas.microsoft.com/office/drawing/2014/main" id="{5AC90963-2C59-EF39-4B25-61B8F7177491}"/>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73" name="Rectangle 72">
              <a:extLst>
                <a:ext uri="{FF2B5EF4-FFF2-40B4-BE49-F238E27FC236}">
                  <a16:creationId xmlns:a16="http://schemas.microsoft.com/office/drawing/2014/main" id="{0DEA91B1-72B7-B05D-6983-E87B567738D6}"/>
                </a:ext>
              </a:extLst>
            </p:cNvPr>
            <p:cNvSpPr/>
            <p:nvPr/>
          </p:nvSpPr>
          <p:spPr>
            <a:xfrm>
              <a:off x="7124149" y="312962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grpSp>
        <p:nvGrpSpPr>
          <p:cNvPr id="74" name="Group 73">
            <a:extLst>
              <a:ext uri="{FF2B5EF4-FFF2-40B4-BE49-F238E27FC236}">
                <a16:creationId xmlns:a16="http://schemas.microsoft.com/office/drawing/2014/main" id="{010E7BC9-A98F-C391-E26E-65E145E92E04}"/>
              </a:ext>
            </a:extLst>
          </p:cNvPr>
          <p:cNvGrpSpPr/>
          <p:nvPr/>
        </p:nvGrpSpPr>
        <p:grpSpPr>
          <a:xfrm>
            <a:off x="10866126" y="3964778"/>
            <a:ext cx="1092126" cy="274900"/>
            <a:chOff x="2972242" y="3129628"/>
            <a:chExt cx="5535876" cy="274900"/>
          </a:xfrm>
        </p:grpSpPr>
        <p:sp>
          <p:nvSpPr>
            <p:cNvPr id="75" name="Rectangle 74">
              <a:extLst>
                <a:ext uri="{FF2B5EF4-FFF2-40B4-BE49-F238E27FC236}">
                  <a16:creationId xmlns:a16="http://schemas.microsoft.com/office/drawing/2014/main" id="{C799364F-3BC0-BD18-5F07-7F96C3355D79}"/>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76" name="Rectangle 75">
              <a:extLst>
                <a:ext uri="{FF2B5EF4-FFF2-40B4-BE49-F238E27FC236}">
                  <a16:creationId xmlns:a16="http://schemas.microsoft.com/office/drawing/2014/main" id="{3EF97D28-95C5-81D8-4122-BF36D5374976}"/>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77" name="Rectangle 76">
              <a:extLst>
                <a:ext uri="{FF2B5EF4-FFF2-40B4-BE49-F238E27FC236}">
                  <a16:creationId xmlns:a16="http://schemas.microsoft.com/office/drawing/2014/main" id="{B17F9AE2-478B-8A34-0F82-34C59A0DEFD0}"/>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78" name="Rectangle 77">
              <a:extLst>
                <a:ext uri="{FF2B5EF4-FFF2-40B4-BE49-F238E27FC236}">
                  <a16:creationId xmlns:a16="http://schemas.microsoft.com/office/drawing/2014/main" id="{A6582F28-FB2F-7939-8434-8F26FF7D98FD}"/>
                </a:ext>
              </a:extLst>
            </p:cNvPr>
            <p:cNvSpPr/>
            <p:nvPr/>
          </p:nvSpPr>
          <p:spPr>
            <a:xfrm>
              <a:off x="7124149" y="312962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spTree>
    <p:extLst>
      <p:ext uri="{BB962C8B-B14F-4D97-AF65-F5344CB8AC3E}">
        <p14:creationId xmlns:p14="http://schemas.microsoft.com/office/powerpoint/2010/main" val="1349158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52284-074A-7E5F-34A4-24BABD5FD81A}"/>
              </a:ext>
            </a:extLst>
          </p:cNvPr>
          <p:cNvSpPr>
            <a:spLocks noGrp="1"/>
          </p:cNvSpPr>
          <p:nvPr>
            <p:ph type="title"/>
          </p:nvPr>
        </p:nvSpPr>
        <p:spPr/>
        <p:txBody>
          <a:bodyPr/>
          <a:lstStyle/>
          <a:p>
            <a:r>
              <a:rPr lang="en-US" dirty="0"/>
              <a:t>“Progressive disclosure”</a:t>
            </a:r>
          </a:p>
        </p:txBody>
      </p:sp>
      <p:sp>
        <p:nvSpPr>
          <p:cNvPr id="3" name="Content Placeholder 2">
            <a:extLst>
              <a:ext uri="{FF2B5EF4-FFF2-40B4-BE49-F238E27FC236}">
                <a16:creationId xmlns:a16="http://schemas.microsoft.com/office/drawing/2014/main" id="{42DDEFE2-FEEA-36A1-3522-18D10BCA8DD5}"/>
              </a:ext>
            </a:extLst>
          </p:cNvPr>
          <p:cNvSpPr>
            <a:spLocks noGrp="1"/>
          </p:cNvSpPr>
          <p:nvPr>
            <p:ph idx="1"/>
          </p:nvPr>
        </p:nvSpPr>
        <p:spPr/>
        <p:txBody>
          <a:bodyPr/>
          <a:lstStyle/>
          <a:p>
            <a:pPr marL="0" indent="0">
              <a:buNone/>
            </a:pPr>
            <a:r>
              <a:rPr lang="en-US" dirty="0"/>
              <a:t>Principle: let agent choose its own context</a:t>
            </a:r>
          </a:p>
          <a:p>
            <a:pPr marL="0" indent="0">
              <a:buNone/>
            </a:pPr>
            <a:endParaRPr lang="en-US" dirty="0"/>
          </a:p>
          <a:p>
            <a:pPr marL="0" indent="0">
              <a:buNone/>
            </a:pPr>
            <a:r>
              <a:rPr lang="en-US" dirty="0"/>
              <a:t>Old approach: harness decides context relevant to prompt</a:t>
            </a:r>
          </a:p>
          <a:p>
            <a:endParaRPr lang="en-US" dirty="0"/>
          </a:p>
          <a:p>
            <a:endParaRPr lang="en-US" dirty="0"/>
          </a:p>
          <a:p>
            <a:pPr marL="0" indent="0">
              <a:buNone/>
            </a:pPr>
            <a:r>
              <a:rPr lang="en-US" dirty="0"/>
              <a:t>Progressive disclosure: agent finds relevant context itself</a:t>
            </a:r>
          </a:p>
          <a:p>
            <a:pPr marL="0" indent="0">
              <a:buNone/>
            </a:pPr>
            <a:endParaRPr lang="en-US" dirty="0"/>
          </a:p>
        </p:txBody>
      </p:sp>
      <p:sp>
        <p:nvSpPr>
          <p:cNvPr id="4" name="Rectangle 3">
            <a:extLst>
              <a:ext uri="{FF2B5EF4-FFF2-40B4-BE49-F238E27FC236}">
                <a16:creationId xmlns:a16="http://schemas.microsoft.com/office/drawing/2014/main" id="{451B066B-677E-AE88-8A2C-15BC3FF25FD1}"/>
              </a:ext>
            </a:extLst>
          </p:cNvPr>
          <p:cNvSpPr/>
          <p:nvPr/>
        </p:nvSpPr>
        <p:spPr>
          <a:xfrm>
            <a:off x="1090715" y="3609769"/>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5" name="Rectangle 4">
            <a:extLst>
              <a:ext uri="{FF2B5EF4-FFF2-40B4-BE49-F238E27FC236}">
                <a16:creationId xmlns:a16="http://schemas.microsoft.com/office/drawing/2014/main" id="{24EDE330-8867-3C2A-13FA-1191A677B577}"/>
              </a:ext>
            </a:extLst>
          </p:cNvPr>
          <p:cNvSpPr/>
          <p:nvPr/>
        </p:nvSpPr>
        <p:spPr>
          <a:xfrm>
            <a:off x="2120862" y="3609770"/>
            <a:ext cx="2767938" cy="27489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Harness-chosen context</a:t>
            </a:r>
          </a:p>
        </p:txBody>
      </p:sp>
      <p:sp>
        <p:nvSpPr>
          <p:cNvPr id="7" name="Rectangle 6">
            <a:extLst>
              <a:ext uri="{FF2B5EF4-FFF2-40B4-BE49-F238E27FC236}">
                <a16:creationId xmlns:a16="http://schemas.microsoft.com/office/drawing/2014/main" id="{FFFAF6A2-D93D-B2A5-89E5-44A93C60DD70}"/>
              </a:ext>
            </a:extLst>
          </p:cNvPr>
          <p:cNvSpPr/>
          <p:nvPr/>
        </p:nvSpPr>
        <p:spPr>
          <a:xfrm>
            <a:off x="4888800" y="360976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8" name="Rectangle 7">
            <a:extLst>
              <a:ext uri="{FF2B5EF4-FFF2-40B4-BE49-F238E27FC236}">
                <a16:creationId xmlns:a16="http://schemas.microsoft.com/office/drawing/2014/main" id="{947E9BD0-2F65-1983-E74B-08177B93453A}"/>
              </a:ext>
            </a:extLst>
          </p:cNvPr>
          <p:cNvSpPr/>
          <p:nvPr/>
        </p:nvSpPr>
        <p:spPr>
          <a:xfrm>
            <a:off x="6272769" y="360976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9" name="Rectangle 8">
            <a:extLst>
              <a:ext uri="{FF2B5EF4-FFF2-40B4-BE49-F238E27FC236}">
                <a16:creationId xmlns:a16="http://schemas.microsoft.com/office/drawing/2014/main" id="{A5BD444E-9FD8-54E8-DA23-127577803F4D}"/>
              </a:ext>
            </a:extLst>
          </p:cNvPr>
          <p:cNvSpPr/>
          <p:nvPr/>
        </p:nvSpPr>
        <p:spPr>
          <a:xfrm>
            <a:off x="7656738" y="360976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0" name="Rectangle 9">
            <a:extLst>
              <a:ext uri="{FF2B5EF4-FFF2-40B4-BE49-F238E27FC236}">
                <a16:creationId xmlns:a16="http://schemas.microsoft.com/office/drawing/2014/main" id="{34B47820-793C-7C98-3EF3-CBD8222206C4}"/>
              </a:ext>
            </a:extLst>
          </p:cNvPr>
          <p:cNvSpPr/>
          <p:nvPr/>
        </p:nvSpPr>
        <p:spPr>
          <a:xfrm>
            <a:off x="1090715" y="5288256"/>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11" name="Rectangle 10">
            <a:extLst>
              <a:ext uri="{FF2B5EF4-FFF2-40B4-BE49-F238E27FC236}">
                <a16:creationId xmlns:a16="http://schemas.microsoft.com/office/drawing/2014/main" id="{3EE5E2FB-E414-D58A-4ED6-C74218A35F22}"/>
              </a:ext>
            </a:extLst>
          </p:cNvPr>
          <p:cNvSpPr/>
          <p:nvPr/>
        </p:nvSpPr>
        <p:spPr>
          <a:xfrm>
            <a:off x="2120862" y="5288256"/>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2" name="Rectangle 11">
            <a:extLst>
              <a:ext uri="{FF2B5EF4-FFF2-40B4-BE49-F238E27FC236}">
                <a16:creationId xmlns:a16="http://schemas.microsoft.com/office/drawing/2014/main" id="{498F33DF-7E3A-3317-2450-862FE868B887}"/>
              </a:ext>
            </a:extLst>
          </p:cNvPr>
          <p:cNvSpPr/>
          <p:nvPr/>
        </p:nvSpPr>
        <p:spPr>
          <a:xfrm>
            <a:off x="3504831" y="5288255"/>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 some-</a:t>
            </a:r>
            <a:r>
              <a:rPr lang="en-US" dirty="0" err="1"/>
              <a:t>dir</a:t>
            </a:r>
            <a:endParaRPr lang="en-US" dirty="0"/>
          </a:p>
        </p:txBody>
      </p:sp>
      <p:sp>
        <p:nvSpPr>
          <p:cNvPr id="13" name="Rectangle 12">
            <a:extLst>
              <a:ext uri="{FF2B5EF4-FFF2-40B4-BE49-F238E27FC236}">
                <a16:creationId xmlns:a16="http://schemas.microsoft.com/office/drawing/2014/main" id="{080C75AB-D923-A4AD-1A40-AB885F8943E0}"/>
              </a:ext>
            </a:extLst>
          </p:cNvPr>
          <p:cNvSpPr/>
          <p:nvPr/>
        </p:nvSpPr>
        <p:spPr>
          <a:xfrm>
            <a:off x="4888800" y="5288256"/>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4" name="Rectangle 13">
            <a:extLst>
              <a:ext uri="{FF2B5EF4-FFF2-40B4-BE49-F238E27FC236}">
                <a16:creationId xmlns:a16="http://schemas.microsoft.com/office/drawing/2014/main" id="{A02AF0C0-DD7F-BC24-8837-8C72CF1E924C}"/>
              </a:ext>
            </a:extLst>
          </p:cNvPr>
          <p:cNvSpPr/>
          <p:nvPr/>
        </p:nvSpPr>
        <p:spPr>
          <a:xfrm>
            <a:off x="6272768" y="5288255"/>
            <a:ext cx="1731363"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grep some-file</a:t>
            </a:r>
          </a:p>
        </p:txBody>
      </p:sp>
      <p:sp>
        <p:nvSpPr>
          <p:cNvPr id="15" name="Rectangle 14">
            <a:extLst>
              <a:ext uri="{FF2B5EF4-FFF2-40B4-BE49-F238E27FC236}">
                <a16:creationId xmlns:a16="http://schemas.microsoft.com/office/drawing/2014/main" id="{2D5854D4-24C0-CF7E-4AD5-6FAE9A682C22}"/>
              </a:ext>
            </a:extLst>
          </p:cNvPr>
          <p:cNvSpPr/>
          <p:nvPr/>
        </p:nvSpPr>
        <p:spPr>
          <a:xfrm>
            <a:off x="7995186" y="5288254"/>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6" name="TextBox 15">
            <a:extLst>
              <a:ext uri="{FF2B5EF4-FFF2-40B4-BE49-F238E27FC236}">
                <a16:creationId xmlns:a16="http://schemas.microsoft.com/office/drawing/2014/main" id="{0FD330FA-BFDB-A7DE-2333-DF15BCC8CF1D}"/>
              </a:ext>
            </a:extLst>
          </p:cNvPr>
          <p:cNvSpPr txBox="1"/>
          <p:nvPr/>
        </p:nvSpPr>
        <p:spPr>
          <a:xfrm>
            <a:off x="9388099" y="5288254"/>
            <a:ext cx="739036" cy="369332"/>
          </a:xfrm>
          <a:prstGeom prst="rect">
            <a:avLst/>
          </a:prstGeom>
          <a:noFill/>
        </p:spPr>
        <p:txBody>
          <a:bodyPr wrap="square" rtlCol="0">
            <a:spAutoFit/>
          </a:bodyPr>
          <a:lstStyle/>
          <a:p>
            <a:r>
              <a:rPr lang="en-US" dirty="0"/>
              <a:t>…</a:t>
            </a:r>
          </a:p>
        </p:txBody>
      </p:sp>
      <p:sp>
        <p:nvSpPr>
          <p:cNvPr id="17" name="TextBox 16">
            <a:extLst>
              <a:ext uri="{FF2B5EF4-FFF2-40B4-BE49-F238E27FC236}">
                <a16:creationId xmlns:a16="http://schemas.microsoft.com/office/drawing/2014/main" id="{2CBC507C-9534-ABE3-FD43-07D20D60D2E9}"/>
              </a:ext>
            </a:extLst>
          </p:cNvPr>
          <p:cNvSpPr txBox="1"/>
          <p:nvPr/>
        </p:nvSpPr>
        <p:spPr>
          <a:xfrm>
            <a:off x="9107330" y="3631962"/>
            <a:ext cx="739036" cy="369332"/>
          </a:xfrm>
          <a:prstGeom prst="rect">
            <a:avLst/>
          </a:prstGeom>
          <a:noFill/>
        </p:spPr>
        <p:txBody>
          <a:bodyPr wrap="square" rtlCol="0">
            <a:spAutoFit/>
          </a:bodyPr>
          <a:lstStyle/>
          <a:p>
            <a:r>
              <a:rPr lang="en-US" dirty="0"/>
              <a:t>…</a:t>
            </a:r>
          </a:p>
        </p:txBody>
      </p:sp>
    </p:spTree>
    <p:extLst>
      <p:ext uri="{BB962C8B-B14F-4D97-AF65-F5344CB8AC3E}">
        <p14:creationId xmlns:p14="http://schemas.microsoft.com/office/powerpoint/2010/main" val="34741901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 program&#10;&#10;AI-generated content may be incorrect.">
            <a:extLst>
              <a:ext uri="{FF2B5EF4-FFF2-40B4-BE49-F238E27FC236}">
                <a16:creationId xmlns:a16="http://schemas.microsoft.com/office/drawing/2014/main" id="{1B8EFFE3-62D8-86C3-C9C3-DAB714F660C2}"/>
              </a:ext>
            </a:extLst>
          </p:cNvPr>
          <p:cNvPicPr>
            <a:picLocks noChangeAspect="1"/>
          </p:cNvPicPr>
          <p:nvPr/>
        </p:nvPicPr>
        <p:blipFill>
          <a:blip r:embed="rId2"/>
          <a:stretch>
            <a:fillRect/>
          </a:stretch>
        </p:blipFill>
        <p:spPr>
          <a:xfrm>
            <a:off x="3702116" y="792866"/>
            <a:ext cx="3947895" cy="5272268"/>
          </a:xfrm>
          <a:prstGeom prst="rect">
            <a:avLst/>
          </a:prstGeom>
        </p:spPr>
      </p:pic>
      <p:sp>
        <p:nvSpPr>
          <p:cNvPr id="6" name="TextBox 5">
            <a:extLst>
              <a:ext uri="{FF2B5EF4-FFF2-40B4-BE49-F238E27FC236}">
                <a16:creationId xmlns:a16="http://schemas.microsoft.com/office/drawing/2014/main" id="{1005D473-375C-A724-07BE-E59A172D9E3B}"/>
              </a:ext>
            </a:extLst>
          </p:cNvPr>
          <p:cNvSpPr txBox="1"/>
          <p:nvPr/>
        </p:nvSpPr>
        <p:spPr>
          <a:xfrm>
            <a:off x="4377021" y="6165760"/>
            <a:ext cx="2598084" cy="369332"/>
          </a:xfrm>
          <a:prstGeom prst="rect">
            <a:avLst/>
          </a:prstGeom>
          <a:noFill/>
        </p:spPr>
        <p:txBody>
          <a:bodyPr wrap="none" rtlCol="0">
            <a:spAutoFit/>
          </a:bodyPr>
          <a:lstStyle/>
          <a:p>
            <a:r>
              <a:rPr lang="en-US" dirty="0"/>
              <a:t>Skill with 20 to-do items</a:t>
            </a:r>
          </a:p>
        </p:txBody>
      </p:sp>
    </p:spTree>
    <p:extLst>
      <p:ext uri="{BB962C8B-B14F-4D97-AF65-F5344CB8AC3E}">
        <p14:creationId xmlns:p14="http://schemas.microsoft.com/office/powerpoint/2010/main" val="272165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5179C9-CBA7-7FF4-9ED7-CCAD2DE2EA15}"/>
              </a:ext>
            </a:extLst>
          </p:cNvPr>
          <p:cNvPicPr>
            <a:picLocks noChangeAspect="1"/>
          </p:cNvPicPr>
          <p:nvPr/>
        </p:nvPicPr>
        <p:blipFill>
          <a:blip r:embed="rId2"/>
          <a:stretch>
            <a:fillRect/>
          </a:stretch>
        </p:blipFill>
        <p:spPr>
          <a:xfrm>
            <a:off x="629567" y="2664373"/>
            <a:ext cx="10566577" cy="1882732"/>
          </a:xfrm>
          <a:prstGeom prst="rect">
            <a:avLst/>
          </a:prstGeom>
        </p:spPr>
      </p:pic>
      <p:sp>
        <p:nvSpPr>
          <p:cNvPr id="5" name="TextBox 4">
            <a:extLst>
              <a:ext uri="{FF2B5EF4-FFF2-40B4-BE49-F238E27FC236}">
                <a16:creationId xmlns:a16="http://schemas.microsoft.com/office/drawing/2014/main" id="{E1FA2058-228D-CB7A-992A-34319D1B085B}"/>
              </a:ext>
            </a:extLst>
          </p:cNvPr>
          <p:cNvSpPr txBox="1"/>
          <p:nvPr/>
        </p:nvSpPr>
        <p:spPr>
          <a:xfrm>
            <a:off x="7908587" y="6410835"/>
            <a:ext cx="4175081" cy="369332"/>
          </a:xfrm>
          <a:prstGeom prst="rect">
            <a:avLst/>
          </a:prstGeom>
          <a:noFill/>
        </p:spPr>
        <p:txBody>
          <a:bodyPr wrap="square" rtlCol="0">
            <a:spAutoFit/>
          </a:bodyPr>
          <a:lstStyle/>
          <a:p>
            <a:r>
              <a:rPr lang="en-US" dirty="0"/>
              <a:t>Dex Horthy “12 factor agents”, 2025</a:t>
            </a:r>
          </a:p>
        </p:txBody>
      </p:sp>
    </p:spTree>
    <p:extLst>
      <p:ext uri="{BB962C8B-B14F-4D97-AF65-F5344CB8AC3E}">
        <p14:creationId xmlns:p14="http://schemas.microsoft.com/office/powerpoint/2010/main" val="1956615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white background with black text&#10;&#10;AI-generated content may be incorrect.">
            <a:extLst>
              <a:ext uri="{FF2B5EF4-FFF2-40B4-BE49-F238E27FC236}">
                <a16:creationId xmlns:a16="http://schemas.microsoft.com/office/drawing/2014/main" id="{6ADE9622-C628-DE3A-6B62-18212303F3D1}"/>
              </a:ext>
            </a:extLst>
          </p:cNvPr>
          <p:cNvPicPr>
            <a:picLocks noGrp="1" noChangeAspect="1"/>
          </p:cNvPicPr>
          <p:nvPr>
            <p:ph idx="4294967295"/>
          </p:nvPr>
        </p:nvPicPr>
        <p:blipFill>
          <a:blip r:embed="rId2"/>
          <a:stretch>
            <a:fillRect/>
          </a:stretch>
        </p:blipFill>
        <p:spPr>
          <a:xfrm>
            <a:off x="2209800" y="2740025"/>
            <a:ext cx="7772400" cy="1377950"/>
          </a:xfrm>
          <a:prstGeom prst="rect">
            <a:avLst/>
          </a:prstGeom>
        </p:spPr>
      </p:pic>
      <p:sp>
        <p:nvSpPr>
          <p:cNvPr id="9" name="TextBox 8">
            <a:extLst>
              <a:ext uri="{FF2B5EF4-FFF2-40B4-BE49-F238E27FC236}">
                <a16:creationId xmlns:a16="http://schemas.microsoft.com/office/drawing/2014/main" id="{4971DE8D-FD63-B2DF-3442-75D07B58C64D}"/>
              </a:ext>
            </a:extLst>
          </p:cNvPr>
          <p:cNvSpPr txBox="1"/>
          <p:nvPr/>
        </p:nvSpPr>
        <p:spPr>
          <a:xfrm>
            <a:off x="9912485" y="6206247"/>
            <a:ext cx="1755096" cy="369332"/>
          </a:xfrm>
          <a:prstGeom prst="rect">
            <a:avLst/>
          </a:prstGeom>
          <a:noFill/>
        </p:spPr>
        <p:txBody>
          <a:bodyPr wrap="none" rtlCol="0">
            <a:spAutoFit/>
          </a:bodyPr>
          <a:lstStyle/>
          <a:p>
            <a:r>
              <a:rPr lang="en-US" dirty="0"/>
              <a:t>Anthropic, 2025</a:t>
            </a:r>
          </a:p>
        </p:txBody>
      </p:sp>
      <p:sp>
        <p:nvSpPr>
          <p:cNvPr id="13" name="Rounded Rectangle 12">
            <a:extLst>
              <a:ext uri="{FF2B5EF4-FFF2-40B4-BE49-F238E27FC236}">
                <a16:creationId xmlns:a16="http://schemas.microsoft.com/office/drawing/2014/main" id="{2AA27EF2-9A66-4687-48F4-9F7CDDC28432}"/>
              </a:ext>
            </a:extLst>
          </p:cNvPr>
          <p:cNvSpPr/>
          <p:nvPr/>
        </p:nvSpPr>
        <p:spPr>
          <a:xfrm>
            <a:off x="2806585" y="5101344"/>
            <a:ext cx="6713316" cy="8449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Get out of the agent’s way </a:t>
            </a:r>
          </a:p>
        </p:txBody>
      </p:sp>
    </p:spTree>
    <p:extLst>
      <p:ext uri="{BB962C8B-B14F-4D97-AF65-F5344CB8AC3E}">
        <p14:creationId xmlns:p14="http://schemas.microsoft.com/office/powerpoint/2010/main" val="3112771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A86A1-ACEA-A1DA-5F07-B4C77C3404B2}"/>
              </a:ext>
            </a:extLst>
          </p:cNvPr>
          <p:cNvSpPr>
            <a:spLocks noGrp="1"/>
          </p:cNvSpPr>
          <p:nvPr>
            <p:ph type="title"/>
          </p:nvPr>
        </p:nvSpPr>
        <p:spPr/>
        <p:txBody>
          <a:bodyPr/>
          <a:lstStyle/>
          <a:p>
            <a:r>
              <a:rPr lang="en-US" dirty="0"/>
              <a:t>Human-programmed context engineering</a:t>
            </a:r>
          </a:p>
        </p:txBody>
      </p:sp>
      <p:sp>
        <p:nvSpPr>
          <p:cNvPr id="3" name="Content Placeholder 2">
            <a:extLst>
              <a:ext uri="{FF2B5EF4-FFF2-40B4-BE49-F238E27FC236}">
                <a16:creationId xmlns:a16="http://schemas.microsoft.com/office/drawing/2014/main" id="{EF0BA45B-EC09-BE35-FF1F-F4BCD4D3A3D1}"/>
              </a:ext>
            </a:extLst>
          </p:cNvPr>
          <p:cNvSpPr>
            <a:spLocks noGrp="1"/>
          </p:cNvSpPr>
          <p:nvPr>
            <p:ph idx="1"/>
          </p:nvPr>
        </p:nvSpPr>
        <p:spPr>
          <a:xfrm>
            <a:off x="838200" y="1825625"/>
            <a:ext cx="5603240" cy="4351338"/>
          </a:xfrm>
        </p:spPr>
        <p:txBody>
          <a:bodyPr/>
          <a:lstStyle/>
          <a:p>
            <a:r>
              <a:rPr lang="en-US" dirty="0"/>
              <a:t>Exclude unneeded data (“progressive disclosure”)</a:t>
            </a:r>
          </a:p>
          <a:p>
            <a:r>
              <a:rPr lang="en-US" dirty="0"/>
              <a:t>Encode data efficiently</a:t>
            </a:r>
          </a:p>
          <a:p>
            <a:r>
              <a:rPr lang="en-US" dirty="0"/>
              <a:t>Split data among subagents</a:t>
            </a:r>
          </a:p>
          <a:p>
            <a:r>
              <a:rPr lang="en-US" dirty="0"/>
              <a:t>Use “frequent intentional compaction”</a:t>
            </a:r>
          </a:p>
          <a:p>
            <a:r>
              <a:rPr lang="en-US" dirty="0"/>
              <a:t>Store + retrieve memories</a:t>
            </a:r>
          </a:p>
        </p:txBody>
      </p:sp>
      <p:sp>
        <p:nvSpPr>
          <p:cNvPr id="4" name="Rounded Rectangle 3">
            <a:extLst>
              <a:ext uri="{FF2B5EF4-FFF2-40B4-BE49-F238E27FC236}">
                <a16:creationId xmlns:a16="http://schemas.microsoft.com/office/drawing/2014/main" id="{AC51370F-E6EC-3454-6C25-84A6609CD2BE}"/>
              </a:ext>
            </a:extLst>
          </p:cNvPr>
          <p:cNvSpPr/>
          <p:nvPr/>
        </p:nvSpPr>
        <p:spPr>
          <a:xfrm>
            <a:off x="2893671" y="5754487"/>
            <a:ext cx="6713316" cy="8449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Tension with “get out of the agent’s way” </a:t>
            </a:r>
          </a:p>
        </p:txBody>
      </p:sp>
      <p:sp>
        <p:nvSpPr>
          <p:cNvPr id="6" name="AutoShape 4">
            <a:extLst>
              <a:ext uri="{FF2B5EF4-FFF2-40B4-BE49-F238E27FC236}">
                <a16:creationId xmlns:a16="http://schemas.microsoft.com/office/drawing/2014/main" id="{6BF3C6AB-1369-7510-5BBE-237064B27D69}"/>
              </a:ext>
            </a:extLst>
          </p:cNvPr>
          <p:cNvSpPr>
            <a:spLocks noChangeAspect="1" noChangeArrowheads="1"/>
          </p:cNvSpPr>
          <p:nvPr/>
        </p:nvSpPr>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600B6F83-6BDF-81B2-8EDF-FF44FFDB4049}"/>
              </a:ext>
            </a:extLst>
          </p:cNvPr>
          <p:cNvPicPr>
            <a:picLocks noChangeAspect="1"/>
          </p:cNvPicPr>
          <p:nvPr/>
        </p:nvPicPr>
        <p:blipFill>
          <a:blip r:embed="rId2"/>
          <a:stretch>
            <a:fillRect/>
          </a:stretch>
        </p:blipFill>
        <p:spPr>
          <a:xfrm>
            <a:off x="6096000" y="2053534"/>
            <a:ext cx="4818294" cy="3019916"/>
          </a:xfrm>
          <a:prstGeom prst="rect">
            <a:avLst/>
          </a:prstGeom>
        </p:spPr>
      </p:pic>
      <p:sp>
        <p:nvSpPr>
          <p:cNvPr id="10" name="TextBox 9">
            <a:extLst>
              <a:ext uri="{FF2B5EF4-FFF2-40B4-BE49-F238E27FC236}">
                <a16:creationId xmlns:a16="http://schemas.microsoft.com/office/drawing/2014/main" id="{AB19AB43-74C7-0F2E-C283-562332791C86}"/>
              </a:ext>
            </a:extLst>
          </p:cNvPr>
          <p:cNvSpPr txBox="1"/>
          <p:nvPr/>
        </p:nvSpPr>
        <p:spPr>
          <a:xfrm>
            <a:off x="9718465" y="4978193"/>
            <a:ext cx="2959988" cy="646331"/>
          </a:xfrm>
          <a:prstGeom prst="rect">
            <a:avLst/>
          </a:prstGeom>
          <a:noFill/>
        </p:spPr>
        <p:txBody>
          <a:bodyPr wrap="square" rtlCol="0">
            <a:spAutoFit/>
          </a:bodyPr>
          <a:lstStyle/>
          <a:p>
            <a:r>
              <a:rPr lang="en-US" dirty="0"/>
              <a:t>Dex Horthy “12 factor agents”, 2025</a:t>
            </a:r>
          </a:p>
        </p:txBody>
      </p:sp>
    </p:spTree>
    <p:extLst>
      <p:ext uri="{BB962C8B-B14F-4D97-AF65-F5344CB8AC3E}">
        <p14:creationId xmlns:p14="http://schemas.microsoft.com/office/powerpoint/2010/main" val="24738179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workflow&#10;&#10;AI-generated content may be incorrect.">
            <a:extLst>
              <a:ext uri="{FF2B5EF4-FFF2-40B4-BE49-F238E27FC236}">
                <a16:creationId xmlns:a16="http://schemas.microsoft.com/office/drawing/2014/main" id="{A7083047-D9E7-C0EB-3ABC-8308CC64EE6B}"/>
              </a:ext>
            </a:extLst>
          </p:cNvPr>
          <p:cNvPicPr>
            <a:picLocks noGrp="1" noChangeAspect="1"/>
          </p:cNvPicPr>
          <p:nvPr>
            <p:ph idx="1"/>
          </p:nvPr>
        </p:nvPicPr>
        <p:blipFill>
          <a:blip r:embed="rId2"/>
          <a:srcRect r="35802"/>
          <a:stretch>
            <a:fillRect/>
          </a:stretch>
        </p:blipFill>
        <p:spPr>
          <a:xfrm>
            <a:off x="3309256" y="1268341"/>
            <a:ext cx="5890577" cy="4321318"/>
          </a:xfrm>
          <a:prstGeom prst="rect">
            <a:avLst/>
          </a:prstGeom>
        </p:spPr>
      </p:pic>
      <p:sp>
        <p:nvSpPr>
          <p:cNvPr id="6" name="TextBox 5">
            <a:extLst>
              <a:ext uri="{FF2B5EF4-FFF2-40B4-BE49-F238E27FC236}">
                <a16:creationId xmlns:a16="http://schemas.microsoft.com/office/drawing/2014/main" id="{39F52E33-CAE5-3E8B-2026-5852F0CB78A1}"/>
              </a:ext>
            </a:extLst>
          </p:cNvPr>
          <p:cNvSpPr txBox="1"/>
          <p:nvPr/>
        </p:nvSpPr>
        <p:spPr>
          <a:xfrm>
            <a:off x="10197296" y="6311900"/>
            <a:ext cx="1256691" cy="369332"/>
          </a:xfrm>
          <a:prstGeom prst="rect">
            <a:avLst/>
          </a:prstGeom>
          <a:noFill/>
        </p:spPr>
        <p:txBody>
          <a:bodyPr wrap="none" rtlCol="0">
            <a:spAutoFit/>
          </a:bodyPr>
          <a:lstStyle/>
          <a:p>
            <a:r>
              <a:rPr lang="en-US" dirty="0" err="1"/>
              <a:t>LangChain</a:t>
            </a:r>
            <a:endParaRPr lang="en-US" dirty="0"/>
          </a:p>
        </p:txBody>
      </p:sp>
      <p:sp>
        <p:nvSpPr>
          <p:cNvPr id="7" name="Rounded Rectangle 6">
            <a:extLst>
              <a:ext uri="{FF2B5EF4-FFF2-40B4-BE49-F238E27FC236}">
                <a16:creationId xmlns:a16="http://schemas.microsoft.com/office/drawing/2014/main" id="{3B556561-954F-84A0-D6D4-C23BA7E06C4F}"/>
              </a:ext>
            </a:extLst>
          </p:cNvPr>
          <p:cNvSpPr/>
          <p:nvPr/>
        </p:nvSpPr>
        <p:spPr>
          <a:xfrm>
            <a:off x="2893671" y="5754487"/>
            <a:ext cx="6713316" cy="8449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Tension with “get out of the agent’s way” </a:t>
            </a:r>
          </a:p>
        </p:txBody>
      </p:sp>
      <p:sp>
        <p:nvSpPr>
          <p:cNvPr id="4" name="Title 1">
            <a:extLst>
              <a:ext uri="{FF2B5EF4-FFF2-40B4-BE49-F238E27FC236}">
                <a16:creationId xmlns:a16="http://schemas.microsoft.com/office/drawing/2014/main" id="{B1156A59-89F5-972C-4BED-AD7207072516}"/>
              </a:ext>
            </a:extLst>
          </p:cNvPr>
          <p:cNvSpPr>
            <a:spLocks noGrp="1"/>
          </p:cNvSpPr>
          <p:nvPr>
            <p:ph type="title"/>
          </p:nvPr>
        </p:nvSpPr>
        <p:spPr>
          <a:xfrm>
            <a:off x="838200" y="365125"/>
            <a:ext cx="10515600" cy="1325563"/>
          </a:xfrm>
        </p:spPr>
        <p:txBody>
          <a:bodyPr/>
          <a:lstStyle/>
          <a:p>
            <a:r>
              <a:rPr lang="en-US" dirty="0"/>
              <a:t>Human-programmed orchestration</a:t>
            </a:r>
          </a:p>
        </p:txBody>
      </p:sp>
    </p:spTree>
    <p:extLst>
      <p:ext uri="{BB962C8B-B14F-4D97-AF65-F5344CB8AC3E}">
        <p14:creationId xmlns:p14="http://schemas.microsoft.com/office/powerpoint/2010/main" val="40531440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Up Arrow 5">
            <a:extLst>
              <a:ext uri="{FF2B5EF4-FFF2-40B4-BE49-F238E27FC236}">
                <a16:creationId xmlns:a16="http://schemas.microsoft.com/office/drawing/2014/main" id="{2D9F4B4E-FD7A-493A-4AFE-0276B9FC7F39}"/>
              </a:ext>
            </a:extLst>
          </p:cNvPr>
          <p:cNvSpPr/>
          <p:nvPr/>
        </p:nvSpPr>
        <p:spPr>
          <a:xfrm>
            <a:off x="4032068" y="1828800"/>
            <a:ext cx="78377" cy="2638697"/>
          </a:xfrm>
          <a:prstGeom prst="up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Up Arrow 6">
            <a:extLst>
              <a:ext uri="{FF2B5EF4-FFF2-40B4-BE49-F238E27FC236}">
                <a16:creationId xmlns:a16="http://schemas.microsoft.com/office/drawing/2014/main" id="{AC87EA08-24B5-9EFF-B40D-B623E32BBB8E}"/>
              </a:ext>
            </a:extLst>
          </p:cNvPr>
          <p:cNvSpPr/>
          <p:nvPr/>
        </p:nvSpPr>
        <p:spPr>
          <a:xfrm rot="5400000">
            <a:off x="5673634" y="3400698"/>
            <a:ext cx="78377" cy="2638697"/>
          </a:xfrm>
          <a:prstGeom prst="up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5E710F6-DFA6-988E-2763-5A3959226681}"/>
              </a:ext>
            </a:extLst>
          </p:cNvPr>
          <p:cNvSpPr txBox="1"/>
          <p:nvPr/>
        </p:nvSpPr>
        <p:spPr>
          <a:xfrm>
            <a:off x="5111086" y="4876799"/>
            <a:ext cx="1203471" cy="369332"/>
          </a:xfrm>
          <a:prstGeom prst="rect">
            <a:avLst/>
          </a:prstGeom>
          <a:noFill/>
        </p:spPr>
        <p:txBody>
          <a:bodyPr wrap="none" rtlCol="0">
            <a:spAutoFit/>
          </a:bodyPr>
          <a:lstStyle/>
          <a:p>
            <a:r>
              <a:rPr lang="en-US" dirty="0"/>
              <a:t>Autonomy</a:t>
            </a:r>
          </a:p>
        </p:txBody>
      </p:sp>
      <p:sp>
        <p:nvSpPr>
          <p:cNvPr id="9" name="TextBox 8">
            <a:extLst>
              <a:ext uri="{FF2B5EF4-FFF2-40B4-BE49-F238E27FC236}">
                <a16:creationId xmlns:a16="http://schemas.microsoft.com/office/drawing/2014/main" id="{55D3638B-7D06-F1CB-3642-3FEFB35E1F4F}"/>
              </a:ext>
            </a:extLst>
          </p:cNvPr>
          <p:cNvSpPr txBox="1"/>
          <p:nvPr/>
        </p:nvSpPr>
        <p:spPr>
          <a:xfrm>
            <a:off x="2738000" y="3148148"/>
            <a:ext cx="1046761" cy="369332"/>
          </a:xfrm>
          <a:prstGeom prst="rect">
            <a:avLst/>
          </a:prstGeom>
          <a:noFill/>
        </p:spPr>
        <p:txBody>
          <a:bodyPr wrap="none" rtlCol="0">
            <a:spAutoFit/>
          </a:bodyPr>
          <a:lstStyle/>
          <a:p>
            <a:r>
              <a:rPr lang="en-US" dirty="0"/>
              <a:t>Intricacy</a:t>
            </a:r>
          </a:p>
        </p:txBody>
      </p:sp>
      <p:sp>
        <p:nvSpPr>
          <p:cNvPr id="10" name="TextBox 9">
            <a:extLst>
              <a:ext uri="{FF2B5EF4-FFF2-40B4-BE49-F238E27FC236}">
                <a16:creationId xmlns:a16="http://schemas.microsoft.com/office/drawing/2014/main" id="{83A93DC7-D16C-5FC7-56AA-992E48B53C10}"/>
              </a:ext>
            </a:extLst>
          </p:cNvPr>
          <p:cNvSpPr txBox="1"/>
          <p:nvPr/>
        </p:nvSpPr>
        <p:spPr>
          <a:xfrm>
            <a:off x="5704112" y="3455298"/>
            <a:ext cx="779381" cy="369332"/>
          </a:xfrm>
          <a:prstGeom prst="rect">
            <a:avLst/>
          </a:prstGeom>
          <a:noFill/>
        </p:spPr>
        <p:txBody>
          <a:bodyPr wrap="none" rtlCol="0">
            <a:spAutoFit/>
          </a:bodyPr>
          <a:lstStyle/>
          <a:p>
            <a:r>
              <a:rPr lang="en-US" dirty="0" err="1"/>
              <a:t>ReAct</a:t>
            </a:r>
            <a:endParaRPr lang="en-US" dirty="0"/>
          </a:p>
        </p:txBody>
      </p:sp>
      <p:sp>
        <p:nvSpPr>
          <p:cNvPr id="11" name="TextBox 10">
            <a:extLst>
              <a:ext uri="{FF2B5EF4-FFF2-40B4-BE49-F238E27FC236}">
                <a16:creationId xmlns:a16="http://schemas.microsoft.com/office/drawing/2014/main" id="{92759426-4631-EFEC-7C67-3389E90E40F5}"/>
              </a:ext>
            </a:extLst>
          </p:cNvPr>
          <p:cNvSpPr txBox="1"/>
          <p:nvPr/>
        </p:nvSpPr>
        <p:spPr>
          <a:xfrm>
            <a:off x="4949433" y="2177142"/>
            <a:ext cx="682046" cy="369332"/>
          </a:xfrm>
          <a:prstGeom prst="rect">
            <a:avLst/>
          </a:prstGeom>
          <a:noFill/>
        </p:spPr>
        <p:txBody>
          <a:bodyPr wrap="none" rtlCol="0">
            <a:spAutoFit/>
          </a:bodyPr>
          <a:lstStyle/>
          <a:p>
            <a:r>
              <a:rPr lang="en-US" dirty="0"/>
              <a:t>12FA</a:t>
            </a:r>
          </a:p>
        </p:txBody>
      </p:sp>
      <p:sp>
        <p:nvSpPr>
          <p:cNvPr id="12" name="TextBox 11">
            <a:extLst>
              <a:ext uri="{FF2B5EF4-FFF2-40B4-BE49-F238E27FC236}">
                <a16:creationId xmlns:a16="http://schemas.microsoft.com/office/drawing/2014/main" id="{AF9A6055-DB3F-F0E5-52A4-DF5C4EFB4ED2}"/>
              </a:ext>
            </a:extLst>
          </p:cNvPr>
          <p:cNvSpPr txBox="1"/>
          <p:nvPr/>
        </p:nvSpPr>
        <p:spPr>
          <a:xfrm>
            <a:off x="4290310" y="4068078"/>
            <a:ext cx="1540358" cy="369332"/>
          </a:xfrm>
          <a:prstGeom prst="rect">
            <a:avLst/>
          </a:prstGeom>
          <a:noFill/>
        </p:spPr>
        <p:txBody>
          <a:bodyPr wrap="none" rtlCol="0">
            <a:spAutoFit/>
          </a:bodyPr>
          <a:lstStyle/>
          <a:p>
            <a:r>
              <a:rPr lang="en-US" dirty="0"/>
              <a:t>2023 chatbot</a:t>
            </a:r>
          </a:p>
        </p:txBody>
      </p:sp>
    </p:spTree>
    <p:extLst>
      <p:ext uri="{BB962C8B-B14F-4D97-AF65-F5344CB8AC3E}">
        <p14:creationId xmlns:p14="http://schemas.microsoft.com/office/powerpoint/2010/main" val="14553944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BCE01-5EF8-C2AB-41FD-621AD3E38200}"/>
              </a:ext>
            </a:extLst>
          </p:cNvPr>
          <p:cNvSpPr>
            <a:spLocks noGrp="1"/>
          </p:cNvSpPr>
          <p:nvPr>
            <p:ph type="title"/>
          </p:nvPr>
        </p:nvSpPr>
        <p:spPr>
          <a:xfrm>
            <a:off x="942703" y="2568394"/>
            <a:ext cx="10515600" cy="1325563"/>
          </a:xfrm>
        </p:spPr>
        <p:txBody>
          <a:bodyPr>
            <a:normAutofit fontScale="90000"/>
          </a:bodyPr>
          <a:lstStyle/>
          <a:p>
            <a:pPr algn="ctr"/>
            <a:r>
              <a:rPr lang="en-US" dirty="0"/>
              <a:t>What is the maximum degree to which an agentic system can be controlled by the language model autonomously?</a:t>
            </a:r>
          </a:p>
        </p:txBody>
      </p:sp>
    </p:spTree>
    <p:extLst>
      <p:ext uri="{BB962C8B-B14F-4D97-AF65-F5344CB8AC3E}">
        <p14:creationId xmlns:p14="http://schemas.microsoft.com/office/powerpoint/2010/main" val="30156274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73769-FDE2-80AB-48FA-9E3485AF1BE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DD81B6F-2524-F9D1-75FB-647722F1649E}"/>
              </a:ext>
            </a:extLst>
          </p:cNvPr>
          <p:cNvSpPr txBox="1"/>
          <p:nvPr/>
        </p:nvSpPr>
        <p:spPr>
          <a:xfrm>
            <a:off x="2819904" y="2630872"/>
            <a:ext cx="5117465" cy="1754326"/>
          </a:xfrm>
          <a:prstGeom prst="rect">
            <a:avLst/>
          </a:prstGeom>
          <a:noFill/>
        </p:spPr>
        <p:txBody>
          <a:bodyPr wrap="square" rtlCol="0">
            <a:spAutoFit/>
          </a:bodyPr>
          <a:lstStyle/>
          <a:p>
            <a:pPr marL="342900" indent="-342900">
              <a:buAutoNum type="arabicParenBoth"/>
            </a:pPr>
            <a:r>
              <a:rPr lang="en-US" dirty="0">
                <a:solidFill>
                  <a:srgbClr val="0070C0"/>
                </a:solidFill>
              </a:rPr>
              <a:t>Invocation: call the model with some prefix</a:t>
            </a:r>
          </a:p>
          <a:p>
            <a:pPr marL="342900" indent="-342900">
              <a:buAutoNum type="arabicParenBoth"/>
            </a:pPr>
            <a:r>
              <a:rPr lang="en-US" dirty="0">
                <a:solidFill>
                  <a:srgbClr val="00B050"/>
                </a:solidFill>
              </a:rPr>
              <a:t>Generation: model thinks and responds with tool call or program</a:t>
            </a:r>
          </a:p>
          <a:p>
            <a:pPr marL="342900" indent="-342900">
              <a:buAutoNum type="arabicParenBoth"/>
            </a:pPr>
            <a:r>
              <a:rPr lang="en-US" dirty="0">
                <a:solidFill>
                  <a:srgbClr val="7030A0"/>
                </a:solidFill>
              </a:rPr>
              <a:t>Execution: execute tool call</a:t>
            </a:r>
          </a:p>
          <a:p>
            <a:pPr marL="342900" indent="-342900">
              <a:buAutoNum type="arabicParenBoth"/>
            </a:pPr>
            <a:r>
              <a:rPr lang="en-US" dirty="0">
                <a:solidFill>
                  <a:srgbClr val="0070C0"/>
                </a:solidFill>
              </a:rPr>
              <a:t>Prefix building: produce new prefix and return to (1)</a:t>
            </a:r>
          </a:p>
        </p:txBody>
      </p:sp>
      <p:sp>
        <p:nvSpPr>
          <p:cNvPr id="2" name="TextBox 1">
            <a:extLst>
              <a:ext uri="{FF2B5EF4-FFF2-40B4-BE49-F238E27FC236}">
                <a16:creationId xmlns:a16="http://schemas.microsoft.com/office/drawing/2014/main" id="{D1A4D1B7-9FDE-965F-E705-D1514D063FDD}"/>
              </a:ext>
            </a:extLst>
          </p:cNvPr>
          <p:cNvSpPr txBox="1"/>
          <p:nvPr/>
        </p:nvSpPr>
        <p:spPr>
          <a:xfrm>
            <a:off x="9502219" y="6344239"/>
            <a:ext cx="2381486" cy="369332"/>
          </a:xfrm>
          <a:prstGeom prst="rect">
            <a:avLst/>
          </a:prstGeom>
          <a:noFill/>
        </p:spPr>
        <p:txBody>
          <a:bodyPr wrap="none" rtlCol="0">
            <a:spAutoFit/>
          </a:bodyPr>
          <a:lstStyle/>
          <a:p>
            <a:r>
              <a:rPr lang="en-US" dirty="0"/>
              <a:t>S. Yao et al. 2023 ICLR</a:t>
            </a:r>
          </a:p>
        </p:txBody>
      </p:sp>
      <p:sp>
        <p:nvSpPr>
          <p:cNvPr id="3" name="TextBox 2">
            <a:extLst>
              <a:ext uri="{FF2B5EF4-FFF2-40B4-BE49-F238E27FC236}">
                <a16:creationId xmlns:a16="http://schemas.microsoft.com/office/drawing/2014/main" id="{C756679E-C167-ECFA-D4A3-241BC6253467}"/>
              </a:ext>
            </a:extLst>
          </p:cNvPr>
          <p:cNvSpPr txBox="1"/>
          <p:nvPr/>
        </p:nvSpPr>
        <p:spPr>
          <a:xfrm>
            <a:off x="8098624" y="3496251"/>
            <a:ext cx="2203873" cy="369332"/>
          </a:xfrm>
          <a:prstGeom prst="rect">
            <a:avLst/>
          </a:prstGeom>
          <a:noFill/>
        </p:spPr>
        <p:txBody>
          <a:bodyPr wrap="none" rtlCol="0">
            <a:spAutoFit/>
          </a:bodyPr>
          <a:lstStyle/>
          <a:p>
            <a:r>
              <a:rPr lang="en-US" dirty="0"/>
              <a:t>Controlled by model</a:t>
            </a:r>
          </a:p>
        </p:txBody>
      </p:sp>
      <p:cxnSp>
        <p:nvCxnSpPr>
          <p:cNvPr id="6" name="Straight Arrow Connector 5">
            <a:extLst>
              <a:ext uri="{FF2B5EF4-FFF2-40B4-BE49-F238E27FC236}">
                <a16:creationId xmlns:a16="http://schemas.microsoft.com/office/drawing/2014/main" id="{D77A1A2D-83B1-C196-7EE9-27D85B2C5CB5}"/>
              </a:ext>
            </a:extLst>
          </p:cNvPr>
          <p:cNvCxnSpPr>
            <a:cxnSpLocks/>
          </p:cNvCxnSpPr>
          <p:nvPr/>
        </p:nvCxnSpPr>
        <p:spPr>
          <a:xfrm flipH="1">
            <a:off x="6014301" y="3662063"/>
            <a:ext cx="208432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TextBox 6">
            <a:extLst>
              <a:ext uri="{FF2B5EF4-FFF2-40B4-BE49-F238E27FC236}">
                <a16:creationId xmlns:a16="http://schemas.microsoft.com/office/drawing/2014/main" id="{AE1ECCD1-BFD0-34EA-3073-4C1041095E5A}"/>
              </a:ext>
            </a:extLst>
          </p:cNvPr>
          <p:cNvSpPr txBox="1"/>
          <p:nvPr/>
        </p:nvSpPr>
        <p:spPr>
          <a:xfrm>
            <a:off x="247460" y="3228679"/>
            <a:ext cx="1642043" cy="646331"/>
          </a:xfrm>
          <a:prstGeom prst="rect">
            <a:avLst/>
          </a:prstGeom>
          <a:noFill/>
        </p:spPr>
        <p:txBody>
          <a:bodyPr wrap="square" rtlCol="0">
            <a:spAutoFit/>
          </a:bodyPr>
          <a:lstStyle/>
          <a:p>
            <a:pPr algn="ctr"/>
            <a:r>
              <a:rPr lang="en-US" dirty="0"/>
              <a:t>Controlled by harness</a:t>
            </a:r>
          </a:p>
        </p:txBody>
      </p:sp>
      <p:cxnSp>
        <p:nvCxnSpPr>
          <p:cNvPr id="8" name="Straight Arrow Connector 7">
            <a:extLst>
              <a:ext uri="{FF2B5EF4-FFF2-40B4-BE49-F238E27FC236}">
                <a16:creationId xmlns:a16="http://schemas.microsoft.com/office/drawing/2014/main" id="{708298CA-1B5D-E1D9-9758-B35434436465}"/>
              </a:ext>
            </a:extLst>
          </p:cNvPr>
          <p:cNvCxnSpPr>
            <a:cxnSpLocks/>
          </p:cNvCxnSpPr>
          <p:nvPr/>
        </p:nvCxnSpPr>
        <p:spPr>
          <a:xfrm flipV="1">
            <a:off x="1889503" y="2931736"/>
            <a:ext cx="930401" cy="59043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4F6F1E93-56EB-D112-6C68-D3E3E59A6419}"/>
              </a:ext>
            </a:extLst>
          </p:cNvPr>
          <p:cNvCxnSpPr>
            <a:cxnSpLocks/>
          </p:cNvCxnSpPr>
          <p:nvPr/>
        </p:nvCxnSpPr>
        <p:spPr>
          <a:xfrm>
            <a:off x="1889502" y="3522174"/>
            <a:ext cx="930402" cy="45593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5545C237-FD4E-6DC5-C99F-8B37C67BC7CA}"/>
              </a:ext>
            </a:extLst>
          </p:cNvPr>
          <p:cNvSpPr txBox="1"/>
          <p:nvPr/>
        </p:nvSpPr>
        <p:spPr>
          <a:xfrm>
            <a:off x="2608108" y="2016426"/>
            <a:ext cx="4980192" cy="523220"/>
          </a:xfrm>
          <a:prstGeom prst="rect">
            <a:avLst/>
          </a:prstGeom>
          <a:noFill/>
          <a:ln>
            <a:noFill/>
          </a:ln>
        </p:spPr>
        <p:txBody>
          <a:bodyPr wrap="square" rtlCol="0">
            <a:spAutoFit/>
          </a:bodyPr>
          <a:lstStyle/>
          <a:p>
            <a:pPr algn="ctr"/>
            <a:r>
              <a:rPr lang="en-US" sz="2800" dirty="0" err="1"/>
              <a:t>ReAct</a:t>
            </a:r>
            <a:r>
              <a:rPr lang="en-US" sz="2800" dirty="0"/>
              <a:t> loop</a:t>
            </a:r>
          </a:p>
        </p:txBody>
      </p:sp>
    </p:spTree>
    <p:extLst>
      <p:ext uri="{BB962C8B-B14F-4D97-AF65-F5344CB8AC3E}">
        <p14:creationId xmlns:p14="http://schemas.microsoft.com/office/powerpoint/2010/main" val="10445087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45CA3-8F95-2AC7-096E-C5FE346363C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F72B220-20AF-6FCF-5FBC-8200FAE73596}"/>
              </a:ext>
            </a:extLst>
          </p:cNvPr>
          <p:cNvSpPr txBox="1"/>
          <p:nvPr/>
        </p:nvSpPr>
        <p:spPr>
          <a:xfrm>
            <a:off x="602003" y="2665074"/>
            <a:ext cx="4980192" cy="1754326"/>
          </a:xfrm>
          <a:prstGeom prst="rect">
            <a:avLst/>
          </a:prstGeom>
          <a:noFill/>
          <a:ln>
            <a:noFill/>
          </a:ln>
        </p:spPr>
        <p:txBody>
          <a:bodyPr wrap="square" rtlCol="0">
            <a:spAutoFit/>
          </a:bodyPr>
          <a:lstStyle/>
          <a:p>
            <a:pPr marL="342900" indent="-342900">
              <a:buAutoNum type="arabicParenBoth"/>
            </a:pPr>
            <a:r>
              <a:rPr lang="en-US" dirty="0">
                <a:solidFill>
                  <a:srgbClr val="0070C0"/>
                </a:solidFill>
              </a:rPr>
              <a:t>Invocation: call the model with some prefix</a:t>
            </a:r>
          </a:p>
          <a:p>
            <a:pPr marL="342900" indent="-342900">
              <a:buAutoNum type="arabicParenBoth"/>
            </a:pPr>
            <a:r>
              <a:rPr lang="en-US" dirty="0">
                <a:solidFill>
                  <a:srgbClr val="00B050"/>
                </a:solidFill>
              </a:rPr>
              <a:t>Generation: model thinks and responds with tool call or program</a:t>
            </a:r>
          </a:p>
          <a:p>
            <a:pPr marL="342900" indent="-342900">
              <a:buAutoNum type="arabicParenBoth"/>
            </a:pPr>
            <a:r>
              <a:rPr lang="en-US" dirty="0">
                <a:solidFill>
                  <a:srgbClr val="7030A0"/>
                </a:solidFill>
              </a:rPr>
              <a:t>Execution: execute tool call</a:t>
            </a:r>
          </a:p>
          <a:p>
            <a:pPr marL="342900" indent="-342900">
              <a:buAutoNum type="arabicParenBoth"/>
            </a:pPr>
            <a:r>
              <a:rPr lang="en-US" dirty="0">
                <a:solidFill>
                  <a:srgbClr val="0070C0"/>
                </a:solidFill>
              </a:rPr>
              <a:t>Prefix building: produce new prefix and return to (1)</a:t>
            </a:r>
          </a:p>
        </p:txBody>
      </p:sp>
      <p:sp>
        <p:nvSpPr>
          <p:cNvPr id="2" name="TextBox 1">
            <a:extLst>
              <a:ext uri="{FF2B5EF4-FFF2-40B4-BE49-F238E27FC236}">
                <a16:creationId xmlns:a16="http://schemas.microsoft.com/office/drawing/2014/main" id="{70BE60DE-CC25-36A3-5459-EBC469F419EA}"/>
              </a:ext>
            </a:extLst>
          </p:cNvPr>
          <p:cNvSpPr txBox="1"/>
          <p:nvPr/>
        </p:nvSpPr>
        <p:spPr>
          <a:xfrm>
            <a:off x="6196567" y="2243454"/>
            <a:ext cx="4980192" cy="523220"/>
          </a:xfrm>
          <a:prstGeom prst="rect">
            <a:avLst/>
          </a:prstGeom>
          <a:noFill/>
          <a:ln>
            <a:noFill/>
          </a:ln>
        </p:spPr>
        <p:txBody>
          <a:bodyPr wrap="square" rtlCol="0">
            <a:spAutoFit/>
          </a:bodyPr>
          <a:lstStyle/>
          <a:p>
            <a:pPr algn="ctr"/>
            <a:r>
              <a:rPr lang="en-US" sz="2800" dirty="0"/>
              <a:t>Self-programmed execution</a:t>
            </a:r>
          </a:p>
        </p:txBody>
      </p:sp>
      <p:sp>
        <p:nvSpPr>
          <p:cNvPr id="12" name="TextBox 11">
            <a:extLst>
              <a:ext uri="{FF2B5EF4-FFF2-40B4-BE49-F238E27FC236}">
                <a16:creationId xmlns:a16="http://schemas.microsoft.com/office/drawing/2014/main" id="{61267AFF-CA28-3461-2A45-559EB389B699}"/>
              </a:ext>
            </a:extLst>
          </p:cNvPr>
          <p:cNvSpPr txBox="1"/>
          <p:nvPr/>
        </p:nvSpPr>
        <p:spPr>
          <a:xfrm>
            <a:off x="6345231" y="2931908"/>
            <a:ext cx="4980192" cy="923330"/>
          </a:xfrm>
          <a:prstGeom prst="rect">
            <a:avLst/>
          </a:prstGeom>
          <a:noFill/>
          <a:ln>
            <a:noFill/>
          </a:ln>
        </p:spPr>
        <p:txBody>
          <a:bodyPr wrap="square" rtlCol="0">
            <a:spAutoFit/>
          </a:bodyPr>
          <a:lstStyle/>
          <a:p>
            <a:pPr marL="342900" indent="-342900">
              <a:buAutoNum type="arabicParenBoth"/>
            </a:pPr>
            <a:r>
              <a:rPr lang="en-US" dirty="0">
                <a:solidFill>
                  <a:srgbClr val="00B050"/>
                </a:solidFill>
              </a:rPr>
              <a:t>Generation: model thinks and responds with a program</a:t>
            </a:r>
          </a:p>
          <a:p>
            <a:pPr marL="342900" indent="-342900">
              <a:buAutoNum type="arabicParenBoth"/>
            </a:pPr>
            <a:r>
              <a:rPr lang="en-US" dirty="0">
                <a:solidFill>
                  <a:srgbClr val="7030A0"/>
                </a:solidFill>
              </a:rPr>
              <a:t>Execution: evaluate the program</a:t>
            </a:r>
          </a:p>
        </p:txBody>
      </p:sp>
      <p:sp>
        <p:nvSpPr>
          <p:cNvPr id="13" name="TextBox 12">
            <a:extLst>
              <a:ext uri="{FF2B5EF4-FFF2-40B4-BE49-F238E27FC236}">
                <a16:creationId xmlns:a16="http://schemas.microsoft.com/office/drawing/2014/main" id="{67212583-3DA7-42E5-CCE1-7801D886A07A}"/>
              </a:ext>
            </a:extLst>
          </p:cNvPr>
          <p:cNvSpPr txBox="1"/>
          <p:nvPr/>
        </p:nvSpPr>
        <p:spPr>
          <a:xfrm>
            <a:off x="355102" y="2141854"/>
            <a:ext cx="4980192" cy="523220"/>
          </a:xfrm>
          <a:prstGeom prst="rect">
            <a:avLst/>
          </a:prstGeom>
          <a:noFill/>
          <a:ln>
            <a:noFill/>
          </a:ln>
        </p:spPr>
        <p:txBody>
          <a:bodyPr wrap="square" rtlCol="0">
            <a:spAutoFit/>
          </a:bodyPr>
          <a:lstStyle/>
          <a:p>
            <a:pPr algn="ctr"/>
            <a:r>
              <a:rPr lang="en-US" sz="2800" dirty="0" err="1"/>
              <a:t>ReAct</a:t>
            </a:r>
            <a:r>
              <a:rPr lang="en-US" sz="2800" dirty="0"/>
              <a:t> loop</a:t>
            </a:r>
          </a:p>
        </p:txBody>
      </p:sp>
      <p:sp>
        <p:nvSpPr>
          <p:cNvPr id="16" name="Rectangle 15">
            <a:extLst>
              <a:ext uri="{FF2B5EF4-FFF2-40B4-BE49-F238E27FC236}">
                <a16:creationId xmlns:a16="http://schemas.microsoft.com/office/drawing/2014/main" id="{195190C4-B837-FB3A-5D1B-AA10C272D0C8}"/>
              </a:ext>
            </a:extLst>
          </p:cNvPr>
          <p:cNvSpPr/>
          <p:nvPr/>
        </p:nvSpPr>
        <p:spPr>
          <a:xfrm>
            <a:off x="6258572" y="2892925"/>
            <a:ext cx="4918187" cy="107215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8990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0186D-85B6-7A41-3958-2DD24DFC892C}"/>
              </a:ext>
            </a:extLst>
          </p:cNvPr>
          <p:cNvSpPr>
            <a:spLocks noGrp="1"/>
          </p:cNvSpPr>
          <p:nvPr>
            <p:ph type="title"/>
          </p:nvPr>
        </p:nvSpPr>
        <p:spPr/>
        <p:txBody>
          <a:bodyPr/>
          <a:lstStyle/>
          <a:p>
            <a:r>
              <a:rPr lang="en-US" dirty="0"/>
              <a:t>Self-programmed context management</a:t>
            </a:r>
          </a:p>
        </p:txBody>
      </p:sp>
      <p:sp>
        <p:nvSpPr>
          <p:cNvPr id="10" name="Rectangle 9">
            <a:extLst>
              <a:ext uri="{FF2B5EF4-FFF2-40B4-BE49-F238E27FC236}">
                <a16:creationId xmlns:a16="http://schemas.microsoft.com/office/drawing/2014/main" id="{7AEF93CB-582D-721E-1746-EF6F048125C5}"/>
              </a:ext>
            </a:extLst>
          </p:cNvPr>
          <p:cNvSpPr/>
          <p:nvPr/>
        </p:nvSpPr>
        <p:spPr>
          <a:xfrm>
            <a:off x="1184807" y="4457132"/>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11" name="Rectangle 10">
            <a:extLst>
              <a:ext uri="{FF2B5EF4-FFF2-40B4-BE49-F238E27FC236}">
                <a16:creationId xmlns:a16="http://schemas.microsoft.com/office/drawing/2014/main" id="{A25FD9BD-8D6D-5F57-CBE4-191A5559FA88}"/>
              </a:ext>
            </a:extLst>
          </p:cNvPr>
          <p:cNvSpPr/>
          <p:nvPr/>
        </p:nvSpPr>
        <p:spPr>
          <a:xfrm>
            <a:off x="2214954" y="4457132"/>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2" name="Rectangle 11">
            <a:extLst>
              <a:ext uri="{FF2B5EF4-FFF2-40B4-BE49-F238E27FC236}">
                <a16:creationId xmlns:a16="http://schemas.microsoft.com/office/drawing/2014/main" id="{4B3DE6DD-3A46-CCC6-2C56-9F1EADAC883B}"/>
              </a:ext>
            </a:extLst>
          </p:cNvPr>
          <p:cNvSpPr/>
          <p:nvPr/>
        </p:nvSpPr>
        <p:spPr>
          <a:xfrm>
            <a:off x="3598923" y="4457131"/>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13" name="Rectangle 12">
            <a:extLst>
              <a:ext uri="{FF2B5EF4-FFF2-40B4-BE49-F238E27FC236}">
                <a16:creationId xmlns:a16="http://schemas.microsoft.com/office/drawing/2014/main" id="{A7B62B71-8C8C-889E-4379-D545AB60400B}"/>
              </a:ext>
            </a:extLst>
          </p:cNvPr>
          <p:cNvSpPr/>
          <p:nvPr/>
        </p:nvSpPr>
        <p:spPr>
          <a:xfrm>
            <a:off x="1184809" y="3779812"/>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14" name="Rectangle 13">
            <a:extLst>
              <a:ext uri="{FF2B5EF4-FFF2-40B4-BE49-F238E27FC236}">
                <a16:creationId xmlns:a16="http://schemas.microsoft.com/office/drawing/2014/main" id="{FD13A64D-D46F-B048-51E6-BE443C479C43}"/>
              </a:ext>
            </a:extLst>
          </p:cNvPr>
          <p:cNvSpPr/>
          <p:nvPr/>
        </p:nvSpPr>
        <p:spPr>
          <a:xfrm>
            <a:off x="2214956" y="3779812"/>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5" name="Bent Arrow 14">
            <a:extLst>
              <a:ext uri="{FF2B5EF4-FFF2-40B4-BE49-F238E27FC236}">
                <a16:creationId xmlns:a16="http://schemas.microsoft.com/office/drawing/2014/main" id="{504B5647-A2E8-8E4F-FF05-DD2B835DC3E3}"/>
              </a:ext>
            </a:extLst>
          </p:cNvPr>
          <p:cNvSpPr/>
          <p:nvPr/>
        </p:nvSpPr>
        <p:spPr>
          <a:xfrm rot="5400000">
            <a:off x="3839273" y="3681620"/>
            <a:ext cx="506724" cy="801076"/>
          </a:xfrm>
          <a:prstGeom prst="bentArrow">
            <a:avLst>
              <a:gd name="adj1" fmla="val 25000"/>
              <a:gd name="adj2" fmla="val 26786"/>
              <a:gd name="adj3" fmla="val 25000"/>
              <a:gd name="adj4"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6" name="TextBox 15">
            <a:extLst>
              <a:ext uri="{FF2B5EF4-FFF2-40B4-BE49-F238E27FC236}">
                <a16:creationId xmlns:a16="http://schemas.microsoft.com/office/drawing/2014/main" id="{1C81A39F-3DC1-0FA4-E4C8-D2B60DFC1F41}"/>
              </a:ext>
            </a:extLst>
          </p:cNvPr>
          <p:cNvSpPr txBox="1"/>
          <p:nvPr/>
        </p:nvSpPr>
        <p:spPr>
          <a:xfrm>
            <a:off x="1243150" y="5256655"/>
            <a:ext cx="3739742" cy="369332"/>
          </a:xfrm>
          <a:prstGeom prst="rect">
            <a:avLst/>
          </a:prstGeom>
          <a:noFill/>
        </p:spPr>
        <p:txBody>
          <a:bodyPr wrap="none" rtlCol="0">
            <a:spAutoFit/>
          </a:bodyPr>
          <a:lstStyle/>
          <a:p>
            <a:r>
              <a:rPr lang="en-US" dirty="0"/>
              <a:t>LLM controls only what is appended</a:t>
            </a:r>
          </a:p>
        </p:txBody>
      </p:sp>
      <p:sp>
        <p:nvSpPr>
          <p:cNvPr id="21" name="Rectangle 20">
            <a:extLst>
              <a:ext uri="{FF2B5EF4-FFF2-40B4-BE49-F238E27FC236}">
                <a16:creationId xmlns:a16="http://schemas.microsoft.com/office/drawing/2014/main" id="{7C568DBC-8791-BC64-5187-FC29D7B9B203}"/>
              </a:ext>
            </a:extLst>
          </p:cNvPr>
          <p:cNvSpPr/>
          <p:nvPr/>
        </p:nvSpPr>
        <p:spPr>
          <a:xfrm>
            <a:off x="6586484" y="3793502"/>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22" name="Rectangle 21">
            <a:extLst>
              <a:ext uri="{FF2B5EF4-FFF2-40B4-BE49-F238E27FC236}">
                <a16:creationId xmlns:a16="http://schemas.microsoft.com/office/drawing/2014/main" id="{E5ABE19D-D9CE-F3C2-D501-10ABEC3223B6}"/>
              </a:ext>
            </a:extLst>
          </p:cNvPr>
          <p:cNvSpPr/>
          <p:nvPr/>
        </p:nvSpPr>
        <p:spPr>
          <a:xfrm>
            <a:off x="7616631" y="3793502"/>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23" name="Bent Arrow 22">
            <a:extLst>
              <a:ext uri="{FF2B5EF4-FFF2-40B4-BE49-F238E27FC236}">
                <a16:creationId xmlns:a16="http://schemas.microsoft.com/office/drawing/2014/main" id="{C9A1E65F-39C5-7BCC-D564-D7BF7FEC8384}"/>
              </a:ext>
            </a:extLst>
          </p:cNvPr>
          <p:cNvSpPr/>
          <p:nvPr/>
        </p:nvSpPr>
        <p:spPr>
          <a:xfrm rot="5400000">
            <a:off x="9240948" y="3695310"/>
            <a:ext cx="506724" cy="801076"/>
          </a:xfrm>
          <a:prstGeom prst="bentArrow">
            <a:avLst>
              <a:gd name="adj1" fmla="val 25000"/>
              <a:gd name="adj2" fmla="val 26786"/>
              <a:gd name="adj3" fmla="val 25000"/>
              <a:gd name="adj4"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4" name="TextBox 23">
            <a:extLst>
              <a:ext uri="{FF2B5EF4-FFF2-40B4-BE49-F238E27FC236}">
                <a16:creationId xmlns:a16="http://schemas.microsoft.com/office/drawing/2014/main" id="{28BF50CB-FBA7-818F-91DC-EC2CBBEEC162}"/>
              </a:ext>
            </a:extLst>
          </p:cNvPr>
          <p:cNvSpPr txBox="1"/>
          <p:nvPr/>
        </p:nvSpPr>
        <p:spPr>
          <a:xfrm>
            <a:off x="6771965" y="5256655"/>
            <a:ext cx="3936399" cy="369332"/>
          </a:xfrm>
          <a:prstGeom prst="rect">
            <a:avLst/>
          </a:prstGeom>
          <a:noFill/>
        </p:spPr>
        <p:txBody>
          <a:bodyPr wrap="none" rtlCol="0">
            <a:spAutoFit/>
          </a:bodyPr>
          <a:lstStyle/>
          <a:p>
            <a:r>
              <a:rPr lang="en-US" dirty="0">
                <a:solidFill>
                  <a:srgbClr val="FF0000"/>
                </a:solidFill>
              </a:rPr>
              <a:t>LLM fully controls its context next turn</a:t>
            </a:r>
          </a:p>
        </p:txBody>
      </p:sp>
      <p:sp>
        <p:nvSpPr>
          <p:cNvPr id="26" name="Rectangle 25">
            <a:extLst>
              <a:ext uri="{FF2B5EF4-FFF2-40B4-BE49-F238E27FC236}">
                <a16:creationId xmlns:a16="http://schemas.microsoft.com/office/drawing/2014/main" id="{DA3E8D66-EDB1-9177-AFD2-544E5DBD4C53}"/>
              </a:ext>
            </a:extLst>
          </p:cNvPr>
          <p:cNvSpPr/>
          <p:nvPr/>
        </p:nvSpPr>
        <p:spPr>
          <a:xfrm>
            <a:off x="8245366" y="4544169"/>
            <a:ext cx="2532351"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Whole context window</a:t>
            </a:r>
          </a:p>
        </p:txBody>
      </p:sp>
      <p:sp>
        <p:nvSpPr>
          <p:cNvPr id="3" name="TextBox 2">
            <a:extLst>
              <a:ext uri="{FF2B5EF4-FFF2-40B4-BE49-F238E27FC236}">
                <a16:creationId xmlns:a16="http://schemas.microsoft.com/office/drawing/2014/main" id="{DD9A605B-F04D-FBBB-5A5C-273EA56136CA}"/>
              </a:ext>
            </a:extLst>
          </p:cNvPr>
          <p:cNvSpPr txBox="1"/>
          <p:nvPr/>
        </p:nvSpPr>
        <p:spPr>
          <a:xfrm>
            <a:off x="9894848" y="3801398"/>
            <a:ext cx="973600" cy="369332"/>
          </a:xfrm>
          <a:prstGeom prst="rect">
            <a:avLst/>
          </a:prstGeom>
          <a:noFill/>
        </p:spPr>
        <p:txBody>
          <a:bodyPr wrap="none" rtlCol="0">
            <a:spAutoFit/>
          </a:bodyPr>
          <a:lstStyle/>
          <a:p>
            <a:r>
              <a:rPr lang="en-US" dirty="0"/>
              <a:t>Self call</a:t>
            </a:r>
          </a:p>
        </p:txBody>
      </p:sp>
      <p:sp>
        <p:nvSpPr>
          <p:cNvPr id="5" name="TextBox 4">
            <a:extLst>
              <a:ext uri="{FF2B5EF4-FFF2-40B4-BE49-F238E27FC236}">
                <a16:creationId xmlns:a16="http://schemas.microsoft.com/office/drawing/2014/main" id="{CD9E41E6-B95E-23AF-60E7-690C040F5C3F}"/>
              </a:ext>
            </a:extLst>
          </p:cNvPr>
          <p:cNvSpPr txBox="1"/>
          <p:nvPr/>
        </p:nvSpPr>
        <p:spPr>
          <a:xfrm>
            <a:off x="4440791" y="3738142"/>
            <a:ext cx="998415" cy="369332"/>
          </a:xfrm>
          <a:prstGeom prst="rect">
            <a:avLst/>
          </a:prstGeom>
          <a:noFill/>
        </p:spPr>
        <p:txBody>
          <a:bodyPr wrap="none" rtlCol="0">
            <a:spAutoFit/>
          </a:bodyPr>
          <a:lstStyle/>
          <a:p>
            <a:r>
              <a:rPr lang="en-US" dirty="0"/>
              <a:t>Tool call</a:t>
            </a:r>
          </a:p>
        </p:txBody>
      </p:sp>
      <p:sp>
        <p:nvSpPr>
          <p:cNvPr id="6" name="TextBox 5">
            <a:extLst>
              <a:ext uri="{FF2B5EF4-FFF2-40B4-BE49-F238E27FC236}">
                <a16:creationId xmlns:a16="http://schemas.microsoft.com/office/drawing/2014/main" id="{3B018737-4E39-BE38-6D78-939DCFC20ED1}"/>
              </a:ext>
            </a:extLst>
          </p:cNvPr>
          <p:cNvSpPr txBox="1"/>
          <p:nvPr/>
        </p:nvSpPr>
        <p:spPr>
          <a:xfrm>
            <a:off x="7269056" y="2686812"/>
            <a:ext cx="2942216" cy="369332"/>
          </a:xfrm>
          <a:prstGeom prst="rect">
            <a:avLst/>
          </a:prstGeom>
          <a:noFill/>
        </p:spPr>
        <p:txBody>
          <a:bodyPr wrap="none" rtlCol="0">
            <a:spAutoFit/>
          </a:bodyPr>
          <a:lstStyle/>
          <a:p>
            <a:r>
              <a:rPr lang="en-US" dirty="0"/>
              <a:t>Self-programmed execution</a:t>
            </a:r>
          </a:p>
        </p:txBody>
      </p:sp>
      <p:sp>
        <p:nvSpPr>
          <p:cNvPr id="7" name="Rectangle 6">
            <a:extLst>
              <a:ext uri="{FF2B5EF4-FFF2-40B4-BE49-F238E27FC236}">
                <a16:creationId xmlns:a16="http://schemas.microsoft.com/office/drawing/2014/main" id="{5C8F9D0D-7284-039B-5DC4-9F7031BEB7A2}"/>
              </a:ext>
            </a:extLst>
          </p:cNvPr>
          <p:cNvSpPr/>
          <p:nvPr/>
        </p:nvSpPr>
        <p:spPr>
          <a:xfrm>
            <a:off x="6281072" y="3195147"/>
            <a:ext cx="4918187" cy="192462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6983DC3-4A90-C963-3409-DF381F0DDD15}"/>
              </a:ext>
            </a:extLst>
          </p:cNvPr>
          <p:cNvSpPr txBox="1"/>
          <p:nvPr/>
        </p:nvSpPr>
        <p:spPr>
          <a:xfrm>
            <a:off x="2517247" y="2691862"/>
            <a:ext cx="779381" cy="369332"/>
          </a:xfrm>
          <a:prstGeom prst="rect">
            <a:avLst/>
          </a:prstGeom>
          <a:noFill/>
        </p:spPr>
        <p:txBody>
          <a:bodyPr wrap="none" rtlCol="0">
            <a:spAutoFit/>
          </a:bodyPr>
          <a:lstStyle/>
          <a:p>
            <a:r>
              <a:rPr lang="en-US" dirty="0" err="1"/>
              <a:t>ReAct</a:t>
            </a:r>
            <a:endParaRPr lang="en-US" dirty="0"/>
          </a:p>
        </p:txBody>
      </p:sp>
    </p:spTree>
    <p:extLst>
      <p:ext uri="{BB962C8B-B14F-4D97-AF65-F5344CB8AC3E}">
        <p14:creationId xmlns:p14="http://schemas.microsoft.com/office/powerpoint/2010/main" val="18734875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B5E04FA-3D1B-C569-3602-2C4A1049256F}"/>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570D93F5-7769-6ECF-CAB9-BC7B60576A47}"/>
              </a:ext>
            </a:extLst>
          </p:cNvPr>
          <p:cNvSpPr/>
          <p:nvPr/>
        </p:nvSpPr>
        <p:spPr>
          <a:xfrm>
            <a:off x="2893670" y="2848131"/>
            <a:ext cx="5440862" cy="216833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5521BF-83F8-DC39-B495-D9DB4BE2765B}"/>
              </a:ext>
            </a:extLst>
          </p:cNvPr>
          <p:cNvSpPr>
            <a:spLocks noGrp="1"/>
          </p:cNvSpPr>
          <p:nvPr>
            <p:ph type="title"/>
          </p:nvPr>
        </p:nvSpPr>
        <p:spPr/>
        <p:txBody>
          <a:bodyPr/>
          <a:lstStyle/>
          <a:p>
            <a:r>
              <a:rPr lang="en-US" dirty="0"/>
              <a:t>Internalized control flow</a:t>
            </a:r>
          </a:p>
        </p:txBody>
      </p:sp>
      <p:sp>
        <p:nvSpPr>
          <p:cNvPr id="21" name="Rectangle 20">
            <a:extLst>
              <a:ext uri="{FF2B5EF4-FFF2-40B4-BE49-F238E27FC236}">
                <a16:creationId xmlns:a16="http://schemas.microsoft.com/office/drawing/2014/main" id="{A388A8D6-29E9-5B4B-5D8B-E4BDBF679EA0}"/>
              </a:ext>
            </a:extLst>
          </p:cNvPr>
          <p:cNvSpPr/>
          <p:nvPr/>
        </p:nvSpPr>
        <p:spPr>
          <a:xfrm>
            <a:off x="3100498" y="3010605"/>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22" name="Rectangle 21">
            <a:extLst>
              <a:ext uri="{FF2B5EF4-FFF2-40B4-BE49-F238E27FC236}">
                <a16:creationId xmlns:a16="http://schemas.microsoft.com/office/drawing/2014/main" id="{7386AF41-BB44-53C4-FA75-4DB754FC6D90}"/>
              </a:ext>
            </a:extLst>
          </p:cNvPr>
          <p:cNvSpPr/>
          <p:nvPr/>
        </p:nvSpPr>
        <p:spPr>
          <a:xfrm>
            <a:off x="4130645" y="3010605"/>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24" name="TextBox 23">
            <a:extLst>
              <a:ext uri="{FF2B5EF4-FFF2-40B4-BE49-F238E27FC236}">
                <a16:creationId xmlns:a16="http://schemas.microsoft.com/office/drawing/2014/main" id="{953601AF-D14D-30CD-DEEB-E166961462F0}"/>
              </a:ext>
            </a:extLst>
          </p:cNvPr>
          <p:cNvSpPr txBox="1"/>
          <p:nvPr/>
        </p:nvSpPr>
        <p:spPr>
          <a:xfrm>
            <a:off x="8416704" y="3540609"/>
            <a:ext cx="1631350" cy="646331"/>
          </a:xfrm>
          <a:prstGeom prst="rect">
            <a:avLst/>
          </a:prstGeom>
          <a:noFill/>
        </p:spPr>
        <p:txBody>
          <a:bodyPr wrap="square" rtlCol="0">
            <a:spAutoFit/>
          </a:bodyPr>
          <a:lstStyle/>
          <a:p>
            <a:r>
              <a:rPr lang="en-US" dirty="0">
                <a:solidFill>
                  <a:srgbClr val="FF0000"/>
                </a:solidFill>
              </a:rPr>
              <a:t>Arbitrary control flow</a:t>
            </a:r>
          </a:p>
        </p:txBody>
      </p:sp>
      <p:sp>
        <p:nvSpPr>
          <p:cNvPr id="3" name="Action Button: Help 2">
            <a:hlinkClick r:id="" action="ppaction://noaction" highlightClick="1"/>
            <a:extLst>
              <a:ext uri="{FF2B5EF4-FFF2-40B4-BE49-F238E27FC236}">
                <a16:creationId xmlns:a16="http://schemas.microsoft.com/office/drawing/2014/main" id="{1E921230-FA53-67B0-26CA-1C29FD241CE4}"/>
              </a:ext>
            </a:extLst>
          </p:cNvPr>
          <p:cNvSpPr/>
          <p:nvPr/>
        </p:nvSpPr>
        <p:spPr>
          <a:xfrm>
            <a:off x="6096000" y="3704438"/>
            <a:ext cx="435429" cy="375384"/>
          </a:xfrm>
          <a:prstGeom prst="actionButtonHelp">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Bent Arrow 3">
            <a:extLst>
              <a:ext uri="{FF2B5EF4-FFF2-40B4-BE49-F238E27FC236}">
                <a16:creationId xmlns:a16="http://schemas.microsoft.com/office/drawing/2014/main" id="{E523EBF6-699D-F3A7-4FCF-9F15E929EAC2}"/>
              </a:ext>
            </a:extLst>
          </p:cNvPr>
          <p:cNvSpPr/>
          <p:nvPr/>
        </p:nvSpPr>
        <p:spPr>
          <a:xfrm rot="5400000">
            <a:off x="5773129" y="2950821"/>
            <a:ext cx="506724" cy="801076"/>
          </a:xfrm>
          <a:prstGeom prst="bentArrow">
            <a:avLst>
              <a:gd name="adj1" fmla="val 25000"/>
              <a:gd name="adj2" fmla="val 26786"/>
              <a:gd name="adj3" fmla="val 25000"/>
              <a:gd name="adj4"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5" name="Bent Arrow 4">
            <a:extLst>
              <a:ext uri="{FF2B5EF4-FFF2-40B4-BE49-F238E27FC236}">
                <a16:creationId xmlns:a16="http://schemas.microsoft.com/office/drawing/2014/main" id="{37F135E4-9F39-C81C-573A-0484C8EA3296}"/>
              </a:ext>
            </a:extLst>
          </p:cNvPr>
          <p:cNvSpPr/>
          <p:nvPr/>
        </p:nvSpPr>
        <p:spPr>
          <a:xfrm rot="5400000">
            <a:off x="6760777" y="3716599"/>
            <a:ext cx="506724" cy="801076"/>
          </a:xfrm>
          <a:prstGeom prst="bentArrow">
            <a:avLst>
              <a:gd name="adj1" fmla="val 25000"/>
              <a:gd name="adj2" fmla="val 26786"/>
              <a:gd name="adj3" fmla="val 25000"/>
              <a:gd name="adj4"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7" name="Rectangle 6">
            <a:extLst>
              <a:ext uri="{FF2B5EF4-FFF2-40B4-BE49-F238E27FC236}">
                <a16:creationId xmlns:a16="http://schemas.microsoft.com/office/drawing/2014/main" id="{B495711A-1C46-50B7-13F5-C03AC7FC089E}"/>
              </a:ext>
            </a:extLst>
          </p:cNvPr>
          <p:cNvSpPr/>
          <p:nvPr/>
        </p:nvSpPr>
        <p:spPr>
          <a:xfrm>
            <a:off x="6609143" y="4501439"/>
            <a:ext cx="15282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Re-prompt</a:t>
            </a:r>
          </a:p>
        </p:txBody>
      </p:sp>
      <p:sp>
        <p:nvSpPr>
          <p:cNvPr id="8" name="Bent Arrow 7">
            <a:extLst>
              <a:ext uri="{FF2B5EF4-FFF2-40B4-BE49-F238E27FC236}">
                <a16:creationId xmlns:a16="http://schemas.microsoft.com/office/drawing/2014/main" id="{5D60C085-CE6E-09FF-EB80-D9AE76F4DAD1}"/>
              </a:ext>
            </a:extLst>
          </p:cNvPr>
          <p:cNvSpPr/>
          <p:nvPr/>
        </p:nvSpPr>
        <p:spPr>
          <a:xfrm rot="16200000" flipH="1">
            <a:off x="5318047" y="3709609"/>
            <a:ext cx="520710" cy="801074"/>
          </a:xfrm>
          <a:prstGeom prst="bentArrow">
            <a:avLst>
              <a:gd name="adj1" fmla="val 25000"/>
              <a:gd name="adj2" fmla="val 26786"/>
              <a:gd name="adj3" fmla="val 25000"/>
              <a:gd name="adj4" fmla="val 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1" name="TextBox 10">
            <a:extLst>
              <a:ext uri="{FF2B5EF4-FFF2-40B4-BE49-F238E27FC236}">
                <a16:creationId xmlns:a16="http://schemas.microsoft.com/office/drawing/2014/main" id="{C1C15FE0-C0D5-B429-542A-375F2EAB65D8}"/>
              </a:ext>
            </a:extLst>
          </p:cNvPr>
          <p:cNvSpPr txBox="1"/>
          <p:nvPr/>
        </p:nvSpPr>
        <p:spPr>
          <a:xfrm>
            <a:off x="4824690" y="4420755"/>
            <a:ext cx="1032655" cy="369332"/>
          </a:xfrm>
          <a:prstGeom prst="rect">
            <a:avLst/>
          </a:prstGeom>
          <a:noFill/>
        </p:spPr>
        <p:txBody>
          <a:bodyPr wrap="none" rtlCol="0">
            <a:spAutoFit/>
          </a:bodyPr>
          <a:lstStyle/>
          <a:p>
            <a:r>
              <a:rPr lang="en-US" dirty="0"/>
              <a:t>Success</a:t>
            </a:r>
          </a:p>
        </p:txBody>
      </p:sp>
    </p:spTree>
    <p:extLst>
      <p:ext uri="{BB962C8B-B14F-4D97-AF65-F5344CB8AC3E}">
        <p14:creationId xmlns:p14="http://schemas.microsoft.com/office/powerpoint/2010/main" val="2823561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D9212-9E0A-8B00-9ED3-199DE528E3B5}"/>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A7BD03CE-2AFC-CA17-900E-EDA344CBE559}"/>
              </a:ext>
            </a:extLst>
          </p:cNvPr>
          <p:cNvSpPr/>
          <p:nvPr/>
        </p:nvSpPr>
        <p:spPr>
          <a:xfrm>
            <a:off x="3192905" y="2293495"/>
            <a:ext cx="5111646" cy="325286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52517A74-9A5D-89B1-76C1-0CA80C2051AB}"/>
              </a:ext>
            </a:extLst>
          </p:cNvPr>
          <p:cNvSpPr txBox="1"/>
          <p:nvPr/>
        </p:nvSpPr>
        <p:spPr>
          <a:xfrm>
            <a:off x="4618722" y="5012456"/>
            <a:ext cx="3722557" cy="369332"/>
          </a:xfrm>
          <a:prstGeom prst="rect">
            <a:avLst/>
          </a:prstGeom>
          <a:noFill/>
        </p:spPr>
        <p:txBody>
          <a:bodyPr wrap="square" rtlCol="0">
            <a:spAutoFit/>
          </a:bodyPr>
          <a:lstStyle/>
          <a:p>
            <a:r>
              <a:rPr lang="en-US" dirty="0">
                <a:solidFill>
                  <a:srgbClr val="FF0000"/>
                </a:solidFill>
              </a:rPr>
              <a:t>Orchestration logic written by main</a:t>
            </a:r>
          </a:p>
        </p:txBody>
      </p:sp>
      <p:sp>
        <p:nvSpPr>
          <p:cNvPr id="38" name="Title 1">
            <a:extLst>
              <a:ext uri="{FF2B5EF4-FFF2-40B4-BE49-F238E27FC236}">
                <a16:creationId xmlns:a16="http://schemas.microsoft.com/office/drawing/2014/main" id="{DA1C8498-A9F6-3B22-0CD1-2F6867D54243}"/>
              </a:ext>
            </a:extLst>
          </p:cNvPr>
          <p:cNvSpPr>
            <a:spLocks noGrp="1"/>
          </p:cNvSpPr>
          <p:nvPr>
            <p:ph type="title"/>
          </p:nvPr>
        </p:nvSpPr>
        <p:spPr>
          <a:xfrm>
            <a:off x="838200" y="365125"/>
            <a:ext cx="10515600" cy="1325563"/>
          </a:xfrm>
        </p:spPr>
        <p:txBody>
          <a:bodyPr/>
          <a:lstStyle/>
          <a:p>
            <a:r>
              <a:rPr lang="en-US" dirty="0"/>
              <a:t>Self-programmed control flow</a:t>
            </a:r>
          </a:p>
        </p:txBody>
      </p:sp>
      <p:sp>
        <p:nvSpPr>
          <p:cNvPr id="2" name="Rounded Rectangle 1">
            <a:extLst>
              <a:ext uri="{FF2B5EF4-FFF2-40B4-BE49-F238E27FC236}">
                <a16:creationId xmlns:a16="http://schemas.microsoft.com/office/drawing/2014/main" id="{F5FA75C8-F0BC-C050-0A2C-B2E4657185F0}"/>
              </a:ext>
            </a:extLst>
          </p:cNvPr>
          <p:cNvSpPr/>
          <p:nvPr/>
        </p:nvSpPr>
        <p:spPr>
          <a:xfrm>
            <a:off x="3632617" y="4204833"/>
            <a:ext cx="929390" cy="4497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C5B837F6-F64E-75C2-8987-97155E4BA674}"/>
              </a:ext>
            </a:extLst>
          </p:cNvPr>
          <p:cNvSpPr/>
          <p:nvPr/>
        </p:nvSpPr>
        <p:spPr>
          <a:xfrm>
            <a:off x="3632617" y="2655055"/>
            <a:ext cx="929390" cy="4497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FE531D8C-BE56-84E7-96B8-70A3422AE48C}"/>
              </a:ext>
            </a:extLst>
          </p:cNvPr>
          <p:cNvSpPr/>
          <p:nvPr/>
        </p:nvSpPr>
        <p:spPr>
          <a:xfrm>
            <a:off x="4834328" y="3362091"/>
            <a:ext cx="929390" cy="4497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6AC7F36C-95A7-6CD1-B4F7-2B2341E5FAED}"/>
              </a:ext>
            </a:extLst>
          </p:cNvPr>
          <p:cNvSpPr/>
          <p:nvPr/>
        </p:nvSpPr>
        <p:spPr>
          <a:xfrm>
            <a:off x="3632617" y="3362091"/>
            <a:ext cx="929390" cy="4497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D321CC4B-0E06-681F-2C93-4CAA59A74B45}"/>
              </a:ext>
            </a:extLst>
          </p:cNvPr>
          <p:cNvSpPr/>
          <p:nvPr/>
        </p:nvSpPr>
        <p:spPr>
          <a:xfrm>
            <a:off x="6071016" y="3362091"/>
            <a:ext cx="929390" cy="4497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D23ABCD7-3D71-A7C4-EC9E-D4CDCE613D88}"/>
              </a:ext>
            </a:extLst>
          </p:cNvPr>
          <p:cNvCxnSpPr>
            <a:stCxn id="4" idx="2"/>
            <a:endCxn id="7" idx="0"/>
          </p:cNvCxnSpPr>
          <p:nvPr/>
        </p:nvCxnSpPr>
        <p:spPr>
          <a:xfrm>
            <a:off x="4097312" y="3104760"/>
            <a:ext cx="0" cy="25733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2" name="Straight Arrow Connector 11">
            <a:extLst>
              <a:ext uri="{FF2B5EF4-FFF2-40B4-BE49-F238E27FC236}">
                <a16:creationId xmlns:a16="http://schemas.microsoft.com/office/drawing/2014/main" id="{7355BF22-ED8F-96C0-66B1-807706F903EA}"/>
              </a:ext>
            </a:extLst>
          </p:cNvPr>
          <p:cNvCxnSpPr>
            <a:cxnSpLocks/>
            <a:stCxn id="4" idx="2"/>
            <a:endCxn id="5" idx="0"/>
          </p:cNvCxnSpPr>
          <p:nvPr/>
        </p:nvCxnSpPr>
        <p:spPr>
          <a:xfrm>
            <a:off x="4097312" y="3104760"/>
            <a:ext cx="1201711" cy="25733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6" name="Straight Arrow Connector 15">
            <a:extLst>
              <a:ext uri="{FF2B5EF4-FFF2-40B4-BE49-F238E27FC236}">
                <a16:creationId xmlns:a16="http://schemas.microsoft.com/office/drawing/2014/main" id="{9A5E2A99-7ADC-BB13-4F55-B8166DD3A718}"/>
              </a:ext>
            </a:extLst>
          </p:cNvPr>
          <p:cNvCxnSpPr>
            <a:cxnSpLocks/>
            <a:endCxn id="8" idx="0"/>
          </p:cNvCxnSpPr>
          <p:nvPr/>
        </p:nvCxnSpPr>
        <p:spPr>
          <a:xfrm>
            <a:off x="4125592" y="3103686"/>
            <a:ext cx="2410119" cy="25840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9" name="Straight Arrow Connector 18">
            <a:extLst>
              <a:ext uri="{FF2B5EF4-FFF2-40B4-BE49-F238E27FC236}">
                <a16:creationId xmlns:a16="http://schemas.microsoft.com/office/drawing/2014/main" id="{BB29B8C0-CAB7-36B9-D3D4-E2B229CF4D75}"/>
              </a:ext>
            </a:extLst>
          </p:cNvPr>
          <p:cNvCxnSpPr>
            <a:cxnSpLocks/>
            <a:stCxn id="7" idx="2"/>
            <a:endCxn id="2" idx="0"/>
          </p:cNvCxnSpPr>
          <p:nvPr/>
        </p:nvCxnSpPr>
        <p:spPr>
          <a:xfrm>
            <a:off x="4097312" y="3811796"/>
            <a:ext cx="0" cy="39303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2" name="Straight Arrow Connector 21">
            <a:extLst>
              <a:ext uri="{FF2B5EF4-FFF2-40B4-BE49-F238E27FC236}">
                <a16:creationId xmlns:a16="http://schemas.microsoft.com/office/drawing/2014/main" id="{9850954F-7201-F9F6-EC16-9D8B24C17612}"/>
              </a:ext>
            </a:extLst>
          </p:cNvPr>
          <p:cNvCxnSpPr>
            <a:cxnSpLocks/>
            <a:stCxn id="5" idx="2"/>
          </p:cNvCxnSpPr>
          <p:nvPr/>
        </p:nvCxnSpPr>
        <p:spPr>
          <a:xfrm flipH="1">
            <a:off x="4118097" y="3811796"/>
            <a:ext cx="1180926" cy="39303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6" name="Straight Arrow Connector 25">
            <a:extLst>
              <a:ext uri="{FF2B5EF4-FFF2-40B4-BE49-F238E27FC236}">
                <a16:creationId xmlns:a16="http://schemas.microsoft.com/office/drawing/2014/main" id="{4104C8CC-B4E1-1F24-13C0-874FC9E66E46}"/>
              </a:ext>
            </a:extLst>
          </p:cNvPr>
          <p:cNvCxnSpPr>
            <a:cxnSpLocks/>
            <a:stCxn id="8" idx="2"/>
          </p:cNvCxnSpPr>
          <p:nvPr/>
        </p:nvCxnSpPr>
        <p:spPr>
          <a:xfrm flipH="1">
            <a:off x="4146377" y="3811796"/>
            <a:ext cx="2389334" cy="38509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8" name="TextBox 27">
            <a:extLst>
              <a:ext uri="{FF2B5EF4-FFF2-40B4-BE49-F238E27FC236}">
                <a16:creationId xmlns:a16="http://schemas.microsoft.com/office/drawing/2014/main" id="{8317B335-4DF4-130B-0520-AF1F60A4F7B9}"/>
              </a:ext>
            </a:extLst>
          </p:cNvPr>
          <p:cNvSpPr txBox="1"/>
          <p:nvPr/>
        </p:nvSpPr>
        <p:spPr>
          <a:xfrm>
            <a:off x="3685751" y="2694168"/>
            <a:ext cx="829843" cy="369332"/>
          </a:xfrm>
          <a:prstGeom prst="rect">
            <a:avLst/>
          </a:prstGeom>
          <a:noFill/>
        </p:spPr>
        <p:txBody>
          <a:bodyPr wrap="none" rtlCol="0">
            <a:spAutoFit/>
          </a:bodyPr>
          <a:lstStyle/>
          <a:p>
            <a:r>
              <a:rPr lang="en-US" dirty="0"/>
              <a:t>Todo 1</a:t>
            </a:r>
          </a:p>
        </p:txBody>
      </p:sp>
      <p:sp>
        <p:nvSpPr>
          <p:cNvPr id="29" name="TextBox 28">
            <a:extLst>
              <a:ext uri="{FF2B5EF4-FFF2-40B4-BE49-F238E27FC236}">
                <a16:creationId xmlns:a16="http://schemas.microsoft.com/office/drawing/2014/main" id="{42D35415-661D-53A4-EB3A-C87E3330639A}"/>
              </a:ext>
            </a:extLst>
          </p:cNvPr>
          <p:cNvSpPr txBox="1"/>
          <p:nvPr/>
        </p:nvSpPr>
        <p:spPr>
          <a:xfrm>
            <a:off x="3685751" y="3402277"/>
            <a:ext cx="829843" cy="369332"/>
          </a:xfrm>
          <a:prstGeom prst="rect">
            <a:avLst/>
          </a:prstGeom>
          <a:noFill/>
        </p:spPr>
        <p:txBody>
          <a:bodyPr wrap="none" rtlCol="0">
            <a:spAutoFit/>
          </a:bodyPr>
          <a:lstStyle/>
          <a:p>
            <a:r>
              <a:rPr lang="en-US" dirty="0"/>
              <a:t>Todo 2</a:t>
            </a:r>
          </a:p>
        </p:txBody>
      </p:sp>
      <p:sp>
        <p:nvSpPr>
          <p:cNvPr id="30" name="TextBox 29">
            <a:extLst>
              <a:ext uri="{FF2B5EF4-FFF2-40B4-BE49-F238E27FC236}">
                <a16:creationId xmlns:a16="http://schemas.microsoft.com/office/drawing/2014/main" id="{8EEBEFEC-6BF4-FFDE-7EC2-6016B88F5387}"/>
              </a:ext>
            </a:extLst>
          </p:cNvPr>
          <p:cNvSpPr txBox="1"/>
          <p:nvPr/>
        </p:nvSpPr>
        <p:spPr>
          <a:xfrm>
            <a:off x="4869305" y="3434756"/>
            <a:ext cx="829843" cy="369332"/>
          </a:xfrm>
          <a:prstGeom prst="rect">
            <a:avLst/>
          </a:prstGeom>
          <a:noFill/>
        </p:spPr>
        <p:txBody>
          <a:bodyPr wrap="none" rtlCol="0">
            <a:spAutoFit/>
          </a:bodyPr>
          <a:lstStyle/>
          <a:p>
            <a:r>
              <a:rPr lang="en-US" dirty="0"/>
              <a:t>Todo 3</a:t>
            </a:r>
          </a:p>
        </p:txBody>
      </p:sp>
      <p:sp>
        <p:nvSpPr>
          <p:cNvPr id="31" name="TextBox 30">
            <a:extLst>
              <a:ext uri="{FF2B5EF4-FFF2-40B4-BE49-F238E27FC236}">
                <a16:creationId xmlns:a16="http://schemas.microsoft.com/office/drawing/2014/main" id="{50D6A7A7-4EAF-5167-2297-469614A37BDD}"/>
              </a:ext>
            </a:extLst>
          </p:cNvPr>
          <p:cNvSpPr txBox="1"/>
          <p:nvPr/>
        </p:nvSpPr>
        <p:spPr>
          <a:xfrm>
            <a:off x="6159515" y="3434756"/>
            <a:ext cx="829843" cy="369332"/>
          </a:xfrm>
          <a:prstGeom prst="rect">
            <a:avLst/>
          </a:prstGeom>
          <a:noFill/>
        </p:spPr>
        <p:txBody>
          <a:bodyPr wrap="none" rtlCol="0">
            <a:spAutoFit/>
          </a:bodyPr>
          <a:lstStyle/>
          <a:p>
            <a:r>
              <a:rPr lang="en-US" dirty="0"/>
              <a:t>Todo 4</a:t>
            </a:r>
          </a:p>
        </p:txBody>
      </p:sp>
      <p:sp>
        <p:nvSpPr>
          <p:cNvPr id="32" name="TextBox 31">
            <a:extLst>
              <a:ext uri="{FF2B5EF4-FFF2-40B4-BE49-F238E27FC236}">
                <a16:creationId xmlns:a16="http://schemas.microsoft.com/office/drawing/2014/main" id="{7A67BD63-4675-270B-5036-1EF9014C7FC9}"/>
              </a:ext>
            </a:extLst>
          </p:cNvPr>
          <p:cNvSpPr txBox="1"/>
          <p:nvPr/>
        </p:nvSpPr>
        <p:spPr>
          <a:xfrm>
            <a:off x="3586947" y="4245019"/>
            <a:ext cx="1020729" cy="369332"/>
          </a:xfrm>
          <a:prstGeom prst="rect">
            <a:avLst/>
          </a:prstGeom>
          <a:noFill/>
        </p:spPr>
        <p:txBody>
          <a:bodyPr wrap="none" rtlCol="0">
            <a:spAutoFit/>
          </a:bodyPr>
          <a:lstStyle/>
          <a:p>
            <a:r>
              <a:rPr lang="en-US" dirty="0"/>
              <a:t>Checker</a:t>
            </a:r>
          </a:p>
        </p:txBody>
      </p:sp>
      <p:cxnSp>
        <p:nvCxnSpPr>
          <p:cNvPr id="33" name="Straight Arrow Connector 32">
            <a:extLst>
              <a:ext uri="{FF2B5EF4-FFF2-40B4-BE49-F238E27FC236}">
                <a16:creationId xmlns:a16="http://schemas.microsoft.com/office/drawing/2014/main" id="{04151758-A42A-68A4-E8FA-6B1CD846000C}"/>
              </a:ext>
            </a:extLst>
          </p:cNvPr>
          <p:cNvCxnSpPr>
            <a:cxnSpLocks/>
            <a:stCxn id="32" idx="1"/>
            <a:endCxn id="6" idx="3"/>
          </p:cNvCxnSpPr>
          <p:nvPr/>
        </p:nvCxnSpPr>
        <p:spPr>
          <a:xfrm flipH="1">
            <a:off x="2714070" y="4429685"/>
            <a:ext cx="872877"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39" name="Rounded Rectangle 38">
            <a:extLst>
              <a:ext uri="{FF2B5EF4-FFF2-40B4-BE49-F238E27FC236}">
                <a16:creationId xmlns:a16="http://schemas.microsoft.com/office/drawing/2014/main" id="{90E6790B-4986-8E1E-B46F-7E70B713A8C4}"/>
              </a:ext>
            </a:extLst>
          </p:cNvPr>
          <p:cNvSpPr/>
          <p:nvPr/>
        </p:nvSpPr>
        <p:spPr>
          <a:xfrm>
            <a:off x="1797171" y="2666604"/>
            <a:ext cx="929390" cy="4497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F17BEE2B-C13D-8D35-6AD2-5DB90CC31586}"/>
              </a:ext>
            </a:extLst>
          </p:cNvPr>
          <p:cNvSpPr txBox="1"/>
          <p:nvPr/>
        </p:nvSpPr>
        <p:spPr>
          <a:xfrm>
            <a:off x="1956217" y="2734354"/>
            <a:ext cx="671979" cy="369332"/>
          </a:xfrm>
          <a:prstGeom prst="rect">
            <a:avLst/>
          </a:prstGeom>
          <a:noFill/>
        </p:spPr>
        <p:txBody>
          <a:bodyPr wrap="none" rtlCol="0">
            <a:spAutoFit/>
          </a:bodyPr>
          <a:lstStyle/>
          <a:p>
            <a:r>
              <a:rPr lang="en-US" dirty="0"/>
              <a:t>Main</a:t>
            </a:r>
          </a:p>
        </p:txBody>
      </p:sp>
      <p:cxnSp>
        <p:nvCxnSpPr>
          <p:cNvPr id="43" name="Straight Arrow Connector 42">
            <a:extLst>
              <a:ext uri="{FF2B5EF4-FFF2-40B4-BE49-F238E27FC236}">
                <a16:creationId xmlns:a16="http://schemas.microsoft.com/office/drawing/2014/main" id="{8905CB56-58C6-8FEF-C4EF-83AC594A3415}"/>
              </a:ext>
            </a:extLst>
          </p:cNvPr>
          <p:cNvCxnSpPr>
            <a:cxnSpLocks/>
          </p:cNvCxnSpPr>
          <p:nvPr/>
        </p:nvCxnSpPr>
        <p:spPr>
          <a:xfrm>
            <a:off x="2807487" y="2924458"/>
            <a:ext cx="768570"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6" name="Rounded Rectangle 5">
            <a:extLst>
              <a:ext uri="{FF2B5EF4-FFF2-40B4-BE49-F238E27FC236}">
                <a16:creationId xmlns:a16="http://schemas.microsoft.com/office/drawing/2014/main" id="{C91D15F6-2833-D903-A85D-2C45597B12B0}"/>
              </a:ext>
            </a:extLst>
          </p:cNvPr>
          <p:cNvSpPr/>
          <p:nvPr/>
        </p:nvSpPr>
        <p:spPr>
          <a:xfrm>
            <a:off x="1784680" y="4084948"/>
            <a:ext cx="929390" cy="68947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A1236A3-EF42-4622-0373-7042A52B266B}"/>
              </a:ext>
            </a:extLst>
          </p:cNvPr>
          <p:cNvSpPr txBox="1"/>
          <p:nvPr/>
        </p:nvSpPr>
        <p:spPr>
          <a:xfrm>
            <a:off x="1878201" y="4102952"/>
            <a:ext cx="767331" cy="646331"/>
          </a:xfrm>
          <a:prstGeom prst="rect">
            <a:avLst/>
          </a:prstGeom>
          <a:noFill/>
        </p:spPr>
        <p:txBody>
          <a:bodyPr wrap="square" rtlCol="0">
            <a:spAutoFit/>
          </a:bodyPr>
          <a:lstStyle/>
          <a:p>
            <a:r>
              <a:rPr lang="en-US" dirty="0"/>
              <a:t>Main turn 2</a:t>
            </a:r>
          </a:p>
        </p:txBody>
      </p:sp>
      <p:cxnSp>
        <p:nvCxnSpPr>
          <p:cNvPr id="18" name="Straight Arrow Connector 17">
            <a:extLst>
              <a:ext uri="{FF2B5EF4-FFF2-40B4-BE49-F238E27FC236}">
                <a16:creationId xmlns:a16="http://schemas.microsoft.com/office/drawing/2014/main" id="{2DD5959F-2459-DF29-97DA-8F711C28D081}"/>
              </a:ext>
            </a:extLst>
          </p:cNvPr>
          <p:cNvCxnSpPr>
            <a:cxnSpLocks/>
            <a:stCxn id="39" idx="2"/>
            <a:endCxn id="6" idx="0"/>
          </p:cNvCxnSpPr>
          <p:nvPr/>
        </p:nvCxnSpPr>
        <p:spPr>
          <a:xfrm flipH="1">
            <a:off x="2249375" y="3116309"/>
            <a:ext cx="12491" cy="96863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4942641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0413E-5F9E-1781-273E-2E1AC1973BF3}"/>
              </a:ext>
            </a:extLst>
          </p:cNvPr>
          <p:cNvSpPr>
            <a:spLocks noGrp="1"/>
          </p:cNvSpPr>
          <p:nvPr>
            <p:ph type="title"/>
          </p:nvPr>
        </p:nvSpPr>
        <p:spPr/>
        <p:txBody>
          <a:bodyPr/>
          <a:lstStyle/>
          <a:p>
            <a:r>
              <a:rPr lang="en-US" dirty="0"/>
              <a:t>Related: context folding / subagent recursion</a:t>
            </a:r>
          </a:p>
        </p:txBody>
      </p:sp>
      <p:sp>
        <p:nvSpPr>
          <p:cNvPr id="3" name="Content Placeholder 2">
            <a:extLst>
              <a:ext uri="{FF2B5EF4-FFF2-40B4-BE49-F238E27FC236}">
                <a16:creationId xmlns:a16="http://schemas.microsoft.com/office/drawing/2014/main" id="{D3B0D178-1463-CE0F-495E-34FAAF9CB4BC}"/>
              </a:ext>
            </a:extLst>
          </p:cNvPr>
          <p:cNvSpPr>
            <a:spLocks noGrp="1"/>
          </p:cNvSpPr>
          <p:nvPr>
            <p:ph idx="1"/>
          </p:nvPr>
        </p:nvSpPr>
        <p:spPr/>
        <p:txBody>
          <a:bodyPr/>
          <a:lstStyle/>
          <a:p>
            <a:r>
              <a:rPr lang="en-US" dirty="0" err="1"/>
              <a:t>FoldGRPO</a:t>
            </a:r>
            <a:r>
              <a:rPr lang="en-US" dirty="0"/>
              <a:t> W. Sun et al. 2025 </a:t>
            </a:r>
            <a:r>
              <a:rPr lang="en-US" dirty="0" err="1"/>
              <a:t>arXiv</a:t>
            </a:r>
            <a:endParaRPr lang="en-US" dirty="0"/>
          </a:p>
        </p:txBody>
      </p:sp>
      <p:pic>
        <p:nvPicPr>
          <p:cNvPr id="6" name="Picture 5">
            <a:extLst>
              <a:ext uri="{FF2B5EF4-FFF2-40B4-BE49-F238E27FC236}">
                <a16:creationId xmlns:a16="http://schemas.microsoft.com/office/drawing/2014/main" id="{220CF94C-5C7D-71AF-9EEA-4761435B3936}"/>
              </a:ext>
            </a:extLst>
          </p:cNvPr>
          <p:cNvPicPr>
            <a:picLocks noChangeAspect="1"/>
          </p:cNvPicPr>
          <p:nvPr/>
        </p:nvPicPr>
        <p:blipFill>
          <a:blip r:embed="rId2"/>
          <a:stretch>
            <a:fillRect/>
          </a:stretch>
        </p:blipFill>
        <p:spPr>
          <a:xfrm>
            <a:off x="7137474" y="1690688"/>
            <a:ext cx="4001678" cy="4351339"/>
          </a:xfrm>
          <a:prstGeom prst="rect">
            <a:avLst/>
          </a:prstGeom>
        </p:spPr>
      </p:pic>
    </p:spTree>
    <p:extLst>
      <p:ext uri="{BB962C8B-B14F-4D97-AF65-F5344CB8AC3E}">
        <p14:creationId xmlns:p14="http://schemas.microsoft.com/office/powerpoint/2010/main" val="4728262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73558-348B-1425-4CEC-97C8731CC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18652-6BFA-F14D-ADF3-E12E65AB0667}"/>
              </a:ext>
            </a:extLst>
          </p:cNvPr>
          <p:cNvSpPr>
            <a:spLocks noGrp="1"/>
          </p:cNvSpPr>
          <p:nvPr>
            <p:ph type="title"/>
          </p:nvPr>
        </p:nvSpPr>
        <p:spPr/>
        <p:txBody>
          <a:bodyPr/>
          <a:lstStyle/>
          <a:p>
            <a:r>
              <a:rPr lang="en-US" dirty="0"/>
              <a:t>Related: context folding / subagent recursion</a:t>
            </a:r>
          </a:p>
        </p:txBody>
      </p:sp>
      <p:sp>
        <p:nvSpPr>
          <p:cNvPr id="3" name="Content Placeholder 2">
            <a:extLst>
              <a:ext uri="{FF2B5EF4-FFF2-40B4-BE49-F238E27FC236}">
                <a16:creationId xmlns:a16="http://schemas.microsoft.com/office/drawing/2014/main" id="{90ECB2CB-39E3-5F9A-78E1-179E2713B426}"/>
              </a:ext>
            </a:extLst>
          </p:cNvPr>
          <p:cNvSpPr>
            <a:spLocks noGrp="1"/>
          </p:cNvSpPr>
          <p:nvPr>
            <p:ph idx="1"/>
          </p:nvPr>
        </p:nvSpPr>
        <p:spPr/>
        <p:txBody>
          <a:bodyPr/>
          <a:lstStyle/>
          <a:p>
            <a:r>
              <a:rPr lang="en-US" dirty="0" err="1"/>
              <a:t>FoldGRPO</a:t>
            </a:r>
            <a:r>
              <a:rPr lang="en-US" dirty="0"/>
              <a:t> W. Sun et al. 2025 </a:t>
            </a:r>
            <a:r>
              <a:rPr lang="en-US" dirty="0" err="1"/>
              <a:t>arXiv</a:t>
            </a:r>
            <a:endParaRPr lang="en-US" dirty="0"/>
          </a:p>
          <a:p>
            <a:r>
              <a:rPr lang="en-US" dirty="0" err="1"/>
              <a:t>AgentFold</a:t>
            </a:r>
            <a:r>
              <a:rPr lang="en-US" dirty="0"/>
              <a:t> R. Ye et al. 2025 </a:t>
            </a:r>
            <a:r>
              <a:rPr lang="en-US" dirty="0" err="1"/>
              <a:t>arXiv</a:t>
            </a:r>
            <a:endParaRPr lang="en-US" dirty="0"/>
          </a:p>
          <a:p>
            <a:endParaRPr lang="en-US" dirty="0"/>
          </a:p>
        </p:txBody>
      </p:sp>
      <p:pic>
        <p:nvPicPr>
          <p:cNvPr id="4" name="Picture 3">
            <a:extLst>
              <a:ext uri="{FF2B5EF4-FFF2-40B4-BE49-F238E27FC236}">
                <a16:creationId xmlns:a16="http://schemas.microsoft.com/office/drawing/2014/main" id="{41996A37-4DDC-D512-11DD-BFCD7E3F4858}"/>
              </a:ext>
            </a:extLst>
          </p:cNvPr>
          <p:cNvPicPr>
            <a:picLocks noChangeAspect="1"/>
          </p:cNvPicPr>
          <p:nvPr/>
        </p:nvPicPr>
        <p:blipFill>
          <a:blip r:embed="rId2"/>
          <a:stretch>
            <a:fillRect/>
          </a:stretch>
        </p:blipFill>
        <p:spPr>
          <a:xfrm>
            <a:off x="2665036" y="3772648"/>
            <a:ext cx="6861928" cy="1682443"/>
          </a:xfrm>
          <a:prstGeom prst="rect">
            <a:avLst/>
          </a:prstGeom>
        </p:spPr>
      </p:pic>
    </p:spTree>
    <p:extLst>
      <p:ext uri="{BB962C8B-B14F-4D97-AF65-F5344CB8AC3E}">
        <p14:creationId xmlns:p14="http://schemas.microsoft.com/office/powerpoint/2010/main" val="3415293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4583B-B44B-C08D-10E0-CCC43DF0A8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B58269-0C1E-F9BE-0D77-C6D47548AC7A}"/>
              </a:ext>
            </a:extLst>
          </p:cNvPr>
          <p:cNvSpPr>
            <a:spLocks noGrp="1"/>
          </p:cNvSpPr>
          <p:nvPr>
            <p:ph type="title"/>
          </p:nvPr>
        </p:nvSpPr>
        <p:spPr/>
        <p:txBody>
          <a:bodyPr/>
          <a:lstStyle/>
          <a:p>
            <a:r>
              <a:rPr lang="en-US" dirty="0"/>
              <a:t>Related: context folding / subagent recursion</a:t>
            </a:r>
          </a:p>
        </p:txBody>
      </p:sp>
      <p:sp>
        <p:nvSpPr>
          <p:cNvPr id="3" name="Content Placeholder 2">
            <a:extLst>
              <a:ext uri="{FF2B5EF4-FFF2-40B4-BE49-F238E27FC236}">
                <a16:creationId xmlns:a16="http://schemas.microsoft.com/office/drawing/2014/main" id="{5C0F3E67-C642-AF97-E281-C8D51A04A064}"/>
              </a:ext>
            </a:extLst>
          </p:cNvPr>
          <p:cNvSpPr>
            <a:spLocks noGrp="1"/>
          </p:cNvSpPr>
          <p:nvPr>
            <p:ph idx="1"/>
          </p:nvPr>
        </p:nvSpPr>
        <p:spPr/>
        <p:txBody>
          <a:bodyPr/>
          <a:lstStyle/>
          <a:p>
            <a:r>
              <a:rPr lang="en-US" dirty="0" err="1"/>
              <a:t>FoldGRPO</a:t>
            </a:r>
            <a:r>
              <a:rPr lang="en-US" dirty="0"/>
              <a:t> W. Sun et al. 2025 </a:t>
            </a:r>
            <a:r>
              <a:rPr lang="en-US" dirty="0" err="1"/>
              <a:t>arXiv</a:t>
            </a:r>
            <a:endParaRPr lang="en-US" dirty="0"/>
          </a:p>
          <a:p>
            <a:r>
              <a:rPr lang="en-US" dirty="0" err="1"/>
              <a:t>AgentFold</a:t>
            </a:r>
            <a:r>
              <a:rPr lang="en-US" dirty="0"/>
              <a:t> R. Ye et al. 2025 </a:t>
            </a:r>
            <a:r>
              <a:rPr lang="en-US" dirty="0" err="1"/>
              <a:t>arXiv</a:t>
            </a:r>
            <a:endParaRPr lang="en-US" dirty="0"/>
          </a:p>
          <a:p>
            <a:r>
              <a:rPr lang="en-US" dirty="0"/>
              <a:t>THREAD Schroeder et al. 2025 </a:t>
            </a:r>
            <a:r>
              <a:rPr lang="en-US" dirty="0" err="1"/>
              <a:t>arXiv</a:t>
            </a:r>
            <a:endParaRPr lang="en-US" dirty="0"/>
          </a:p>
          <a:p>
            <a:endParaRPr lang="en-US" dirty="0"/>
          </a:p>
          <a:p>
            <a:endParaRPr lang="en-US" dirty="0"/>
          </a:p>
        </p:txBody>
      </p:sp>
      <p:pic>
        <p:nvPicPr>
          <p:cNvPr id="5" name="Picture 4">
            <a:extLst>
              <a:ext uri="{FF2B5EF4-FFF2-40B4-BE49-F238E27FC236}">
                <a16:creationId xmlns:a16="http://schemas.microsoft.com/office/drawing/2014/main" id="{A70919B3-9F15-5DF0-5D0B-2F30A51962D9}"/>
              </a:ext>
            </a:extLst>
          </p:cNvPr>
          <p:cNvPicPr>
            <a:picLocks noChangeAspect="1"/>
          </p:cNvPicPr>
          <p:nvPr/>
        </p:nvPicPr>
        <p:blipFill>
          <a:blip r:embed="rId2"/>
          <a:stretch>
            <a:fillRect/>
          </a:stretch>
        </p:blipFill>
        <p:spPr>
          <a:xfrm>
            <a:off x="2667627" y="3756196"/>
            <a:ext cx="6466161" cy="2096845"/>
          </a:xfrm>
          <a:prstGeom prst="rect">
            <a:avLst/>
          </a:prstGeom>
        </p:spPr>
      </p:pic>
    </p:spTree>
    <p:extLst>
      <p:ext uri="{BB962C8B-B14F-4D97-AF65-F5344CB8AC3E}">
        <p14:creationId xmlns:p14="http://schemas.microsoft.com/office/powerpoint/2010/main" val="16508514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0E1A9-F13D-7587-82D5-B4158F837E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93CB8-8DE2-EFDB-5F47-87FE333B6A59}"/>
              </a:ext>
            </a:extLst>
          </p:cNvPr>
          <p:cNvSpPr>
            <a:spLocks noGrp="1"/>
          </p:cNvSpPr>
          <p:nvPr>
            <p:ph type="title"/>
          </p:nvPr>
        </p:nvSpPr>
        <p:spPr/>
        <p:txBody>
          <a:bodyPr/>
          <a:lstStyle/>
          <a:p>
            <a:r>
              <a:rPr lang="en-US" dirty="0"/>
              <a:t>Related: context folding / subagent recursion</a:t>
            </a:r>
          </a:p>
        </p:txBody>
      </p:sp>
      <p:sp>
        <p:nvSpPr>
          <p:cNvPr id="3" name="Content Placeholder 2">
            <a:extLst>
              <a:ext uri="{FF2B5EF4-FFF2-40B4-BE49-F238E27FC236}">
                <a16:creationId xmlns:a16="http://schemas.microsoft.com/office/drawing/2014/main" id="{8B6D2E77-B6BE-9DBD-E0C4-D3AB017882FB}"/>
              </a:ext>
            </a:extLst>
          </p:cNvPr>
          <p:cNvSpPr>
            <a:spLocks noGrp="1"/>
          </p:cNvSpPr>
          <p:nvPr>
            <p:ph idx="1"/>
          </p:nvPr>
        </p:nvSpPr>
        <p:spPr/>
        <p:txBody>
          <a:bodyPr/>
          <a:lstStyle/>
          <a:p>
            <a:r>
              <a:rPr lang="en-US" dirty="0" err="1"/>
              <a:t>FoldGRPO</a:t>
            </a:r>
            <a:r>
              <a:rPr lang="en-US" dirty="0"/>
              <a:t> W. Sun et al. 2025 </a:t>
            </a:r>
            <a:r>
              <a:rPr lang="en-US" dirty="0" err="1"/>
              <a:t>arXiv</a:t>
            </a:r>
            <a:endParaRPr lang="en-US" dirty="0"/>
          </a:p>
          <a:p>
            <a:r>
              <a:rPr lang="en-US" dirty="0" err="1"/>
              <a:t>AgentFold</a:t>
            </a:r>
            <a:r>
              <a:rPr lang="en-US" dirty="0"/>
              <a:t> R. Ye et al. 2025 </a:t>
            </a:r>
            <a:r>
              <a:rPr lang="en-US" dirty="0" err="1"/>
              <a:t>arXiv</a:t>
            </a:r>
            <a:endParaRPr lang="en-US" dirty="0"/>
          </a:p>
          <a:p>
            <a:r>
              <a:rPr lang="en-US" dirty="0"/>
              <a:t>THREAD Schroeder et al. 2025 </a:t>
            </a:r>
            <a:r>
              <a:rPr lang="en-US" dirty="0" err="1"/>
              <a:t>arXiv</a:t>
            </a:r>
            <a:endParaRPr lang="en-US" dirty="0"/>
          </a:p>
          <a:p>
            <a:r>
              <a:rPr lang="en-US" dirty="0"/>
              <a:t>RLMs A. Zhang et al. 2026 </a:t>
            </a:r>
            <a:r>
              <a:rPr lang="en-US" dirty="0" err="1"/>
              <a:t>arXiv</a:t>
            </a:r>
            <a:endParaRPr lang="en-US" dirty="0"/>
          </a:p>
          <a:p>
            <a:endParaRPr lang="en-US" dirty="0"/>
          </a:p>
          <a:p>
            <a:endParaRPr lang="en-US" dirty="0"/>
          </a:p>
          <a:p>
            <a:endParaRPr lang="en-US" dirty="0"/>
          </a:p>
        </p:txBody>
      </p:sp>
      <p:pic>
        <p:nvPicPr>
          <p:cNvPr id="6" name="Picture 5">
            <a:extLst>
              <a:ext uri="{FF2B5EF4-FFF2-40B4-BE49-F238E27FC236}">
                <a16:creationId xmlns:a16="http://schemas.microsoft.com/office/drawing/2014/main" id="{0F98A9D1-F512-0EFA-89D6-2B2CE741077C}"/>
              </a:ext>
            </a:extLst>
          </p:cNvPr>
          <p:cNvPicPr>
            <a:picLocks noChangeAspect="1"/>
          </p:cNvPicPr>
          <p:nvPr/>
        </p:nvPicPr>
        <p:blipFill>
          <a:blip r:embed="rId2"/>
          <a:stretch>
            <a:fillRect/>
          </a:stretch>
        </p:blipFill>
        <p:spPr>
          <a:xfrm>
            <a:off x="6718169" y="2299494"/>
            <a:ext cx="5029200" cy="3403600"/>
          </a:xfrm>
          <a:prstGeom prst="rect">
            <a:avLst/>
          </a:prstGeom>
        </p:spPr>
      </p:pic>
      <p:sp>
        <p:nvSpPr>
          <p:cNvPr id="7" name="Rectangle 6">
            <a:extLst>
              <a:ext uri="{FF2B5EF4-FFF2-40B4-BE49-F238E27FC236}">
                <a16:creationId xmlns:a16="http://schemas.microsoft.com/office/drawing/2014/main" id="{7B501652-8EEE-DE1D-235E-05EA602DDE52}"/>
              </a:ext>
            </a:extLst>
          </p:cNvPr>
          <p:cNvSpPr/>
          <p:nvPr/>
        </p:nvSpPr>
        <p:spPr>
          <a:xfrm>
            <a:off x="6627043" y="4392891"/>
            <a:ext cx="5250730" cy="348791"/>
          </a:xfrm>
          <a:prstGeom prst="rec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030A0"/>
              </a:solidFill>
            </a:endParaRPr>
          </a:p>
        </p:txBody>
      </p:sp>
      <p:sp>
        <p:nvSpPr>
          <p:cNvPr id="8" name="TextBox 7">
            <a:extLst>
              <a:ext uri="{FF2B5EF4-FFF2-40B4-BE49-F238E27FC236}">
                <a16:creationId xmlns:a16="http://schemas.microsoft.com/office/drawing/2014/main" id="{03030827-D66D-36A9-A1B4-A6A9064F25A7}"/>
              </a:ext>
            </a:extLst>
          </p:cNvPr>
          <p:cNvSpPr txBox="1"/>
          <p:nvPr/>
        </p:nvSpPr>
        <p:spPr>
          <a:xfrm>
            <a:off x="3525626" y="4372350"/>
            <a:ext cx="3192544" cy="369332"/>
          </a:xfrm>
          <a:prstGeom prst="rect">
            <a:avLst/>
          </a:prstGeom>
          <a:noFill/>
        </p:spPr>
        <p:txBody>
          <a:bodyPr wrap="square" rtlCol="0">
            <a:spAutoFit/>
          </a:bodyPr>
          <a:lstStyle/>
          <a:p>
            <a:r>
              <a:rPr lang="en-US" dirty="0">
                <a:solidFill>
                  <a:srgbClr val="7030A0"/>
                </a:solidFill>
              </a:rPr>
              <a:t>Delegation via code execution</a:t>
            </a:r>
          </a:p>
        </p:txBody>
      </p:sp>
    </p:spTree>
    <p:extLst>
      <p:ext uri="{BB962C8B-B14F-4D97-AF65-F5344CB8AC3E}">
        <p14:creationId xmlns:p14="http://schemas.microsoft.com/office/powerpoint/2010/main" val="7819923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820FF-FBF4-9CA8-9F1D-480E07B109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C225-08F9-ECF8-AEBA-A2DFC3108B48}"/>
              </a:ext>
            </a:extLst>
          </p:cNvPr>
          <p:cNvSpPr>
            <a:spLocks noGrp="1"/>
          </p:cNvSpPr>
          <p:nvPr>
            <p:ph type="title"/>
          </p:nvPr>
        </p:nvSpPr>
        <p:spPr/>
        <p:txBody>
          <a:bodyPr/>
          <a:lstStyle/>
          <a:p>
            <a:r>
              <a:rPr lang="en-US" dirty="0"/>
              <a:t>Related: context folding / subagent recursion</a:t>
            </a:r>
          </a:p>
        </p:txBody>
      </p:sp>
      <p:sp>
        <p:nvSpPr>
          <p:cNvPr id="3" name="Content Placeholder 2">
            <a:extLst>
              <a:ext uri="{FF2B5EF4-FFF2-40B4-BE49-F238E27FC236}">
                <a16:creationId xmlns:a16="http://schemas.microsoft.com/office/drawing/2014/main" id="{81C4603C-1F4D-63F1-7C41-6E045541B4F7}"/>
              </a:ext>
            </a:extLst>
          </p:cNvPr>
          <p:cNvSpPr>
            <a:spLocks noGrp="1"/>
          </p:cNvSpPr>
          <p:nvPr>
            <p:ph idx="1"/>
          </p:nvPr>
        </p:nvSpPr>
        <p:spPr/>
        <p:txBody>
          <a:bodyPr/>
          <a:lstStyle/>
          <a:p>
            <a:r>
              <a:rPr lang="en-US" dirty="0" err="1"/>
              <a:t>FoldGRPO</a:t>
            </a:r>
            <a:r>
              <a:rPr lang="en-US" dirty="0"/>
              <a:t> W. Sun et al. 2025 </a:t>
            </a:r>
            <a:r>
              <a:rPr lang="en-US" dirty="0" err="1"/>
              <a:t>arXiv</a:t>
            </a:r>
            <a:endParaRPr lang="en-US" dirty="0"/>
          </a:p>
          <a:p>
            <a:r>
              <a:rPr lang="en-US" dirty="0" err="1"/>
              <a:t>AgentFold</a:t>
            </a:r>
            <a:r>
              <a:rPr lang="en-US" dirty="0"/>
              <a:t> R. Ye et al. 2025 </a:t>
            </a:r>
            <a:r>
              <a:rPr lang="en-US" dirty="0" err="1"/>
              <a:t>arXiv</a:t>
            </a:r>
            <a:endParaRPr lang="en-US" dirty="0"/>
          </a:p>
          <a:p>
            <a:r>
              <a:rPr lang="en-US" dirty="0"/>
              <a:t>THREAD Schroeder et al. 2025 </a:t>
            </a:r>
            <a:r>
              <a:rPr lang="en-US" dirty="0" err="1"/>
              <a:t>arXiv</a:t>
            </a:r>
            <a:endParaRPr lang="en-US" dirty="0"/>
          </a:p>
          <a:p>
            <a:r>
              <a:rPr lang="en-US" dirty="0"/>
              <a:t>RLMs A. Zhang et al. 2026 </a:t>
            </a:r>
            <a:r>
              <a:rPr lang="en-US" dirty="0" err="1"/>
              <a:t>arXiv</a:t>
            </a:r>
            <a:endParaRPr lang="en-US" dirty="0"/>
          </a:p>
          <a:p>
            <a:endParaRPr lang="en-US" dirty="0"/>
          </a:p>
          <a:p>
            <a:endParaRPr lang="en-US" dirty="0"/>
          </a:p>
          <a:p>
            <a:endParaRPr lang="en-US" dirty="0"/>
          </a:p>
        </p:txBody>
      </p:sp>
      <p:pic>
        <p:nvPicPr>
          <p:cNvPr id="6" name="Picture 5">
            <a:extLst>
              <a:ext uri="{FF2B5EF4-FFF2-40B4-BE49-F238E27FC236}">
                <a16:creationId xmlns:a16="http://schemas.microsoft.com/office/drawing/2014/main" id="{CC056BE7-5702-CFC8-226D-F634206BC8A4}"/>
              </a:ext>
            </a:extLst>
          </p:cNvPr>
          <p:cNvPicPr>
            <a:picLocks noChangeAspect="1"/>
          </p:cNvPicPr>
          <p:nvPr/>
        </p:nvPicPr>
        <p:blipFill>
          <a:blip r:embed="rId2"/>
          <a:stretch>
            <a:fillRect/>
          </a:stretch>
        </p:blipFill>
        <p:spPr>
          <a:xfrm>
            <a:off x="6718169" y="2299494"/>
            <a:ext cx="5029200" cy="3403600"/>
          </a:xfrm>
          <a:prstGeom prst="rect">
            <a:avLst/>
          </a:prstGeom>
        </p:spPr>
      </p:pic>
      <p:sp>
        <p:nvSpPr>
          <p:cNvPr id="4" name="Rectangle 3">
            <a:extLst>
              <a:ext uri="{FF2B5EF4-FFF2-40B4-BE49-F238E27FC236}">
                <a16:creationId xmlns:a16="http://schemas.microsoft.com/office/drawing/2014/main" id="{CA4AAD0E-F346-677F-09E6-246578DCD94C}"/>
              </a:ext>
            </a:extLst>
          </p:cNvPr>
          <p:cNvSpPr/>
          <p:nvPr/>
        </p:nvSpPr>
        <p:spPr>
          <a:xfrm>
            <a:off x="6627043" y="4688931"/>
            <a:ext cx="5250730" cy="348791"/>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030A0"/>
              </a:solidFill>
            </a:endParaRPr>
          </a:p>
        </p:txBody>
      </p:sp>
      <p:sp>
        <p:nvSpPr>
          <p:cNvPr id="5" name="TextBox 4">
            <a:extLst>
              <a:ext uri="{FF2B5EF4-FFF2-40B4-BE49-F238E27FC236}">
                <a16:creationId xmlns:a16="http://schemas.microsoft.com/office/drawing/2014/main" id="{4009E845-98D0-68A0-09CA-E922F67CCA80}"/>
              </a:ext>
            </a:extLst>
          </p:cNvPr>
          <p:cNvSpPr txBox="1"/>
          <p:nvPr/>
        </p:nvSpPr>
        <p:spPr>
          <a:xfrm>
            <a:off x="4997778" y="4678660"/>
            <a:ext cx="1583702" cy="369332"/>
          </a:xfrm>
          <a:prstGeom prst="rect">
            <a:avLst/>
          </a:prstGeom>
          <a:noFill/>
        </p:spPr>
        <p:txBody>
          <a:bodyPr wrap="square" rtlCol="0">
            <a:spAutoFit/>
          </a:bodyPr>
          <a:lstStyle/>
          <a:p>
            <a:r>
              <a:rPr lang="en-US" dirty="0">
                <a:solidFill>
                  <a:srgbClr val="0070C0"/>
                </a:solidFill>
              </a:rPr>
              <a:t>Prefix building</a:t>
            </a:r>
          </a:p>
        </p:txBody>
      </p:sp>
      <p:sp>
        <p:nvSpPr>
          <p:cNvPr id="9" name="Rectangle 8">
            <a:extLst>
              <a:ext uri="{FF2B5EF4-FFF2-40B4-BE49-F238E27FC236}">
                <a16:creationId xmlns:a16="http://schemas.microsoft.com/office/drawing/2014/main" id="{39972322-3A14-0631-9BC6-3D963B9A0117}"/>
              </a:ext>
            </a:extLst>
          </p:cNvPr>
          <p:cNvSpPr/>
          <p:nvPr/>
        </p:nvSpPr>
        <p:spPr>
          <a:xfrm>
            <a:off x="6627043" y="4124663"/>
            <a:ext cx="5250730" cy="348791"/>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030A0"/>
              </a:solidFill>
            </a:endParaRPr>
          </a:p>
        </p:txBody>
      </p:sp>
      <p:sp>
        <p:nvSpPr>
          <p:cNvPr id="10" name="TextBox 9">
            <a:extLst>
              <a:ext uri="{FF2B5EF4-FFF2-40B4-BE49-F238E27FC236}">
                <a16:creationId xmlns:a16="http://schemas.microsoft.com/office/drawing/2014/main" id="{F68E08D7-432C-A577-81A1-FC4799FEBF17}"/>
              </a:ext>
            </a:extLst>
          </p:cNvPr>
          <p:cNvSpPr txBox="1"/>
          <p:nvPr/>
        </p:nvSpPr>
        <p:spPr>
          <a:xfrm>
            <a:off x="5376420" y="4091468"/>
            <a:ext cx="1439160" cy="369332"/>
          </a:xfrm>
          <a:prstGeom prst="rect">
            <a:avLst/>
          </a:prstGeom>
          <a:noFill/>
        </p:spPr>
        <p:txBody>
          <a:bodyPr wrap="square" rtlCol="0">
            <a:spAutoFit/>
          </a:bodyPr>
          <a:lstStyle/>
          <a:p>
            <a:r>
              <a:rPr lang="en-US" dirty="0">
                <a:solidFill>
                  <a:srgbClr val="0070C0"/>
                </a:solidFill>
              </a:rPr>
              <a:t>Invocation</a:t>
            </a:r>
          </a:p>
        </p:txBody>
      </p:sp>
    </p:spTree>
    <p:extLst>
      <p:ext uri="{BB962C8B-B14F-4D97-AF65-F5344CB8AC3E}">
        <p14:creationId xmlns:p14="http://schemas.microsoft.com/office/powerpoint/2010/main" val="31102070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B9EE001-BC35-0BB8-43C2-D1E8DD7D7D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0EA9A4-273F-7992-E04B-63E11927654F}"/>
              </a:ext>
            </a:extLst>
          </p:cNvPr>
          <p:cNvSpPr>
            <a:spLocks noGrp="1"/>
          </p:cNvSpPr>
          <p:nvPr>
            <p:ph type="title"/>
          </p:nvPr>
        </p:nvSpPr>
        <p:spPr/>
        <p:txBody>
          <a:bodyPr/>
          <a:lstStyle/>
          <a:p>
            <a:r>
              <a:rPr lang="en-US" dirty="0"/>
              <a:t>Related: context folding / subagent recursion</a:t>
            </a:r>
          </a:p>
        </p:txBody>
      </p:sp>
      <p:sp>
        <p:nvSpPr>
          <p:cNvPr id="3" name="Content Placeholder 2">
            <a:extLst>
              <a:ext uri="{FF2B5EF4-FFF2-40B4-BE49-F238E27FC236}">
                <a16:creationId xmlns:a16="http://schemas.microsoft.com/office/drawing/2014/main" id="{08526086-FC1B-717A-DF71-FC0A70374DC0}"/>
              </a:ext>
            </a:extLst>
          </p:cNvPr>
          <p:cNvSpPr>
            <a:spLocks noGrp="1"/>
          </p:cNvSpPr>
          <p:nvPr>
            <p:ph idx="1"/>
          </p:nvPr>
        </p:nvSpPr>
        <p:spPr/>
        <p:txBody>
          <a:bodyPr/>
          <a:lstStyle/>
          <a:p>
            <a:r>
              <a:rPr lang="en-US" dirty="0" err="1"/>
              <a:t>FoldGRPO</a:t>
            </a:r>
            <a:r>
              <a:rPr lang="en-US" dirty="0"/>
              <a:t> W. Sun et al. 2025 </a:t>
            </a:r>
            <a:r>
              <a:rPr lang="en-US" dirty="0" err="1"/>
              <a:t>arXiv</a:t>
            </a:r>
            <a:r>
              <a:rPr lang="en-US" b="1" dirty="0"/>
              <a:t>*</a:t>
            </a:r>
          </a:p>
          <a:p>
            <a:r>
              <a:rPr lang="en-US" dirty="0" err="1"/>
              <a:t>AgentFold</a:t>
            </a:r>
            <a:r>
              <a:rPr lang="en-US" dirty="0"/>
              <a:t> R. Ye et al. 2025 </a:t>
            </a:r>
            <a:r>
              <a:rPr lang="en-US" dirty="0" err="1"/>
              <a:t>arXiv</a:t>
            </a:r>
            <a:r>
              <a:rPr lang="en-US" b="1" dirty="0"/>
              <a:t>*</a:t>
            </a:r>
          </a:p>
          <a:p>
            <a:r>
              <a:rPr lang="en-US" dirty="0"/>
              <a:t>THREAD Schroeder et al. 2025 </a:t>
            </a:r>
            <a:r>
              <a:rPr lang="en-US" dirty="0" err="1"/>
              <a:t>arXiv</a:t>
            </a:r>
            <a:endParaRPr lang="en-US" dirty="0"/>
          </a:p>
          <a:p>
            <a:r>
              <a:rPr lang="en-US" dirty="0"/>
              <a:t>RLMs A. Zhang et al. 2026 </a:t>
            </a:r>
            <a:r>
              <a:rPr lang="en-US" dirty="0" err="1"/>
              <a:t>arXiv</a:t>
            </a:r>
            <a:r>
              <a:rPr lang="en-US" b="1" dirty="0"/>
              <a:t>*</a:t>
            </a:r>
          </a:p>
          <a:p>
            <a:endParaRPr lang="en-US" dirty="0"/>
          </a:p>
          <a:p>
            <a:endParaRPr lang="en-US" dirty="0"/>
          </a:p>
          <a:p>
            <a:pPr marL="0" indent="0">
              <a:buNone/>
            </a:pPr>
            <a:r>
              <a:rPr lang="en-US" b="1" dirty="0"/>
              <a:t>*Demonstrate fine-tuning </a:t>
            </a:r>
          </a:p>
        </p:txBody>
      </p:sp>
    </p:spTree>
    <p:extLst>
      <p:ext uri="{BB962C8B-B14F-4D97-AF65-F5344CB8AC3E}">
        <p14:creationId xmlns:p14="http://schemas.microsoft.com/office/powerpoint/2010/main" val="6332826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08E02-4E8F-9C86-CD8C-0F3359F5B09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A92A23A-181B-4BC1-0C8F-B78FBCECF8AC}"/>
              </a:ext>
            </a:extLst>
          </p:cNvPr>
          <p:cNvSpPr txBox="1"/>
          <p:nvPr/>
        </p:nvSpPr>
        <p:spPr>
          <a:xfrm>
            <a:off x="596313" y="1124362"/>
            <a:ext cx="4980192" cy="523220"/>
          </a:xfrm>
          <a:prstGeom prst="rect">
            <a:avLst/>
          </a:prstGeom>
          <a:noFill/>
          <a:ln>
            <a:noFill/>
          </a:ln>
        </p:spPr>
        <p:txBody>
          <a:bodyPr wrap="square" rtlCol="0">
            <a:spAutoFit/>
          </a:bodyPr>
          <a:lstStyle/>
          <a:p>
            <a:pPr algn="ctr"/>
            <a:r>
              <a:rPr lang="en-US" sz="2800" dirty="0"/>
              <a:t>Self-programmed execution</a:t>
            </a:r>
          </a:p>
        </p:txBody>
      </p:sp>
      <p:sp>
        <p:nvSpPr>
          <p:cNvPr id="12" name="TextBox 11">
            <a:extLst>
              <a:ext uri="{FF2B5EF4-FFF2-40B4-BE49-F238E27FC236}">
                <a16:creationId xmlns:a16="http://schemas.microsoft.com/office/drawing/2014/main" id="{0001E071-79B1-B0A1-EC62-1B56D800B6FD}"/>
              </a:ext>
            </a:extLst>
          </p:cNvPr>
          <p:cNvSpPr txBox="1"/>
          <p:nvPr/>
        </p:nvSpPr>
        <p:spPr>
          <a:xfrm>
            <a:off x="744977" y="1647582"/>
            <a:ext cx="4980192" cy="923330"/>
          </a:xfrm>
          <a:prstGeom prst="rect">
            <a:avLst/>
          </a:prstGeom>
          <a:noFill/>
          <a:ln>
            <a:noFill/>
          </a:ln>
        </p:spPr>
        <p:txBody>
          <a:bodyPr wrap="square" rtlCol="0">
            <a:spAutoFit/>
          </a:bodyPr>
          <a:lstStyle/>
          <a:p>
            <a:pPr marL="342900" indent="-342900">
              <a:buAutoNum type="arabicParenBoth"/>
            </a:pPr>
            <a:r>
              <a:rPr lang="en-US" dirty="0">
                <a:solidFill>
                  <a:srgbClr val="00B050"/>
                </a:solidFill>
              </a:rPr>
              <a:t>Generation: model thinks and responds with a program</a:t>
            </a:r>
          </a:p>
          <a:p>
            <a:pPr marL="342900" indent="-342900">
              <a:buAutoNum type="arabicParenBoth"/>
            </a:pPr>
            <a:r>
              <a:rPr lang="en-US" dirty="0">
                <a:solidFill>
                  <a:srgbClr val="7030A0"/>
                </a:solidFill>
              </a:rPr>
              <a:t>Execution: evaluate the program</a:t>
            </a:r>
          </a:p>
        </p:txBody>
      </p:sp>
      <p:sp>
        <p:nvSpPr>
          <p:cNvPr id="9" name="TextBox 8">
            <a:extLst>
              <a:ext uri="{FF2B5EF4-FFF2-40B4-BE49-F238E27FC236}">
                <a16:creationId xmlns:a16="http://schemas.microsoft.com/office/drawing/2014/main" id="{1AFBDCBF-040B-1D0A-2F46-C208ED4E5346}"/>
              </a:ext>
            </a:extLst>
          </p:cNvPr>
          <p:cNvSpPr txBox="1"/>
          <p:nvPr/>
        </p:nvSpPr>
        <p:spPr>
          <a:xfrm>
            <a:off x="867527" y="3265544"/>
            <a:ext cx="7913803" cy="2677656"/>
          </a:xfrm>
          <a:prstGeom prst="rect">
            <a:avLst/>
          </a:prstGeom>
          <a:noFill/>
        </p:spPr>
        <p:txBody>
          <a:bodyPr wrap="square">
            <a:spAutoFit/>
          </a:bodyPr>
          <a:lstStyle/>
          <a:p>
            <a:r>
              <a:rPr lang="en-US" sz="2800" dirty="0"/>
              <a:t>What should be the language of the program?</a:t>
            </a:r>
          </a:p>
          <a:p>
            <a:pPr marL="514350" indent="-514350">
              <a:buFont typeface="+mj-lt"/>
              <a:buAutoNum type="arabicPeriod"/>
            </a:pPr>
            <a:r>
              <a:rPr lang="en-US" sz="2800" dirty="0"/>
              <a:t>Call the LLM to generate new code</a:t>
            </a:r>
          </a:p>
          <a:p>
            <a:pPr marL="514350" indent="-514350">
              <a:buFont typeface="+mj-lt"/>
              <a:buAutoNum type="arabicPeriod"/>
            </a:pPr>
            <a:r>
              <a:rPr lang="en-US" sz="2800" dirty="0"/>
              <a:t>Manipulate source code as data</a:t>
            </a:r>
          </a:p>
          <a:p>
            <a:endParaRPr lang="en-US" sz="2800" dirty="0"/>
          </a:p>
          <a:p>
            <a:endParaRPr lang="en-US" sz="2800" dirty="0"/>
          </a:p>
          <a:p>
            <a:endParaRPr lang="en-US" sz="2800" dirty="0"/>
          </a:p>
        </p:txBody>
      </p:sp>
    </p:spTree>
    <p:extLst>
      <p:ext uri="{BB962C8B-B14F-4D97-AF65-F5344CB8AC3E}">
        <p14:creationId xmlns:p14="http://schemas.microsoft.com/office/powerpoint/2010/main" val="27762540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ECA4C-90B7-94A9-1A94-7A34BE2A4E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77F2B9-B77C-508A-ED5F-8EB74EE55B10}"/>
              </a:ext>
            </a:extLst>
          </p:cNvPr>
          <p:cNvSpPr>
            <a:spLocks noGrp="1"/>
          </p:cNvSpPr>
          <p:nvPr>
            <p:ph type="title"/>
          </p:nvPr>
        </p:nvSpPr>
        <p:spPr/>
        <p:txBody>
          <a:bodyPr/>
          <a:lstStyle/>
          <a:p>
            <a:r>
              <a:rPr lang="en-US" dirty="0"/>
              <a:t>Lisp and homoiconicity</a:t>
            </a:r>
          </a:p>
        </p:txBody>
      </p:sp>
      <p:sp>
        <p:nvSpPr>
          <p:cNvPr id="3" name="Content Placeholder 2">
            <a:extLst>
              <a:ext uri="{FF2B5EF4-FFF2-40B4-BE49-F238E27FC236}">
                <a16:creationId xmlns:a16="http://schemas.microsoft.com/office/drawing/2014/main" id="{B37FEFB0-24B2-4FCC-603B-A650FB6568D2}"/>
              </a:ext>
            </a:extLst>
          </p:cNvPr>
          <p:cNvSpPr>
            <a:spLocks noGrp="1"/>
          </p:cNvSpPr>
          <p:nvPr>
            <p:ph idx="1"/>
          </p:nvPr>
        </p:nvSpPr>
        <p:spPr/>
        <p:txBody>
          <a:bodyPr/>
          <a:lstStyle/>
          <a:p>
            <a:r>
              <a:rPr lang="en-US" dirty="0"/>
              <a:t>Lisp: “code is data”</a:t>
            </a:r>
          </a:p>
          <a:p>
            <a:r>
              <a:rPr lang="en-US" dirty="0"/>
              <a:t>Code parses into expressions</a:t>
            </a:r>
          </a:p>
          <a:p>
            <a:r>
              <a:rPr lang="en-US" dirty="0"/>
              <a:t>Abstract syntax tree is explicit</a:t>
            </a:r>
          </a:p>
        </p:txBody>
      </p:sp>
      <p:sp>
        <p:nvSpPr>
          <p:cNvPr id="5" name="TextBox 4">
            <a:extLst>
              <a:ext uri="{FF2B5EF4-FFF2-40B4-BE49-F238E27FC236}">
                <a16:creationId xmlns:a16="http://schemas.microsoft.com/office/drawing/2014/main" id="{1190E1EA-85EA-D096-E1BE-C0BA126612BB}"/>
              </a:ext>
            </a:extLst>
          </p:cNvPr>
          <p:cNvSpPr txBox="1"/>
          <p:nvPr/>
        </p:nvSpPr>
        <p:spPr>
          <a:xfrm>
            <a:off x="7692272" y="2152290"/>
            <a:ext cx="1180131" cy="2308324"/>
          </a:xfrm>
          <a:prstGeom prst="rect">
            <a:avLst/>
          </a:prstGeom>
          <a:noFill/>
        </p:spPr>
        <p:txBody>
          <a:bodyPr wrap="none" rtlCol="0">
            <a:spAutoFit/>
          </a:bodyPr>
          <a:lstStyle/>
          <a:p>
            <a:r>
              <a:rPr lang="en-US" dirty="0"/>
              <a:t>(do </a:t>
            </a:r>
          </a:p>
          <a:p>
            <a:r>
              <a:rPr lang="en-US" dirty="0"/>
              <a:t>   (def f </a:t>
            </a:r>
          </a:p>
          <a:p>
            <a:r>
              <a:rPr lang="en-US" dirty="0"/>
              <a:t>      (</a:t>
            </a:r>
            <a:r>
              <a:rPr lang="en-US" dirty="0" err="1"/>
              <a:t>fn</a:t>
            </a:r>
            <a:r>
              <a:rPr lang="en-US" dirty="0"/>
              <a:t> x </a:t>
            </a:r>
          </a:p>
          <a:p>
            <a:r>
              <a:rPr lang="en-US" dirty="0"/>
              <a:t>         (+ x 1)</a:t>
            </a:r>
          </a:p>
          <a:p>
            <a:r>
              <a:rPr lang="en-US" dirty="0"/>
              <a:t>      )</a:t>
            </a:r>
          </a:p>
          <a:p>
            <a:r>
              <a:rPr lang="en-US" dirty="0"/>
              <a:t>   ) </a:t>
            </a:r>
          </a:p>
          <a:p>
            <a:r>
              <a:rPr lang="en-US" dirty="0"/>
              <a:t>   (f 41)</a:t>
            </a:r>
          </a:p>
          <a:p>
            <a:r>
              <a:rPr lang="en-US" dirty="0"/>
              <a:t>)</a:t>
            </a:r>
          </a:p>
        </p:txBody>
      </p:sp>
    </p:spTree>
    <p:extLst>
      <p:ext uri="{BB962C8B-B14F-4D97-AF65-F5344CB8AC3E}">
        <p14:creationId xmlns:p14="http://schemas.microsoft.com/office/powerpoint/2010/main" val="28685265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D4A244C-1670-C4F1-97C3-3EDB8E6CD0A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14114D6-0E8D-CFDE-BAAB-7803328EA1F6}"/>
              </a:ext>
            </a:extLst>
          </p:cNvPr>
          <p:cNvPicPr>
            <a:picLocks noChangeAspect="1"/>
          </p:cNvPicPr>
          <p:nvPr/>
        </p:nvPicPr>
        <p:blipFill>
          <a:blip r:embed="rId2"/>
          <a:srcRect b="81642"/>
          <a:stretch>
            <a:fillRect/>
          </a:stretch>
        </p:blipFill>
        <p:spPr>
          <a:xfrm>
            <a:off x="4446936" y="1690688"/>
            <a:ext cx="2692657" cy="816842"/>
          </a:xfrm>
          <a:prstGeom prst="rect">
            <a:avLst/>
          </a:prstGeom>
        </p:spPr>
      </p:pic>
      <p:sp>
        <p:nvSpPr>
          <p:cNvPr id="8" name="Title 7">
            <a:extLst>
              <a:ext uri="{FF2B5EF4-FFF2-40B4-BE49-F238E27FC236}">
                <a16:creationId xmlns:a16="http://schemas.microsoft.com/office/drawing/2014/main" id="{797A3D78-2C90-4A1A-A17B-B6C2EAC29F10}"/>
              </a:ext>
            </a:extLst>
          </p:cNvPr>
          <p:cNvSpPr>
            <a:spLocks noGrp="1"/>
          </p:cNvSpPr>
          <p:nvPr>
            <p:ph type="title"/>
          </p:nvPr>
        </p:nvSpPr>
        <p:spPr/>
        <p:txBody>
          <a:bodyPr/>
          <a:lstStyle/>
          <a:p>
            <a:r>
              <a:rPr lang="en-US" dirty="0"/>
              <a:t>How do you reference source code as data?</a:t>
            </a:r>
          </a:p>
        </p:txBody>
      </p:sp>
    </p:spTree>
    <p:extLst>
      <p:ext uri="{BB962C8B-B14F-4D97-AF65-F5344CB8AC3E}">
        <p14:creationId xmlns:p14="http://schemas.microsoft.com/office/powerpoint/2010/main" val="16888038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B40DC18-6C7B-6482-8CEF-E1EA75AC58E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689CB0D-DED9-DC1D-AF2C-D5DEA34A0957}"/>
              </a:ext>
            </a:extLst>
          </p:cNvPr>
          <p:cNvPicPr>
            <a:picLocks noChangeAspect="1"/>
          </p:cNvPicPr>
          <p:nvPr/>
        </p:nvPicPr>
        <p:blipFill>
          <a:blip r:embed="rId2"/>
          <a:srcRect b="48167"/>
          <a:stretch>
            <a:fillRect/>
          </a:stretch>
        </p:blipFill>
        <p:spPr>
          <a:xfrm>
            <a:off x="4446936" y="1690688"/>
            <a:ext cx="2692657" cy="2306277"/>
          </a:xfrm>
          <a:prstGeom prst="rect">
            <a:avLst/>
          </a:prstGeom>
        </p:spPr>
      </p:pic>
      <p:sp>
        <p:nvSpPr>
          <p:cNvPr id="8" name="Title 7">
            <a:extLst>
              <a:ext uri="{FF2B5EF4-FFF2-40B4-BE49-F238E27FC236}">
                <a16:creationId xmlns:a16="http://schemas.microsoft.com/office/drawing/2014/main" id="{B4FFD789-96CC-B47A-9AE3-53934A234BF6}"/>
              </a:ext>
            </a:extLst>
          </p:cNvPr>
          <p:cNvSpPr>
            <a:spLocks noGrp="1"/>
          </p:cNvSpPr>
          <p:nvPr>
            <p:ph type="title"/>
          </p:nvPr>
        </p:nvSpPr>
        <p:spPr/>
        <p:txBody>
          <a:bodyPr/>
          <a:lstStyle/>
          <a:p>
            <a:r>
              <a:rPr lang="en-US" dirty="0"/>
              <a:t>How do you reference source code as data?</a:t>
            </a:r>
          </a:p>
        </p:txBody>
      </p:sp>
    </p:spTree>
    <p:extLst>
      <p:ext uri="{BB962C8B-B14F-4D97-AF65-F5344CB8AC3E}">
        <p14:creationId xmlns:p14="http://schemas.microsoft.com/office/powerpoint/2010/main" val="18184465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70B66B3-65A3-2144-02E5-143E42745642}"/>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55C6087-D42F-C689-6EF0-340C8E465149}"/>
              </a:ext>
            </a:extLst>
          </p:cNvPr>
          <p:cNvPicPr>
            <a:picLocks noChangeAspect="1"/>
          </p:cNvPicPr>
          <p:nvPr/>
        </p:nvPicPr>
        <p:blipFill>
          <a:blip r:embed="rId2"/>
          <a:stretch>
            <a:fillRect/>
          </a:stretch>
        </p:blipFill>
        <p:spPr>
          <a:xfrm>
            <a:off x="4446936" y="1690688"/>
            <a:ext cx="2692657" cy="4449452"/>
          </a:xfrm>
          <a:prstGeom prst="rect">
            <a:avLst/>
          </a:prstGeom>
        </p:spPr>
      </p:pic>
      <p:sp>
        <p:nvSpPr>
          <p:cNvPr id="8" name="Title 7">
            <a:extLst>
              <a:ext uri="{FF2B5EF4-FFF2-40B4-BE49-F238E27FC236}">
                <a16:creationId xmlns:a16="http://schemas.microsoft.com/office/drawing/2014/main" id="{5CF6EAF6-1F3B-C602-D872-20C434A651E1}"/>
              </a:ext>
            </a:extLst>
          </p:cNvPr>
          <p:cNvSpPr>
            <a:spLocks noGrp="1"/>
          </p:cNvSpPr>
          <p:nvPr>
            <p:ph type="title"/>
          </p:nvPr>
        </p:nvSpPr>
        <p:spPr/>
        <p:txBody>
          <a:bodyPr/>
          <a:lstStyle/>
          <a:p>
            <a:r>
              <a:rPr lang="en-US" dirty="0"/>
              <a:t>How do you reference source code as data?</a:t>
            </a:r>
          </a:p>
        </p:txBody>
      </p:sp>
    </p:spTree>
    <p:extLst>
      <p:ext uri="{BB962C8B-B14F-4D97-AF65-F5344CB8AC3E}">
        <p14:creationId xmlns:p14="http://schemas.microsoft.com/office/powerpoint/2010/main" val="24559605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3D339-5377-79A1-7714-4B57C5D4098A}"/>
              </a:ext>
            </a:extLst>
          </p:cNvPr>
          <p:cNvSpPr>
            <a:spLocks noGrp="1"/>
          </p:cNvSpPr>
          <p:nvPr>
            <p:ph type="title"/>
          </p:nvPr>
        </p:nvSpPr>
        <p:spPr/>
        <p:txBody>
          <a:bodyPr/>
          <a:lstStyle/>
          <a:p>
            <a:r>
              <a:rPr lang="en-US" dirty="0"/>
              <a:t>Spell </a:t>
            </a:r>
            <a:r>
              <a:rPr lang="en-US" sz="3600" dirty="0"/>
              <a:t>(self-programmed execution language for LMs)</a:t>
            </a:r>
            <a:endParaRPr lang="en-US" dirty="0"/>
          </a:p>
        </p:txBody>
      </p:sp>
      <p:sp>
        <p:nvSpPr>
          <p:cNvPr id="6" name="Content Placeholder 2">
            <a:extLst>
              <a:ext uri="{FF2B5EF4-FFF2-40B4-BE49-F238E27FC236}">
                <a16:creationId xmlns:a16="http://schemas.microsoft.com/office/drawing/2014/main" id="{DE073252-398A-4E6D-746D-8DB4A88B9195}"/>
              </a:ext>
            </a:extLst>
          </p:cNvPr>
          <p:cNvSpPr>
            <a:spLocks noGrp="1"/>
          </p:cNvSpPr>
          <p:nvPr>
            <p:ph idx="1"/>
          </p:nvPr>
        </p:nvSpPr>
        <p:spPr>
          <a:xfrm>
            <a:off x="838199" y="1825625"/>
            <a:ext cx="9858154" cy="4351338"/>
          </a:xfrm>
        </p:spPr>
        <p:txBody>
          <a:bodyPr/>
          <a:lstStyle/>
          <a:p>
            <a:r>
              <a:rPr lang="en-US" dirty="0"/>
              <a:t>Dialect of Lisp (specifically Clojure)</a:t>
            </a:r>
          </a:p>
          <a:p>
            <a:r>
              <a:rPr lang="en-US" dirty="0"/>
              <a:t>Lisp: “Code is data”</a:t>
            </a:r>
          </a:p>
          <a:p>
            <a:r>
              <a:rPr lang="en-US" dirty="0"/>
              <a:t>Spell:</a:t>
            </a:r>
          </a:p>
          <a:p>
            <a:pPr lvl="1"/>
            <a:r>
              <a:rPr lang="en-US" dirty="0"/>
              <a:t>Prompt/context: string literals with bindings</a:t>
            </a:r>
          </a:p>
          <a:p>
            <a:pPr lvl="1"/>
            <a:endParaRPr lang="en-US" dirty="0"/>
          </a:p>
          <a:p>
            <a:endParaRPr lang="en-US" dirty="0"/>
          </a:p>
          <a:p>
            <a:pPr lvl="1"/>
            <a:endParaRPr lang="en-US" dirty="0"/>
          </a:p>
          <a:p>
            <a:pPr marL="457200" lvl="1" indent="0">
              <a:buNone/>
            </a:pPr>
            <a:endParaRPr lang="en-US" dirty="0"/>
          </a:p>
          <a:p>
            <a:endParaRPr lang="en-US" dirty="0"/>
          </a:p>
        </p:txBody>
      </p:sp>
      <p:sp>
        <p:nvSpPr>
          <p:cNvPr id="3" name="TextBox 2">
            <a:extLst>
              <a:ext uri="{FF2B5EF4-FFF2-40B4-BE49-F238E27FC236}">
                <a16:creationId xmlns:a16="http://schemas.microsoft.com/office/drawing/2014/main" id="{58201F50-DD43-98C6-24FA-9B915EB19E18}"/>
              </a:ext>
            </a:extLst>
          </p:cNvPr>
          <p:cNvSpPr txBox="1"/>
          <p:nvPr/>
        </p:nvSpPr>
        <p:spPr>
          <a:xfrm>
            <a:off x="3120272" y="4703975"/>
            <a:ext cx="6785832" cy="523220"/>
          </a:xfrm>
          <a:prstGeom prst="rect">
            <a:avLst/>
          </a:prstGeom>
          <a:noFill/>
        </p:spPr>
        <p:txBody>
          <a:bodyPr wrap="none" rtlCol="0">
            <a:spAutoFit/>
          </a:bodyPr>
          <a:lstStyle/>
          <a:p>
            <a:r>
              <a:rPr lang="en-US" sz="2800" dirty="0"/>
              <a:t>(def prompt “You are a helpful assistant…”)</a:t>
            </a:r>
          </a:p>
        </p:txBody>
      </p:sp>
    </p:spTree>
    <p:extLst>
      <p:ext uri="{BB962C8B-B14F-4D97-AF65-F5344CB8AC3E}">
        <p14:creationId xmlns:p14="http://schemas.microsoft.com/office/powerpoint/2010/main" val="20376522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D7EFD-010D-CE12-2B07-6E8A582F30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2A61B3-0DB0-3215-6550-AC19DFFD1B31}"/>
              </a:ext>
            </a:extLst>
          </p:cNvPr>
          <p:cNvSpPr>
            <a:spLocks noGrp="1"/>
          </p:cNvSpPr>
          <p:nvPr>
            <p:ph type="title"/>
          </p:nvPr>
        </p:nvSpPr>
        <p:spPr/>
        <p:txBody>
          <a:bodyPr/>
          <a:lstStyle/>
          <a:p>
            <a:r>
              <a:rPr lang="en-US" dirty="0"/>
              <a:t>Spell </a:t>
            </a:r>
            <a:r>
              <a:rPr lang="en-US" sz="3600" dirty="0"/>
              <a:t>(self-programmed execution language for LMs)</a:t>
            </a:r>
            <a:endParaRPr lang="en-US" dirty="0"/>
          </a:p>
        </p:txBody>
      </p:sp>
      <p:sp>
        <p:nvSpPr>
          <p:cNvPr id="6" name="Content Placeholder 2">
            <a:extLst>
              <a:ext uri="{FF2B5EF4-FFF2-40B4-BE49-F238E27FC236}">
                <a16:creationId xmlns:a16="http://schemas.microsoft.com/office/drawing/2014/main" id="{2BADD4D2-F8B4-D59C-6D49-2624E99F1E6E}"/>
              </a:ext>
            </a:extLst>
          </p:cNvPr>
          <p:cNvSpPr>
            <a:spLocks noGrp="1"/>
          </p:cNvSpPr>
          <p:nvPr>
            <p:ph idx="1"/>
          </p:nvPr>
        </p:nvSpPr>
        <p:spPr>
          <a:xfrm>
            <a:off x="838199" y="1825625"/>
            <a:ext cx="9858154" cy="4351338"/>
          </a:xfrm>
        </p:spPr>
        <p:txBody>
          <a:bodyPr/>
          <a:lstStyle/>
          <a:p>
            <a:r>
              <a:rPr lang="en-US" dirty="0"/>
              <a:t>Dialect of Lisp (specifically Clojure)</a:t>
            </a:r>
          </a:p>
          <a:p>
            <a:r>
              <a:rPr lang="en-US" dirty="0"/>
              <a:t>Lisp: “Code is data”</a:t>
            </a:r>
          </a:p>
          <a:p>
            <a:r>
              <a:rPr lang="en-US" dirty="0"/>
              <a:t>Spell:</a:t>
            </a:r>
          </a:p>
          <a:p>
            <a:pPr lvl="1"/>
            <a:r>
              <a:rPr lang="en-US" dirty="0"/>
              <a:t>Prompt/context: string literals with bindings</a:t>
            </a:r>
          </a:p>
          <a:p>
            <a:pPr lvl="1"/>
            <a:r>
              <a:rPr lang="en-US" dirty="0"/>
              <a:t>Reasoning traces: string literals with bindings</a:t>
            </a:r>
          </a:p>
          <a:p>
            <a:pPr lvl="1"/>
            <a:endParaRPr lang="en-US" dirty="0"/>
          </a:p>
          <a:p>
            <a:endParaRPr lang="en-US" dirty="0"/>
          </a:p>
          <a:p>
            <a:pPr lvl="1"/>
            <a:endParaRPr lang="en-US" dirty="0"/>
          </a:p>
          <a:p>
            <a:pPr marL="457200" lvl="1" indent="0">
              <a:buNone/>
            </a:pPr>
            <a:endParaRPr lang="en-US" dirty="0"/>
          </a:p>
          <a:p>
            <a:endParaRPr lang="en-US" dirty="0"/>
          </a:p>
        </p:txBody>
      </p:sp>
      <p:sp>
        <p:nvSpPr>
          <p:cNvPr id="4" name="TextBox 3">
            <a:extLst>
              <a:ext uri="{FF2B5EF4-FFF2-40B4-BE49-F238E27FC236}">
                <a16:creationId xmlns:a16="http://schemas.microsoft.com/office/drawing/2014/main" id="{A8F527E8-B2E0-2374-B8B6-8D09AA2A04B9}"/>
              </a:ext>
            </a:extLst>
          </p:cNvPr>
          <p:cNvSpPr txBox="1"/>
          <p:nvPr/>
        </p:nvSpPr>
        <p:spPr>
          <a:xfrm>
            <a:off x="3120272" y="4703975"/>
            <a:ext cx="6371937" cy="523220"/>
          </a:xfrm>
          <a:prstGeom prst="rect">
            <a:avLst/>
          </a:prstGeom>
          <a:noFill/>
        </p:spPr>
        <p:txBody>
          <a:bodyPr wrap="none" rtlCol="0">
            <a:spAutoFit/>
          </a:bodyPr>
          <a:lstStyle/>
          <a:p>
            <a:r>
              <a:rPr lang="en-US" sz="2800" dirty="0"/>
              <a:t>(def thought “I am a helpful assistant…”)</a:t>
            </a:r>
          </a:p>
        </p:txBody>
      </p:sp>
    </p:spTree>
    <p:extLst>
      <p:ext uri="{BB962C8B-B14F-4D97-AF65-F5344CB8AC3E}">
        <p14:creationId xmlns:p14="http://schemas.microsoft.com/office/powerpoint/2010/main" val="26401727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1312D-6D6E-1EB0-EF59-A15FB4C7EA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E9600-090C-F1FD-241B-EC28E99D13B0}"/>
              </a:ext>
            </a:extLst>
          </p:cNvPr>
          <p:cNvSpPr>
            <a:spLocks noGrp="1"/>
          </p:cNvSpPr>
          <p:nvPr>
            <p:ph type="title"/>
          </p:nvPr>
        </p:nvSpPr>
        <p:spPr/>
        <p:txBody>
          <a:bodyPr/>
          <a:lstStyle/>
          <a:p>
            <a:r>
              <a:rPr lang="en-US" dirty="0"/>
              <a:t>Spell </a:t>
            </a:r>
            <a:r>
              <a:rPr lang="en-US" sz="3600" dirty="0"/>
              <a:t>(self-programmed execution language for LMs)</a:t>
            </a:r>
            <a:endParaRPr lang="en-US" dirty="0"/>
          </a:p>
        </p:txBody>
      </p:sp>
      <p:sp>
        <p:nvSpPr>
          <p:cNvPr id="6" name="Content Placeholder 2">
            <a:extLst>
              <a:ext uri="{FF2B5EF4-FFF2-40B4-BE49-F238E27FC236}">
                <a16:creationId xmlns:a16="http://schemas.microsoft.com/office/drawing/2014/main" id="{E8FD776C-DEF5-4504-80CE-072E2F3DBACB}"/>
              </a:ext>
            </a:extLst>
          </p:cNvPr>
          <p:cNvSpPr>
            <a:spLocks noGrp="1"/>
          </p:cNvSpPr>
          <p:nvPr>
            <p:ph idx="1"/>
          </p:nvPr>
        </p:nvSpPr>
        <p:spPr>
          <a:xfrm>
            <a:off x="838199" y="1825625"/>
            <a:ext cx="9858154" cy="4351338"/>
          </a:xfrm>
        </p:spPr>
        <p:txBody>
          <a:bodyPr/>
          <a:lstStyle/>
          <a:p>
            <a:r>
              <a:rPr lang="en-US" dirty="0"/>
              <a:t>Dialect of Lisp (specifically Clojure)</a:t>
            </a:r>
          </a:p>
          <a:p>
            <a:r>
              <a:rPr lang="en-US" dirty="0"/>
              <a:t>Lisp: “Code is data”</a:t>
            </a:r>
          </a:p>
          <a:p>
            <a:r>
              <a:rPr lang="en-US" dirty="0"/>
              <a:t>Spell:</a:t>
            </a:r>
          </a:p>
          <a:p>
            <a:pPr lvl="1"/>
            <a:r>
              <a:rPr lang="en-US" dirty="0"/>
              <a:t>Prompt/context: string literals with bindings</a:t>
            </a:r>
          </a:p>
          <a:p>
            <a:pPr lvl="1"/>
            <a:r>
              <a:rPr lang="en-US" dirty="0"/>
              <a:t>Reasoning traces: string literals with bindings</a:t>
            </a:r>
          </a:p>
          <a:p>
            <a:pPr lvl="1"/>
            <a:r>
              <a:rPr lang="en-US" dirty="0"/>
              <a:t>Tool calls: function calls that are evaluated before next turn</a:t>
            </a:r>
          </a:p>
          <a:p>
            <a:pPr lvl="1"/>
            <a:endParaRPr lang="en-US" dirty="0"/>
          </a:p>
          <a:p>
            <a:endParaRPr lang="en-US" dirty="0"/>
          </a:p>
          <a:p>
            <a:pPr lvl="1"/>
            <a:endParaRPr lang="en-US" dirty="0"/>
          </a:p>
          <a:p>
            <a:pPr marL="457200" lvl="1" indent="0">
              <a:buNone/>
            </a:pPr>
            <a:endParaRPr lang="en-US" dirty="0"/>
          </a:p>
          <a:p>
            <a:endParaRPr lang="en-US" dirty="0"/>
          </a:p>
        </p:txBody>
      </p:sp>
      <p:sp>
        <p:nvSpPr>
          <p:cNvPr id="3" name="TextBox 2">
            <a:extLst>
              <a:ext uri="{FF2B5EF4-FFF2-40B4-BE49-F238E27FC236}">
                <a16:creationId xmlns:a16="http://schemas.microsoft.com/office/drawing/2014/main" id="{22BE6FAD-2985-E625-E9C6-D3647A0A0E61}"/>
              </a:ext>
            </a:extLst>
          </p:cNvPr>
          <p:cNvSpPr txBox="1"/>
          <p:nvPr/>
        </p:nvSpPr>
        <p:spPr>
          <a:xfrm>
            <a:off x="3120272" y="4703975"/>
            <a:ext cx="6277231" cy="523220"/>
          </a:xfrm>
          <a:prstGeom prst="rect">
            <a:avLst/>
          </a:prstGeom>
          <a:noFill/>
        </p:spPr>
        <p:txBody>
          <a:bodyPr wrap="none" rtlCol="0">
            <a:spAutoFit/>
          </a:bodyPr>
          <a:lstStyle/>
          <a:p>
            <a:r>
              <a:rPr lang="en-US" sz="2800" dirty="0"/>
              <a:t>(!call-now file (io/read-file “my-</a:t>
            </a:r>
            <a:r>
              <a:rPr lang="en-US" sz="2800" dirty="0" err="1"/>
              <a:t>file.txt</a:t>
            </a:r>
            <a:r>
              <a:rPr lang="en-US" sz="2800" dirty="0"/>
              <a:t>”))</a:t>
            </a:r>
          </a:p>
        </p:txBody>
      </p:sp>
    </p:spTree>
    <p:extLst>
      <p:ext uri="{BB962C8B-B14F-4D97-AF65-F5344CB8AC3E}">
        <p14:creationId xmlns:p14="http://schemas.microsoft.com/office/powerpoint/2010/main" val="4574795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52B9D-3B26-A49D-2C19-D300BAD1B9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9D4040-E916-E207-33B1-2D49CEEE6D90}"/>
              </a:ext>
            </a:extLst>
          </p:cNvPr>
          <p:cNvSpPr>
            <a:spLocks noGrp="1"/>
          </p:cNvSpPr>
          <p:nvPr>
            <p:ph type="title"/>
          </p:nvPr>
        </p:nvSpPr>
        <p:spPr/>
        <p:txBody>
          <a:bodyPr/>
          <a:lstStyle/>
          <a:p>
            <a:r>
              <a:rPr lang="en-US" dirty="0"/>
              <a:t>Spell </a:t>
            </a:r>
            <a:r>
              <a:rPr lang="en-US" sz="3600" dirty="0"/>
              <a:t>(self-programmed execution language for LMs)</a:t>
            </a:r>
            <a:endParaRPr lang="en-US" dirty="0"/>
          </a:p>
        </p:txBody>
      </p:sp>
      <p:sp>
        <p:nvSpPr>
          <p:cNvPr id="6" name="Content Placeholder 2">
            <a:extLst>
              <a:ext uri="{FF2B5EF4-FFF2-40B4-BE49-F238E27FC236}">
                <a16:creationId xmlns:a16="http://schemas.microsoft.com/office/drawing/2014/main" id="{63332327-A588-3CBC-B175-A94CA31C4E30}"/>
              </a:ext>
            </a:extLst>
          </p:cNvPr>
          <p:cNvSpPr>
            <a:spLocks noGrp="1"/>
          </p:cNvSpPr>
          <p:nvPr>
            <p:ph idx="1"/>
          </p:nvPr>
        </p:nvSpPr>
        <p:spPr>
          <a:xfrm>
            <a:off x="838199" y="1825625"/>
            <a:ext cx="9858154" cy="4351338"/>
          </a:xfrm>
        </p:spPr>
        <p:txBody>
          <a:bodyPr/>
          <a:lstStyle/>
          <a:p>
            <a:r>
              <a:rPr lang="en-US" dirty="0"/>
              <a:t>Dialect of Lisp (specifically Clojure)</a:t>
            </a:r>
          </a:p>
          <a:p>
            <a:r>
              <a:rPr lang="en-US" dirty="0"/>
              <a:t>Lisp: “Code is data”</a:t>
            </a:r>
          </a:p>
          <a:p>
            <a:r>
              <a:rPr lang="en-US" dirty="0"/>
              <a:t>Spell:</a:t>
            </a:r>
          </a:p>
          <a:p>
            <a:pPr lvl="1"/>
            <a:r>
              <a:rPr lang="en-US" dirty="0"/>
              <a:t>Prompt/context: string literals with bindings</a:t>
            </a:r>
          </a:p>
          <a:p>
            <a:pPr lvl="1"/>
            <a:r>
              <a:rPr lang="en-US" dirty="0"/>
              <a:t>Reasoning traces: string literals with bindings</a:t>
            </a:r>
          </a:p>
          <a:p>
            <a:pPr lvl="1"/>
            <a:r>
              <a:rPr lang="en-US" dirty="0"/>
              <a:t>Tool calls: function calls that are evaluated before next turn</a:t>
            </a:r>
          </a:p>
          <a:p>
            <a:pPr lvl="1"/>
            <a:r>
              <a:rPr lang="en-US" dirty="0"/>
              <a:t>Tool call results: string literals with bindings</a:t>
            </a:r>
          </a:p>
          <a:p>
            <a:pPr lvl="1"/>
            <a:endParaRPr lang="en-US" dirty="0"/>
          </a:p>
          <a:p>
            <a:endParaRPr lang="en-US" dirty="0"/>
          </a:p>
          <a:p>
            <a:pPr lvl="1"/>
            <a:endParaRPr lang="en-US" dirty="0"/>
          </a:p>
          <a:p>
            <a:pPr marL="457200" lvl="1" indent="0">
              <a:buNone/>
            </a:pPr>
            <a:endParaRPr lang="en-US" dirty="0"/>
          </a:p>
          <a:p>
            <a:endParaRPr lang="en-US" dirty="0"/>
          </a:p>
        </p:txBody>
      </p:sp>
      <p:sp>
        <p:nvSpPr>
          <p:cNvPr id="3" name="TextBox 2">
            <a:extLst>
              <a:ext uri="{FF2B5EF4-FFF2-40B4-BE49-F238E27FC236}">
                <a16:creationId xmlns:a16="http://schemas.microsoft.com/office/drawing/2014/main" id="{8BB17BD6-8AF5-5489-CAD3-0AE94EA444DA}"/>
              </a:ext>
            </a:extLst>
          </p:cNvPr>
          <p:cNvSpPr txBox="1"/>
          <p:nvPr/>
        </p:nvSpPr>
        <p:spPr>
          <a:xfrm>
            <a:off x="3139126" y="5128181"/>
            <a:ext cx="4049507" cy="523220"/>
          </a:xfrm>
          <a:prstGeom prst="rect">
            <a:avLst/>
          </a:prstGeom>
          <a:noFill/>
        </p:spPr>
        <p:txBody>
          <a:bodyPr wrap="none" rtlCol="0">
            <a:spAutoFit/>
          </a:bodyPr>
          <a:lstStyle/>
          <a:p>
            <a:r>
              <a:rPr lang="en-US" sz="2800" dirty="0"/>
              <a:t>(def file “lorum ipsum…”)</a:t>
            </a:r>
          </a:p>
        </p:txBody>
      </p:sp>
    </p:spTree>
    <p:extLst>
      <p:ext uri="{BB962C8B-B14F-4D97-AF65-F5344CB8AC3E}">
        <p14:creationId xmlns:p14="http://schemas.microsoft.com/office/powerpoint/2010/main" val="9965902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3A96E-6A92-096A-32A2-D03114B5AB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19683A-6CCD-8DF3-F288-244C378F262C}"/>
              </a:ext>
            </a:extLst>
          </p:cNvPr>
          <p:cNvSpPr>
            <a:spLocks noGrp="1"/>
          </p:cNvSpPr>
          <p:nvPr>
            <p:ph type="title"/>
          </p:nvPr>
        </p:nvSpPr>
        <p:spPr/>
        <p:txBody>
          <a:bodyPr/>
          <a:lstStyle/>
          <a:p>
            <a:r>
              <a:rPr lang="en-US" dirty="0"/>
              <a:t>Spell </a:t>
            </a:r>
            <a:r>
              <a:rPr lang="en-US" sz="3600" dirty="0"/>
              <a:t>(self-programmed execution language for LMs)</a:t>
            </a:r>
            <a:endParaRPr lang="en-US" dirty="0"/>
          </a:p>
        </p:txBody>
      </p:sp>
      <p:sp>
        <p:nvSpPr>
          <p:cNvPr id="6" name="Content Placeholder 2">
            <a:extLst>
              <a:ext uri="{FF2B5EF4-FFF2-40B4-BE49-F238E27FC236}">
                <a16:creationId xmlns:a16="http://schemas.microsoft.com/office/drawing/2014/main" id="{B4071F38-9ABC-9EC2-24D5-177B581B3D3F}"/>
              </a:ext>
            </a:extLst>
          </p:cNvPr>
          <p:cNvSpPr>
            <a:spLocks noGrp="1"/>
          </p:cNvSpPr>
          <p:nvPr>
            <p:ph idx="1"/>
          </p:nvPr>
        </p:nvSpPr>
        <p:spPr>
          <a:xfrm>
            <a:off x="838199" y="1825625"/>
            <a:ext cx="9858154" cy="4351338"/>
          </a:xfrm>
        </p:spPr>
        <p:txBody>
          <a:bodyPr/>
          <a:lstStyle/>
          <a:p>
            <a:r>
              <a:rPr lang="en-US" dirty="0"/>
              <a:t>Dialect of Lisp (specifically Clojure)</a:t>
            </a:r>
          </a:p>
          <a:p>
            <a:r>
              <a:rPr lang="en-US" dirty="0"/>
              <a:t>Lisp: “Code is data”</a:t>
            </a:r>
          </a:p>
          <a:p>
            <a:r>
              <a:rPr lang="en-US" dirty="0"/>
              <a:t>Spell:</a:t>
            </a:r>
          </a:p>
          <a:p>
            <a:pPr lvl="1"/>
            <a:r>
              <a:rPr lang="en-US" dirty="0"/>
              <a:t>Prompt/context: string literals with bindings</a:t>
            </a:r>
          </a:p>
          <a:p>
            <a:pPr lvl="1"/>
            <a:r>
              <a:rPr lang="en-US" dirty="0"/>
              <a:t>Reasoning traces: string literals with bindings</a:t>
            </a:r>
          </a:p>
          <a:p>
            <a:pPr lvl="1"/>
            <a:r>
              <a:rPr lang="en-US" dirty="0"/>
              <a:t>Tool calls: function calls that are evaluated before next turn</a:t>
            </a:r>
          </a:p>
          <a:p>
            <a:pPr lvl="1"/>
            <a:r>
              <a:rPr lang="en-US" dirty="0"/>
              <a:t>Tool call results: string literals with bindings</a:t>
            </a:r>
          </a:p>
          <a:p>
            <a:pPr lvl="1"/>
            <a:r>
              <a:rPr lang="en-US" dirty="0"/>
              <a:t>Self-calls: function calls which produce the next turn</a:t>
            </a:r>
          </a:p>
          <a:p>
            <a:pPr lvl="1"/>
            <a:endParaRPr lang="en-US" dirty="0"/>
          </a:p>
          <a:p>
            <a:endParaRPr lang="en-US" dirty="0"/>
          </a:p>
          <a:p>
            <a:pPr lvl="1"/>
            <a:endParaRPr lang="en-US" dirty="0"/>
          </a:p>
          <a:p>
            <a:pPr marL="457200" lvl="1" indent="0">
              <a:buNone/>
            </a:pPr>
            <a:endParaRPr lang="en-US" dirty="0"/>
          </a:p>
          <a:p>
            <a:endParaRPr lang="en-US" dirty="0"/>
          </a:p>
        </p:txBody>
      </p:sp>
      <p:sp>
        <p:nvSpPr>
          <p:cNvPr id="5" name="TextBox 4">
            <a:extLst>
              <a:ext uri="{FF2B5EF4-FFF2-40B4-BE49-F238E27FC236}">
                <a16:creationId xmlns:a16="http://schemas.microsoft.com/office/drawing/2014/main" id="{D74AE9C9-9585-DEEA-519F-D7D7A6297DFD}"/>
              </a:ext>
            </a:extLst>
          </p:cNvPr>
          <p:cNvSpPr txBox="1"/>
          <p:nvPr/>
        </p:nvSpPr>
        <p:spPr>
          <a:xfrm>
            <a:off x="3506771" y="5571241"/>
            <a:ext cx="3528530" cy="523220"/>
          </a:xfrm>
          <a:prstGeom prst="rect">
            <a:avLst/>
          </a:prstGeom>
          <a:noFill/>
        </p:spPr>
        <p:txBody>
          <a:bodyPr wrap="none" rtlCol="0">
            <a:spAutoFit/>
          </a:bodyPr>
          <a:lstStyle/>
          <a:p>
            <a:r>
              <a:rPr lang="en-US" sz="2800" dirty="0"/>
              <a:t>(!</a:t>
            </a:r>
            <a:r>
              <a:rPr lang="en-US" sz="2800" dirty="0" err="1"/>
              <a:t>llm</a:t>
            </a:r>
            <a:r>
              <a:rPr lang="en-US" sz="2800" dirty="0"/>
              <a:t>-self completion)</a:t>
            </a:r>
          </a:p>
        </p:txBody>
      </p:sp>
    </p:spTree>
    <p:extLst>
      <p:ext uri="{BB962C8B-B14F-4D97-AF65-F5344CB8AC3E}">
        <p14:creationId xmlns:p14="http://schemas.microsoft.com/office/powerpoint/2010/main" val="8493215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243C6-C419-275A-A1AB-B2115A3DFE61}"/>
            </a:ext>
          </a:extLst>
        </p:cNvPr>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E59664F6-6029-13B7-430D-41062B167B76}"/>
              </a:ext>
            </a:extLst>
          </p:cNvPr>
          <p:cNvSpPr txBox="1">
            <a:spLocks/>
          </p:cNvSpPr>
          <p:nvPr/>
        </p:nvSpPr>
        <p:spPr>
          <a:xfrm>
            <a:off x="838200" y="2505074"/>
            <a:ext cx="5488172" cy="3536951"/>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dirty="0"/>
          </a:p>
        </p:txBody>
      </p:sp>
      <p:pic>
        <p:nvPicPr>
          <p:cNvPr id="2" name="Picture 1">
            <a:extLst>
              <a:ext uri="{FF2B5EF4-FFF2-40B4-BE49-F238E27FC236}">
                <a16:creationId xmlns:a16="http://schemas.microsoft.com/office/drawing/2014/main" id="{18B21D14-FB4A-7737-2576-0549A3646B90}"/>
              </a:ext>
            </a:extLst>
          </p:cNvPr>
          <p:cNvPicPr>
            <a:picLocks noChangeAspect="1"/>
          </p:cNvPicPr>
          <p:nvPr/>
        </p:nvPicPr>
        <p:blipFill>
          <a:blip r:embed="rId2"/>
          <a:stretch>
            <a:fillRect/>
          </a:stretch>
        </p:blipFill>
        <p:spPr>
          <a:xfrm>
            <a:off x="2189616" y="2533650"/>
            <a:ext cx="6629400" cy="1790700"/>
          </a:xfrm>
          <a:prstGeom prst="rect">
            <a:avLst/>
          </a:prstGeom>
        </p:spPr>
      </p:pic>
      <p:sp>
        <p:nvSpPr>
          <p:cNvPr id="4" name="TextBox 3">
            <a:extLst>
              <a:ext uri="{FF2B5EF4-FFF2-40B4-BE49-F238E27FC236}">
                <a16:creationId xmlns:a16="http://schemas.microsoft.com/office/drawing/2014/main" id="{F8ECA6FF-75AD-712A-C28F-CDC99FA9B296}"/>
              </a:ext>
            </a:extLst>
          </p:cNvPr>
          <p:cNvSpPr txBox="1"/>
          <p:nvPr/>
        </p:nvSpPr>
        <p:spPr>
          <a:xfrm>
            <a:off x="3962066" y="1875934"/>
            <a:ext cx="3084499" cy="523220"/>
          </a:xfrm>
          <a:prstGeom prst="rect">
            <a:avLst/>
          </a:prstGeom>
          <a:noFill/>
        </p:spPr>
        <p:txBody>
          <a:bodyPr wrap="none" rtlCol="0">
            <a:spAutoFit/>
          </a:bodyPr>
          <a:lstStyle/>
          <a:p>
            <a:r>
              <a:rPr lang="en-US" sz="2800" dirty="0" err="1"/>
              <a:t>ReAct</a:t>
            </a:r>
            <a:r>
              <a:rPr lang="en-US" sz="2800" dirty="0"/>
              <a:t> loop in Spell</a:t>
            </a:r>
          </a:p>
        </p:txBody>
      </p:sp>
    </p:spTree>
    <p:extLst>
      <p:ext uri="{BB962C8B-B14F-4D97-AF65-F5344CB8AC3E}">
        <p14:creationId xmlns:p14="http://schemas.microsoft.com/office/powerpoint/2010/main" val="39034989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28833-A6E6-90A9-331B-2EC740505A36}"/>
            </a:ext>
          </a:extLst>
        </p:cNvPr>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3A001D03-A53A-A204-B27C-82CFE190C87B}"/>
              </a:ext>
            </a:extLst>
          </p:cNvPr>
          <p:cNvSpPr txBox="1">
            <a:spLocks/>
          </p:cNvSpPr>
          <p:nvPr/>
        </p:nvSpPr>
        <p:spPr>
          <a:xfrm>
            <a:off x="838200" y="2505074"/>
            <a:ext cx="5488172" cy="3536951"/>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dirty="0"/>
          </a:p>
        </p:txBody>
      </p:sp>
      <p:sp>
        <p:nvSpPr>
          <p:cNvPr id="16" name="TextBox 15">
            <a:extLst>
              <a:ext uri="{FF2B5EF4-FFF2-40B4-BE49-F238E27FC236}">
                <a16:creationId xmlns:a16="http://schemas.microsoft.com/office/drawing/2014/main" id="{3912363A-608D-9B33-E2DE-782BB26808A2}"/>
              </a:ext>
            </a:extLst>
          </p:cNvPr>
          <p:cNvSpPr txBox="1"/>
          <p:nvPr/>
        </p:nvSpPr>
        <p:spPr>
          <a:xfrm>
            <a:off x="3015718" y="1906011"/>
            <a:ext cx="4253024" cy="584775"/>
          </a:xfrm>
          <a:prstGeom prst="rect">
            <a:avLst/>
          </a:prstGeom>
          <a:noFill/>
        </p:spPr>
        <p:txBody>
          <a:bodyPr wrap="none" rtlCol="0">
            <a:spAutoFit/>
          </a:bodyPr>
          <a:lstStyle/>
          <a:p>
            <a:r>
              <a:rPr lang="en-US" sz="3200" dirty="0">
                <a:solidFill>
                  <a:srgbClr val="FF0000"/>
                </a:solidFill>
              </a:rPr>
              <a:t>1. How does </a:t>
            </a:r>
            <a:r>
              <a:rPr lang="en-US" sz="3200" i="1" dirty="0">
                <a:solidFill>
                  <a:srgbClr val="FF0000"/>
                </a:solidFill>
              </a:rPr>
              <a:t>this</a:t>
            </a:r>
            <a:r>
              <a:rPr lang="en-US" sz="3200" dirty="0">
                <a:solidFill>
                  <a:srgbClr val="FF0000"/>
                </a:solidFill>
              </a:rPr>
              <a:t> work?</a:t>
            </a:r>
          </a:p>
        </p:txBody>
      </p:sp>
      <p:pic>
        <p:nvPicPr>
          <p:cNvPr id="2" name="Picture 1">
            <a:extLst>
              <a:ext uri="{FF2B5EF4-FFF2-40B4-BE49-F238E27FC236}">
                <a16:creationId xmlns:a16="http://schemas.microsoft.com/office/drawing/2014/main" id="{36749FAB-3A4A-6DDF-63B9-539C3D0E1AC7}"/>
              </a:ext>
            </a:extLst>
          </p:cNvPr>
          <p:cNvPicPr>
            <a:picLocks noChangeAspect="1"/>
          </p:cNvPicPr>
          <p:nvPr/>
        </p:nvPicPr>
        <p:blipFill>
          <a:blip r:embed="rId2"/>
          <a:stretch>
            <a:fillRect/>
          </a:stretch>
        </p:blipFill>
        <p:spPr>
          <a:xfrm>
            <a:off x="2189616" y="2533650"/>
            <a:ext cx="6629400" cy="1790700"/>
          </a:xfrm>
          <a:prstGeom prst="rect">
            <a:avLst/>
          </a:prstGeom>
        </p:spPr>
      </p:pic>
      <p:sp>
        <p:nvSpPr>
          <p:cNvPr id="20" name="Rectangle 19">
            <a:extLst>
              <a:ext uri="{FF2B5EF4-FFF2-40B4-BE49-F238E27FC236}">
                <a16:creationId xmlns:a16="http://schemas.microsoft.com/office/drawing/2014/main" id="{4A131B8F-5DC2-E341-0F55-96B02C31BF06}"/>
              </a:ext>
            </a:extLst>
          </p:cNvPr>
          <p:cNvSpPr/>
          <p:nvPr/>
        </p:nvSpPr>
        <p:spPr>
          <a:xfrm>
            <a:off x="2708730" y="2770679"/>
            <a:ext cx="5970813" cy="35481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48685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F0116-EC40-4DBB-098C-3C5B097F6968}"/>
            </a:ext>
          </a:extLst>
        </p:cNvPr>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91E7D1EF-D864-C0AC-3F89-FA5ED2357A75}"/>
              </a:ext>
            </a:extLst>
          </p:cNvPr>
          <p:cNvSpPr txBox="1">
            <a:spLocks/>
          </p:cNvSpPr>
          <p:nvPr/>
        </p:nvSpPr>
        <p:spPr>
          <a:xfrm>
            <a:off x="838200" y="2505074"/>
            <a:ext cx="5488172" cy="3536951"/>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dirty="0"/>
          </a:p>
        </p:txBody>
      </p:sp>
      <p:sp>
        <p:nvSpPr>
          <p:cNvPr id="16" name="TextBox 15">
            <a:extLst>
              <a:ext uri="{FF2B5EF4-FFF2-40B4-BE49-F238E27FC236}">
                <a16:creationId xmlns:a16="http://schemas.microsoft.com/office/drawing/2014/main" id="{31C2C092-4DB4-7ABA-0655-B2181E787493}"/>
              </a:ext>
            </a:extLst>
          </p:cNvPr>
          <p:cNvSpPr txBox="1"/>
          <p:nvPr/>
        </p:nvSpPr>
        <p:spPr>
          <a:xfrm>
            <a:off x="2189616" y="1801784"/>
            <a:ext cx="8444428" cy="584775"/>
          </a:xfrm>
          <a:prstGeom prst="rect">
            <a:avLst/>
          </a:prstGeom>
          <a:noFill/>
        </p:spPr>
        <p:txBody>
          <a:bodyPr wrap="none" rtlCol="0">
            <a:spAutoFit/>
          </a:bodyPr>
          <a:lstStyle/>
          <a:p>
            <a:r>
              <a:rPr lang="en-US" sz="3200" dirty="0">
                <a:solidFill>
                  <a:srgbClr val="FF0000"/>
                </a:solidFill>
              </a:rPr>
              <a:t>2. How does the recursion avoid re-evaluation?</a:t>
            </a:r>
          </a:p>
        </p:txBody>
      </p:sp>
      <p:pic>
        <p:nvPicPr>
          <p:cNvPr id="2" name="Picture 1">
            <a:extLst>
              <a:ext uri="{FF2B5EF4-FFF2-40B4-BE49-F238E27FC236}">
                <a16:creationId xmlns:a16="http://schemas.microsoft.com/office/drawing/2014/main" id="{E80C4D6F-9D6D-10F9-5A24-21D46583855E}"/>
              </a:ext>
            </a:extLst>
          </p:cNvPr>
          <p:cNvPicPr>
            <a:picLocks noChangeAspect="1"/>
          </p:cNvPicPr>
          <p:nvPr/>
        </p:nvPicPr>
        <p:blipFill>
          <a:blip r:embed="rId2"/>
          <a:stretch>
            <a:fillRect/>
          </a:stretch>
        </p:blipFill>
        <p:spPr>
          <a:xfrm>
            <a:off x="2189616" y="2533650"/>
            <a:ext cx="6629400" cy="1790700"/>
          </a:xfrm>
          <a:prstGeom prst="rect">
            <a:avLst/>
          </a:prstGeom>
        </p:spPr>
      </p:pic>
      <p:sp>
        <p:nvSpPr>
          <p:cNvPr id="20" name="Rectangle 19">
            <a:extLst>
              <a:ext uri="{FF2B5EF4-FFF2-40B4-BE49-F238E27FC236}">
                <a16:creationId xmlns:a16="http://schemas.microsoft.com/office/drawing/2014/main" id="{F20298D5-4695-D3BE-23CF-5CDFE982C53E}"/>
              </a:ext>
            </a:extLst>
          </p:cNvPr>
          <p:cNvSpPr/>
          <p:nvPr/>
        </p:nvSpPr>
        <p:spPr>
          <a:xfrm>
            <a:off x="2708730" y="3075479"/>
            <a:ext cx="5970813" cy="35481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15767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BA9F0-70E8-DB17-2B66-F240F9A9A5AE}"/>
              </a:ext>
            </a:extLst>
          </p:cNvPr>
          <p:cNvSpPr>
            <a:spLocks noGrp="1"/>
          </p:cNvSpPr>
          <p:nvPr>
            <p:ph type="title"/>
          </p:nvPr>
        </p:nvSpPr>
        <p:spPr/>
        <p:txBody>
          <a:bodyPr/>
          <a:lstStyle/>
          <a:p>
            <a:r>
              <a:rPr lang="en-US" dirty="0"/>
              <a:t>Structure of every completion</a:t>
            </a:r>
          </a:p>
        </p:txBody>
      </p:sp>
      <p:pic>
        <p:nvPicPr>
          <p:cNvPr id="5" name="Picture 4" descr="A screen shot of a computer program&#10;&#10;AI-generated content may be incorrect.">
            <a:extLst>
              <a:ext uri="{FF2B5EF4-FFF2-40B4-BE49-F238E27FC236}">
                <a16:creationId xmlns:a16="http://schemas.microsoft.com/office/drawing/2014/main" id="{61225E29-C8AB-DD58-C7C2-872AC1AE5588}"/>
              </a:ext>
            </a:extLst>
          </p:cNvPr>
          <p:cNvPicPr>
            <a:picLocks noChangeAspect="1"/>
          </p:cNvPicPr>
          <p:nvPr/>
        </p:nvPicPr>
        <p:blipFill>
          <a:blip r:embed="rId2"/>
          <a:stretch>
            <a:fillRect/>
          </a:stretch>
        </p:blipFill>
        <p:spPr>
          <a:xfrm>
            <a:off x="1269357" y="2113745"/>
            <a:ext cx="9211022" cy="3662021"/>
          </a:xfrm>
          <a:prstGeom prst="rect">
            <a:avLst/>
          </a:prstGeom>
        </p:spPr>
      </p:pic>
    </p:spTree>
    <p:extLst>
      <p:ext uri="{BB962C8B-B14F-4D97-AF65-F5344CB8AC3E}">
        <p14:creationId xmlns:p14="http://schemas.microsoft.com/office/powerpoint/2010/main" val="21414178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B5EED-0EAB-02AA-0049-E24F332FB0AD}"/>
              </a:ext>
            </a:extLst>
          </p:cNvPr>
          <p:cNvSpPr>
            <a:spLocks noGrp="1"/>
          </p:cNvSpPr>
          <p:nvPr>
            <p:ph type="title"/>
          </p:nvPr>
        </p:nvSpPr>
        <p:spPr/>
        <p:txBody>
          <a:bodyPr/>
          <a:lstStyle/>
          <a:p>
            <a:r>
              <a:rPr lang="en-US" dirty="0" err="1"/>
              <a:t>ReAct</a:t>
            </a:r>
            <a:r>
              <a:rPr lang="en-US" dirty="0"/>
              <a:t> loop in Spell</a:t>
            </a:r>
          </a:p>
        </p:txBody>
      </p:sp>
      <p:sp>
        <p:nvSpPr>
          <p:cNvPr id="9" name="Rectangle 8">
            <a:extLst>
              <a:ext uri="{FF2B5EF4-FFF2-40B4-BE49-F238E27FC236}">
                <a16:creationId xmlns:a16="http://schemas.microsoft.com/office/drawing/2014/main" id="{4B1233F7-6AC5-874A-7F32-4E303DD3B164}"/>
              </a:ext>
            </a:extLst>
          </p:cNvPr>
          <p:cNvSpPr/>
          <p:nvPr/>
        </p:nvSpPr>
        <p:spPr>
          <a:xfrm>
            <a:off x="3111125" y="4618311"/>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10" name="Rectangle 9">
            <a:extLst>
              <a:ext uri="{FF2B5EF4-FFF2-40B4-BE49-F238E27FC236}">
                <a16:creationId xmlns:a16="http://schemas.microsoft.com/office/drawing/2014/main" id="{00A8FC11-E7A5-7029-E5E3-94916BE73AA2}"/>
              </a:ext>
            </a:extLst>
          </p:cNvPr>
          <p:cNvSpPr/>
          <p:nvPr/>
        </p:nvSpPr>
        <p:spPr>
          <a:xfrm>
            <a:off x="4141272" y="4618311"/>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1" name="Rectangle 10">
            <a:extLst>
              <a:ext uri="{FF2B5EF4-FFF2-40B4-BE49-F238E27FC236}">
                <a16:creationId xmlns:a16="http://schemas.microsoft.com/office/drawing/2014/main" id="{C1EBA344-516B-0319-AEBB-5A43A6FA2C20}"/>
              </a:ext>
            </a:extLst>
          </p:cNvPr>
          <p:cNvSpPr/>
          <p:nvPr/>
        </p:nvSpPr>
        <p:spPr>
          <a:xfrm>
            <a:off x="5527821" y="4618311"/>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cxnSp>
        <p:nvCxnSpPr>
          <p:cNvPr id="13" name="Straight Connector 12">
            <a:extLst>
              <a:ext uri="{FF2B5EF4-FFF2-40B4-BE49-F238E27FC236}">
                <a16:creationId xmlns:a16="http://schemas.microsoft.com/office/drawing/2014/main" id="{1550AF04-5F2B-E374-8A7C-E8AEC08F22EF}"/>
              </a:ext>
            </a:extLst>
          </p:cNvPr>
          <p:cNvCxnSpPr>
            <a:cxnSpLocks/>
          </p:cNvCxnSpPr>
          <p:nvPr/>
        </p:nvCxnSpPr>
        <p:spPr>
          <a:xfrm flipH="1">
            <a:off x="3111125" y="3429000"/>
            <a:ext cx="1574086" cy="1189311"/>
          </a:xfrm>
          <a:prstGeom prst="line">
            <a:avLst/>
          </a:prstGeom>
        </p:spPr>
        <p:style>
          <a:lnRef idx="2">
            <a:schemeClr val="dk1"/>
          </a:lnRef>
          <a:fillRef idx="0">
            <a:schemeClr val="dk1"/>
          </a:fillRef>
          <a:effectRef idx="1">
            <a:schemeClr val="dk1"/>
          </a:effectRef>
          <a:fontRef idx="minor">
            <a:schemeClr val="tx1"/>
          </a:fontRef>
        </p:style>
      </p:cxnSp>
      <p:cxnSp>
        <p:nvCxnSpPr>
          <p:cNvPr id="14" name="Straight Connector 13">
            <a:extLst>
              <a:ext uri="{FF2B5EF4-FFF2-40B4-BE49-F238E27FC236}">
                <a16:creationId xmlns:a16="http://schemas.microsoft.com/office/drawing/2014/main" id="{25C4B54D-E444-C48E-A1C3-D3719E90F184}"/>
              </a:ext>
            </a:extLst>
          </p:cNvPr>
          <p:cNvCxnSpPr>
            <a:cxnSpLocks/>
          </p:cNvCxnSpPr>
          <p:nvPr/>
        </p:nvCxnSpPr>
        <p:spPr>
          <a:xfrm flipH="1">
            <a:off x="5525241" y="3429000"/>
            <a:ext cx="1314115" cy="1189311"/>
          </a:xfrm>
          <a:prstGeom prst="line">
            <a:avLst/>
          </a:prstGeom>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A4F58EB8-241D-4A87-FFF3-34E576F0B1C5}"/>
              </a:ext>
            </a:extLst>
          </p:cNvPr>
          <p:cNvCxnSpPr>
            <a:cxnSpLocks/>
          </p:cNvCxnSpPr>
          <p:nvPr/>
        </p:nvCxnSpPr>
        <p:spPr>
          <a:xfrm flipH="1">
            <a:off x="5517314" y="3429000"/>
            <a:ext cx="1736926" cy="1189311"/>
          </a:xfrm>
          <a:prstGeom prst="line">
            <a:avLst/>
          </a:prstGeom>
        </p:spPr>
        <p:style>
          <a:lnRef idx="2">
            <a:schemeClr val="dk1"/>
          </a:lnRef>
          <a:fillRef idx="0">
            <a:schemeClr val="dk1"/>
          </a:fillRef>
          <a:effectRef idx="1">
            <a:schemeClr val="dk1"/>
          </a:effectRef>
          <a:fontRef idx="minor">
            <a:schemeClr val="tx1"/>
          </a:fontRef>
        </p:style>
      </p:cxnSp>
      <p:cxnSp>
        <p:nvCxnSpPr>
          <p:cNvPr id="20" name="Straight Connector 19">
            <a:extLst>
              <a:ext uri="{FF2B5EF4-FFF2-40B4-BE49-F238E27FC236}">
                <a16:creationId xmlns:a16="http://schemas.microsoft.com/office/drawing/2014/main" id="{7A1A50D1-3EC1-80A6-6AA9-02CFE016F3EC}"/>
              </a:ext>
            </a:extLst>
          </p:cNvPr>
          <p:cNvCxnSpPr>
            <a:cxnSpLocks/>
          </p:cNvCxnSpPr>
          <p:nvPr/>
        </p:nvCxnSpPr>
        <p:spPr>
          <a:xfrm flipH="1">
            <a:off x="6911790" y="3429000"/>
            <a:ext cx="1387479" cy="1189311"/>
          </a:xfrm>
          <a:prstGeom prst="line">
            <a:avLst/>
          </a:prstGeom>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860CEBCB-FA88-AB54-4D97-E33A19A7E046}"/>
              </a:ext>
            </a:extLst>
          </p:cNvPr>
          <p:cNvSpPr txBox="1"/>
          <p:nvPr/>
        </p:nvSpPr>
        <p:spPr>
          <a:xfrm>
            <a:off x="1853796" y="4401817"/>
            <a:ext cx="1253869" cy="707886"/>
          </a:xfrm>
          <a:prstGeom prst="rect">
            <a:avLst/>
          </a:prstGeom>
          <a:noFill/>
        </p:spPr>
        <p:txBody>
          <a:bodyPr wrap="none" rtlCol="0">
            <a:spAutoFit/>
          </a:bodyPr>
          <a:lstStyle/>
          <a:p>
            <a:r>
              <a:rPr lang="en-US" sz="4000" dirty="0"/>
              <a:t>LLM(</a:t>
            </a:r>
          </a:p>
        </p:txBody>
      </p:sp>
      <p:sp>
        <p:nvSpPr>
          <p:cNvPr id="23" name="TextBox 22">
            <a:extLst>
              <a:ext uri="{FF2B5EF4-FFF2-40B4-BE49-F238E27FC236}">
                <a16:creationId xmlns:a16="http://schemas.microsoft.com/office/drawing/2014/main" id="{7F309AD2-F9DF-3065-63D7-52F9D477CA69}"/>
              </a:ext>
            </a:extLst>
          </p:cNvPr>
          <p:cNvSpPr txBox="1"/>
          <p:nvPr/>
        </p:nvSpPr>
        <p:spPr>
          <a:xfrm>
            <a:off x="6991326" y="4401817"/>
            <a:ext cx="335348" cy="707886"/>
          </a:xfrm>
          <a:prstGeom prst="rect">
            <a:avLst/>
          </a:prstGeom>
          <a:noFill/>
        </p:spPr>
        <p:txBody>
          <a:bodyPr wrap="none" rtlCol="0">
            <a:spAutoFit/>
          </a:bodyPr>
          <a:lstStyle/>
          <a:p>
            <a:r>
              <a:rPr lang="en-US" sz="4000" dirty="0"/>
              <a:t>)</a:t>
            </a:r>
          </a:p>
        </p:txBody>
      </p:sp>
      <p:cxnSp>
        <p:nvCxnSpPr>
          <p:cNvPr id="24" name="Straight Connector 23">
            <a:extLst>
              <a:ext uri="{FF2B5EF4-FFF2-40B4-BE49-F238E27FC236}">
                <a16:creationId xmlns:a16="http://schemas.microsoft.com/office/drawing/2014/main" id="{DC3470CA-352C-44A2-FFE0-5B1F349977FE}"/>
              </a:ext>
            </a:extLst>
          </p:cNvPr>
          <p:cNvCxnSpPr>
            <a:cxnSpLocks/>
            <a:endCxn id="22" idx="0"/>
          </p:cNvCxnSpPr>
          <p:nvPr/>
        </p:nvCxnSpPr>
        <p:spPr>
          <a:xfrm flipH="1">
            <a:off x="2480731" y="3429000"/>
            <a:ext cx="186529" cy="972817"/>
          </a:xfrm>
          <a:prstGeom prst="line">
            <a:avLst/>
          </a:prstGeom>
        </p:spPr>
        <p:style>
          <a:lnRef idx="2">
            <a:schemeClr val="dk1"/>
          </a:lnRef>
          <a:fillRef idx="0">
            <a:schemeClr val="dk1"/>
          </a:fillRef>
          <a:effectRef idx="1">
            <a:schemeClr val="dk1"/>
          </a:effectRef>
          <a:fontRef idx="minor">
            <a:schemeClr val="tx1"/>
          </a:fontRef>
        </p:style>
      </p:cxnSp>
      <p:pic>
        <p:nvPicPr>
          <p:cNvPr id="31" name="Picture 30">
            <a:extLst>
              <a:ext uri="{FF2B5EF4-FFF2-40B4-BE49-F238E27FC236}">
                <a16:creationId xmlns:a16="http://schemas.microsoft.com/office/drawing/2014/main" id="{9113A8F1-D948-EE93-9ECE-9752CFADF4E1}"/>
              </a:ext>
            </a:extLst>
          </p:cNvPr>
          <p:cNvPicPr>
            <a:picLocks noChangeAspect="1"/>
          </p:cNvPicPr>
          <p:nvPr/>
        </p:nvPicPr>
        <p:blipFill>
          <a:blip r:embed="rId2"/>
          <a:stretch>
            <a:fillRect/>
          </a:stretch>
        </p:blipFill>
        <p:spPr>
          <a:xfrm>
            <a:off x="2209800" y="3042170"/>
            <a:ext cx="7772400" cy="340673"/>
          </a:xfrm>
          <a:prstGeom prst="rect">
            <a:avLst/>
          </a:prstGeom>
        </p:spPr>
      </p:pic>
      <p:pic>
        <p:nvPicPr>
          <p:cNvPr id="32" name="Picture 31">
            <a:extLst>
              <a:ext uri="{FF2B5EF4-FFF2-40B4-BE49-F238E27FC236}">
                <a16:creationId xmlns:a16="http://schemas.microsoft.com/office/drawing/2014/main" id="{5CAF0BB6-0A2F-C0F9-78D5-8CF7F077995D}"/>
              </a:ext>
            </a:extLst>
          </p:cNvPr>
          <p:cNvPicPr>
            <a:picLocks noChangeAspect="1"/>
          </p:cNvPicPr>
          <p:nvPr/>
        </p:nvPicPr>
        <p:blipFill>
          <a:blip r:embed="rId3"/>
          <a:stretch>
            <a:fillRect/>
          </a:stretch>
        </p:blipFill>
        <p:spPr>
          <a:xfrm>
            <a:off x="3493540" y="2023196"/>
            <a:ext cx="3162300" cy="330200"/>
          </a:xfrm>
          <a:prstGeom prst="rect">
            <a:avLst/>
          </a:prstGeom>
        </p:spPr>
      </p:pic>
      <p:sp>
        <p:nvSpPr>
          <p:cNvPr id="33" name="TextBox 32">
            <a:extLst>
              <a:ext uri="{FF2B5EF4-FFF2-40B4-BE49-F238E27FC236}">
                <a16:creationId xmlns:a16="http://schemas.microsoft.com/office/drawing/2014/main" id="{46F35441-0C87-8618-BB18-98C3D7E109A3}"/>
              </a:ext>
            </a:extLst>
          </p:cNvPr>
          <p:cNvSpPr txBox="1"/>
          <p:nvPr/>
        </p:nvSpPr>
        <p:spPr>
          <a:xfrm rot="16200000">
            <a:off x="4818049" y="2323873"/>
            <a:ext cx="513282" cy="830997"/>
          </a:xfrm>
          <a:prstGeom prst="rect">
            <a:avLst/>
          </a:prstGeom>
          <a:noFill/>
        </p:spPr>
        <p:txBody>
          <a:bodyPr wrap="none" rtlCol="0">
            <a:spAutoFit/>
          </a:bodyPr>
          <a:lstStyle/>
          <a:p>
            <a:r>
              <a:rPr lang="en-US" sz="4800" b="1" dirty="0"/>
              <a:t>=</a:t>
            </a:r>
          </a:p>
        </p:txBody>
      </p:sp>
    </p:spTree>
    <p:extLst>
      <p:ext uri="{BB962C8B-B14F-4D97-AF65-F5344CB8AC3E}">
        <p14:creationId xmlns:p14="http://schemas.microsoft.com/office/powerpoint/2010/main" val="6387466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879C4-B5B7-1988-7DAB-F10AA1C9DDC6}"/>
              </a:ext>
            </a:extLst>
          </p:cNvPr>
          <p:cNvSpPr>
            <a:spLocks noGrp="1"/>
          </p:cNvSpPr>
          <p:nvPr>
            <p:ph type="title"/>
          </p:nvPr>
        </p:nvSpPr>
        <p:spPr/>
        <p:txBody>
          <a:bodyPr/>
          <a:lstStyle/>
          <a:p>
            <a:r>
              <a:rPr lang="en-US" dirty="0"/>
              <a:t>Own-context engineering</a:t>
            </a:r>
          </a:p>
        </p:txBody>
      </p:sp>
      <p:pic>
        <p:nvPicPr>
          <p:cNvPr id="5" name="Content Placeholder 4" descr="A screen shot of a computer program&#10;&#10;AI-generated content may be incorrect.">
            <a:extLst>
              <a:ext uri="{FF2B5EF4-FFF2-40B4-BE49-F238E27FC236}">
                <a16:creationId xmlns:a16="http://schemas.microsoft.com/office/drawing/2014/main" id="{8B312FE2-18DB-1BAD-2F7A-7CE7DDECBE66}"/>
              </a:ext>
            </a:extLst>
          </p:cNvPr>
          <p:cNvPicPr>
            <a:picLocks noGrp="1" noChangeAspect="1"/>
          </p:cNvPicPr>
          <p:nvPr>
            <p:ph idx="1"/>
          </p:nvPr>
        </p:nvPicPr>
        <p:blipFill>
          <a:blip r:embed="rId2"/>
          <a:stretch>
            <a:fillRect/>
          </a:stretch>
        </p:blipFill>
        <p:spPr>
          <a:xfrm>
            <a:off x="1447800" y="2515394"/>
            <a:ext cx="9296400" cy="2971800"/>
          </a:xfrm>
          <a:prstGeom prst="rect">
            <a:avLst/>
          </a:prstGeom>
        </p:spPr>
      </p:pic>
    </p:spTree>
    <p:extLst>
      <p:ext uri="{BB962C8B-B14F-4D97-AF65-F5344CB8AC3E}">
        <p14:creationId xmlns:p14="http://schemas.microsoft.com/office/powerpoint/2010/main" val="36857705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6C4BC-2B84-25E1-ADBF-E8045DD4F179}"/>
              </a:ext>
            </a:extLst>
          </p:cNvPr>
          <p:cNvSpPr>
            <a:spLocks noGrp="1"/>
          </p:cNvSpPr>
          <p:nvPr>
            <p:ph type="title"/>
          </p:nvPr>
        </p:nvSpPr>
        <p:spPr/>
        <p:txBody>
          <a:bodyPr/>
          <a:lstStyle/>
          <a:p>
            <a:r>
              <a:rPr lang="en-US" dirty="0"/>
              <a:t>Self-orchestration</a:t>
            </a:r>
          </a:p>
        </p:txBody>
      </p:sp>
      <p:sp>
        <p:nvSpPr>
          <p:cNvPr id="3" name="Content Placeholder 2">
            <a:extLst>
              <a:ext uri="{FF2B5EF4-FFF2-40B4-BE49-F238E27FC236}">
                <a16:creationId xmlns:a16="http://schemas.microsoft.com/office/drawing/2014/main" id="{A11AA4BD-2453-7A11-DC31-259A51234B94}"/>
              </a:ext>
            </a:extLst>
          </p:cNvPr>
          <p:cNvSpPr>
            <a:spLocks noGrp="1"/>
          </p:cNvSpPr>
          <p:nvPr>
            <p:ph idx="1"/>
          </p:nvPr>
        </p:nvSpPr>
        <p:spPr/>
        <p:txBody>
          <a:bodyPr/>
          <a:lstStyle/>
          <a:p>
            <a:pPr marL="514350" indent="-514350">
              <a:buAutoNum type="arabicPeriod"/>
            </a:pPr>
            <a:r>
              <a:rPr lang="en-US" dirty="0"/>
              <a:t>Create a future</a:t>
            </a:r>
          </a:p>
          <a:p>
            <a:pPr marL="514350" indent="-514350">
              <a:buAutoNum type="arabicPeriod"/>
            </a:pPr>
            <a:r>
              <a:rPr lang="en-US" dirty="0"/>
              <a:t>Spawn agent with prompt</a:t>
            </a:r>
          </a:p>
          <a:p>
            <a:pPr marL="514350" indent="-514350">
              <a:buAutoNum type="arabicPeriod"/>
            </a:pPr>
            <a:r>
              <a:rPr lang="en-US" dirty="0"/>
              <a:t>Block for response</a:t>
            </a:r>
          </a:p>
          <a:p>
            <a:pPr marL="514350" indent="-514350">
              <a:buAutoNum type="arabicPeriod"/>
            </a:pPr>
            <a:r>
              <a:rPr lang="en-US" dirty="0"/>
              <a:t>Response satisfies condition? </a:t>
            </a:r>
          </a:p>
          <a:p>
            <a:pPr lvl="1"/>
            <a:r>
              <a:rPr lang="en-US" dirty="0"/>
              <a:t>Break or </a:t>
            </a:r>
            <a:r>
              <a:rPr lang="en-US" dirty="0" err="1"/>
              <a:t>goto</a:t>
            </a:r>
            <a:r>
              <a:rPr lang="en-US" dirty="0"/>
              <a:t> 2</a:t>
            </a:r>
          </a:p>
          <a:p>
            <a:pPr marL="514350" indent="-514350">
              <a:buAutoNum type="arabicPeriod"/>
            </a:pPr>
            <a:r>
              <a:rPr lang="en-US" dirty="0"/>
              <a:t>Message parent agent with response</a:t>
            </a:r>
          </a:p>
          <a:p>
            <a:pPr marL="514350" indent="-514350">
              <a:buAutoNum type="arabicPeriod"/>
            </a:pPr>
            <a:endParaRPr lang="en-US" dirty="0"/>
          </a:p>
        </p:txBody>
      </p:sp>
      <p:pic>
        <p:nvPicPr>
          <p:cNvPr id="1028" name="Picture 4" descr="ralph from the simpsons is standing in front of a row of lockers waving .">
            <a:extLst>
              <a:ext uri="{FF2B5EF4-FFF2-40B4-BE49-F238E27FC236}">
                <a16:creationId xmlns:a16="http://schemas.microsoft.com/office/drawing/2014/main" id="{B415C94C-4445-8F95-74E1-4B819407EA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3700" y="2178050"/>
            <a:ext cx="3340100" cy="25019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D4867E2-FA80-C535-2813-BF4E93856F9F}"/>
              </a:ext>
            </a:extLst>
          </p:cNvPr>
          <p:cNvSpPr txBox="1"/>
          <p:nvPr/>
        </p:nvSpPr>
        <p:spPr>
          <a:xfrm>
            <a:off x="2348954" y="5514734"/>
            <a:ext cx="3778342" cy="523220"/>
          </a:xfrm>
          <a:prstGeom prst="rect">
            <a:avLst/>
          </a:prstGeom>
          <a:noFill/>
        </p:spPr>
        <p:txBody>
          <a:bodyPr wrap="none" rtlCol="0">
            <a:spAutoFit/>
          </a:bodyPr>
          <a:lstStyle/>
          <a:p>
            <a:r>
              <a:rPr lang="en-US" sz="2800" dirty="0">
                <a:solidFill>
                  <a:srgbClr val="FF0000"/>
                </a:solidFill>
              </a:rPr>
              <a:t>Entirely written in Spell</a:t>
            </a:r>
          </a:p>
        </p:txBody>
      </p:sp>
      <p:sp>
        <p:nvSpPr>
          <p:cNvPr id="5" name="Rectangle 4">
            <a:extLst>
              <a:ext uri="{FF2B5EF4-FFF2-40B4-BE49-F238E27FC236}">
                <a16:creationId xmlns:a16="http://schemas.microsoft.com/office/drawing/2014/main" id="{2ADA6B74-D37E-2E8A-E951-3AEDA77D0784}"/>
              </a:ext>
            </a:extLst>
          </p:cNvPr>
          <p:cNvSpPr/>
          <p:nvPr/>
        </p:nvSpPr>
        <p:spPr>
          <a:xfrm>
            <a:off x="370389" y="1690688"/>
            <a:ext cx="11366339" cy="35179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3157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878DC-0ECD-CC97-0765-78CC9DB0A5EF}"/>
              </a:ext>
            </a:extLst>
          </p:cNvPr>
          <p:cNvSpPr>
            <a:spLocks noGrp="1"/>
          </p:cNvSpPr>
          <p:nvPr>
            <p:ph type="title"/>
          </p:nvPr>
        </p:nvSpPr>
        <p:spPr/>
        <p:txBody>
          <a:bodyPr/>
          <a:lstStyle/>
          <a:p>
            <a:r>
              <a:rPr lang="en-US" dirty="0"/>
              <a:t>Does it work?</a:t>
            </a:r>
          </a:p>
        </p:txBody>
      </p:sp>
      <p:sp>
        <p:nvSpPr>
          <p:cNvPr id="3" name="Content Placeholder 2">
            <a:extLst>
              <a:ext uri="{FF2B5EF4-FFF2-40B4-BE49-F238E27FC236}">
                <a16:creationId xmlns:a16="http://schemas.microsoft.com/office/drawing/2014/main" id="{CA5C3ED4-4366-B546-546D-B3A2D77CAE53}"/>
              </a:ext>
            </a:extLst>
          </p:cNvPr>
          <p:cNvSpPr>
            <a:spLocks noGrp="1"/>
          </p:cNvSpPr>
          <p:nvPr>
            <p:ph idx="1"/>
          </p:nvPr>
        </p:nvSpPr>
        <p:spPr>
          <a:xfrm>
            <a:off x="838200" y="1572896"/>
            <a:ext cx="10515600" cy="5032375"/>
          </a:xfrm>
        </p:spPr>
        <p:txBody>
          <a:bodyPr/>
          <a:lstStyle/>
          <a:p>
            <a:r>
              <a:rPr lang="en-US" dirty="0"/>
              <a:t>Coding</a:t>
            </a:r>
          </a:p>
          <a:p>
            <a:pPr lvl="1"/>
            <a:r>
              <a:rPr lang="en-US" dirty="0"/>
              <a:t>Terminal-Bench 2.0 (challenging computer use, e.g. “build </a:t>
            </a:r>
            <a:r>
              <a:rPr lang="en-US" dirty="0" err="1"/>
              <a:t>linux</a:t>
            </a:r>
            <a:r>
              <a:rPr lang="en-US" dirty="0"/>
              <a:t> kernel”)</a:t>
            </a:r>
          </a:p>
          <a:p>
            <a:pPr lvl="1"/>
            <a:r>
              <a:rPr lang="en-US" dirty="0"/>
              <a:t>SWE-bench lite and SWE-bench pro (fix real </a:t>
            </a:r>
            <a:r>
              <a:rPr lang="en-US" dirty="0" err="1"/>
              <a:t>github</a:t>
            </a:r>
            <a:r>
              <a:rPr lang="en-US" dirty="0"/>
              <a:t> issues)</a:t>
            </a:r>
          </a:p>
          <a:p>
            <a:r>
              <a:rPr lang="en-US" dirty="0"/>
              <a:t>Math</a:t>
            </a:r>
          </a:p>
          <a:p>
            <a:pPr lvl="1"/>
            <a:r>
              <a:rPr lang="en-US" dirty="0"/>
              <a:t>AIME 2025-2026</a:t>
            </a:r>
          </a:p>
          <a:p>
            <a:pPr lvl="1"/>
            <a:r>
              <a:rPr lang="en-US" dirty="0"/>
              <a:t>Omni-Math Hard (most challenging)</a:t>
            </a:r>
          </a:p>
          <a:p>
            <a:pPr lvl="1"/>
            <a:r>
              <a:rPr lang="en-US" dirty="0" err="1"/>
              <a:t>MathConstruct</a:t>
            </a:r>
            <a:r>
              <a:rPr lang="en-US" dirty="0"/>
              <a:t> (requires code execution)</a:t>
            </a:r>
          </a:p>
          <a:p>
            <a:r>
              <a:rPr lang="en-US" dirty="0"/>
              <a:t>Retrieval/multi-hop</a:t>
            </a:r>
          </a:p>
          <a:p>
            <a:pPr lvl="1"/>
            <a:r>
              <a:rPr lang="en-US" dirty="0" err="1"/>
              <a:t>LongBench</a:t>
            </a:r>
            <a:r>
              <a:rPr lang="en-US" dirty="0"/>
              <a:t> (long docs)</a:t>
            </a:r>
          </a:p>
          <a:p>
            <a:pPr lvl="1"/>
            <a:r>
              <a:rPr lang="en-US" dirty="0"/>
              <a:t>GAIA (web search)</a:t>
            </a:r>
          </a:p>
          <a:p>
            <a:r>
              <a:rPr lang="en-US" dirty="0"/>
              <a:t>Orchestration games</a:t>
            </a:r>
          </a:p>
        </p:txBody>
      </p:sp>
    </p:spTree>
    <p:extLst>
      <p:ext uri="{BB962C8B-B14F-4D97-AF65-F5344CB8AC3E}">
        <p14:creationId xmlns:p14="http://schemas.microsoft.com/office/powerpoint/2010/main" val="12685905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5" name="Picture 14" descr="A graph with green and orange squares&#10;&#10;AI-generated content may be incorrect.">
            <a:extLst>
              <a:ext uri="{FF2B5EF4-FFF2-40B4-BE49-F238E27FC236}">
                <a16:creationId xmlns:a16="http://schemas.microsoft.com/office/drawing/2014/main" id="{62C7406B-1CB9-FB25-39ED-A3E2FC9BB0BC}"/>
              </a:ext>
            </a:extLst>
          </p:cNvPr>
          <p:cNvPicPr>
            <a:picLocks noChangeAspect="1"/>
          </p:cNvPicPr>
          <p:nvPr/>
        </p:nvPicPr>
        <p:blipFill>
          <a:blip r:embed="rId2"/>
          <a:stretch>
            <a:fillRect/>
          </a:stretch>
        </p:blipFill>
        <p:spPr>
          <a:xfrm>
            <a:off x="484632" y="2379584"/>
            <a:ext cx="3517119" cy="2092686"/>
          </a:xfrm>
          <a:prstGeom prst="rect">
            <a:avLst/>
          </a:prstGeom>
        </p:spPr>
      </p:pic>
      <p:cxnSp>
        <p:nvCxnSpPr>
          <p:cNvPr id="36" name="Straight Connector 35">
            <a:extLst>
              <a:ext uri="{FF2B5EF4-FFF2-40B4-BE49-F238E27FC236}">
                <a16:creationId xmlns:a16="http://schemas.microsoft.com/office/drawing/2014/main" id="{DCD67800-37AC-4E14-89B0-F79DCB3FB8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165600"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7" name="Picture 16" descr="A graph of a bar graph&#10;&#10;AI-generated content may be incorrect.">
            <a:extLst>
              <a:ext uri="{FF2B5EF4-FFF2-40B4-BE49-F238E27FC236}">
                <a16:creationId xmlns:a16="http://schemas.microsoft.com/office/drawing/2014/main" id="{86C30FBF-3ADA-6FA2-713D-21B9C2CA7D85}"/>
              </a:ext>
            </a:extLst>
          </p:cNvPr>
          <p:cNvPicPr>
            <a:picLocks noChangeAspect="1"/>
          </p:cNvPicPr>
          <p:nvPr/>
        </p:nvPicPr>
        <p:blipFill>
          <a:blip r:embed="rId3"/>
          <a:stretch>
            <a:fillRect/>
          </a:stretch>
        </p:blipFill>
        <p:spPr>
          <a:xfrm>
            <a:off x="8400295" y="2379584"/>
            <a:ext cx="3537345" cy="2104720"/>
          </a:xfrm>
          <a:prstGeom prst="rect">
            <a:avLst/>
          </a:prstGeom>
        </p:spPr>
      </p:pic>
      <p:cxnSp>
        <p:nvCxnSpPr>
          <p:cNvPr id="37" name="Straight Connector 36">
            <a:extLst>
              <a:ext uri="{FF2B5EF4-FFF2-40B4-BE49-F238E27FC236}">
                <a16:creationId xmlns:a16="http://schemas.microsoft.com/office/drawing/2014/main" id="{20F1788F-A5AE-4188-8274-F7F2E3833E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995920"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3" name="Picture 12" descr="A graph with different colored bars&#10;&#10;AI-generated content may be incorrect.">
            <a:extLst>
              <a:ext uri="{FF2B5EF4-FFF2-40B4-BE49-F238E27FC236}">
                <a16:creationId xmlns:a16="http://schemas.microsoft.com/office/drawing/2014/main" id="{815609C4-E025-1D49-ABCE-D100D85BC737}"/>
              </a:ext>
            </a:extLst>
          </p:cNvPr>
          <p:cNvPicPr>
            <a:picLocks noChangeAspect="1"/>
          </p:cNvPicPr>
          <p:nvPr/>
        </p:nvPicPr>
        <p:blipFill>
          <a:blip r:embed="rId4"/>
          <a:stretch>
            <a:fillRect/>
          </a:stretch>
        </p:blipFill>
        <p:spPr>
          <a:xfrm>
            <a:off x="4395296" y="2379584"/>
            <a:ext cx="3517120" cy="2092686"/>
          </a:xfrm>
          <a:prstGeom prst="rect">
            <a:avLst/>
          </a:prstGeom>
        </p:spPr>
      </p:pic>
    </p:spTree>
    <p:extLst>
      <p:ext uri="{BB962C8B-B14F-4D97-AF65-F5344CB8AC3E}">
        <p14:creationId xmlns:p14="http://schemas.microsoft.com/office/powerpoint/2010/main" val="1707583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0155189-D96C-4527-B0EC-654B946BE6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graph with a green and orange square&#10;&#10;AI-generated content may be incorrect.">
            <a:extLst>
              <a:ext uri="{FF2B5EF4-FFF2-40B4-BE49-F238E27FC236}">
                <a16:creationId xmlns:a16="http://schemas.microsoft.com/office/drawing/2014/main" id="{0709025E-6D78-9630-F1F6-49AAD3943F79}"/>
              </a:ext>
            </a:extLst>
          </p:cNvPr>
          <p:cNvPicPr>
            <a:picLocks noChangeAspect="1"/>
          </p:cNvPicPr>
          <p:nvPr/>
        </p:nvPicPr>
        <p:blipFill>
          <a:blip r:embed="rId2"/>
          <a:stretch>
            <a:fillRect/>
          </a:stretch>
        </p:blipFill>
        <p:spPr>
          <a:xfrm>
            <a:off x="197945" y="2614232"/>
            <a:ext cx="3797536" cy="2259534"/>
          </a:xfrm>
          <a:prstGeom prst="rect">
            <a:avLst/>
          </a:prstGeom>
        </p:spPr>
      </p:pic>
      <p:pic>
        <p:nvPicPr>
          <p:cNvPr id="7" name="Picture 6">
            <a:extLst>
              <a:ext uri="{FF2B5EF4-FFF2-40B4-BE49-F238E27FC236}">
                <a16:creationId xmlns:a16="http://schemas.microsoft.com/office/drawing/2014/main" id="{3FA86AE8-754D-EB9E-D28C-7AB12F0D4CF4}"/>
              </a:ext>
            </a:extLst>
          </p:cNvPr>
          <p:cNvPicPr>
            <a:picLocks noChangeAspect="1"/>
          </p:cNvPicPr>
          <p:nvPr/>
        </p:nvPicPr>
        <p:blipFill>
          <a:blip r:embed="rId3"/>
          <a:stretch>
            <a:fillRect/>
          </a:stretch>
        </p:blipFill>
        <p:spPr>
          <a:xfrm>
            <a:off x="4197232" y="2614232"/>
            <a:ext cx="3797536" cy="2259534"/>
          </a:xfrm>
          <a:prstGeom prst="rect">
            <a:avLst/>
          </a:prstGeom>
        </p:spPr>
      </p:pic>
      <p:pic>
        <p:nvPicPr>
          <p:cNvPr id="5" name="Content Placeholder 4" descr="A graph with different colored bars&#10;&#10;AI-generated content may be incorrect.">
            <a:extLst>
              <a:ext uri="{FF2B5EF4-FFF2-40B4-BE49-F238E27FC236}">
                <a16:creationId xmlns:a16="http://schemas.microsoft.com/office/drawing/2014/main" id="{15CE020B-679C-5E8B-0661-5BBE109940E5}"/>
              </a:ext>
            </a:extLst>
          </p:cNvPr>
          <p:cNvPicPr>
            <a:picLocks noGrp="1" noChangeAspect="1"/>
          </p:cNvPicPr>
          <p:nvPr>
            <p:ph idx="1"/>
          </p:nvPr>
        </p:nvPicPr>
        <p:blipFill>
          <a:blip r:embed="rId4"/>
          <a:stretch>
            <a:fillRect/>
          </a:stretch>
        </p:blipFill>
        <p:spPr>
          <a:xfrm>
            <a:off x="8196519" y="2618979"/>
            <a:ext cx="3797536" cy="2250041"/>
          </a:xfrm>
          <a:prstGeom prst="rect">
            <a:avLst/>
          </a:prstGeom>
        </p:spPr>
      </p:pic>
      <p:sp>
        <p:nvSpPr>
          <p:cNvPr id="10" name="TextBox 9">
            <a:extLst>
              <a:ext uri="{FF2B5EF4-FFF2-40B4-BE49-F238E27FC236}">
                <a16:creationId xmlns:a16="http://schemas.microsoft.com/office/drawing/2014/main" id="{C0035C82-9C5A-E92A-1A8A-E2D1A90E14C9}"/>
              </a:ext>
            </a:extLst>
          </p:cNvPr>
          <p:cNvSpPr txBox="1"/>
          <p:nvPr/>
        </p:nvSpPr>
        <p:spPr>
          <a:xfrm>
            <a:off x="624840" y="6146922"/>
            <a:ext cx="3867854" cy="307777"/>
          </a:xfrm>
          <a:prstGeom prst="rect">
            <a:avLst/>
          </a:prstGeom>
          <a:noFill/>
        </p:spPr>
        <p:txBody>
          <a:bodyPr wrap="none" rtlCol="0">
            <a:spAutoFit/>
          </a:bodyPr>
          <a:lstStyle/>
          <a:p>
            <a:r>
              <a:rPr lang="en-US" sz="1400" dirty="0"/>
              <a:t>*Many false negatives due to overly rigid scoring</a:t>
            </a:r>
          </a:p>
        </p:txBody>
      </p:sp>
      <p:sp>
        <p:nvSpPr>
          <p:cNvPr id="11" name="TextBox 10">
            <a:extLst>
              <a:ext uri="{FF2B5EF4-FFF2-40B4-BE49-F238E27FC236}">
                <a16:creationId xmlns:a16="http://schemas.microsoft.com/office/drawing/2014/main" id="{0AB699F2-B075-8EDF-7764-250D9DC175E1}"/>
              </a:ext>
            </a:extLst>
          </p:cNvPr>
          <p:cNvSpPr txBox="1"/>
          <p:nvPr/>
        </p:nvSpPr>
        <p:spPr>
          <a:xfrm>
            <a:off x="2919673" y="2521188"/>
            <a:ext cx="290464"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18854750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22BDE4A-8A20-4A69-9C5A-581C8203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B49435-B04C-C66E-B7B4-C77AF1781C32}"/>
              </a:ext>
            </a:extLst>
          </p:cNvPr>
          <p:cNvSpPr>
            <a:spLocks noGrp="1"/>
          </p:cNvSpPr>
          <p:nvPr>
            <p:ph type="title"/>
          </p:nvPr>
        </p:nvSpPr>
        <p:spPr>
          <a:xfrm>
            <a:off x="1001684" y="170412"/>
            <a:ext cx="10178934" cy="1328730"/>
          </a:xfrm>
        </p:spPr>
        <p:txBody>
          <a:bodyPr vert="horz" lIns="91440" tIns="45720" rIns="91440" bIns="45720" rtlCol="0" anchor="b">
            <a:normAutofit/>
          </a:bodyPr>
          <a:lstStyle/>
          <a:p>
            <a:pPr algn="ctr"/>
            <a:endParaRPr lang="en-US" sz="5200" kern="1200">
              <a:solidFill>
                <a:schemeClr val="tx1"/>
              </a:solidFill>
              <a:latin typeface="+mj-lt"/>
              <a:ea typeface="+mj-ea"/>
              <a:cs typeface="+mj-cs"/>
            </a:endParaRPr>
          </a:p>
        </p:txBody>
      </p:sp>
      <p:pic>
        <p:nvPicPr>
          <p:cNvPr id="5" name="Content Placeholder 4" descr="A graph with different colored squares&#10;&#10;AI-generated content may be incorrect.">
            <a:extLst>
              <a:ext uri="{FF2B5EF4-FFF2-40B4-BE49-F238E27FC236}">
                <a16:creationId xmlns:a16="http://schemas.microsoft.com/office/drawing/2014/main" id="{4DCB7911-6493-F1BA-12D0-43417516C600}"/>
              </a:ext>
            </a:extLst>
          </p:cNvPr>
          <p:cNvPicPr>
            <a:picLocks noGrp="1" noChangeAspect="1"/>
          </p:cNvPicPr>
          <p:nvPr>
            <p:ph idx="1"/>
          </p:nvPr>
        </p:nvPicPr>
        <p:blipFill>
          <a:blip r:embed="rId2"/>
          <a:srcRect l="3679" r="7563"/>
          <a:stretch>
            <a:fillRect/>
          </a:stretch>
        </p:blipFill>
        <p:spPr>
          <a:xfrm>
            <a:off x="287828" y="2410447"/>
            <a:ext cx="5803323" cy="3890357"/>
          </a:xfrm>
          <a:prstGeom prst="rect">
            <a:avLst/>
          </a:prstGeom>
        </p:spPr>
      </p:pic>
      <p:pic>
        <p:nvPicPr>
          <p:cNvPr id="7" name="Picture 6" descr="A graph with different colored squares&#10;&#10;AI-generated content may be incorrect.">
            <a:extLst>
              <a:ext uri="{FF2B5EF4-FFF2-40B4-BE49-F238E27FC236}">
                <a16:creationId xmlns:a16="http://schemas.microsoft.com/office/drawing/2014/main" id="{B38120B6-AE42-B50D-01FB-911EE4754D12}"/>
              </a:ext>
            </a:extLst>
          </p:cNvPr>
          <p:cNvPicPr>
            <a:picLocks noChangeAspect="1"/>
          </p:cNvPicPr>
          <p:nvPr/>
        </p:nvPicPr>
        <p:blipFill>
          <a:blip r:embed="rId3"/>
          <a:srcRect l="5697" r="5546"/>
          <a:stretch>
            <a:fillRect/>
          </a:stretch>
        </p:blipFill>
        <p:spPr>
          <a:xfrm>
            <a:off x="6189934" y="2410448"/>
            <a:ext cx="5803323" cy="3890357"/>
          </a:xfrm>
          <a:prstGeom prst="rect">
            <a:avLst/>
          </a:prstGeom>
        </p:spPr>
      </p:pic>
    </p:spTree>
    <p:extLst>
      <p:ext uri="{BB962C8B-B14F-4D97-AF65-F5344CB8AC3E}">
        <p14:creationId xmlns:p14="http://schemas.microsoft.com/office/powerpoint/2010/main" val="17279061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9E817-895E-4ADA-80AC-8B493EA03AD3}"/>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75F69D2F-FB6B-F17F-78B6-91A8EA6ABE49}"/>
              </a:ext>
            </a:extLst>
          </p:cNvPr>
          <p:cNvSpPr>
            <a:spLocks noGrp="1"/>
          </p:cNvSpPr>
          <p:nvPr>
            <p:ph idx="1"/>
          </p:nvPr>
        </p:nvSpPr>
        <p:spPr/>
        <p:txBody>
          <a:bodyPr>
            <a:normAutofit fontScale="85000" lnSpcReduction="10000"/>
          </a:bodyPr>
          <a:lstStyle/>
          <a:p>
            <a:pPr marL="0" indent="0">
              <a:buNone/>
            </a:pPr>
            <a:r>
              <a:rPr lang="en-US" dirty="0"/>
              <a:t> Problem: place 120 points on a unit square boundary to extremize sum of</a:t>
            </a:r>
          </a:p>
          <a:p>
            <a:pPr marL="0" indent="0">
              <a:buNone/>
            </a:pPr>
            <a:r>
              <a:rPr lang="en-US" dirty="0"/>
              <a:t>  pairwise distances; find the threshold t.</a:t>
            </a:r>
          </a:p>
          <a:p>
            <a:pPr marL="0" indent="0">
              <a:buNone/>
            </a:pPr>
            <a:endParaRPr lang="en-US" dirty="0"/>
          </a:p>
          <a:p>
            <a:pPr marL="0" indent="0">
              <a:buNone/>
            </a:pPr>
            <a:r>
              <a:rPr lang="en-US" dirty="0"/>
              <a:t> a. Wrote </a:t>
            </a:r>
            <a:r>
              <a:rPr lang="en-US" dirty="0" err="1"/>
              <a:t>defn</a:t>
            </a:r>
            <a:r>
              <a:rPr lang="en-US" dirty="0"/>
              <a:t> numerical-integrate (trapezoidal rule, 10k points)</a:t>
            </a:r>
          </a:p>
          <a:p>
            <a:pPr marL="0" indent="0">
              <a:buNone/>
            </a:pPr>
            <a:r>
              <a:rPr lang="en-US" dirty="0"/>
              <a:t> b. Ran 500×500 double Riemann sum over </a:t>
            </a:r>
            <a:r>
              <a:rPr lang="en-US" dirty="0" err="1"/>
              <a:t>boundary×boundary</a:t>
            </a:r>
            <a:endParaRPr lang="en-US" dirty="0"/>
          </a:p>
          <a:p>
            <a:pPr marL="0" indent="0">
              <a:buNone/>
            </a:pPr>
            <a:r>
              <a:rPr lang="en-US" dirty="0"/>
              <a:t> c. Tested 6+ point configurations (30-per-corner, equally spaced, asymmetric)</a:t>
            </a:r>
          </a:p>
          <a:p>
            <a:pPr marL="0" indent="0">
              <a:buNone/>
            </a:pPr>
            <a:r>
              <a:rPr lang="en-US" dirty="0"/>
              <a:t> d. Discovered from the numerical data that the min of one configuration exactly equals the max of another → t = 30(1+√5) via IVT with dual bounding</a:t>
            </a:r>
          </a:p>
          <a:p>
            <a:pPr marL="0" indent="0">
              <a:buNone/>
            </a:pPr>
            <a:r>
              <a:rPr lang="en-US" dirty="0"/>
              <a:t> Pattern: Computation as discovery — numerical search revealed a structural fact the model couldn’t derive symbolically, then used it to construct the proof</a:t>
            </a:r>
          </a:p>
        </p:txBody>
      </p:sp>
    </p:spTree>
    <p:extLst>
      <p:ext uri="{BB962C8B-B14F-4D97-AF65-F5344CB8AC3E}">
        <p14:creationId xmlns:p14="http://schemas.microsoft.com/office/powerpoint/2010/main" val="16568209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EFE20-C7D2-0B78-2D0A-7C05DB609B6A}"/>
              </a:ext>
            </a:extLst>
          </p:cNvPr>
          <p:cNvSpPr>
            <a:spLocks noGrp="1"/>
          </p:cNvSpPr>
          <p:nvPr>
            <p:ph type="title"/>
          </p:nvPr>
        </p:nvSpPr>
        <p:spPr/>
        <p:txBody>
          <a:bodyPr/>
          <a:lstStyle/>
          <a:p>
            <a:r>
              <a:rPr lang="en-US" dirty="0"/>
              <a:t>20 questions</a:t>
            </a:r>
          </a:p>
        </p:txBody>
      </p:sp>
      <p:sp>
        <p:nvSpPr>
          <p:cNvPr id="3" name="Content Placeholder 2">
            <a:extLst>
              <a:ext uri="{FF2B5EF4-FFF2-40B4-BE49-F238E27FC236}">
                <a16:creationId xmlns:a16="http://schemas.microsoft.com/office/drawing/2014/main" id="{AFDF0B44-2C6A-AE76-3347-9DB51996CE47}"/>
              </a:ext>
            </a:extLst>
          </p:cNvPr>
          <p:cNvSpPr>
            <a:spLocks noGrp="1"/>
          </p:cNvSpPr>
          <p:nvPr>
            <p:ph idx="1"/>
          </p:nvPr>
        </p:nvSpPr>
        <p:spPr/>
        <p:txBody>
          <a:bodyPr/>
          <a:lstStyle/>
          <a:p>
            <a:pPr marL="0" indent="0">
              <a:buNone/>
            </a:pPr>
            <a:r>
              <a:rPr lang="en-US" dirty="0"/>
              <a:t>Play 20 questions. You are the orchestrator who picks a secret word. Create two subagent roles: (1) a CHECKER who knows the secret and answers yes/no honestly, (2) a WORKER who does NOT  know the secret and must guess by asking questions. The worker should adapt its questions based on previous answers. Loop until the worker guesses correctly or runs out of guesses.</a:t>
            </a:r>
          </a:p>
        </p:txBody>
      </p:sp>
    </p:spTree>
    <p:extLst>
      <p:ext uri="{BB962C8B-B14F-4D97-AF65-F5344CB8AC3E}">
        <p14:creationId xmlns:p14="http://schemas.microsoft.com/office/powerpoint/2010/main" val="10964779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65C8972-E442-D697-9118-7B6A7B30DF82}"/>
              </a:ext>
            </a:extLst>
          </p:cNvPr>
          <p:cNvSpPr txBox="1"/>
          <p:nvPr/>
        </p:nvSpPr>
        <p:spPr>
          <a:xfrm>
            <a:off x="698500" y="165954"/>
            <a:ext cx="11036300" cy="6463308"/>
          </a:xfrm>
          <a:prstGeom prst="rect">
            <a:avLst/>
          </a:prstGeom>
          <a:noFill/>
        </p:spPr>
        <p:txBody>
          <a:bodyPr wrap="square">
            <a:spAutoFit/>
          </a:bodyPr>
          <a:lstStyle/>
          <a:p>
            <a:r>
              <a:rPr lang="en-US" dirty="0"/>
              <a:t>(def interior (do (def completion (cat \"(def interior \" (pr-str (</a:t>
            </a:r>
            <a:r>
              <a:rPr lang="en-US" dirty="0" err="1"/>
              <a:t>uneval</a:t>
            </a:r>
            <a:r>
              <a:rPr lang="en-US" dirty="0"/>
              <a:t> 'interior)) \")\")) (def prompt \"Play 20 questions...\") </a:t>
            </a:r>
          </a:p>
          <a:p>
            <a:r>
              <a:rPr lang="en-US" dirty="0"/>
              <a:t>  (do</a:t>
            </a:r>
          </a:p>
          <a:p>
            <a:r>
              <a:rPr lang="en-US" dirty="0"/>
              <a:t>    </a:t>
            </a:r>
            <a:r>
              <a:rPr lang="en-US" dirty="0">
                <a:solidFill>
                  <a:srgbClr val="FF0000"/>
                </a:solidFill>
              </a:rPr>
              <a:t>(def secret "octopus")</a:t>
            </a:r>
          </a:p>
          <a:p>
            <a:r>
              <a:rPr lang="en-US" dirty="0"/>
              <a:t>    (</a:t>
            </a:r>
            <a:r>
              <a:rPr lang="en-US" dirty="0" err="1"/>
              <a:t>defn</a:t>
            </a:r>
            <a:r>
              <a:rPr lang="en-US" dirty="0"/>
              <a:t> checker-respond [question]</a:t>
            </a:r>
          </a:p>
          <a:p>
            <a:r>
              <a:rPr lang="en-US" dirty="0"/>
              <a:t>      (let [q (trim question)]</a:t>
            </a:r>
          </a:p>
          <a:p>
            <a:r>
              <a:rPr lang="en-US" dirty="0"/>
              <a:t>        (</a:t>
            </a:r>
            <a:r>
              <a:rPr lang="en-US" dirty="0" err="1"/>
              <a:t>cond</a:t>
            </a:r>
            <a:endParaRPr lang="en-US" dirty="0"/>
          </a:p>
          <a:p>
            <a:r>
              <a:rPr lang="en-US" dirty="0"/>
              <a:t>          (or (= q "Is it an animal?")</a:t>
            </a:r>
          </a:p>
          <a:p>
            <a:r>
              <a:rPr lang="en-US" dirty="0"/>
              <a:t>              (= q "Animal?"))</a:t>
            </a:r>
          </a:p>
          <a:p>
            <a:r>
              <a:rPr lang="en-US" dirty="0"/>
              <a:t>          "yes"</a:t>
            </a:r>
          </a:p>
          <a:p>
            <a:r>
              <a:rPr lang="en-US" dirty="0"/>
              <a:t>	…</a:t>
            </a:r>
          </a:p>
          <a:p>
            <a:r>
              <a:rPr lang="en-US" dirty="0"/>
              <a:t>          ;; Fallback: ask an LLM to answer yes/no based on the secret.</a:t>
            </a:r>
          </a:p>
          <a:p>
            <a:r>
              <a:rPr lang="en-US" dirty="0"/>
              <a:t>          :else</a:t>
            </a:r>
          </a:p>
          <a:p>
            <a:r>
              <a:rPr lang="en-US" dirty="0"/>
              <a:t>          (let [resp (trim (leaf-</a:t>
            </a:r>
            <a:r>
              <a:rPr lang="en-US" dirty="0" err="1"/>
              <a:t>llm</a:t>
            </a:r>
            <a:endParaRPr lang="en-US" dirty="0"/>
          </a:p>
          <a:p>
            <a:r>
              <a:rPr lang="en-US" dirty="0"/>
              <a:t>                            (cat "You are CHECKER in 20 questions. Secret word: " secret</a:t>
            </a:r>
          </a:p>
          <a:p>
            <a:r>
              <a:rPr lang="en-US" dirty="0"/>
              <a:t>                                 ". Answer ONLY '</a:t>
            </a:r>
            <a:r>
              <a:rPr lang="en-US" dirty="0" err="1"/>
              <a:t>yes'</a:t>
            </a:r>
            <a:r>
              <a:rPr lang="en-US" dirty="0"/>
              <a:t> or 'no' (no punctuation). "</a:t>
            </a:r>
          </a:p>
          <a:p>
            <a:r>
              <a:rPr lang="en-US" dirty="0"/>
              <a:t>                                 "Question: " q)))]</a:t>
            </a:r>
          </a:p>
          <a:p>
            <a:r>
              <a:rPr lang="en-US" dirty="0"/>
              <a:t>            (if (or (= resp "yes") (= resp "no")) resp "no")))))</a:t>
            </a:r>
          </a:p>
          <a:p>
            <a:r>
              <a:rPr lang="en-US" dirty="0"/>
              <a:t>    (</a:t>
            </a:r>
            <a:r>
              <a:rPr lang="en-US" dirty="0" err="1"/>
              <a:t>defn</a:t>
            </a:r>
            <a:r>
              <a:rPr lang="en-US" dirty="0"/>
              <a:t> worker-next [history]</a:t>
            </a:r>
          </a:p>
          <a:p>
            <a:r>
              <a:rPr lang="en-US" dirty="0"/>
              <a:t>      (leaf-</a:t>
            </a:r>
            <a:r>
              <a:rPr lang="en-US" dirty="0" err="1"/>
              <a:t>llm</a:t>
            </a:r>
            <a:endParaRPr lang="en-US" dirty="0"/>
          </a:p>
          <a:p>
            <a:r>
              <a:rPr lang="en-US" dirty="0"/>
              <a:t>        (cat</a:t>
            </a:r>
          </a:p>
          <a:p>
            <a:r>
              <a:rPr lang="en-US" dirty="0"/>
              <a:t>          "You are WORKER playing 20 questions. …</a:t>
            </a:r>
          </a:p>
          <a:p>
            <a:endParaRPr lang="en-US" dirty="0"/>
          </a:p>
        </p:txBody>
      </p:sp>
      <p:sp>
        <p:nvSpPr>
          <p:cNvPr id="7" name="Rectangle 6">
            <a:extLst>
              <a:ext uri="{FF2B5EF4-FFF2-40B4-BE49-F238E27FC236}">
                <a16:creationId xmlns:a16="http://schemas.microsoft.com/office/drawing/2014/main" id="{51DDD1AE-3BE1-C28D-6B15-82CA17BF9515}"/>
              </a:ext>
            </a:extLst>
          </p:cNvPr>
          <p:cNvSpPr/>
          <p:nvPr/>
        </p:nvSpPr>
        <p:spPr>
          <a:xfrm>
            <a:off x="2044700" y="1003300"/>
            <a:ext cx="990600" cy="3302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70209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0C0DB-CB99-C050-6936-94C132EE912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3D784B7-14E2-AF9A-D6E0-90C4ADA788CB}"/>
              </a:ext>
            </a:extLst>
          </p:cNvPr>
          <p:cNvSpPr txBox="1"/>
          <p:nvPr/>
        </p:nvSpPr>
        <p:spPr>
          <a:xfrm>
            <a:off x="698500" y="165954"/>
            <a:ext cx="11036300" cy="6463308"/>
          </a:xfrm>
          <a:prstGeom prst="rect">
            <a:avLst/>
          </a:prstGeom>
          <a:noFill/>
        </p:spPr>
        <p:txBody>
          <a:bodyPr wrap="square">
            <a:spAutoFit/>
          </a:bodyPr>
          <a:lstStyle/>
          <a:p>
            <a:r>
              <a:rPr lang="en-US" dirty="0"/>
              <a:t>(def interior (do (def completion (cat \"(def interior \" (pr-str (</a:t>
            </a:r>
            <a:r>
              <a:rPr lang="en-US" dirty="0" err="1"/>
              <a:t>uneval</a:t>
            </a:r>
            <a:r>
              <a:rPr lang="en-US" dirty="0"/>
              <a:t> 'interior)) \")\")) (def prompt \"Play 20 questions...\") </a:t>
            </a:r>
          </a:p>
          <a:p>
            <a:r>
              <a:rPr lang="en-US" dirty="0"/>
              <a:t>  (do</a:t>
            </a:r>
          </a:p>
          <a:p>
            <a:r>
              <a:rPr lang="en-US" dirty="0"/>
              <a:t>    (def secret "octopus")</a:t>
            </a:r>
          </a:p>
          <a:p>
            <a:r>
              <a:rPr lang="en-US" dirty="0">
                <a:solidFill>
                  <a:srgbClr val="FFC000"/>
                </a:solidFill>
              </a:rPr>
              <a:t>    (</a:t>
            </a:r>
            <a:r>
              <a:rPr lang="en-US" dirty="0" err="1">
                <a:solidFill>
                  <a:srgbClr val="FFC000"/>
                </a:solidFill>
              </a:rPr>
              <a:t>defn</a:t>
            </a:r>
            <a:r>
              <a:rPr lang="en-US" dirty="0">
                <a:solidFill>
                  <a:srgbClr val="FFC000"/>
                </a:solidFill>
              </a:rPr>
              <a:t> checker-respond [question]</a:t>
            </a:r>
          </a:p>
          <a:p>
            <a:r>
              <a:rPr lang="en-US" dirty="0">
                <a:solidFill>
                  <a:srgbClr val="FFC000"/>
                </a:solidFill>
              </a:rPr>
              <a:t>      (let [q (trim question)]</a:t>
            </a:r>
          </a:p>
          <a:p>
            <a:r>
              <a:rPr lang="en-US" dirty="0">
                <a:solidFill>
                  <a:srgbClr val="FFC000"/>
                </a:solidFill>
              </a:rPr>
              <a:t>        (</a:t>
            </a:r>
            <a:r>
              <a:rPr lang="en-US" dirty="0" err="1">
                <a:solidFill>
                  <a:srgbClr val="FFC000"/>
                </a:solidFill>
              </a:rPr>
              <a:t>cond</a:t>
            </a:r>
            <a:endParaRPr lang="en-US" dirty="0">
              <a:solidFill>
                <a:srgbClr val="FFC000"/>
              </a:solidFill>
            </a:endParaRPr>
          </a:p>
          <a:p>
            <a:r>
              <a:rPr lang="en-US" dirty="0">
                <a:solidFill>
                  <a:srgbClr val="FFC000"/>
                </a:solidFill>
              </a:rPr>
              <a:t>          (or (= q "Is it an animal?")</a:t>
            </a:r>
          </a:p>
          <a:p>
            <a:r>
              <a:rPr lang="en-US" dirty="0">
                <a:solidFill>
                  <a:srgbClr val="FFC000"/>
                </a:solidFill>
              </a:rPr>
              <a:t>              (= q "Animal?"))</a:t>
            </a:r>
          </a:p>
          <a:p>
            <a:r>
              <a:rPr lang="en-US" dirty="0">
                <a:solidFill>
                  <a:srgbClr val="FFC000"/>
                </a:solidFill>
              </a:rPr>
              <a:t>          "yes"</a:t>
            </a:r>
          </a:p>
          <a:p>
            <a:r>
              <a:rPr lang="en-US" dirty="0">
                <a:solidFill>
                  <a:srgbClr val="FFC000"/>
                </a:solidFill>
              </a:rPr>
              <a:t>	… </a:t>
            </a:r>
          </a:p>
          <a:p>
            <a:r>
              <a:rPr lang="en-US" dirty="0"/>
              <a:t>          ;; Fallback: ask an LLM to answer yes/no based on the secret.</a:t>
            </a:r>
            <a:r>
              <a:rPr lang="en-US" dirty="0">
                <a:solidFill>
                  <a:srgbClr val="FFC000"/>
                </a:solidFill>
              </a:rPr>
              <a:t>          </a:t>
            </a:r>
          </a:p>
          <a:p>
            <a:r>
              <a:rPr lang="en-US" dirty="0">
                <a:solidFill>
                  <a:srgbClr val="FFC000"/>
                </a:solidFill>
              </a:rPr>
              <a:t>          :else</a:t>
            </a:r>
          </a:p>
          <a:p>
            <a:r>
              <a:rPr lang="en-US" dirty="0">
                <a:solidFill>
                  <a:srgbClr val="FFC000"/>
                </a:solidFill>
              </a:rPr>
              <a:t>          (let [resp (trim (leaf-</a:t>
            </a:r>
            <a:r>
              <a:rPr lang="en-US" dirty="0" err="1">
                <a:solidFill>
                  <a:srgbClr val="FFC000"/>
                </a:solidFill>
              </a:rPr>
              <a:t>llm</a:t>
            </a:r>
            <a:endParaRPr lang="en-US" dirty="0">
              <a:solidFill>
                <a:srgbClr val="FFC000"/>
              </a:solidFill>
            </a:endParaRPr>
          </a:p>
          <a:p>
            <a:r>
              <a:rPr lang="en-US" dirty="0">
                <a:solidFill>
                  <a:srgbClr val="FFC000"/>
                </a:solidFill>
              </a:rPr>
              <a:t>                            (cat "You are CHECKER in 20 questions. Secret word: " secret</a:t>
            </a:r>
          </a:p>
          <a:p>
            <a:r>
              <a:rPr lang="en-US" dirty="0">
                <a:solidFill>
                  <a:srgbClr val="FFC000"/>
                </a:solidFill>
              </a:rPr>
              <a:t>                                 ". Answer ONLY '</a:t>
            </a:r>
            <a:r>
              <a:rPr lang="en-US" dirty="0" err="1">
                <a:solidFill>
                  <a:srgbClr val="FFC000"/>
                </a:solidFill>
              </a:rPr>
              <a:t>yes'</a:t>
            </a:r>
            <a:r>
              <a:rPr lang="en-US" dirty="0">
                <a:solidFill>
                  <a:srgbClr val="FFC000"/>
                </a:solidFill>
              </a:rPr>
              <a:t> or 'no' (no punctuation). "</a:t>
            </a:r>
          </a:p>
          <a:p>
            <a:r>
              <a:rPr lang="en-US" dirty="0">
                <a:solidFill>
                  <a:srgbClr val="FFC000"/>
                </a:solidFill>
              </a:rPr>
              <a:t>                                 "Question: " q)))]</a:t>
            </a:r>
          </a:p>
          <a:p>
            <a:r>
              <a:rPr lang="en-US" dirty="0">
                <a:solidFill>
                  <a:srgbClr val="FFC000"/>
                </a:solidFill>
              </a:rPr>
              <a:t>            (if (or (= resp "yes") (= resp "no")) resp "no")))))</a:t>
            </a:r>
          </a:p>
          <a:p>
            <a:r>
              <a:rPr lang="en-US" dirty="0"/>
              <a:t>    (</a:t>
            </a:r>
            <a:r>
              <a:rPr lang="en-US" dirty="0" err="1"/>
              <a:t>defn</a:t>
            </a:r>
            <a:r>
              <a:rPr lang="en-US" dirty="0"/>
              <a:t> worker-next [history]</a:t>
            </a:r>
          </a:p>
          <a:p>
            <a:r>
              <a:rPr lang="en-US" dirty="0"/>
              <a:t>      (leaf-</a:t>
            </a:r>
            <a:r>
              <a:rPr lang="en-US" dirty="0" err="1"/>
              <a:t>llm</a:t>
            </a:r>
            <a:endParaRPr lang="en-US" dirty="0"/>
          </a:p>
          <a:p>
            <a:r>
              <a:rPr lang="en-US" dirty="0"/>
              <a:t>        (cat</a:t>
            </a:r>
          </a:p>
          <a:p>
            <a:r>
              <a:rPr lang="en-US" dirty="0"/>
              <a:t>          "You are WORKER playing 20 questions. …</a:t>
            </a:r>
          </a:p>
          <a:p>
            <a:endParaRPr lang="en-US" dirty="0"/>
          </a:p>
        </p:txBody>
      </p:sp>
      <p:sp>
        <p:nvSpPr>
          <p:cNvPr id="2" name="Rectangle 1">
            <a:extLst>
              <a:ext uri="{FF2B5EF4-FFF2-40B4-BE49-F238E27FC236}">
                <a16:creationId xmlns:a16="http://schemas.microsoft.com/office/drawing/2014/main" id="{E0A93068-6622-371E-FE51-6E37A0BE596C}"/>
              </a:ext>
            </a:extLst>
          </p:cNvPr>
          <p:cNvSpPr/>
          <p:nvPr/>
        </p:nvSpPr>
        <p:spPr>
          <a:xfrm>
            <a:off x="2044700" y="1003300"/>
            <a:ext cx="990600" cy="3302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23721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76321-72EE-7470-3C70-A240BCB9AE2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0AAD908-4740-96B9-6ED5-A66CEAFC3025}"/>
              </a:ext>
            </a:extLst>
          </p:cNvPr>
          <p:cNvSpPr txBox="1"/>
          <p:nvPr/>
        </p:nvSpPr>
        <p:spPr>
          <a:xfrm>
            <a:off x="698500" y="165954"/>
            <a:ext cx="11036300" cy="6463308"/>
          </a:xfrm>
          <a:prstGeom prst="rect">
            <a:avLst/>
          </a:prstGeom>
          <a:noFill/>
        </p:spPr>
        <p:txBody>
          <a:bodyPr wrap="square">
            <a:spAutoFit/>
          </a:bodyPr>
          <a:lstStyle/>
          <a:p>
            <a:r>
              <a:rPr lang="en-US" dirty="0"/>
              <a:t>(def interior (do (def completion (cat \"(def interior \" (pr-str (</a:t>
            </a:r>
            <a:r>
              <a:rPr lang="en-US" dirty="0" err="1"/>
              <a:t>uneval</a:t>
            </a:r>
            <a:r>
              <a:rPr lang="en-US" dirty="0"/>
              <a:t> 'interior)) \")\")) (def prompt \"Play 20 questions...\") </a:t>
            </a:r>
          </a:p>
          <a:p>
            <a:r>
              <a:rPr lang="en-US" dirty="0"/>
              <a:t>  (do</a:t>
            </a:r>
          </a:p>
          <a:p>
            <a:r>
              <a:rPr lang="en-US" dirty="0"/>
              <a:t>    (def secret "octopus")</a:t>
            </a:r>
          </a:p>
          <a:p>
            <a:r>
              <a:rPr lang="en-US" dirty="0"/>
              <a:t>    (</a:t>
            </a:r>
            <a:r>
              <a:rPr lang="en-US" dirty="0" err="1"/>
              <a:t>defn</a:t>
            </a:r>
            <a:r>
              <a:rPr lang="en-US" dirty="0"/>
              <a:t> checker-respond [question]</a:t>
            </a:r>
          </a:p>
          <a:p>
            <a:r>
              <a:rPr lang="en-US" dirty="0"/>
              <a:t>      (let [q (trim question)]</a:t>
            </a:r>
          </a:p>
          <a:p>
            <a:r>
              <a:rPr lang="en-US" dirty="0"/>
              <a:t>        (</a:t>
            </a:r>
            <a:r>
              <a:rPr lang="en-US" dirty="0" err="1"/>
              <a:t>cond</a:t>
            </a:r>
            <a:endParaRPr lang="en-US" dirty="0"/>
          </a:p>
          <a:p>
            <a:r>
              <a:rPr lang="en-US" dirty="0"/>
              <a:t>          (or (= q "Is it an animal?")</a:t>
            </a:r>
          </a:p>
          <a:p>
            <a:r>
              <a:rPr lang="en-US" dirty="0"/>
              <a:t>              (= q "Animal?"))</a:t>
            </a:r>
          </a:p>
          <a:p>
            <a:r>
              <a:rPr lang="en-US" dirty="0"/>
              <a:t>          "yes"</a:t>
            </a:r>
          </a:p>
          <a:p>
            <a:r>
              <a:rPr lang="en-US" dirty="0"/>
              <a:t>	…</a:t>
            </a:r>
          </a:p>
          <a:p>
            <a:r>
              <a:rPr lang="en-US" dirty="0"/>
              <a:t>          ;; Fallback: ask an LLM to answer yes/no based on the secret.</a:t>
            </a:r>
          </a:p>
          <a:p>
            <a:r>
              <a:rPr lang="en-US" dirty="0"/>
              <a:t>          :else</a:t>
            </a:r>
          </a:p>
          <a:p>
            <a:r>
              <a:rPr lang="en-US" dirty="0"/>
              <a:t>          (let [resp (trim (leaf-</a:t>
            </a:r>
            <a:r>
              <a:rPr lang="en-US" dirty="0" err="1"/>
              <a:t>llm</a:t>
            </a:r>
            <a:endParaRPr lang="en-US" dirty="0"/>
          </a:p>
          <a:p>
            <a:r>
              <a:rPr lang="en-US" dirty="0"/>
              <a:t>                            (cat "You are CHECKER in 20 questions. Secret word: " secret</a:t>
            </a:r>
          </a:p>
          <a:p>
            <a:r>
              <a:rPr lang="en-US" dirty="0"/>
              <a:t>                                 ". Answer ONLY '</a:t>
            </a:r>
            <a:r>
              <a:rPr lang="en-US" dirty="0" err="1"/>
              <a:t>yes'</a:t>
            </a:r>
            <a:r>
              <a:rPr lang="en-US" dirty="0"/>
              <a:t> or 'no' (no punctuation). "</a:t>
            </a:r>
          </a:p>
          <a:p>
            <a:r>
              <a:rPr lang="en-US" dirty="0"/>
              <a:t>                                 "Question: " q)))]</a:t>
            </a:r>
          </a:p>
          <a:p>
            <a:r>
              <a:rPr lang="en-US" dirty="0"/>
              <a:t>            (if (or (= resp "yes") (= resp "no")) resp "no")))))</a:t>
            </a:r>
          </a:p>
          <a:p>
            <a:r>
              <a:rPr lang="en-US" dirty="0">
                <a:solidFill>
                  <a:srgbClr val="FFC000"/>
                </a:solidFill>
              </a:rPr>
              <a:t>    (</a:t>
            </a:r>
            <a:r>
              <a:rPr lang="en-US" dirty="0" err="1">
                <a:solidFill>
                  <a:srgbClr val="FFC000"/>
                </a:solidFill>
              </a:rPr>
              <a:t>defn</a:t>
            </a:r>
            <a:r>
              <a:rPr lang="en-US" dirty="0">
                <a:solidFill>
                  <a:srgbClr val="FFC000"/>
                </a:solidFill>
              </a:rPr>
              <a:t> worker-next [history]</a:t>
            </a:r>
          </a:p>
          <a:p>
            <a:r>
              <a:rPr lang="en-US" dirty="0">
                <a:solidFill>
                  <a:srgbClr val="FFC000"/>
                </a:solidFill>
              </a:rPr>
              <a:t>      (leaf-</a:t>
            </a:r>
            <a:r>
              <a:rPr lang="en-US" dirty="0" err="1">
                <a:solidFill>
                  <a:srgbClr val="FFC000"/>
                </a:solidFill>
              </a:rPr>
              <a:t>llm</a:t>
            </a:r>
            <a:endParaRPr lang="en-US" dirty="0">
              <a:solidFill>
                <a:srgbClr val="FFC000"/>
              </a:solidFill>
            </a:endParaRPr>
          </a:p>
          <a:p>
            <a:r>
              <a:rPr lang="en-US" dirty="0">
                <a:solidFill>
                  <a:srgbClr val="FFC000"/>
                </a:solidFill>
              </a:rPr>
              <a:t>        (cat</a:t>
            </a:r>
          </a:p>
          <a:p>
            <a:r>
              <a:rPr lang="en-US" dirty="0">
                <a:solidFill>
                  <a:srgbClr val="FFC000"/>
                </a:solidFill>
              </a:rPr>
              <a:t>          "You are WORKER playing 20 questions. …</a:t>
            </a:r>
          </a:p>
          <a:p>
            <a:endParaRPr lang="en-US" dirty="0"/>
          </a:p>
        </p:txBody>
      </p:sp>
      <p:sp>
        <p:nvSpPr>
          <p:cNvPr id="2" name="Rectangle 1">
            <a:extLst>
              <a:ext uri="{FF2B5EF4-FFF2-40B4-BE49-F238E27FC236}">
                <a16:creationId xmlns:a16="http://schemas.microsoft.com/office/drawing/2014/main" id="{77AD6A5D-7CD1-DFFF-007F-BC46453854AD}"/>
              </a:ext>
            </a:extLst>
          </p:cNvPr>
          <p:cNvSpPr/>
          <p:nvPr/>
        </p:nvSpPr>
        <p:spPr>
          <a:xfrm>
            <a:off x="2044700" y="1003300"/>
            <a:ext cx="990600" cy="3302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00060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E496EBE-E7B9-F51D-8ED0-13DF01F1571D}"/>
              </a:ext>
            </a:extLst>
          </p:cNvPr>
          <p:cNvSpPr txBox="1"/>
          <p:nvPr/>
        </p:nvSpPr>
        <p:spPr>
          <a:xfrm>
            <a:off x="2870200" y="356444"/>
            <a:ext cx="6096000" cy="5078313"/>
          </a:xfrm>
          <a:prstGeom prst="rect">
            <a:avLst/>
          </a:prstGeom>
          <a:noFill/>
        </p:spPr>
        <p:txBody>
          <a:bodyPr wrap="square">
            <a:spAutoFit/>
          </a:bodyPr>
          <a:lstStyle/>
          <a:p>
            <a:endParaRPr lang="en-US" dirty="0"/>
          </a:p>
          <a:p>
            <a:r>
              <a:rPr lang="en-US" dirty="0"/>
              <a:t>    </a:t>
            </a:r>
            <a:r>
              <a:rPr lang="en-US" dirty="0">
                <a:solidFill>
                  <a:srgbClr val="00B050"/>
                </a:solidFill>
              </a:rPr>
              <a:t>(</a:t>
            </a:r>
            <a:r>
              <a:rPr lang="en-US" dirty="0" err="1">
                <a:solidFill>
                  <a:srgbClr val="00B050"/>
                </a:solidFill>
              </a:rPr>
              <a:t>defn</a:t>
            </a:r>
            <a:r>
              <a:rPr lang="en-US" dirty="0">
                <a:solidFill>
                  <a:srgbClr val="00B050"/>
                </a:solidFill>
              </a:rPr>
              <a:t> loop-game [n history]</a:t>
            </a:r>
          </a:p>
          <a:p>
            <a:r>
              <a:rPr lang="en-US" dirty="0">
                <a:solidFill>
                  <a:srgbClr val="00B050"/>
                </a:solidFill>
              </a:rPr>
              <a:t>      (if (&gt; n 20)</a:t>
            </a:r>
          </a:p>
          <a:p>
            <a:r>
              <a:rPr lang="en-US" dirty="0">
                <a:solidFill>
                  <a:srgbClr val="00B050"/>
                </a:solidFill>
              </a:rPr>
              <a:t>        (cat "Out of questions.\</a:t>
            </a:r>
            <a:r>
              <a:rPr lang="en-US" dirty="0" err="1">
                <a:solidFill>
                  <a:srgbClr val="00B050"/>
                </a:solidFill>
              </a:rPr>
              <a:t>nSecret</a:t>
            </a:r>
            <a:r>
              <a:rPr lang="en-US" dirty="0">
                <a:solidFill>
                  <a:srgbClr val="00B050"/>
                </a:solidFill>
              </a:rPr>
              <a:t> was: " secret "\n\</a:t>
            </a:r>
            <a:r>
              <a:rPr lang="en-US" dirty="0" err="1">
                <a:solidFill>
                  <a:srgbClr val="00B050"/>
                </a:solidFill>
              </a:rPr>
              <a:t>nTranscript</a:t>
            </a:r>
            <a:r>
              <a:rPr lang="en-US" dirty="0">
                <a:solidFill>
                  <a:srgbClr val="00B050"/>
                </a:solidFill>
              </a:rPr>
              <a:t>:\n" history)</a:t>
            </a:r>
          </a:p>
          <a:p>
            <a:r>
              <a:rPr lang="en-US" dirty="0">
                <a:solidFill>
                  <a:srgbClr val="00B050"/>
                </a:solidFill>
              </a:rPr>
              <a:t>        (let [q (trim (</a:t>
            </a:r>
            <a:r>
              <a:rPr lang="en-US" dirty="0">
                <a:solidFill>
                  <a:srgbClr val="FFC000"/>
                </a:solidFill>
              </a:rPr>
              <a:t>worker-next</a:t>
            </a:r>
            <a:r>
              <a:rPr lang="en-US" dirty="0">
                <a:solidFill>
                  <a:srgbClr val="00B050"/>
                </a:solidFill>
              </a:rPr>
              <a:t> history))</a:t>
            </a:r>
          </a:p>
          <a:p>
            <a:r>
              <a:rPr lang="en-US" dirty="0">
                <a:solidFill>
                  <a:srgbClr val="00B050"/>
                </a:solidFill>
              </a:rPr>
              <a:t>              a (</a:t>
            </a:r>
            <a:r>
              <a:rPr lang="en-US" dirty="0">
                <a:solidFill>
                  <a:srgbClr val="FFC000"/>
                </a:solidFill>
              </a:rPr>
              <a:t>checker-respond</a:t>
            </a:r>
            <a:r>
              <a:rPr lang="en-US" dirty="0">
                <a:solidFill>
                  <a:srgbClr val="00B050"/>
                </a:solidFill>
              </a:rPr>
              <a:t> q)</a:t>
            </a:r>
          </a:p>
          <a:p>
            <a:r>
              <a:rPr lang="en-US" dirty="0">
                <a:solidFill>
                  <a:srgbClr val="00B050"/>
                </a:solidFill>
              </a:rPr>
              <a:t>              history2 (cat history "Q" n ": " q "\</a:t>
            </a:r>
            <a:r>
              <a:rPr lang="en-US" dirty="0" err="1">
                <a:solidFill>
                  <a:srgbClr val="00B050"/>
                </a:solidFill>
              </a:rPr>
              <a:t>nA</a:t>
            </a:r>
            <a:r>
              <a:rPr lang="en-US" dirty="0">
                <a:solidFill>
                  <a:srgbClr val="00B050"/>
                </a:solidFill>
              </a:rPr>
              <a:t>" n ": " a "\n")</a:t>
            </a:r>
          </a:p>
          <a:p>
            <a:r>
              <a:rPr lang="en-US" dirty="0">
                <a:solidFill>
                  <a:srgbClr val="00B050"/>
                </a:solidFill>
              </a:rPr>
              <a:t>              g (worker-guess history2)]</a:t>
            </a:r>
          </a:p>
          <a:p>
            <a:r>
              <a:rPr lang="en-US" dirty="0">
                <a:solidFill>
                  <a:srgbClr val="00B050"/>
                </a:solidFill>
              </a:rPr>
              <a:t>          (if (= (trim g) "NO_GUESS")</a:t>
            </a:r>
          </a:p>
          <a:p>
            <a:r>
              <a:rPr lang="en-US" dirty="0">
                <a:solidFill>
                  <a:srgbClr val="00B050"/>
                </a:solidFill>
              </a:rPr>
              <a:t>            (loop-game (+ n 1) history2)</a:t>
            </a:r>
          </a:p>
          <a:p>
            <a:r>
              <a:rPr lang="en-US" dirty="0">
                <a:solidFill>
                  <a:srgbClr val="00B050"/>
                </a:solidFill>
              </a:rPr>
              <a:t>            (if (= (trim g) </a:t>
            </a:r>
            <a:r>
              <a:rPr lang="en-US" dirty="0">
                <a:solidFill>
                  <a:srgbClr val="FF0000"/>
                </a:solidFill>
              </a:rPr>
              <a:t>secret</a:t>
            </a:r>
            <a:r>
              <a:rPr lang="en-US" dirty="0">
                <a:solidFill>
                  <a:srgbClr val="00B050"/>
                </a:solidFill>
              </a:rPr>
              <a:t>)</a:t>
            </a:r>
          </a:p>
          <a:p>
            <a:r>
              <a:rPr lang="en-US" dirty="0">
                <a:solidFill>
                  <a:srgbClr val="00B050"/>
                </a:solidFill>
              </a:rPr>
              <a:t>              (cat "WORKER guesses: " g "\</a:t>
            </a:r>
            <a:r>
              <a:rPr lang="en-US" dirty="0" err="1">
                <a:solidFill>
                  <a:srgbClr val="00B050"/>
                </a:solidFill>
              </a:rPr>
              <a:t>nResult</a:t>
            </a:r>
            <a:r>
              <a:rPr lang="en-US" dirty="0">
                <a:solidFill>
                  <a:srgbClr val="00B050"/>
                </a:solidFill>
              </a:rPr>
              <a:t>: correct.\n\</a:t>
            </a:r>
            <a:r>
              <a:rPr lang="en-US" dirty="0" err="1">
                <a:solidFill>
                  <a:srgbClr val="00B050"/>
                </a:solidFill>
              </a:rPr>
              <a:t>nTranscript</a:t>
            </a:r>
            <a:r>
              <a:rPr lang="en-US" dirty="0">
                <a:solidFill>
                  <a:srgbClr val="00B050"/>
                </a:solidFill>
              </a:rPr>
              <a:t>:\n" history2)</a:t>
            </a:r>
          </a:p>
          <a:p>
            <a:r>
              <a:rPr lang="en-US" dirty="0">
                <a:solidFill>
                  <a:srgbClr val="00B050"/>
                </a:solidFill>
              </a:rPr>
              <a:t>              (loop-game (+ n 1) (cat history2 "WORKER guesses: " g "\</a:t>
            </a:r>
            <a:r>
              <a:rPr lang="en-US" dirty="0" err="1">
                <a:solidFill>
                  <a:srgbClr val="00B050"/>
                </a:solidFill>
              </a:rPr>
              <a:t>nResult</a:t>
            </a:r>
            <a:r>
              <a:rPr lang="en-US" dirty="0">
                <a:solidFill>
                  <a:srgbClr val="00B050"/>
                </a:solidFill>
              </a:rPr>
              <a:t>: incorrect.\n")))))))</a:t>
            </a:r>
            <a:br>
              <a:rPr lang="en-US" dirty="0">
                <a:solidFill>
                  <a:srgbClr val="00B050"/>
                </a:solidFill>
              </a:rPr>
            </a:br>
            <a:br>
              <a:rPr lang="en-US" dirty="0"/>
            </a:br>
            <a:r>
              <a:rPr lang="en-US" dirty="0"/>
              <a:t>(loop-game 1 ""))</a:t>
            </a:r>
          </a:p>
        </p:txBody>
      </p:sp>
    </p:spTree>
    <p:extLst>
      <p:ext uri="{BB962C8B-B14F-4D97-AF65-F5344CB8AC3E}">
        <p14:creationId xmlns:p14="http://schemas.microsoft.com/office/powerpoint/2010/main" val="27882000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FDF916-A1AE-BF45-89F4-124248B1EEEA}"/>
              </a:ext>
            </a:extLst>
          </p:cNvPr>
          <p:cNvSpPr txBox="1"/>
          <p:nvPr/>
        </p:nvSpPr>
        <p:spPr>
          <a:xfrm>
            <a:off x="1778000" y="335845"/>
            <a:ext cx="6096000" cy="6186309"/>
          </a:xfrm>
          <a:prstGeom prst="rect">
            <a:avLst/>
          </a:prstGeom>
          <a:noFill/>
        </p:spPr>
        <p:txBody>
          <a:bodyPr wrap="square">
            <a:spAutoFit/>
          </a:bodyPr>
          <a:lstStyle/>
          <a:p>
            <a:r>
              <a:rPr lang="en-US" dirty="0"/>
              <a:t>  Transcript:</a:t>
            </a:r>
          </a:p>
          <a:p>
            <a:r>
              <a:rPr lang="en-US" dirty="0"/>
              <a:t>  Q1: Is it a physical object?</a:t>
            </a:r>
          </a:p>
          <a:p>
            <a:r>
              <a:rPr lang="en-US" dirty="0"/>
              <a:t>  A1: yes</a:t>
            </a:r>
          </a:p>
          <a:p>
            <a:r>
              <a:rPr lang="en-US" dirty="0"/>
              <a:t>  Q2: Is it something typically found indoors?</a:t>
            </a:r>
          </a:p>
          <a:p>
            <a:r>
              <a:rPr lang="en-US" dirty="0"/>
              <a:t>  A2: no</a:t>
            </a:r>
          </a:p>
          <a:p>
            <a:r>
              <a:rPr lang="en-US" dirty="0"/>
              <a:t>  Q3: Is it a natural object (not man-made)?</a:t>
            </a:r>
          </a:p>
          <a:p>
            <a:r>
              <a:rPr lang="en-US" dirty="0"/>
              <a:t>  A3: yes</a:t>
            </a:r>
          </a:p>
          <a:p>
            <a:r>
              <a:rPr lang="en-US" dirty="0"/>
              <a:t>  Q4: Is it a living thing (like a plant or animal)?</a:t>
            </a:r>
          </a:p>
          <a:p>
            <a:r>
              <a:rPr lang="en-US" dirty="0"/>
              <a:t>  A4: yes</a:t>
            </a:r>
          </a:p>
          <a:p>
            <a:r>
              <a:rPr lang="en-US" dirty="0"/>
              <a:t>  Q5: Is it an animal?</a:t>
            </a:r>
          </a:p>
          <a:p>
            <a:r>
              <a:rPr lang="en-US" dirty="0"/>
              <a:t>  A5: yes</a:t>
            </a:r>
          </a:p>
          <a:p>
            <a:r>
              <a:rPr lang="en-US" dirty="0"/>
              <a:t>  Q6: Is it a vertebrate (does it have a backbone)?</a:t>
            </a:r>
          </a:p>
          <a:p>
            <a:r>
              <a:rPr lang="en-US" dirty="0"/>
              <a:t>  A6: no</a:t>
            </a:r>
          </a:p>
          <a:p>
            <a:r>
              <a:rPr lang="en-US" dirty="0"/>
              <a:t>  Q7: Is it an insect (has six legs and three body segments)?</a:t>
            </a:r>
          </a:p>
          <a:p>
            <a:r>
              <a:rPr lang="en-US" dirty="0"/>
              <a:t>  A7: no</a:t>
            </a:r>
          </a:p>
          <a:p>
            <a:r>
              <a:rPr lang="en-US" dirty="0"/>
              <a:t>  WORKER guesses: spider</a:t>
            </a:r>
          </a:p>
          <a:p>
            <a:r>
              <a:rPr lang="en-US" dirty="0"/>
              <a:t>  Result: incorrect.</a:t>
            </a:r>
          </a:p>
          <a:p>
            <a:r>
              <a:rPr lang="en-US" dirty="0"/>
              <a:t>  Q8: Is it a mollusk (like a snail, slug, clam, or octopus)?</a:t>
            </a:r>
          </a:p>
          <a:p>
            <a:r>
              <a:rPr lang="en-US" dirty="0"/>
              <a:t>  A8: yes</a:t>
            </a:r>
          </a:p>
          <a:p>
            <a:r>
              <a:rPr lang="en-US" dirty="0"/>
              <a:t>WORKER guesses: </a:t>
            </a:r>
            <a:r>
              <a:rPr lang="en-US" dirty="0">
                <a:solidFill>
                  <a:srgbClr val="FF0000"/>
                </a:solidFill>
              </a:rPr>
              <a:t>octopus</a:t>
            </a:r>
          </a:p>
          <a:p>
            <a:r>
              <a:rPr lang="en-US" dirty="0"/>
              <a:t>  Result: correct.</a:t>
            </a:r>
          </a:p>
          <a:p>
            <a:endParaRPr lang="en-US" dirty="0"/>
          </a:p>
        </p:txBody>
      </p:sp>
      <p:pic>
        <p:nvPicPr>
          <p:cNvPr id="1026" name="Picture 2" descr="Octopus clip art Images - Free Download on Freepik">
            <a:extLst>
              <a:ext uri="{FF2B5EF4-FFF2-40B4-BE49-F238E27FC236}">
                <a16:creationId xmlns:a16="http://schemas.microsoft.com/office/drawing/2014/main" id="{2C7F4B14-9EFE-7E4F-4849-A8199582A8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74000" y="1884106"/>
            <a:ext cx="3581400" cy="2859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0387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12064</TotalTime>
  <Words>2358</Words>
  <Application>Microsoft Macintosh PowerPoint</Application>
  <PresentationFormat>Widescreen</PresentationFormat>
  <Paragraphs>390</Paragraphs>
  <Slides>56</Slides>
  <Notes>2</Notes>
  <HiddenSlides>9</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56</vt:i4>
      </vt:variant>
    </vt:vector>
  </HeadingPairs>
  <TitlesOfParts>
    <vt:vector size="60" baseType="lpstr">
      <vt:lpstr>Aptos</vt:lpstr>
      <vt:lpstr>Aptos Display</vt:lpstr>
      <vt:lpstr>Arial</vt:lpstr>
      <vt:lpstr>Office Theme</vt:lpstr>
      <vt:lpstr>Programming language for AI agents</vt:lpstr>
      <vt:lpstr>One definition of “agent”</vt:lpstr>
      <vt:lpstr>PowerPoint Presentation</vt:lpstr>
      <vt:lpstr>PowerPoint Presentation</vt:lpstr>
      <vt:lpstr>PowerPoint Presentation</vt:lpstr>
      <vt:lpstr>PowerPoint Presentation</vt:lpstr>
      <vt:lpstr>ReAct loop</vt:lpstr>
      <vt:lpstr>PowerPoint Presentation</vt:lpstr>
      <vt:lpstr>PowerPoint Presentation</vt:lpstr>
      <vt:lpstr>“Progressive disclosure”</vt:lpstr>
      <vt:lpstr>PowerPoint Presentation</vt:lpstr>
      <vt:lpstr>PowerPoint Presentation</vt:lpstr>
      <vt:lpstr>PowerPoint Presentation</vt:lpstr>
      <vt:lpstr>Human-programmed context engineering</vt:lpstr>
      <vt:lpstr>Human-programmed orchestration</vt:lpstr>
      <vt:lpstr>PowerPoint Presentation</vt:lpstr>
      <vt:lpstr>What is the maximum degree to which an agentic system can be controlled by the language model autonomously?</vt:lpstr>
      <vt:lpstr>PowerPoint Presentation</vt:lpstr>
      <vt:lpstr>PowerPoint Presentation</vt:lpstr>
      <vt:lpstr>Self-programmed context management</vt:lpstr>
      <vt:lpstr>Internalized control flow</vt:lpstr>
      <vt:lpstr>Self-programmed control flow</vt:lpstr>
      <vt:lpstr>Related: context folding / subagent recursion</vt:lpstr>
      <vt:lpstr>Related: context folding / subagent recursion</vt:lpstr>
      <vt:lpstr>Related: context folding / subagent recursion</vt:lpstr>
      <vt:lpstr>Related: context folding / subagent recursion</vt:lpstr>
      <vt:lpstr>Related: context folding / subagent recursion</vt:lpstr>
      <vt:lpstr>Related: context folding / subagent recursion</vt:lpstr>
      <vt:lpstr>PowerPoint Presentation</vt:lpstr>
      <vt:lpstr>Lisp and homoiconicity</vt:lpstr>
      <vt:lpstr>How do you reference source code as data?</vt:lpstr>
      <vt:lpstr>How do you reference source code as data?</vt:lpstr>
      <vt:lpstr>How do you reference source code as data?</vt:lpstr>
      <vt:lpstr>Spell (self-programmed execution language for LMs)</vt:lpstr>
      <vt:lpstr>Spell (self-programmed execution language for LMs)</vt:lpstr>
      <vt:lpstr>Spell (self-programmed execution language for LMs)</vt:lpstr>
      <vt:lpstr>Spell (self-programmed execution language for LMs)</vt:lpstr>
      <vt:lpstr>Spell (self-programmed execution language for LMs)</vt:lpstr>
      <vt:lpstr>PowerPoint Presentation</vt:lpstr>
      <vt:lpstr>PowerPoint Presentation</vt:lpstr>
      <vt:lpstr>PowerPoint Presentation</vt:lpstr>
      <vt:lpstr>Structure of every completion</vt:lpstr>
      <vt:lpstr>ReAct loop in Spell</vt:lpstr>
      <vt:lpstr>Own-context engineering</vt:lpstr>
      <vt:lpstr>Self-orchestration</vt:lpstr>
      <vt:lpstr>Does it work?</vt:lpstr>
      <vt:lpstr>PowerPoint Presentation</vt:lpstr>
      <vt:lpstr>PowerPoint Presentation</vt:lpstr>
      <vt:lpstr>PowerPoint Presentation</vt:lpstr>
      <vt:lpstr>Example</vt:lpstr>
      <vt:lpstr>20 questions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O'Connor, Luke J</dc:creator>
  <cp:lastModifiedBy>O'Connor, Luke J</cp:lastModifiedBy>
  <cp:revision>213</cp:revision>
  <dcterms:created xsi:type="dcterms:W3CDTF">2026-02-02T15:31:31Z</dcterms:created>
  <dcterms:modified xsi:type="dcterms:W3CDTF">2026-03-13T15:28:48Z</dcterms:modified>
</cp:coreProperties>
</file>