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85" r:id="rId3"/>
    <p:sldId id="301" r:id="rId4"/>
    <p:sldId id="304" r:id="rId5"/>
    <p:sldId id="306" r:id="rId6"/>
    <p:sldId id="305" r:id="rId7"/>
    <p:sldId id="286" r:id="rId8"/>
    <p:sldId id="257" r:id="rId9"/>
    <p:sldId id="287" r:id="rId10"/>
    <p:sldId id="298" r:id="rId11"/>
    <p:sldId id="307" r:id="rId12"/>
    <p:sldId id="296" r:id="rId13"/>
    <p:sldId id="303" r:id="rId14"/>
    <p:sldId id="258" r:id="rId15"/>
    <p:sldId id="259" r:id="rId16"/>
    <p:sldId id="260" r:id="rId17"/>
    <p:sldId id="263" r:id="rId18"/>
    <p:sldId id="262" r:id="rId19"/>
    <p:sldId id="299" r:id="rId20"/>
    <p:sldId id="308" r:id="rId21"/>
    <p:sldId id="288" r:id="rId22"/>
    <p:sldId id="290" r:id="rId23"/>
    <p:sldId id="293" r:id="rId24"/>
    <p:sldId id="295" r:id="rId25"/>
    <p:sldId id="291" r:id="rId26"/>
    <p:sldId id="292" r:id="rId27"/>
    <p:sldId id="266" r:id="rId28"/>
    <p:sldId id="267" r:id="rId29"/>
    <p:sldId id="309" r:id="rId30"/>
    <p:sldId id="310" r:id="rId31"/>
    <p:sldId id="264" r:id="rId32"/>
    <p:sldId id="284" r:id="rId33"/>
    <p:sldId id="283" r:id="rId34"/>
    <p:sldId id="269" r:id="rId35"/>
    <p:sldId id="274" r:id="rId36"/>
    <p:sldId id="270" r:id="rId37"/>
    <p:sldId id="271" r:id="rId38"/>
    <p:sldId id="273" r:id="rId39"/>
    <p:sldId id="272" r:id="rId40"/>
    <p:sldId id="275" r:id="rId41"/>
    <p:sldId id="276" r:id="rId42"/>
    <p:sldId id="279" r:id="rId43"/>
    <p:sldId id="280" r:id="rId44"/>
    <p:sldId id="278" r:id="rId45"/>
    <p:sldId id="277" r:id="rId4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6123"/>
    <p:restoredTop sz="94633"/>
  </p:normalViewPr>
  <p:slideViewPr>
    <p:cSldViewPr snapToGrid="0">
      <p:cViewPr varScale="1">
        <p:scale>
          <a:sx n="111" d="100"/>
          <a:sy n="111" d="100"/>
        </p:scale>
        <p:origin x="248" y="9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presProps" Target="presProps.xml"/><Relationship Id="rId50"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E7D37F-5E93-DE6F-3CF0-F8F827F28962}"/>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56EF5160-F6A9-65FD-BF37-5998AD9AE4DD}"/>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10B959CA-8C74-3E12-F9A1-07CB0A499E8D}"/>
              </a:ext>
            </a:extLst>
          </p:cNvPr>
          <p:cNvSpPr>
            <a:spLocks noGrp="1"/>
          </p:cNvSpPr>
          <p:nvPr>
            <p:ph type="dt" sz="half" idx="10"/>
          </p:nvPr>
        </p:nvSpPr>
        <p:spPr/>
        <p:txBody>
          <a:bodyPr/>
          <a:lstStyle/>
          <a:p>
            <a:fld id="{613B060C-E44F-2A46-BC3C-1233D286DD85}" type="datetimeFigureOut">
              <a:rPr lang="en-US" smtClean="0"/>
              <a:t>3/9/26</a:t>
            </a:fld>
            <a:endParaRPr lang="en-US"/>
          </a:p>
        </p:txBody>
      </p:sp>
      <p:sp>
        <p:nvSpPr>
          <p:cNvPr id="5" name="Footer Placeholder 4">
            <a:extLst>
              <a:ext uri="{FF2B5EF4-FFF2-40B4-BE49-F238E27FC236}">
                <a16:creationId xmlns:a16="http://schemas.microsoft.com/office/drawing/2014/main" id="{A0DBEE68-0504-D47B-D275-0B0CDC63F94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83696FE-9F7B-DA08-BA09-A8AECC99986E}"/>
              </a:ext>
            </a:extLst>
          </p:cNvPr>
          <p:cNvSpPr>
            <a:spLocks noGrp="1"/>
          </p:cNvSpPr>
          <p:nvPr>
            <p:ph type="sldNum" sz="quarter" idx="12"/>
          </p:nvPr>
        </p:nvSpPr>
        <p:spPr/>
        <p:txBody>
          <a:bodyPr/>
          <a:lstStyle/>
          <a:p>
            <a:fld id="{1CF02B05-3B47-5E43-ACC0-66286D1A7179}" type="slidenum">
              <a:rPr lang="en-US" smtClean="0"/>
              <a:t>‹#›</a:t>
            </a:fld>
            <a:endParaRPr lang="en-US"/>
          </a:p>
        </p:txBody>
      </p:sp>
    </p:spTree>
    <p:extLst>
      <p:ext uri="{BB962C8B-B14F-4D97-AF65-F5344CB8AC3E}">
        <p14:creationId xmlns:p14="http://schemas.microsoft.com/office/powerpoint/2010/main" val="15564063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33C1A0-DEB3-812D-9F01-D2CCEE153C1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B357BC2-B3DA-02EF-7985-84B511CB8492}"/>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E2A63DA-2C85-5F0C-CCD8-7F9454BDA9D3}"/>
              </a:ext>
            </a:extLst>
          </p:cNvPr>
          <p:cNvSpPr>
            <a:spLocks noGrp="1"/>
          </p:cNvSpPr>
          <p:nvPr>
            <p:ph type="dt" sz="half" idx="10"/>
          </p:nvPr>
        </p:nvSpPr>
        <p:spPr/>
        <p:txBody>
          <a:bodyPr/>
          <a:lstStyle/>
          <a:p>
            <a:fld id="{613B060C-E44F-2A46-BC3C-1233D286DD85}" type="datetimeFigureOut">
              <a:rPr lang="en-US" smtClean="0"/>
              <a:t>3/9/26</a:t>
            </a:fld>
            <a:endParaRPr lang="en-US"/>
          </a:p>
        </p:txBody>
      </p:sp>
      <p:sp>
        <p:nvSpPr>
          <p:cNvPr id="5" name="Footer Placeholder 4">
            <a:extLst>
              <a:ext uri="{FF2B5EF4-FFF2-40B4-BE49-F238E27FC236}">
                <a16:creationId xmlns:a16="http://schemas.microsoft.com/office/drawing/2014/main" id="{B5C302FD-0E0D-6B27-C816-C373D4A9ACE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F9407FD-FA8F-4B4E-3D7F-E29DD5E9F6D9}"/>
              </a:ext>
            </a:extLst>
          </p:cNvPr>
          <p:cNvSpPr>
            <a:spLocks noGrp="1"/>
          </p:cNvSpPr>
          <p:nvPr>
            <p:ph type="sldNum" sz="quarter" idx="12"/>
          </p:nvPr>
        </p:nvSpPr>
        <p:spPr/>
        <p:txBody>
          <a:bodyPr/>
          <a:lstStyle/>
          <a:p>
            <a:fld id="{1CF02B05-3B47-5E43-ACC0-66286D1A7179}" type="slidenum">
              <a:rPr lang="en-US" smtClean="0"/>
              <a:t>‹#›</a:t>
            </a:fld>
            <a:endParaRPr lang="en-US"/>
          </a:p>
        </p:txBody>
      </p:sp>
    </p:spTree>
    <p:extLst>
      <p:ext uri="{BB962C8B-B14F-4D97-AF65-F5344CB8AC3E}">
        <p14:creationId xmlns:p14="http://schemas.microsoft.com/office/powerpoint/2010/main" val="420797671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FFBA34C-1E95-1925-4BC2-DFA61C18ECBA}"/>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3E9A4ECA-5813-4196-4F1D-31F9B6ED6284}"/>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C9C698C-9648-B9A2-321B-88CE6722AC29}"/>
              </a:ext>
            </a:extLst>
          </p:cNvPr>
          <p:cNvSpPr>
            <a:spLocks noGrp="1"/>
          </p:cNvSpPr>
          <p:nvPr>
            <p:ph type="dt" sz="half" idx="10"/>
          </p:nvPr>
        </p:nvSpPr>
        <p:spPr/>
        <p:txBody>
          <a:bodyPr/>
          <a:lstStyle/>
          <a:p>
            <a:fld id="{613B060C-E44F-2A46-BC3C-1233D286DD85}" type="datetimeFigureOut">
              <a:rPr lang="en-US" smtClean="0"/>
              <a:t>3/9/26</a:t>
            </a:fld>
            <a:endParaRPr lang="en-US"/>
          </a:p>
        </p:txBody>
      </p:sp>
      <p:sp>
        <p:nvSpPr>
          <p:cNvPr id="5" name="Footer Placeholder 4">
            <a:extLst>
              <a:ext uri="{FF2B5EF4-FFF2-40B4-BE49-F238E27FC236}">
                <a16:creationId xmlns:a16="http://schemas.microsoft.com/office/drawing/2014/main" id="{2AD2AF4A-81F6-55EA-F070-BC15496174F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EE2B60B-5409-AB86-9CEB-C8DA09932BA7}"/>
              </a:ext>
            </a:extLst>
          </p:cNvPr>
          <p:cNvSpPr>
            <a:spLocks noGrp="1"/>
          </p:cNvSpPr>
          <p:nvPr>
            <p:ph type="sldNum" sz="quarter" idx="12"/>
          </p:nvPr>
        </p:nvSpPr>
        <p:spPr/>
        <p:txBody>
          <a:bodyPr/>
          <a:lstStyle/>
          <a:p>
            <a:fld id="{1CF02B05-3B47-5E43-ACC0-66286D1A7179}" type="slidenum">
              <a:rPr lang="en-US" smtClean="0"/>
              <a:t>‹#›</a:t>
            </a:fld>
            <a:endParaRPr lang="en-US"/>
          </a:p>
        </p:txBody>
      </p:sp>
    </p:spTree>
    <p:extLst>
      <p:ext uri="{BB962C8B-B14F-4D97-AF65-F5344CB8AC3E}">
        <p14:creationId xmlns:p14="http://schemas.microsoft.com/office/powerpoint/2010/main" val="363226959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217D7F-C9C3-27E4-28D8-29A01C127A7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F089596-3216-833F-87ED-45E00A5A479B}"/>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CEB73883-3F3F-6D2E-9427-60AE9BAA9F00}"/>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C18364FD-D128-39CE-0467-FFAEA0F3B07B}"/>
              </a:ext>
            </a:extLst>
          </p:cNvPr>
          <p:cNvSpPr>
            <a:spLocks noGrp="1"/>
          </p:cNvSpPr>
          <p:nvPr>
            <p:ph type="dt" sz="half" idx="10"/>
          </p:nvPr>
        </p:nvSpPr>
        <p:spPr/>
        <p:txBody>
          <a:bodyPr/>
          <a:lstStyle/>
          <a:p>
            <a:fld id="{613B060C-E44F-2A46-BC3C-1233D286DD85}" type="datetimeFigureOut">
              <a:rPr lang="en-US" smtClean="0"/>
              <a:t>3/9/26</a:t>
            </a:fld>
            <a:endParaRPr lang="en-US"/>
          </a:p>
        </p:txBody>
      </p:sp>
      <p:sp>
        <p:nvSpPr>
          <p:cNvPr id="6" name="Footer Placeholder 5">
            <a:extLst>
              <a:ext uri="{FF2B5EF4-FFF2-40B4-BE49-F238E27FC236}">
                <a16:creationId xmlns:a16="http://schemas.microsoft.com/office/drawing/2014/main" id="{9F3567CE-42C3-33E7-7985-C65AE5B1057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B9893AF-6D89-FAA8-6A8D-142998087250}"/>
              </a:ext>
            </a:extLst>
          </p:cNvPr>
          <p:cNvSpPr>
            <a:spLocks noGrp="1"/>
          </p:cNvSpPr>
          <p:nvPr>
            <p:ph type="sldNum" sz="quarter" idx="12"/>
          </p:nvPr>
        </p:nvSpPr>
        <p:spPr/>
        <p:txBody>
          <a:bodyPr/>
          <a:lstStyle/>
          <a:p>
            <a:fld id="{1CF02B05-3B47-5E43-ACC0-66286D1A7179}" type="slidenum">
              <a:rPr lang="en-US" smtClean="0"/>
              <a:t>‹#›</a:t>
            </a:fld>
            <a:endParaRPr lang="en-US"/>
          </a:p>
        </p:txBody>
      </p:sp>
    </p:spTree>
    <p:extLst>
      <p:ext uri="{BB962C8B-B14F-4D97-AF65-F5344CB8AC3E}">
        <p14:creationId xmlns:p14="http://schemas.microsoft.com/office/powerpoint/2010/main" val="422837842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1CC758-5E22-4710-FB2E-3D9F21CD75F7}"/>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D286CAC7-9A91-9805-759E-E9603EA985B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55F66FA1-F6E5-CFD1-6906-D2EF599245B3}"/>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1BBC7408-181F-01EB-C2DA-74E1CE7D63F5}"/>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7735773-FC68-51C9-D19A-4B120F28636F}"/>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3863CD2D-062F-EA23-228E-5F66310CAB85}"/>
              </a:ext>
            </a:extLst>
          </p:cNvPr>
          <p:cNvSpPr>
            <a:spLocks noGrp="1"/>
          </p:cNvSpPr>
          <p:nvPr>
            <p:ph type="dt" sz="half" idx="10"/>
          </p:nvPr>
        </p:nvSpPr>
        <p:spPr/>
        <p:txBody>
          <a:bodyPr/>
          <a:lstStyle/>
          <a:p>
            <a:fld id="{613B060C-E44F-2A46-BC3C-1233D286DD85}" type="datetimeFigureOut">
              <a:rPr lang="en-US" smtClean="0"/>
              <a:t>3/9/26</a:t>
            </a:fld>
            <a:endParaRPr lang="en-US"/>
          </a:p>
        </p:txBody>
      </p:sp>
      <p:sp>
        <p:nvSpPr>
          <p:cNvPr id="8" name="Footer Placeholder 7">
            <a:extLst>
              <a:ext uri="{FF2B5EF4-FFF2-40B4-BE49-F238E27FC236}">
                <a16:creationId xmlns:a16="http://schemas.microsoft.com/office/drawing/2014/main" id="{75C03F9C-8777-D137-3CA8-8102B7791C3D}"/>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2B1227CD-5AAF-5FA1-9888-2E0C13C6963E}"/>
              </a:ext>
            </a:extLst>
          </p:cNvPr>
          <p:cNvSpPr>
            <a:spLocks noGrp="1"/>
          </p:cNvSpPr>
          <p:nvPr>
            <p:ph type="sldNum" sz="quarter" idx="12"/>
          </p:nvPr>
        </p:nvSpPr>
        <p:spPr/>
        <p:txBody>
          <a:bodyPr/>
          <a:lstStyle/>
          <a:p>
            <a:fld id="{1CF02B05-3B47-5E43-ACC0-66286D1A7179}" type="slidenum">
              <a:rPr lang="en-US" smtClean="0"/>
              <a:t>‹#›</a:t>
            </a:fld>
            <a:endParaRPr lang="en-US"/>
          </a:p>
        </p:txBody>
      </p:sp>
    </p:spTree>
    <p:extLst>
      <p:ext uri="{BB962C8B-B14F-4D97-AF65-F5344CB8AC3E}">
        <p14:creationId xmlns:p14="http://schemas.microsoft.com/office/powerpoint/2010/main" val="314235327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CC12C0-5913-116A-ABDA-ED5ECF1D2BF1}"/>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A8A4ABB1-797C-F7C2-607C-BBCD79BEF379}"/>
              </a:ext>
            </a:extLst>
          </p:cNvPr>
          <p:cNvSpPr>
            <a:spLocks noGrp="1"/>
          </p:cNvSpPr>
          <p:nvPr>
            <p:ph type="dt" sz="half" idx="10"/>
          </p:nvPr>
        </p:nvSpPr>
        <p:spPr/>
        <p:txBody>
          <a:bodyPr/>
          <a:lstStyle/>
          <a:p>
            <a:fld id="{613B060C-E44F-2A46-BC3C-1233D286DD85}" type="datetimeFigureOut">
              <a:rPr lang="en-US" smtClean="0"/>
              <a:t>3/9/26</a:t>
            </a:fld>
            <a:endParaRPr lang="en-US"/>
          </a:p>
        </p:txBody>
      </p:sp>
      <p:sp>
        <p:nvSpPr>
          <p:cNvPr id="4" name="Footer Placeholder 3">
            <a:extLst>
              <a:ext uri="{FF2B5EF4-FFF2-40B4-BE49-F238E27FC236}">
                <a16:creationId xmlns:a16="http://schemas.microsoft.com/office/drawing/2014/main" id="{C1146DD4-9BB6-18BF-B543-A2DC8B5A7DDC}"/>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03DBD41A-8AED-27DC-8037-693538DF58B0}"/>
              </a:ext>
            </a:extLst>
          </p:cNvPr>
          <p:cNvSpPr>
            <a:spLocks noGrp="1"/>
          </p:cNvSpPr>
          <p:nvPr>
            <p:ph type="sldNum" sz="quarter" idx="12"/>
          </p:nvPr>
        </p:nvSpPr>
        <p:spPr/>
        <p:txBody>
          <a:bodyPr/>
          <a:lstStyle/>
          <a:p>
            <a:fld id="{1CF02B05-3B47-5E43-ACC0-66286D1A7179}" type="slidenum">
              <a:rPr lang="en-US" smtClean="0"/>
              <a:t>‹#›</a:t>
            </a:fld>
            <a:endParaRPr lang="en-US"/>
          </a:p>
        </p:txBody>
      </p:sp>
    </p:spTree>
    <p:extLst>
      <p:ext uri="{BB962C8B-B14F-4D97-AF65-F5344CB8AC3E}">
        <p14:creationId xmlns:p14="http://schemas.microsoft.com/office/powerpoint/2010/main" val="210955894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CC5B9AC2-A3D6-A0B5-7EAC-AF55C43454BD}"/>
              </a:ext>
            </a:extLst>
          </p:cNvPr>
          <p:cNvSpPr>
            <a:spLocks noGrp="1"/>
          </p:cNvSpPr>
          <p:nvPr>
            <p:ph type="dt" sz="half" idx="10"/>
          </p:nvPr>
        </p:nvSpPr>
        <p:spPr/>
        <p:txBody>
          <a:bodyPr/>
          <a:lstStyle/>
          <a:p>
            <a:fld id="{613B060C-E44F-2A46-BC3C-1233D286DD85}" type="datetimeFigureOut">
              <a:rPr lang="en-US" smtClean="0"/>
              <a:t>3/9/26</a:t>
            </a:fld>
            <a:endParaRPr lang="en-US"/>
          </a:p>
        </p:txBody>
      </p:sp>
      <p:sp>
        <p:nvSpPr>
          <p:cNvPr id="3" name="Footer Placeholder 2">
            <a:extLst>
              <a:ext uri="{FF2B5EF4-FFF2-40B4-BE49-F238E27FC236}">
                <a16:creationId xmlns:a16="http://schemas.microsoft.com/office/drawing/2014/main" id="{5A1D7D08-5B8D-2143-BE71-DD60F3D8FCF6}"/>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7E3ADD2D-65FC-71C9-780A-791EA824E08B}"/>
              </a:ext>
            </a:extLst>
          </p:cNvPr>
          <p:cNvSpPr>
            <a:spLocks noGrp="1"/>
          </p:cNvSpPr>
          <p:nvPr>
            <p:ph type="sldNum" sz="quarter" idx="12"/>
          </p:nvPr>
        </p:nvSpPr>
        <p:spPr/>
        <p:txBody>
          <a:bodyPr/>
          <a:lstStyle/>
          <a:p>
            <a:fld id="{1CF02B05-3B47-5E43-ACC0-66286D1A7179}" type="slidenum">
              <a:rPr lang="en-US" smtClean="0"/>
              <a:t>‹#›</a:t>
            </a:fld>
            <a:endParaRPr lang="en-US"/>
          </a:p>
        </p:txBody>
      </p:sp>
    </p:spTree>
    <p:extLst>
      <p:ext uri="{BB962C8B-B14F-4D97-AF65-F5344CB8AC3E}">
        <p14:creationId xmlns:p14="http://schemas.microsoft.com/office/powerpoint/2010/main" val="221108973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D7FB16-6C21-8DF3-C3AD-D2829F9EC5D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5E87F28F-81CC-DA86-DC10-A8FC013A0511}"/>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DF30AD75-1AD2-17A7-7D2D-BA90DF73C71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DA7E133-F6CE-2644-A0FD-78956E9F7BD9}"/>
              </a:ext>
            </a:extLst>
          </p:cNvPr>
          <p:cNvSpPr>
            <a:spLocks noGrp="1"/>
          </p:cNvSpPr>
          <p:nvPr>
            <p:ph type="dt" sz="half" idx="10"/>
          </p:nvPr>
        </p:nvSpPr>
        <p:spPr/>
        <p:txBody>
          <a:bodyPr/>
          <a:lstStyle/>
          <a:p>
            <a:fld id="{613B060C-E44F-2A46-BC3C-1233D286DD85}" type="datetimeFigureOut">
              <a:rPr lang="en-US" smtClean="0"/>
              <a:t>3/9/26</a:t>
            </a:fld>
            <a:endParaRPr lang="en-US"/>
          </a:p>
        </p:txBody>
      </p:sp>
      <p:sp>
        <p:nvSpPr>
          <p:cNvPr id="6" name="Footer Placeholder 5">
            <a:extLst>
              <a:ext uri="{FF2B5EF4-FFF2-40B4-BE49-F238E27FC236}">
                <a16:creationId xmlns:a16="http://schemas.microsoft.com/office/drawing/2014/main" id="{CBD6E168-3C06-61A3-A7EA-27D22ADE2E9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60B3E44-BBFC-77B2-AA17-51DEFC0C1742}"/>
              </a:ext>
            </a:extLst>
          </p:cNvPr>
          <p:cNvSpPr>
            <a:spLocks noGrp="1"/>
          </p:cNvSpPr>
          <p:nvPr>
            <p:ph type="sldNum" sz="quarter" idx="12"/>
          </p:nvPr>
        </p:nvSpPr>
        <p:spPr/>
        <p:txBody>
          <a:bodyPr/>
          <a:lstStyle/>
          <a:p>
            <a:fld id="{1CF02B05-3B47-5E43-ACC0-66286D1A7179}" type="slidenum">
              <a:rPr lang="en-US" smtClean="0"/>
              <a:t>‹#›</a:t>
            </a:fld>
            <a:endParaRPr lang="en-US"/>
          </a:p>
        </p:txBody>
      </p:sp>
    </p:spTree>
    <p:extLst>
      <p:ext uri="{BB962C8B-B14F-4D97-AF65-F5344CB8AC3E}">
        <p14:creationId xmlns:p14="http://schemas.microsoft.com/office/powerpoint/2010/main" val="326093213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6D1639-D687-C3D9-7B90-FBF5ECADA5C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4E1EF093-F5A4-927F-3691-E8FEF933951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764DD80B-5CDB-1B89-1705-1ABDAC60706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FB9223D-F9D1-F332-6392-F993D0993B0B}"/>
              </a:ext>
            </a:extLst>
          </p:cNvPr>
          <p:cNvSpPr>
            <a:spLocks noGrp="1"/>
          </p:cNvSpPr>
          <p:nvPr>
            <p:ph type="dt" sz="half" idx="10"/>
          </p:nvPr>
        </p:nvSpPr>
        <p:spPr/>
        <p:txBody>
          <a:bodyPr/>
          <a:lstStyle/>
          <a:p>
            <a:fld id="{613B060C-E44F-2A46-BC3C-1233D286DD85}" type="datetimeFigureOut">
              <a:rPr lang="en-US" smtClean="0"/>
              <a:t>3/9/26</a:t>
            </a:fld>
            <a:endParaRPr lang="en-US"/>
          </a:p>
        </p:txBody>
      </p:sp>
      <p:sp>
        <p:nvSpPr>
          <p:cNvPr id="6" name="Footer Placeholder 5">
            <a:extLst>
              <a:ext uri="{FF2B5EF4-FFF2-40B4-BE49-F238E27FC236}">
                <a16:creationId xmlns:a16="http://schemas.microsoft.com/office/drawing/2014/main" id="{AC2B1480-84D6-759E-498E-66A1EC88471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43D1EB7-7B67-B624-9BB8-88E56F675706}"/>
              </a:ext>
            </a:extLst>
          </p:cNvPr>
          <p:cNvSpPr>
            <a:spLocks noGrp="1"/>
          </p:cNvSpPr>
          <p:nvPr>
            <p:ph type="sldNum" sz="quarter" idx="12"/>
          </p:nvPr>
        </p:nvSpPr>
        <p:spPr/>
        <p:txBody>
          <a:bodyPr/>
          <a:lstStyle/>
          <a:p>
            <a:fld id="{1CF02B05-3B47-5E43-ACC0-66286D1A7179}" type="slidenum">
              <a:rPr lang="en-US" smtClean="0"/>
              <a:t>‹#›</a:t>
            </a:fld>
            <a:endParaRPr lang="en-US"/>
          </a:p>
        </p:txBody>
      </p:sp>
    </p:spTree>
    <p:extLst>
      <p:ext uri="{BB962C8B-B14F-4D97-AF65-F5344CB8AC3E}">
        <p14:creationId xmlns:p14="http://schemas.microsoft.com/office/powerpoint/2010/main" val="357619582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9AE547-3714-0DFE-93C9-7C25C0ACB972}"/>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423295A6-0177-55F7-51B3-71F655CB47AB}"/>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3BF6997-4D6C-C52D-8F87-9B16AF71841C}"/>
              </a:ext>
            </a:extLst>
          </p:cNvPr>
          <p:cNvSpPr>
            <a:spLocks noGrp="1"/>
          </p:cNvSpPr>
          <p:nvPr>
            <p:ph type="dt" sz="half" idx="10"/>
          </p:nvPr>
        </p:nvSpPr>
        <p:spPr/>
        <p:txBody>
          <a:bodyPr/>
          <a:lstStyle/>
          <a:p>
            <a:fld id="{613B060C-E44F-2A46-BC3C-1233D286DD85}" type="datetimeFigureOut">
              <a:rPr lang="en-US" smtClean="0"/>
              <a:t>3/9/26</a:t>
            </a:fld>
            <a:endParaRPr lang="en-US"/>
          </a:p>
        </p:txBody>
      </p:sp>
      <p:sp>
        <p:nvSpPr>
          <p:cNvPr id="5" name="Footer Placeholder 4">
            <a:extLst>
              <a:ext uri="{FF2B5EF4-FFF2-40B4-BE49-F238E27FC236}">
                <a16:creationId xmlns:a16="http://schemas.microsoft.com/office/drawing/2014/main" id="{5CC282D9-8A12-C333-FC52-7F90B817403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CB191F6-4238-1062-F37C-FCEE9906D31B}"/>
              </a:ext>
            </a:extLst>
          </p:cNvPr>
          <p:cNvSpPr>
            <a:spLocks noGrp="1"/>
          </p:cNvSpPr>
          <p:nvPr>
            <p:ph type="sldNum" sz="quarter" idx="12"/>
          </p:nvPr>
        </p:nvSpPr>
        <p:spPr/>
        <p:txBody>
          <a:bodyPr/>
          <a:lstStyle/>
          <a:p>
            <a:fld id="{1CF02B05-3B47-5E43-ACC0-66286D1A7179}" type="slidenum">
              <a:rPr lang="en-US" smtClean="0"/>
              <a:t>‹#›</a:t>
            </a:fld>
            <a:endParaRPr lang="en-US"/>
          </a:p>
        </p:txBody>
      </p:sp>
    </p:spTree>
    <p:extLst>
      <p:ext uri="{BB962C8B-B14F-4D97-AF65-F5344CB8AC3E}">
        <p14:creationId xmlns:p14="http://schemas.microsoft.com/office/powerpoint/2010/main" val="399369499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C69D08E-A793-D8C8-A235-B36DA0286EC4}"/>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4231DE7F-0BF5-1B15-2C46-8CE47972F230}"/>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CD9E5BE-71A9-A123-A4C7-62C298708AC5}"/>
              </a:ext>
            </a:extLst>
          </p:cNvPr>
          <p:cNvSpPr>
            <a:spLocks noGrp="1"/>
          </p:cNvSpPr>
          <p:nvPr>
            <p:ph type="dt" sz="half" idx="10"/>
          </p:nvPr>
        </p:nvSpPr>
        <p:spPr/>
        <p:txBody>
          <a:bodyPr/>
          <a:lstStyle/>
          <a:p>
            <a:fld id="{613B060C-E44F-2A46-BC3C-1233D286DD85}" type="datetimeFigureOut">
              <a:rPr lang="en-US" smtClean="0"/>
              <a:t>3/9/26</a:t>
            </a:fld>
            <a:endParaRPr lang="en-US"/>
          </a:p>
        </p:txBody>
      </p:sp>
      <p:sp>
        <p:nvSpPr>
          <p:cNvPr id="5" name="Footer Placeholder 4">
            <a:extLst>
              <a:ext uri="{FF2B5EF4-FFF2-40B4-BE49-F238E27FC236}">
                <a16:creationId xmlns:a16="http://schemas.microsoft.com/office/drawing/2014/main" id="{12A132F3-F31B-A579-D988-63337C49B8D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904B06A-1473-3083-A674-48C7B79C3CB0}"/>
              </a:ext>
            </a:extLst>
          </p:cNvPr>
          <p:cNvSpPr>
            <a:spLocks noGrp="1"/>
          </p:cNvSpPr>
          <p:nvPr>
            <p:ph type="sldNum" sz="quarter" idx="12"/>
          </p:nvPr>
        </p:nvSpPr>
        <p:spPr/>
        <p:txBody>
          <a:bodyPr/>
          <a:lstStyle/>
          <a:p>
            <a:fld id="{1CF02B05-3B47-5E43-ACC0-66286D1A7179}" type="slidenum">
              <a:rPr lang="en-US" smtClean="0"/>
              <a:t>‹#›</a:t>
            </a:fld>
            <a:endParaRPr lang="en-US"/>
          </a:p>
        </p:txBody>
      </p:sp>
    </p:spTree>
    <p:extLst>
      <p:ext uri="{BB962C8B-B14F-4D97-AF65-F5344CB8AC3E}">
        <p14:creationId xmlns:p14="http://schemas.microsoft.com/office/powerpoint/2010/main" val="291506517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584AA27D-E5D2-FAFC-4265-FE2BCF36F146}"/>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954F5719-AC88-6F4B-EECB-DD41ED023538}"/>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4D5D6AD-D7FB-7ACC-CD24-D284B0ED6AE3}"/>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613B060C-E44F-2A46-BC3C-1233D286DD85}" type="datetimeFigureOut">
              <a:rPr lang="en-US" smtClean="0"/>
              <a:t>3/9/26</a:t>
            </a:fld>
            <a:endParaRPr lang="en-US"/>
          </a:p>
        </p:txBody>
      </p:sp>
      <p:sp>
        <p:nvSpPr>
          <p:cNvPr id="5" name="Footer Placeholder 4">
            <a:extLst>
              <a:ext uri="{FF2B5EF4-FFF2-40B4-BE49-F238E27FC236}">
                <a16:creationId xmlns:a16="http://schemas.microsoft.com/office/drawing/2014/main" id="{F6BCD0BA-265B-02F9-5091-26C6D5380EE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E16F7076-55AC-A02F-8E01-2D7E615DC99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1CF02B05-3B47-5E43-ACC0-66286D1A7179}" type="slidenum">
              <a:rPr lang="en-US" smtClean="0"/>
              <a:t>‹#›</a:t>
            </a:fld>
            <a:endParaRPr lang="en-US"/>
          </a:p>
        </p:txBody>
      </p:sp>
    </p:spTree>
    <p:extLst>
      <p:ext uri="{BB962C8B-B14F-4D97-AF65-F5344CB8AC3E}">
        <p14:creationId xmlns:p14="http://schemas.microsoft.com/office/powerpoint/2010/main" val="38159074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4.gif"/><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5.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4.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5.xml"/></Relationships>
</file>

<file path=ppt/slides/_rels/slide25.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5.xml"/></Relationships>
</file>

<file path=ppt/slides/_rels/slide26.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5.xml"/></Relationships>
</file>

<file path=ppt/slides/_rels/slide27.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14.gif"/><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image" Target="../media/image16.jpe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3AB17C-F214-AB2B-F65A-79DC06F7C398}"/>
              </a:ext>
            </a:extLst>
          </p:cNvPr>
          <p:cNvSpPr>
            <a:spLocks noGrp="1"/>
          </p:cNvSpPr>
          <p:nvPr>
            <p:ph type="ctrTitle"/>
          </p:nvPr>
        </p:nvSpPr>
        <p:spPr>
          <a:xfrm>
            <a:off x="1524000" y="2235200"/>
            <a:ext cx="9144000" cy="2387600"/>
          </a:xfrm>
        </p:spPr>
        <p:txBody>
          <a:bodyPr/>
          <a:lstStyle/>
          <a:p>
            <a:r>
              <a:rPr lang="en-US" dirty="0"/>
              <a:t>Programming language for AI agents</a:t>
            </a:r>
          </a:p>
        </p:txBody>
      </p:sp>
    </p:spTree>
    <p:extLst>
      <p:ext uri="{BB962C8B-B14F-4D97-AF65-F5344CB8AC3E}">
        <p14:creationId xmlns:p14="http://schemas.microsoft.com/office/powerpoint/2010/main" val="399184563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C4E101-F945-4C94-6796-0D5A6E97A68D}"/>
              </a:ext>
            </a:extLst>
          </p:cNvPr>
          <p:cNvSpPr>
            <a:spLocks noGrp="1"/>
          </p:cNvSpPr>
          <p:nvPr>
            <p:ph type="title"/>
          </p:nvPr>
        </p:nvSpPr>
        <p:spPr/>
        <p:txBody>
          <a:bodyPr/>
          <a:lstStyle/>
          <a:p>
            <a:r>
              <a:rPr lang="en-US" dirty="0"/>
              <a:t>One definition of “agent”</a:t>
            </a:r>
          </a:p>
        </p:txBody>
      </p:sp>
      <p:sp>
        <p:nvSpPr>
          <p:cNvPr id="3" name="Content Placeholder 2">
            <a:extLst>
              <a:ext uri="{FF2B5EF4-FFF2-40B4-BE49-F238E27FC236}">
                <a16:creationId xmlns:a16="http://schemas.microsoft.com/office/drawing/2014/main" id="{75145904-5EB8-5BA3-86C3-618F6ACF6604}"/>
              </a:ext>
            </a:extLst>
          </p:cNvPr>
          <p:cNvSpPr>
            <a:spLocks noGrp="1"/>
          </p:cNvSpPr>
          <p:nvPr>
            <p:ph idx="1"/>
          </p:nvPr>
        </p:nvSpPr>
        <p:spPr>
          <a:xfrm>
            <a:off x="838200" y="1852519"/>
            <a:ext cx="10515600" cy="4351338"/>
          </a:xfrm>
        </p:spPr>
        <p:txBody>
          <a:bodyPr/>
          <a:lstStyle/>
          <a:p>
            <a:pPr marL="0" indent="0">
              <a:buNone/>
            </a:pPr>
            <a:r>
              <a:rPr lang="en-US" dirty="0"/>
              <a:t>Program which combines deterministic computation (harness) with intelligent computation (LM)</a:t>
            </a:r>
          </a:p>
          <a:p>
            <a:pPr marL="0" indent="0">
              <a:buNone/>
            </a:pPr>
            <a:r>
              <a:rPr lang="en-US" dirty="0"/>
              <a:t>Traditionally:</a:t>
            </a:r>
          </a:p>
          <a:p>
            <a:pPr marL="514350" indent="-514350">
              <a:buFont typeface="+mj-lt"/>
              <a:buAutoNum type="arabicPeriod"/>
            </a:pPr>
            <a:r>
              <a:rPr lang="en-US" dirty="0"/>
              <a:t>LM partially controls harness via tool calling</a:t>
            </a:r>
          </a:p>
          <a:p>
            <a:pPr marL="514350" indent="-514350">
              <a:buFont typeface="+mj-lt"/>
              <a:buAutoNum type="arabicPeriod"/>
            </a:pPr>
            <a:r>
              <a:rPr lang="en-US" dirty="0"/>
              <a:t>Harness partially controls LM by determining context (“context engineering”) and actually calling it</a:t>
            </a:r>
          </a:p>
        </p:txBody>
      </p:sp>
    </p:spTree>
    <p:extLst>
      <p:ext uri="{BB962C8B-B14F-4D97-AF65-F5344CB8AC3E}">
        <p14:creationId xmlns:p14="http://schemas.microsoft.com/office/powerpoint/2010/main" val="428452966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015-dag-orchestrators">
            <a:extLst>
              <a:ext uri="{FF2B5EF4-FFF2-40B4-BE49-F238E27FC236}">
                <a16:creationId xmlns:a16="http://schemas.microsoft.com/office/drawing/2014/main" id="{79A3FDB0-34D0-3DFD-1004-63D359B62B0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964421" y="928971"/>
            <a:ext cx="8263157" cy="5247992"/>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7ADB7DA3-749A-8B0F-1D70-2ECC9D087CAE}"/>
              </a:ext>
            </a:extLst>
          </p:cNvPr>
          <p:cNvSpPr txBox="1"/>
          <p:nvPr/>
        </p:nvSpPr>
        <p:spPr>
          <a:xfrm>
            <a:off x="8741378" y="6410835"/>
            <a:ext cx="3342290" cy="369332"/>
          </a:xfrm>
          <a:prstGeom prst="rect">
            <a:avLst/>
          </a:prstGeom>
          <a:noFill/>
        </p:spPr>
        <p:txBody>
          <a:bodyPr wrap="square" rtlCol="0">
            <a:spAutoFit/>
          </a:bodyPr>
          <a:lstStyle/>
          <a:p>
            <a:r>
              <a:rPr lang="en-US" dirty="0"/>
              <a:t>Dex Horthy, 12 factor agents </a:t>
            </a:r>
          </a:p>
        </p:txBody>
      </p:sp>
      <p:sp>
        <p:nvSpPr>
          <p:cNvPr id="5" name="TextBox 4">
            <a:extLst>
              <a:ext uri="{FF2B5EF4-FFF2-40B4-BE49-F238E27FC236}">
                <a16:creationId xmlns:a16="http://schemas.microsoft.com/office/drawing/2014/main" id="{6B622CD9-E53F-E45B-9F10-6A48B3248469}"/>
              </a:ext>
            </a:extLst>
          </p:cNvPr>
          <p:cNvSpPr txBox="1"/>
          <p:nvPr/>
        </p:nvSpPr>
        <p:spPr>
          <a:xfrm>
            <a:off x="7324164" y="2061883"/>
            <a:ext cx="4219232" cy="369332"/>
          </a:xfrm>
          <a:prstGeom prst="rect">
            <a:avLst/>
          </a:prstGeom>
          <a:noFill/>
        </p:spPr>
        <p:txBody>
          <a:bodyPr wrap="none" rtlCol="0">
            <a:spAutoFit/>
          </a:bodyPr>
          <a:lstStyle/>
          <a:p>
            <a:r>
              <a:rPr lang="en-US" dirty="0"/>
              <a:t>for data pipelines - Hadoop, Apache, </a:t>
            </a:r>
            <a:r>
              <a:rPr lang="en-US" dirty="0" err="1"/>
              <a:t>etc</a:t>
            </a:r>
            <a:endParaRPr lang="en-US" dirty="0"/>
          </a:p>
        </p:txBody>
      </p:sp>
    </p:spTree>
    <p:extLst>
      <p:ext uri="{BB962C8B-B14F-4D97-AF65-F5344CB8AC3E}">
        <p14:creationId xmlns:p14="http://schemas.microsoft.com/office/powerpoint/2010/main" val="374387507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23EEB6-E0D6-6BB5-35DE-444C4E5F1775}"/>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18D72166-6E32-D7A3-4F22-6330A1530D64}"/>
              </a:ext>
            </a:extLst>
          </p:cNvPr>
          <p:cNvSpPr txBox="1"/>
          <p:nvPr/>
        </p:nvSpPr>
        <p:spPr>
          <a:xfrm>
            <a:off x="8741378" y="6410835"/>
            <a:ext cx="3342290" cy="369332"/>
          </a:xfrm>
          <a:prstGeom prst="rect">
            <a:avLst/>
          </a:prstGeom>
          <a:noFill/>
        </p:spPr>
        <p:txBody>
          <a:bodyPr wrap="square" rtlCol="0">
            <a:spAutoFit/>
          </a:bodyPr>
          <a:lstStyle/>
          <a:p>
            <a:r>
              <a:rPr lang="en-US" dirty="0"/>
              <a:t>Dex Horthy, 12 factor agents </a:t>
            </a:r>
          </a:p>
        </p:txBody>
      </p:sp>
      <p:pic>
        <p:nvPicPr>
          <p:cNvPr id="5122" name="Picture 2" descr="026-agent-dag-lines">
            <a:extLst>
              <a:ext uri="{FF2B5EF4-FFF2-40B4-BE49-F238E27FC236}">
                <a16:creationId xmlns:a16="http://schemas.microsoft.com/office/drawing/2014/main" id="{DBA165DF-2183-B4F6-8439-7AAE3B17684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787400"/>
            <a:ext cx="12192000" cy="528161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9612244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D55179C9-CBA7-7FF4-9ED7-CCAD2DE2EA15}"/>
              </a:ext>
            </a:extLst>
          </p:cNvPr>
          <p:cNvPicPr>
            <a:picLocks noChangeAspect="1"/>
          </p:cNvPicPr>
          <p:nvPr/>
        </p:nvPicPr>
        <p:blipFill>
          <a:blip r:embed="rId2"/>
          <a:stretch>
            <a:fillRect/>
          </a:stretch>
        </p:blipFill>
        <p:spPr>
          <a:xfrm>
            <a:off x="629567" y="2664373"/>
            <a:ext cx="10566577" cy="1882732"/>
          </a:xfrm>
          <a:prstGeom prst="rect">
            <a:avLst/>
          </a:prstGeom>
        </p:spPr>
      </p:pic>
      <p:sp>
        <p:nvSpPr>
          <p:cNvPr id="5" name="TextBox 4">
            <a:extLst>
              <a:ext uri="{FF2B5EF4-FFF2-40B4-BE49-F238E27FC236}">
                <a16:creationId xmlns:a16="http://schemas.microsoft.com/office/drawing/2014/main" id="{E1FA2058-228D-CB7A-992A-34319D1B085B}"/>
              </a:ext>
            </a:extLst>
          </p:cNvPr>
          <p:cNvSpPr txBox="1"/>
          <p:nvPr/>
        </p:nvSpPr>
        <p:spPr>
          <a:xfrm>
            <a:off x="8741378" y="6410835"/>
            <a:ext cx="3342290" cy="369332"/>
          </a:xfrm>
          <a:prstGeom prst="rect">
            <a:avLst/>
          </a:prstGeom>
          <a:noFill/>
        </p:spPr>
        <p:txBody>
          <a:bodyPr wrap="square" rtlCol="0">
            <a:spAutoFit/>
          </a:bodyPr>
          <a:lstStyle/>
          <a:p>
            <a:r>
              <a:rPr lang="en-US" dirty="0"/>
              <a:t>Dex Horthy, 12 factor agents </a:t>
            </a:r>
          </a:p>
        </p:txBody>
      </p:sp>
    </p:spTree>
    <p:extLst>
      <p:ext uri="{BB962C8B-B14F-4D97-AF65-F5344CB8AC3E}">
        <p14:creationId xmlns:p14="http://schemas.microsoft.com/office/powerpoint/2010/main" val="195661526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9BD9D70A-20EE-205E-3AA9-C732142A2A02}"/>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E6BA3A94-FBD3-CCC1-531D-2F96DBEF8FFE}"/>
              </a:ext>
            </a:extLst>
          </p:cNvPr>
          <p:cNvSpPr txBox="1"/>
          <p:nvPr/>
        </p:nvSpPr>
        <p:spPr>
          <a:xfrm>
            <a:off x="8741378" y="6410835"/>
            <a:ext cx="3342290" cy="369332"/>
          </a:xfrm>
          <a:prstGeom prst="rect">
            <a:avLst/>
          </a:prstGeom>
          <a:noFill/>
        </p:spPr>
        <p:txBody>
          <a:bodyPr wrap="square" rtlCol="0">
            <a:spAutoFit/>
          </a:bodyPr>
          <a:lstStyle/>
          <a:p>
            <a:r>
              <a:rPr lang="en-US" dirty="0"/>
              <a:t>Dex Horthy, 12 factor agents </a:t>
            </a:r>
          </a:p>
        </p:txBody>
      </p:sp>
      <p:pic>
        <p:nvPicPr>
          <p:cNvPr id="7170" name="Picture 2">
            <a:extLst>
              <a:ext uri="{FF2B5EF4-FFF2-40B4-BE49-F238E27FC236}">
                <a16:creationId xmlns:a16="http://schemas.microsoft.com/office/drawing/2014/main" id="{AB85CEBF-57B1-DF99-DAB0-3D82197BFF6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542925"/>
            <a:ext cx="12192000" cy="577056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4001961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25DC36-3C58-4A1A-BEE2-2CD46B5409AF}"/>
              </a:ext>
            </a:extLst>
          </p:cNvPr>
          <p:cNvSpPr>
            <a:spLocks noGrp="1"/>
          </p:cNvSpPr>
          <p:nvPr>
            <p:ph type="title"/>
          </p:nvPr>
        </p:nvSpPr>
        <p:spPr/>
        <p:txBody>
          <a:bodyPr/>
          <a:lstStyle/>
          <a:p>
            <a:r>
              <a:rPr lang="en-US" dirty="0" err="1"/>
              <a:t>ReAct</a:t>
            </a:r>
            <a:r>
              <a:rPr lang="en-US" dirty="0"/>
              <a:t> loop</a:t>
            </a:r>
          </a:p>
        </p:txBody>
      </p:sp>
      <p:sp>
        <p:nvSpPr>
          <p:cNvPr id="3" name="Content Placeholder 2">
            <a:extLst>
              <a:ext uri="{FF2B5EF4-FFF2-40B4-BE49-F238E27FC236}">
                <a16:creationId xmlns:a16="http://schemas.microsoft.com/office/drawing/2014/main" id="{64A22680-113C-1396-FEED-D314CD2C6984}"/>
              </a:ext>
            </a:extLst>
          </p:cNvPr>
          <p:cNvSpPr>
            <a:spLocks noGrp="1"/>
          </p:cNvSpPr>
          <p:nvPr>
            <p:ph idx="1"/>
          </p:nvPr>
        </p:nvSpPr>
        <p:spPr>
          <a:xfrm>
            <a:off x="838200" y="1690688"/>
            <a:ext cx="6639838" cy="4351338"/>
          </a:xfrm>
        </p:spPr>
        <p:txBody>
          <a:bodyPr>
            <a:normAutofit/>
          </a:bodyPr>
          <a:lstStyle/>
          <a:p>
            <a:pPr marL="0" indent="0">
              <a:buNone/>
            </a:pPr>
            <a:r>
              <a:rPr lang="en-US" sz="2400" dirty="0"/>
              <a:t>prefix ←  prompt</a:t>
            </a:r>
          </a:p>
          <a:p>
            <a:pPr marL="0" indent="0">
              <a:buNone/>
            </a:pPr>
            <a:r>
              <a:rPr lang="en-US" sz="2400" dirty="0"/>
              <a:t>loop:</a:t>
            </a:r>
          </a:p>
          <a:p>
            <a:pPr marL="0" indent="0">
              <a:buNone/>
            </a:pPr>
            <a:r>
              <a:rPr lang="en-US" sz="2400" dirty="0"/>
              <a:t>    response, tool-call ← </a:t>
            </a:r>
            <a:r>
              <a:rPr lang="en-US" sz="2400" dirty="0" err="1"/>
              <a:t>llm</a:t>
            </a:r>
            <a:r>
              <a:rPr lang="en-US" sz="2400" dirty="0"/>
              <a:t>(prefix)</a:t>
            </a:r>
          </a:p>
          <a:p>
            <a:pPr marL="0" indent="0">
              <a:buNone/>
            </a:pPr>
            <a:r>
              <a:rPr lang="en-US" sz="2400" dirty="0"/>
              <a:t>    tool-result  ← eval(tool-call)</a:t>
            </a:r>
            <a:br>
              <a:rPr lang="en-US" sz="2400" dirty="0"/>
            </a:br>
            <a:r>
              <a:rPr lang="en-US" sz="2400" dirty="0"/>
              <a:t>    completion ← prefix + response+ tool-result</a:t>
            </a:r>
          </a:p>
          <a:p>
            <a:pPr marL="0" indent="0">
              <a:buNone/>
            </a:pPr>
            <a:r>
              <a:rPr lang="en-US" sz="2400" dirty="0"/>
              <a:t>    if </a:t>
            </a:r>
            <a:r>
              <a:rPr lang="en-US" sz="2400" dirty="0" err="1"/>
              <a:t>response.is</a:t>
            </a:r>
            <a:r>
              <a:rPr lang="en-US" sz="2400" dirty="0"/>
              <a:t>-final:</a:t>
            </a:r>
          </a:p>
          <a:p>
            <a:pPr marL="0" indent="0">
              <a:buNone/>
            </a:pPr>
            <a:r>
              <a:rPr lang="en-US" sz="2400" dirty="0"/>
              <a:t>        return completion</a:t>
            </a:r>
          </a:p>
          <a:p>
            <a:pPr marL="0" indent="0">
              <a:buNone/>
            </a:pPr>
            <a:r>
              <a:rPr lang="en-US" sz="2400" dirty="0"/>
              <a:t>    prefix ← completion</a:t>
            </a:r>
          </a:p>
        </p:txBody>
      </p:sp>
      <p:sp>
        <p:nvSpPr>
          <p:cNvPr id="4" name="TextBox 3">
            <a:extLst>
              <a:ext uri="{FF2B5EF4-FFF2-40B4-BE49-F238E27FC236}">
                <a16:creationId xmlns:a16="http://schemas.microsoft.com/office/drawing/2014/main" id="{4F3AA296-C767-BC8E-FF6D-0390192733E7}"/>
              </a:ext>
            </a:extLst>
          </p:cNvPr>
          <p:cNvSpPr txBox="1"/>
          <p:nvPr/>
        </p:nvSpPr>
        <p:spPr>
          <a:xfrm>
            <a:off x="9068844" y="6308209"/>
            <a:ext cx="2142894" cy="369332"/>
          </a:xfrm>
          <a:prstGeom prst="rect">
            <a:avLst/>
          </a:prstGeom>
          <a:noFill/>
        </p:spPr>
        <p:txBody>
          <a:bodyPr wrap="none" rtlCol="0">
            <a:spAutoFit/>
          </a:bodyPr>
          <a:lstStyle/>
          <a:p>
            <a:r>
              <a:rPr lang="en-US" dirty="0"/>
              <a:t>Yao et al. 2023 ICLR</a:t>
            </a:r>
          </a:p>
        </p:txBody>
      </p:sp>
      <p:pic>
        <p:nvPicPr>
          <p:cNvPr id="5" name="Picture 2" descr="Implementing ReAct Agentic Pattern From Scratch">
            <a:extLst>
              <a:ext uri="{FF2B5EF4-FFF2-40B4-BE49-F238E27FC236}">
                <a16:creationId xmlns:a16="http://schemas.microsoft.com/office/drawing/2014/main" id="{58320706-C3C5-9016-CFB3-4960F6EA940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893461" y="3958846"/>
            <a:ext cx="5655197" cy="182252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03362511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Implementing ReAct Agentic Pattern From Scratch">
            <a:extLst>
              <a:ext uri="{FF2B5EF4-FFF2-40B4-BE49-F238E27FC236}">
                <a16:creationId xmlns:a16="http://schemas.microsoft.com/office/drawing/2014/main" id="{0E6C5746-3BCD-FC15-9197-AE50CDF40A60}"/>
              </a:ext>
            </a:extLst>
          </p:cNvPr>
          <p:cNvPicPr>
            <a:picLocks noGrp="1" noChangeAspect="1" noChangeArrowheads="1"/>
          </p:cNvPicPr>
          <p:nvPr>
            <p:ph idx="1"/>
          </p:nvPr>
        </p:nvPicPr>
        <p:blipFill>
          <a:blip r:embed="rId2">
            <a:extLst>
              <a:ext uri="{28A0092B-C50C-407E-A947-70E740481C1C}">
                <a14:useLocalDpi xmlns:a14="http://schemas.microsoft.com/office/drawing/2010/main" val="0"/>
              </a:ext>
            </a:extLst>
          </a:blip>
          <a:srcRect/>
          <a:stretch>
            <a:fillRect/>
          </a:stretch>
        </p:blipFill>
        <p:spPr bwMode="auto">
          <a:xfrm>
            <a:off x="1486382" y="952600"/>
            <a:ext cx="5655197" cy="1822528"/>
          </a:xfrm>
          <a:prstGeom prst="rect">
            <a:avLst/>
          </a:prstGeom>
          <a:noFill/>
          <a:extLst>
            <a:ext uri="{909E8E84-426E-40DD-AFC4-6F175D3DCCD1}">
              <a14:hiddenFill xmlns:a14="http://schemas.microsoft.com/office/drawing/2010/main">
                <a:solidFill>
                  <a:srgbClr val="FFFFFF"/>
                </a:solidFill>
              </a14:hiddenFill>
            </a:ext>
          </a:extLst>
        </p:spPr>
      </p:pic>
      <p:sp>
        <p:nvSpPr>
          <p:cNvPr id="6" name="Rectangle 5">
            <a:extLst>
              <a:ext uri="{FF2B5EF4-FFF2-40B4-BE49-F238E27FC236}">
                <a16:creationId xmlns:a16="http://schemas.microsoft.com/office/drawing/2014/main" id="{8FF2B2EA-8743-EC3F-E017-0B98699211D2}"/>
              </a:ext>
            </a:extLst>
          </p:cNvPr>
          <p:cNvSpPr/>
          <p:nvPr/>
        </p:nvSpPr>
        <p:spPr>
          <a:xfrm>
            <a:off x="1817224" y="3314998"/>
            <a:ext cx="1030147" cy="27489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Prompt</a:t>
            </a:r>
          </a:p>
        </p:txBody>
      </p:sp>
      <p:sp>
        <p:nvSpPr>
          <p:cNvPr id="7" name="Rectangle 6">
            <a:extLst>
              <a:ext uri="{FF2B5EF4-FFF2-40B4-BE49-F238E27FC236}">
                <a16:creationId xmlns:a16="http://schemas.microsoft.com/office/drawing/2014/main" id="{304D26FB-14D4-523A-0449-373173FB3766}"/>
              </a:ext>
            </a:extLst>
          </p:cNvPr>
          <p:cNvSpPr/>
          <p:nvPr/>
        </p:nvSpPr>
        <p:spPr>
          <a:xfrm>
            <a:off x="1817225" y="5275730"/>
            <a:ext cx="1030147" cy="27489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Prompt</a:t>
            </a:r>
          </a:p>
        </p:txBody>
      </p:sp>
      <p:sp>
        <p:nvSpPr>
          <p:cNvPr id="8" name="Rectangle 7">
            <a:extLst>
              <a:ext uri="{FF2B5EF4-FFF2-40B4-BE49-F238E27FC236}">
                <a16:creationId xmlns:a16="http://schemas.microsoft.com/office/drawing/2014/main" id="{61EFAD1D-ECBA-E7B2-3A3E-F3392E649901}"/>
              </a:ext>
            </a:extLst>
          </p:cNvPr>
          <p:cNvSpPr/>
          <p:nvPr/>
        </p:nvSpPr>
        <p:spPr>
          <a:xfrm>
            <a:off x="2847372" y="5275730"/>
            <a:ext cx="1383969" cy="274899"/>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Response</a:t>
            </a:r>
          </a:p>
        </p:txBody>
      </p:sp>
      <p:sp>
        <p:nvSpPr>
          <p:cNvPr id="9" name="Rectangle 8">
            <a:extLst>
              <a:ext uri="{FF2B5EF4-FFF2-40B4-BE49-F238E27FC236}">
                <a16:creationId xmlns:a16="http://schemas.microsoft.com/office/drawing/2014/main" id="{5CCD7409-2354-65D5-703B-C5FABA0F64CA}"/>
              </a:ext>
            </a:extLst>
          </p:cNvPr>
          <p:cNvSpPr/>
          <p:nvPr/>
        </p:nvSpPr>
        <p:spPr>
          <a:xfrm>
            <a:off x="4231341" y="5275729"/>
            <a:ext cx="1383969" cy="27489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Tool output</a:t>
            </a:r>
          </a:p>
        </p:txBody>
      </p:sp>
      <p:sp>
        <p:nvSpPr>
          <p:cNvPr id="10" name="Rectangle 9">
            <a:extLst>
              <a:ext uri="{FF2B5EF4-FFF2-40B4-BE49-F238E27FC236}">
                <a16:creationId xmlns:a16="http://schemas.microsoft.com/office/drawing/2014/main" id="{093250EC-4A37-A97C-8801-41F2AC70B8C6}"/>
              </a:ext>
            </a:extLst>
          </p:cNvPr>
          <p:cNvSpPr/>
          <p:nvPr/>
        </p:nvSpPr>
        <p:spPr>
          <a:xfrm>
            <a:off x="5615310" y="5275730"/>
            <a:ext cx="1383969" cy="274899"/>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Response</a:t>
            </a:r>
          </a:p>
        </p:txBody>
      </p:sp>
      <p:sp>
        <p:nvSpPr>
          <p:cNvPr id="11" name="Rectangle 10">
            <a:extLst>
              <a:ext uri="{FF2B5EF4-FFF2-40B4-BE49-F238E27FC236}">
                <a16:creationId xmlns:a16="http://schemas.microsoft.com/office/drawing/2014/main" id="{A7CE154F-4759-AFA6-32D0-78B5686BBD64}"/>
              </a:ext>
            </a:extLst>
          </p:cNvPr>
          <p:cNvSpPr/>
          <p:nvPr/>
        </p:nvSpPr>
        <p:spPr>
          <a:xfrm>
            <a:off x="6999279" y="5275729"/>
            <a:ext cx="1383969" cy="27489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Tool output</a:t>
            </a:r>
          </a:p>
        </p:txBody>
      </p:sp>
      <p:sp>
        <p:nvSpPr>
          <p:cNvPr id="12" name="Rectangle 11">
            <a:extLst>
              <a:ext uri="{FF2B5EF4-FFF2-40B4-BE49-F238E27FC236}">
                <a16:creationId xmlns:a16="http://schemas.microsoft.com/office/drawing/2014/main" id="{E511E3D2-AD69-4366-A33E-77A4770B297F}"/>
              </a:ext>
            </a:extLst>
          </p:cNvPr>
          <p:cNvSpPr/>
          <p:nvPr/>
        </p:nvSpPr>
        <p:spPr>
          <a:xfrm>
            <a:off x="8383248" y="5275729"/>
            <a:ext cx="1383969" cy="274899"/>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Response</a:t>
            </a:r>
          </a:p>
        </p:txBody>
      </p:sp>
      <p:sp>
        <p:nvSpPr>
          <p:cNvPr id="14" name="Rectangle 13">
            <a:extLst>
              <a:ext uri="{FF2B5EF4-FFF2-40B4-BE49-F238E27FC236}">
                <a16:creationId xmlns:a16="http://schemas.microsoft.com/office/drawing/2014/main" id="{819FBA50-8BFF-4592-FA51-68A4DD16077B}"/>
              </a:ext>
            </a:extLst>
          </p:cNvPr>
          <p:cNvSpPr/>
          <p:nvPr/>
        </p:nvSpPr>
        <p:spPr>
          <a:xfrm>
            <a:off x="1817225" y="4863378"/>
            <a:ext cx="1030147" cy="27489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Prompt</a:t>
            </a:r>
          </a:p>
        </p:txBody>
      </p:sp>
      <p:sp>
        <p:nvSpPr>
          <p:cNvPr id="15" name="Rectangle 14">
            <a:extLst>
              <a:ext uri="{FF2B5EF4-FFF2-40B4-BE49-F238E27FC236}">
                <a16:creationId xmlns:a16="http://schemas.microsoft.com/office/drawing/2014/main" id="{F228B26A-0502-0288-993A-8CEDF0F36190}"/>
              </a:ext>
            </a:extLst>
          </p:cNvPr>
          <p:cNvSpPr/>
          <p:nvPr/>
        </p:nvSpPr>
        <p:spPr>
          <a:xfrm>
            <a:off x="2847372" y="4863378"/>
            <a:ext cx="1383969" cy="274899"/>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Response</a:t>
            </a:r>
          </a:p>
        </p:txBody>
      </p:sp>
      <p:sp>
        <p:nvSpPr>
          <p:cNvPr id="16" name="Rectangle 15">
            <a:extLst>
              <a:ext uri="{FF2B5EF4-FFF2-40B4-BE49-F238E27FC236}">
                <a16:creationId xmlns:a16="http://schemas.microsoft.com/office/drawing/2014/main" id="{675068AF-A7F8-A152-5FC9-F0CFA46D4AB1}"/>
              </a:ext>
            </a:extLst>
          </p:cNvPr>
          <p:cNvSpPr/>
          <p:nvPr/>
        </p:nvSpPr>
        <p:spPr>
          <a:xfrm>
            <a:off x="4231341" y="4863377"/>
            <a:ext cx="1383969" cy="27489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Tool output</a:t>
            </a:r>
          </a:p>
        </p:txBody>
      </p:sp>
      <p:sp>
        <p:nvSpPr>
          <p:cNvPr id="17" name="Rectangle 16">
            <a:extLst>
              <a:ext uri="{FF2B5EF4-FFF2-40B4-BE49-F238E27FC236}">
                <a16:creationId xmlns:a16="http://schemas.microsoft.com/office/drawing/2014/main" id="{F748ED0D-4CBC-442B-E66A-D04B01611E50}"/>
              </a:ext>
            </a:extLst>
          </p:cNvPr>
          <p:cNvSpPr/>
          <p:nvPr/>
        </p:nvSpPr>
        <p:spPr>
          <a:xfrm>
            <a:off x="5615310" y="4863378"/>
            <a:ext cx="1383969" cy="274899"/>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Response</a:t>
            </a:r>
          </a:p>
        </p:txBody>
      </p:sp>
      <p:sp>
        <p:nvSpPr>
          <p:cNvPr id="18" name="Rectangle 17">
            <a:extLst>
              <a:ext uri="{FF2B5EF4-FFF2-40B4-BE49-F238E27FC236}">
                <a16:creationId xmlns:a16="http://schemas.microsoft.com/office/drawing/2014/main" id="{2D7F6562-D5F1-40CD-EE14-9EB13C44D57C}"/>
              </a:ext>
            </a:extLst>
          </p:cNvPr>
          <p:cNvSpPr/>
          <p:nvPr/>
        </p:nvSpPr>
        <p:spPr>
          <a:xfrm>
            <a:off x="6999279" y="4863377"/>
            <a:ext cx="1383969" cy="27489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Tool output</a:t>
            </a:r>
          </a:p>
        </p:txBody>
      </p:sp>
      <p:sp>
        <p:nvSpPr>
          <p:cNvPr id="21" name="Rectangle 20">
            <a:extLst>
              <a:ext uri="{FF2B5EF4-FFF2-40B4-BE49-F238E27FC236}">
                <a16:creationId xmlns:a16="http://schemas.microsoft.com/office/drawing/2014/main" id="{CFFF3F7C-14F0-F3BE-6589-75FF5A9A414E}"/>
              </a:ext>
            </a:extLst>
          </p:cNvPr>
          <p:cNvSpPr/>
          <p:nvPr/>
        </p:nvSpPr>
        <p:spPr>
          <a:xfrm>
            <a:off x="1817225" y="4428611"/>
            <a:ext cx="1030147" cy="27489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Prompt</a:t>
            </a:r>
          </a:p>
        </p:txBody>
      </p:sp>
      <p:sp>
        <p:nvSpPr>
          <p:cNvPr id="22" name="Rectangle 21">
            <a:extLst>
              <a:ext uri="{FF2B5EF4-FFF2-40B4-BE49-F238E27FC236}">
                <a16:creationId xmlns:a16="http://schemas.microsoft.com/office/drawing/2014/main" id="{1D7EDF62-1BF3-699C-6EE9-5086C1604B8B}"/>
              </a:ext>
            </a:extLst>
          </p:cNvPr>
          <p:cNvSpPr/>
          <p:nvPr/>
        </p:nvSpPr>
        <p:spPr>
          <a:xfrm>
            <a:off x="2847372" y="4428611"/>
            <a:ext cx="1383969" cy="274899"/>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Response</a:t>
            </a:r>
          </a:p>
        </p:txBody>
      </p:sp>
      <p:sp>
        <p:nvSpPr>
          <p:cNvPr id="23" name="Rectangle 22">
            <a:extLst>
              <a:ext uri="{FF2B5EF4-FFF2-40B4-BE49-F238E27FC236}">
                <a16:creationId xmlns:a16="http://schemas.microsoft.com/office/drawing/2014/main" id="{E670D562-B4A4-0ABE-D8B4-6532E561ADE0}"/>
              </a:ext>
            </a:extLst>
          </p:cNvPr>
          <p:cNvSpPr/>
          <p:nvPr/>
        </p:nvSpPr>
        <p:spPr>
          <a:xfrm>
            <a:off x="4231341" y="4428610"/>
            <a:ext cx="1383969" cy="27489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Tool output</a:t>
            </a:r>
          </a:p>
        </p:txBody>
      </p:sp>
      <p:sp>
        <p:nvSpPr>
          <p:cNvPr id="24" name="Rectangle 23">
            <a:extLst>
              <a:ext uri="{FF2B5EF4-FFF2-40B4-BE49-F238E27FC236}">
                <a16:creationId xmlns:a16="http://schemas.microsoft.com/office/drawing/2014/main" id="{140D3CBA-AB5E-AC53-2FCB-1FBFB567583D}"/>
              </a:ext>
            </a:extLst>
          </p:cNvPr>
          <p:cNvSpPr/>
          <p:nvPr/>
        </p:nvSpPr>
        <p:spPr>
          <a:xfrm>
            <a:off x="5615310" y="4428611"/>
            <a:ext cx="1383969" cy="274899"/>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Response</a:t>
            </a:r>
          </a:p>
        </p:txBody>
      </p:sp>
      <p:sp>
        <p:nvSpPr>
          <p:cNvPr id="28" name="Rectangle 27">
            <a:extLst>
              <a:ext uri="{FF2B5EF4-FFF2-40B4-BE49-F238E27FC236}">
                <a16:creationId xmlns:a16="http://schemas.microsoft.com/office/drawing/2014/main" id="{0A31EDF1-0A30-AD46-6F10-C1072E9F96C4}"/>
              </a:ext>
            </a:extLst>
          </p:cNvPr>
          <p:cNvSpPr/>
          <p:nvPr/>
        </p:nvSpPr>
        <p:spPr>
          <a:xfrm>
            <a:off x="1817225" y="4038692"/>
            <a:ext cx="1030147" cy="27489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Prompt</a:t>
            </a:r>
          </a:p>
        </p:txBody>
      </p:sp>
      <p:sp>
        <p:nvSpPr>
          <p:cNvPr id="29" name="Rectangle 28">
            <a:extLst>
              <a:ext uri="{FF2B5EF4-FFF2-40B4-BE49-F238E27FC236}">
                <a16:creationId xmlns:a16="http://schemas.microsoft.com/office/drawing/2014/main" id="{E96A2019-40DE-D02E-D8C0-BCB85C28A0D4}"/>
              </a:ext>
            </a:extLst>
          </p:cNvPr>
          <p:cNvSpPr/>
          <p:nvPr/>
        </p:nvSpPr>
        <p:spPr>
          <a:xfrm>
            <a:off x="2847372" y="4038692"/>
            <a:ext cx="1383969" cy="274899"/>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Response</a:t>
            </a:r>
          </a:p>
        </p:txBody>
      </p:sp>
      <p:sp>
        <p:nvSpPr>
          <p:cNvPr id="30" name="Rectangle 29">
            <a:extLst>
              <a:ext uri="{FF2B5EF4-FFF2-40B4-BE49-F238E27FC236}">
                <a16:creationId xmlns:a16="http://schemas.microsoft.com/office/drawing/2014/main" id="{77805500-D018-DDCF-AAA6-9E7EC4AF0179}"/>
              </a:ext>
            </a:extLst>
          </p:cNvPr>
          <p:cNvSpPr/>
          <p:nvPr/>
        </p:nvSpPr>
        <p:spPr>
          <a:xfrm>
            <a:off x="4231341" y="4038691"/>
            <a:ext cx="1383969" cy="27489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Tool output</a:t>
            </a:r>
          </a:p>
        </p:txBody>
      </p:sp>
      <p:sp>
        <p:nvSpPr>
          <p:cNvPr id="35" name="Rectangle 34">
            <a:extLst>
              <a:ext uri="{FF2B5EF4-FFF2-40B4-BE49-F238E27FC236}">
                <a16:creationId xmlns:a16="http://schemas.microsoft.com/office/drawing/2014/main" id="{321B081F-E2E5-F1F5-C8B6-5AC83F655CA4}"/>
              </a:ext>
            </a:extLst>
          </p:cNvPr>
          <p:cNvSpPr/>
          <p:nvPr/>
        </p:nvSpPr>
        <p:spPr>
          <a:xfrm>
            <a:off x="1817225" y="3695063"/>
            <a:ext cx="1030147" cy="27489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Prompt</a:t>
            </a:r>
          </a:p>
        </p:txBody>
      </p:sp>
      <p:sp>
        <p:nvSpPr>
          <p:cNvPr id="36" name="Rectangle 35">
            <a:extLst>
              <a:ext uri="{FF2B5EF4-FFF2-40B4-BE49-F238E27FC236}">
                <a16:creationId xmlns:a16="http://schemas.microsoft.com/office/drawing/2014/main" id="{B2EE0699-BBEF-8BF1-4557-F23B87E02E54}"/>
              </a:ext>
            </a:extLst>
          </p:cNvPr>
          <p:cNvSpPr/>
          <p:nvPr/>
        </p:nvSpPr>
        <p:spPr>
          <a:xfrm>
            <a:off x="2847372" y="3695063"/>
            <a:ext cx="1383969" cy="274899"/>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Response</a:t>
            </a:r>
          </a:p>
        </p:txBody>
      </p:sp>
      <p:sp>
        <p:nvSpPr>
          <p:cNvPr id="3" name="TextBox 2">
            <a:extLst>
              <a:ext uri="{FF2B5EF4-FFF2-40B4-BE49-F238E27FC236}">
                <a16:creationId xmlns:a16="http://schemas.microsoft.com/office/drawing/2014/main" id="{9692D612-4C20-66F1-7113-6AA8588C267F}"/>
              </a:ext>
            </a:extLst>
          </p:cNvPr>
          <p:cNvSpPr txBox="1"/>
          <p:nvPr/>
        </p:nvSpPr>
        <p:spPr>
          <a:xfrm>
            <a:off x="1916482" y="5837129"/>
            <a:ext cx="381836" cy="369332"/>
          </a:xfrm>
          <a:prstGeom prst="rect">
            <a:avLst/>
          </a:prstGeom>
          <a:noFill/>
        </p:spPr>
        <p:txBody>
          <a:bodyPr wrap="none" rtlCol="0">
            <a:spAutoFit/>
          </a:bodyPr>
          <a:lstStyle/>
          <a:p>
            <a:r>
              <a:rPr lang="en-US" dirty="0"/>
              <a:t>…</a:t>
            </a:r>
          </a:p>
        </p:txBody>
      </p:sp>
    </p:spTree>
    <p:extLst>
      <p:ext uri="{BB962C8B-B14F-4D97-AF65-F5344CB8AC3E}">
        <p14:creationId xmlns:p14="http://schemas.microsoft.com/office/powerpoint/2010/main" val="366614533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E52284-074A-7E5F-34A4-24BABD5FD81A}"/>
              </a:ext>
            </a:extLst>
          </p:cNvPr>
          <p:cNvSpPr>
            <a:spLocks noGrp="1"/>
          </p:cNvSpPr>
          <p:nvPr>
            <p:ph type="title"/>
          </p:nvPr>
        </p:nvSpPr>
        <p:spPr/>
        <p:txBody>
          <a:bodyPr/>
          <a:lstStyle/>
          <a:p>
            <a:r>
              <a:rPr lang="en-US" dirty="0"/>
              <a:t>“Progressive disclosure”</a:t>
            </a:r>
          </a:p>
        </p:txBody>
      </p:sp>
      <p:sp>
        <p:nvSpPr>
          <p:cNvPr id="3" name="Content Placeholder 2">
            <a:extLst>
              <a:ext uri="{FF2B5EF4-FFF2-40B4-BE49-F238E27FC236}">
                <a16:creationId xmlns:a16="http://schemas.microsoft.com/office/drawing/2014/main" id="{42DDEFE2-FEEA-36A1-3522-18D10BCA8DD5}"/>
              </a:ext>
            </a:extLst>
          </p:cNvPr>
          <p:cNvSpPr>
            <a:spLocks noGrp="1"/>
          </p:cNvSpPr>
          <p:nvPr>
            <p:ph idx="1"/>
          </p:nvPr>
        </p:nvSpPr>
        <p:spPr/>
        <p:txBody>
          <a:bodyPr/>
          <a:lstStyle/>
          <a:p>
            <a:pPr marL="0" indent="0">
              <a:buNone/>
            </a:pPr>
            <a:r>
              <a:rPr lang="en-US" dirty="0"/>
              <a:t>Principle: let agent choose its own context</a:t>
            </a:r>
          </a:p>
          <a:p>
            <a:pPr marL="0" indent="0">
              <a:buNone/>
            </a:pPr>
            <a:endParaRPr lang="en-US" dirty="0"/>
          </a:p>
          <a:p>
            <a:pPr marL="0" indent="0">
              <a:buNone/>
            </a:pPr>
            <a:r>
              <a:rPr lang="en-US" dirty="0"/>
              <a:t>Old approach: harness decides context relevant to prompt</a:t>
            </a:r>
          </a:p>
          <a:p>
            <a:endParaRPr lang="en-US" dirty="0"/>
          </a:p>
          <a:p>
            <a:endParaRPr lang="en-US" dirty="0"/>
          </a:p>
          <a:p>
            <a:pPr marL="0" indent="0">
              <a:buNone/>
            </a:pPr>
            <a:r>
              <a:rPr lang="en-US" dirty="0"/>
              <a:t>Progressive disclosure: agent finds relevant context itself</a:t>
            </a:r>
          </a:p>
          <a:p>
            <a:pPr marL="0" indent="0">
              <a:buNone/>
            </a:pPr>
            <a:endParaRPr lang="en-US" dirty="0"/>
          </a:p>
        </p:txBody>
      </p:sp>
      <p:sp>
        <p:nvSpPr>
          <p:cNvPr id="4" name="Rectangle 3">
            <a:extLst>
              <a:ext uri="{FF2B5EF4-FFF2-40B4-BE49-F238E27FC236}">
                <a16:creationId xmlns:a16="http://schemas.microsoft.com/office/drawing/2014/main" id="{451B066B-677E-AE88-8A2C-15BC3FF25FD1}"/>
              </a:ext>
            </a:extLst>
          </p:cNvPr>
          <p:cNvSpPr/>
          <p:nvPr/>
        </p:nvSpPr>
        <p:spPr>
          <a:xfrm>
            <a:off x="1090715" y="3609769"/>
            <a:ext cx="1030147" cy="27489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Prompt</a:t>
            </a:r>
          </a:p>
        </p:txBody>
      </p:sp>
      <p:sp>
        <p:nvSpPr>
          <p:cNvPr id="5" name="Rectangle 4">
            <a:extLst>
              <a:ext uri="{FF2B5EF4-FFF2-40B4-BE49-F238E27FC236}">
                <a16:creationId xmlns:a16="http://schemas.microsoft.com/office/drawing/2014/main" id="{24EDE330-8867-3C2A-13FA-1191A677B577}"/>
              </a:ext>
            </a:extLst>
          </p:cNvPr>
          <p:cNvSpPr/>
          <p:nvPr/>
        </p:nvSpPr>
        <p:spPr>
          <a:xfrm>
            <a:off x="2120862" y="3609770"/>
            <a:ext cx="2767938" cy="274898"/>
          </a:xfrm>
          <a:prstGeom prst="rect">
            <a:avLst/>
          </a:prstGeom>
          <a:solidFill>
            <a:srgbClr val="0070C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Harness-chosen context</a:t>
            </a:r>
          </a:p>
        </p:txBody>
      </p:sp>
      <p:sp>
        <p:nvSpPr>
          <p:cNvPr id="7" name="Rectangle 6">
            <a:extLst>
              <a:ext uri="{FF2B5EF4-FFF2-40B4-BE49-F238E27FC236}">
                <a16:creationId xmlns:a16="http://schemas.microsoft.com/office/drawing/2014/main" id="{FFFAF6A2-D93D-B2A5-89E5-44A93C60DD70}"/>
              </a:ext>
            </a:extLst>
          </p:cNvPr>
          <p:cNvSpPr/>
          <p:nvPr/>
        </p:nvSpPr>
        <p:spPr>
          <a:xfrm>
            <a:off x="4888800" y="3609769"/>
            <a:ext cx="1383969" cy="274899"/>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Response</a:t>
            </a:r>
          </a:p>
        </p:txBody>
      </p:sp>
      <p:sp>
        <p:nvSpPr>
          <p:cNvPr id="8" name="Rectangle 7">
            <a:extLst>
              <a:ext uri="{FF2B5EF4-FFF2-40B4-BE49-F238E27FC236}">
                <a16:creationId xmlns:a16="http://schemas.microsoft.com/office/drawing/2014/main" id="{947E9BD0-2F65-1983-E74B-08177B93453A}"/>
              </a:ext>
            </a:extLst>
          </p:cNvPr>
          <p:cNvSpPr/>
          <p:nvPr/>
        </p:nvSpPr>
        <p:spPr>
          <a:xfrm>
            <a:off x="6272769" y="3609768"/>
            <a:ext cx="1383969" cy="27489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Tool output</a:t>
            </a:r>
          </a:p>
        </p:txBody>
      </p:sp>
      <p:sp>
        <p:nvSpPr>
          <p:cNvPr id="9" name="Rectangle 8">
            <a:extLst>
              <a:ext uri="{FF2B5EF4-FFF2-40B4-BE49-F238E27FC236}">
                <a16:creationId xmlns:a16="http://schemas.microsoft.com/office/drawing/2014/main" id="{A5BD444E-9FD8-54E8-DA23-127577803F4D}"/>
              </a:ext>
            </a:extLst>
          </p:cNvPr>
          <p:cNvSpPr/>
          <p:nvPr/>
        </p:nvSpPr>
        <p:spPr>
          <a:xfrm>
            <a:off x="7656738" y="3609768"/>
            <a:ext cx="1383969" cy="274899"/>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Response</a:t>
            </a:r>
          </a:p>
        </p:txBody>
      </p:sp>
      <p:sp>
        <p:nvSpPr>
          <p:cNvPr id="10" name="Rectangle 9">
            <a:extLst>
              <a:ext uri="{FF2B5EF4-FFF2-40B4-BE49-F238E27FC236}">
                <a16:creationId xmlns:a16="http://schemas.microsoft.com/office/drawing/2014/main" id="{34B47820-793C-7C98-3EF3-CBD8222206C4}"/>
              </a:ext>
            </a:extLst>
          </p:cNvPr>
          <p:cNvSpPr/>
          <p:nvPr/>
        </p:nvSpPr>
        <p:spPr>
          <a:xfrm>
            <a:off x="1090715" y="5288256"/>
            <a:ext cx="1030147" cy="27489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Prompt</a:t>
            </a:r>
          </a:p>
        </p:txBody>
      </p:sp>
      <p:sp>
        <p:nvSpPr>
          <p:cNvPr id="11" name="Rectangle 10">
            <a:extLst>
              <a:ext uri="{FF2B5EF4-FFF2-40B4-BE49-F238E27FC236}">
                <a16:creationId xmlns:a16="http://schemas.microsoft.com/office/drawing/2014/main" id="{3EE5E2FB-E414-D58A-4ED6-C74218A35F22}"/>
              </a:ext>
            </a:extLst>
          </p:cNvPr>
          <p:cNvSpPr/>
          <p:nvPr/>
        </p:nvSpPr>
        <p:spPr>
          <a:xfrm>
            <a:off x="2120862" y="5288256"/>
            <a:ext cx="1383969" cy="274899"/>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Response</a:t>
            </a:r>
          </a:p>
        </p:txBody>
      </p:sp>
      <p:sp>
        <p:nvSpPr>
          <p:cNvPr id="12" name="Rectangle 11">
            <a:extLst>
              <a:ext uri="{FF2B5EF4-FFF2-40B4-BE49-F238E27FC236}">
                <a16:creationId xmlns:a16="http://schemas.microsoft.com/office/drawing/2014/main" id="{498F33DF-7E3A-3317-2450-862FE868B887}"/>
              </a:ext>
            </a:extLst>
          </p:cNvPr>
          <p:cNvSpPr/>
          <p:nvPr/>
        </p:nvSpPr>
        <p:spPr>
          <a:xfrm>
            <a:off x="3504831" y="5288255"/>
            <a:ext cx="1383969" cy="27489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ls some-</a:t>
            </a:r>
            <a:r>
              <a:rPr lang="en-US" dirty="0" err="1"/>
              <a:t>dir</a:t>
            </a:r>
            <a:endParaRPr lang="en-US" dirty="0"/>
          </a:p>
        </p:txBody>
      </p:sp>
      <p:sp>
        <p:nvSpPr>
          <p:cNvPr id="13" name="Rectangle 12">
            <a:extLst>
              <a:ext uri="{FF2B5EF4-FFF2-40B4-BE49-F238E27FC236}">
                <a16:creationId xmlns:a16="http://schemas.microsoft.com/office/drawing/2014/main" id="{080C75AB-D923-A4AD-1A40-AB885F8943E0}"/>
              </a:ext>
            </a:extLst>
          </p:cNvPr>
          <p:cNvSpPr/>
          <p:nvPr/>
        </p:nvSpPr>
        <p:spPr>
          <a:xfrm>
            <a:off x="4888800" y="5288256"/>
            <a:ext cx="1383969" cy="274899"/>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Response</a:t>
            </a:r>
          </a:p>
        </p:txBody>
      </p:sp>
      <p:sp>
        <p:nvSpPr>
          <p:cNvPr id="14" name="Rectangle 13">
            <a:extLst>
              <a:ext uri="{FF2B5EF4-FFF2-40B4-BE49-F238E27FC236}">
                <a16:creationId xmlns:a16="http://schemas.microsoft.com/office/drawing/2014/main" id="{A02AF0C0-DD7F-BC24-8837-8C72CF1E924C}"/>
              </a:ext>
            </a:extLst>
          </p:cNvPr>
          <p:cNvSpPr/>
          <p:nvPr/>
        </p:nvSpPr>
        <p:spPr>
          <a:xfrm>
            <a:off x="6272768" y="5288255"/>
            <a:ext cx="1731363" cy="27489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grep some-file</a:t>
            </a:r>
          </a:p>
        </p:txBody>
      </p:sp>
      <p:sp>
        <p:nvSpPr>
          <p:cNvPr id="15" name="Rectangle 14">
            <a:extLst>
              <a:ext uri="{FF2B5EF4-FFF2-40B4-BE49-F238E27FC236}">
                <a16:creationId xmlns:a16="http://schemas.microsoft.com/office/drawing/2014/main" id="{2D5854D4-24C0-CF7E-4AD5-6FAE9A682C22}"/>
              </a:ext>
            </a:extLst>
          </p:cNvPr>
          <p:cNvSpPr/>
          <p:nvPr/>
        </p:nvSpPr>
        <p:spPr>
          <a:xfrm>
            <a:off x="7995186" y="5288254"/>
            <a:ext cx="1383969" cy="274899"/>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Response</a:t>
            </a:r>
          </a:p>
        </p:txBody>
      </p:sp>
      <p:sp>
        <p:nvSpPr>
          <p:cNvPr id="16" name="TextBox 15">
            <a:extLst>
              <a:ext uri="{FF2B5EF4-FFF2-40B4-BE49-F238E27FC236}">
                <a16:creationId xmlns:a16="http://schemas.microsoft.com/office/drawing/2014/main" id="{0FD330FA-BFDB-A7DE-2333-DF15BCC8CF1D}"/>
              </a:ext>
            </a:extLst>
          </p:cNvPr>
          <p:cNvSpPr txBox="1"/>
          <p:nvPr/>
        </p:nvSpPr>
        <p:spPr>
          <a:xfrm>
            <a:off x="9388099" y="5288254"/>
            <a:ext cx="739036" cy="369332"/>
          </a:xfrm>
          <a:prstGeom prst="rect">
            <a:avLst/>
          </a:prstGeom>
          <a:noFill/>
        </p:spPr>
        <p:txBody>
          <a:bodyPr wrap="square" rtlCol="0">
            <a:spAutoFit/>
          </a:bodyPr>
          <a:lstStyle/>
          <a:p>
            <a:r>
              <a:rPr lang="en-US" dirty="0"/>
              <a:t>…</a:t>
            </a:r>
          </a:p>
        </p:txBody>
      </p:sp>
      <p:sp>
        <p:nvSpPr>
          <p:cNvPr id="17" name="TextBox 16">
            <a:extLst>
              <a:ext uri="{FF2B5EF4-FFF2-40B4-BE49-F238E27FC236}">
                <a16:creationId xmlns:a16="http://schemas.microsoft.com/office/drawing/2014/main" id="{2CBC507C-9534-ABE3-FD43-07D20D60D2E9}"/>
              </a:ext>
            </a:extLst>
          </p:cNvPr>
          <p:cNvSpPr txBox="1"/>
          <p:nvPr/>
        </p:nvSpPr>
        <p:spPr>
          <a:xfrm>
            <a:off x="9107330" y="3631962"/>
            <a:ext cx="739036" cy="369332"/>
          </a:xfrm>
          <a:prstGeom prst="rect">
            <a:avLst/>
          </a:prstGeom>
          <a:noFill/>
        </p:spPr>
        <p:txBody>
          <a:bodyPr wrap="square" rtlCol="0">
            <a:spAutoFit/>
          </a:bodyPr>
          <a:lstStyle/>
          <a:p>
            <a:r>
              <a:rPr lang="en-US" dirty="0"/>
              <a:t>…</a:t>
            </a:r>
          </a:p>
        </p:txBody>
      </p:sp>
    </p:spTree>
    <p:extLst>
      <p:ext uri="{BB962C8B-B14F-4D97-AF65-F5344CB8AC3E}">
        <p14:creationId xmlns:p14="http://schemas.microsoft.com/office/powerpoint/2010/main" val="347419011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877196-99F0-6079-032C-B9C3F81E993F}"/>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9862A02-CFD9-CA3F-5C29-3A94C5E7525B}"/>
              </a:ext>
            </a:extLst>
          </p:cNvPr>
          <p:cNvSpPr>
            <a:spLocks noGrp="1"/>
          </p:cNvSpPr>
          <p:nvPr>
            <p:ph idx="1"/>
          </p:nvPr>
        </p:nvSpPr>
        <p:spPr>
          <a:xfrm>
            <a:off x="838200" y="674896"/>
            <a:ext cx="10515600" cy="4782993"/>
          </a:xfrm>
        </p:spPr>
        <p:txBody>
          <a:bodyPr>
            <a:normAutofit/>
          </a:bodyPr>
          <a:lstStyle/>
          <a:p>
            <a:pPr marL="0" indent="0">
              <a:buNone/>
            </a:pPr>
            <a:r>
              <a:rPr lang="en-US" dirty="0"/>
              <a:t>Tool call results can be long</a:t>
            </a:r>
          </a:p>
          <a:p>
            <a:pPr marL="0" indent="0">
              <a:buNone/>
            </a:pPr>
            <a:endParaRPr lang="en-US" dirty="0"/>
          </a:p>
          <a:p>
            <a:pPr marL="0" indent="0">
              <a:buNone/>
            </a:pPr>
            <a:endParaRPr lang="en-US" dirty="0"/>
          </a:p>
          <a:p>
            <a:endParaRPr lang="en-US" dirty="0"/>
          </a:p>
          <a:p>
            <a:pPr marL="0" indent="0">
              <a:buNone/>
            </a:pPr>
            <a:r>
              <a:rPr lang="en-US" dirty="0"/>
              <a:t>Tasks can involve 100s of tool calls</a:t>
            </a:r>
          </a:p>
          <a:p>
            <a:pPr marL="0" indent="0">
              <a:buNone/>
            </a:pPr>
            <a:endParaRPr lang="en-US" dirty="0"/>
          </a:p>
          <a:p>
            <a:pPr marL="0" indent="0">
              <a:buNone/>
            </a:pPr>
            <a:endParaRPr lang="en-US" dirty="0"/>
          </a:p>
          <a:p>
            <a:pPr marL="0" indent="0">
              <a:buNone/>
            </a:pPr>
            <a:r>
              <a:rPr lang="en-US" dirty="0"/>
              <a:t>Tool calls and tool call results must be copied “by hand”</a:t>
            </a:r>
          </a:p>
          <a:p>
            <a:pPr marL="0" indent="0">
              <a:buNone/>
            </a:pPr>
            <a:endParaRPr lang="en-US" dirty="0"/>
          </a:p>
        </p:txBody>
      </p:sp>
      <p:sp>
        <p:nvSpPr>
          <p:cNvPr id="4" name="Rectangle 3">
            <a:extLst>
              <a:ext uri="{FF2B5EF4-FFF2-40B4-BE49-F238E27FC236}">
                <a16:creationId xmlns:a16="http://schemas.microsoft.com/office/drawing/2014/main" id="{9DBFF4F1-DF08-EE03-A94D-A7B3F3E121C7}"/>
              </a:ext>
            </a:extLst>
          </p:cNvPr>
          <p:cNvSpPr/>
          <p:nvPr/>
        </p:nvSpPr>
        <p:spPr>
          <a:xfrm>
            <a:off x="558126" y="1444431"/>
            <a:ext cx="1310220" cy="31087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Prompt</a:t>
            </a:r>
          </a:p>
        </p:txBody>
      </p:sp>
      <p:sp>
        <p:nvSpPr>
          <p:cNvPr id="5" name="Rectangle 4">
            <a:extLst>
              <a:ext uri="{FF2B5EF4-FFF2-40B4-BE49-F238E27FC236}">
                <a16:creationId xmlns:a16="http://schemas.microsoft.com/office/drawing/2014/main" id="{D2047F77-8B99-9667-6A53-375A5BA1F6CF}"/>
              </a:ext>
            </a:extLst>
          </p:cNvPr>
          <p:cNvSpPr/>
          <p:nvPr/>
        </p:nvSpPr>
        <p:spPr>
          <a:xfrm>
            <a:off x="1868347" y="1444432"/>
            <a:ext cx="1760238" cy="310878"/>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Response</a:t>
            </a:r>
          </a:p>
        </p:txBody>
      </p:sp>
      <p:sp>
        <p:nvSpPr>
          <p:cNvPr id="6" name="Rectangle 5">
            <a:extLst>
              <a:ext uri="{FF2B5EF4-FFF2-40B4-BE49-F238E27FC236}">
                <a16:creationId xmlns:a16="http://schemas.microsoft.com/office/drawing/2014/main" id="{FDFB323B-7C05-1A73-C7D9-CE3B07BEE297}"/>
              </a:ext>
            </a:extLst>
          </p:cNvPr>
          <p:cNvSpPr/>
          <p:nvPr/>
        </p:nvSpPr>
        <p:spPr>
          <a:xfrm>
            <a:off x="3628585" y="1444431"/>
            <a:ext cx="1760238" cy="310878"/>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ls some-</a:t>
            </a:r>
            <a:r>
              <a:rPr lang="en-US" dirty="0" err="1"/>
              <a:t>dir</a:t>
            </a:r>
            <a:endParaRPr lang="en-US" dirty="0"/>
          </a:p>
        </p:txBody>
      </p:sp>
      <p:sp>
        <p:nvSpPr>
          <p:cNvPr id="7" name="Rectangle 6">
            <a:extLst>
              <a:ext uri="{FF2B5EF4-FFF2-40B4-BE49-F238E27FC236}">
                <a16:creationId xmlns:a16="http://schemas.microsoft.com/office/drawing/2014/main" id="{2B270201-3BB0-A052-5C39-53F860291860}"/>
              </a:ext>
            </a:extLst>
          </p:cNvPr>
          <p:cNvSpPr/>
          <p:nvPr/>
        </p:nvSpPr>
        <p:spPr>
          <a:xfrm>
            <a:off x="5388822" y="1444432"/>
            <a:ext cx="6803177" cy="310877"/>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10,000 files in directory</a:t>
            </a:r>
          </a:p>
        </p:txBody>
      </p:sp>
      <p:grpSp>
        <p:nvGrpSpPr>
          <p:cNvPr id="17" name="Group 16">
            <a:extLst>
              <a:ext uri="{FF2B5EF4-FFF2-40B4-BE49-F238E27FC236}">
                <a16:creationId xmlns:a16="http://schemas.microsoft.com/office/drawing/2014/main" id="{33CD094E-4396-6A51-5007-515DB32E1289}"/>
              </a:ext>
            </a:extLst>
          </p:cNvPr>
          <p:cNvGrpSpPr/>
          <p:nvPr/>
        </p:nvGrpSpPr>
        <p:grpSpPr>
          <a:xfrm>
            <a:off x="558126" y="3523928"/>
            <a:ext cx="1295355" cy="274900"/>
            <a:chOff x="558126" y="3129628"/>
            <a:chExt cx="6566023" cy="274900"/>
          </a:xfrm>
        </p:grpSpPr>
        <p:sp>
          <p:nvSpPr>
            <p:cNvPr id="8" name="Rectangle 7">
              <a:extLst>
                <a:ext uri="{FF2B5EF4-FFF2-40B4-BE49-F238E27FC236}">
                  <a16:creationId xmlns:a16="http://schemas.microsoft.com/office/drawing/2014/main" id="{3BAC7100-4216-1426-F4B9-1E7BDB3ACB14}"/>
                </a:ext>
              </a:extLst>
            </p:cNvPr>
            <p:cNvSpPr/>
            <p:nvPr/>
          </p:nvSpPr>
          <p:spPr>
            <a:xfrm>
              <a:off x="558126" y="3129629"/>
              <a:ext cx="1030147" cy="27489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500" dirty="0"/>
            </a:p>
          </p:txBody>
        </p:sp>
        <p:sp>
          <p:nvSpPr>
            <p:cNvPr id="9" name="Rectangle 8">
              <a:extLst>
                <a:ext uri="{FF2B5EF4-FFF2-40B4-BE49-F238E27FC236}">
                  <a16:creationId xmlns:a16="http://schemas.microsoft.com/office/drawing/2014/main" id="{333960F6-973D-0082-F393-0CEF77C2C467}"/>
                </a:ext>
              </a:extLst>
            </p:cNvPr>
            <p:cNvSpPr/>
            <p:nvPr/>
          </p:nvSpPr>
          <p:spPr>
            <a:xfrm>
              <a:off x="1588273" y="3129629"/>
              <a:ext cx="1383969" cy="274899"/>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500" dirty="0"/>
            </a:p>
          </p:txBody>
        </p:sp>
        <p:sp>
          <p:nvSpPr>
            <p:cNvPr id="13" name="Rectangle 12">
              <a:extLst>
                <a:ext uri="{FF2B5EF4-FFF2-40B4-BE49-F238E27FC236}">
                  <a16:creationId xmlns:a16="http://schemas.microsoft.com/office/drawing/2014/main" id="{A7BD7EFB-BB78-C8AA-5672-0F0038EF504D}"/>
                </a:ext>
              </a:extLst>
            </p:cNvPr>
            <p:cNvSpPr/>
            <p:nvPr/>
          </p:nvSpPr>
          <p:spPr>
            <a:xfrm>
              <a:off x="2972242" y="3129628"/>
              <a:ext cx="1383969" cy="27489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500" dirty="0"/>
            </a:p>
          </p:txBody>
        </p:sp>
        <p:sp>
          <p:nvSpPr>
            <p:cNvPr id="14" name="Rectangle 13">
              <a:extLst>
                <a:ext uri="{FF2B5EF4-FFF2-40B4-BE49-F238E27FC236}">
                  <a16:creationId xmlns:a16="http://schemas.microsoft.com/office/drawing/2014/main" id="{8C0BD092-E238-1BE2-A3EE-5B462AF21508}"/>
                </a:ext>
              </a:extLst>
            </p:cNvPr>
            <p:cNvSpPr/>
            <p:nvPr/>
          </p:nvSpPr>
          <p:spPr>
            <a:xfrm>
              <a:off x="4356211" y="3129629"/>
              <a:ext cx="1383969" cy="274899"/>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500" dirty="0"/>
            </a:p>
          </p:txBody>
        </p:sp>
        <p:sp>
          <p:nvSpPr>
            <p:cNvPr id="15" name="Rectangle 14">
              <a:extLst>
                <a:ext uri="{FF2B5EF4-FFF2-40B4-BE49-F238E27FC236}">
                  <a16:creationId xmlns:a16="http://schemas.microsoft.com/office/drawing/2014/main" id="{DCDB4A45-11D4-E5F4-D247-290555A60820}"/>
                </a:ext>
              </a:extLst>
            </p:cNvPr>
            <p:cNvSpPr/>
            <p:nvPr/>
          </p:nvSpPr>
          <p:spPr>
            <a:xfrm>
              <a:off x="5740180" y="3129628"/>
              <a:ext cx="1383969" cy="27489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500" dirty="0"/>
            </a:p>
          </p:txBody>
        </p:sp>
      </p:grpSp>
      <p:grpSp>
        <p:nvGrpSpPr>
          <p:cNvPr id="18" name="Group 17">
            <a:extLst>
              <a:ext uri="{FF2B5EF4-FFF2-40B4-BE49-F238E27FC236}">
                <a16:creationId xmlns:a16="http://schemas.microsoft.com/office/drawing/2014/main" id="{861DB988-56A7-0AE0-8ED5-F1A6CEC43AB0}"/>
              </a:ext>
            </a:extLst>
          </p:cNvPr>
          <p:cNvGrpSpPr/>
          <p:nvPr/>
        </p:nvGrpSpPr>
        <p:grpSpPr>
          <a:xfrm>
            <a:off x="1857713" y="3523928"/>
            <a:ext cx="1365157" cy="274900"/>
            <a:chOff x="1588273" y="3129628"/>
            <a:chExt cx="6919845" cy="274900"/>
          </a:xfrm>
        </p:grpSpPr>
        <p:sp>
          <p:nvSpPr>
            <p:cNvPr id="20" name="Rectangle 19">
              <a:extLst>
                <a:ext uri="{FF2B5EF4-FFF2-40B4-BE49-F238E27FC236}">
                  <a16:creationId xmlns:a16="http://schemas.microsoft.com/office/drawing/2014/main" id="{FE8BFEED-C4A9-1588-DF50-FCEA083D541D}"/>
                </a:ext>
              </a:extLst>
            </p:cNvPr>
            <p:cNvSpPr/>
            <p:nvPr/>
          </p:nvSpPr>
          <p:spPr>
            <a:xfrm>
              <a:off x="1588273" y="3129629"/>
              <a:ext cx="1383969" cy="274899"/>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500" dirty="0"/>
            </a:p>
          </p:txBody>
        </p:sp>
        <p:sp>
          <p:nvSpPr>
            <p:cNvPr id="21" name="Rectangle 20">
              <a:extLst>
                <a:ext uri="{FF2B5EF4-FFF2-40B4-BE49-F238E27FC236}">
                  <a16:creationId xmlns:a16="http://schemas.microsoft.com/office/drawing/2014/main" id="{DDD0B3C3-C15A-811A-1DC8-D3CEE5013792}"/>
                </a:ext>
              </a:extLst>
            </p:cNvPr>
            <p:cNvSpPr/>
            <p:nvPr/>
          </p:nvSpPr>
          <p:spPr>
            <a:xfrm>
              <a:off x="2972242" y="3129628"/>
              <a:ext cx="1383969" cy="27489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500" dirty="0"/>
            </a:p>
          </p:txBody>
        </p:sp>
        <p:sp>
          <p:nvSpPr>
            <p:cNvPr id="22" name="Rectangle 21">
              <a:extLst>
                <a:ext uri="{FF2B5EF4-FFF2-40B4-BE49-F238E27FC236}">
                  <a16:creationId xmlns:a16="http://schemas.microsoft.com/office/drawing/2014/main" id="{93E5A50A-5ED5-085D-2F46-39093A11E61B}"/>
                </a:ext>
              </a:extLst>
            </p:cNvPr>
            <p:cNvSpPr/>
            <p:nvPr/>
          </p:nvSpPr>
          <p:spPr>
            <a:xfrm>
              <a:off x="4356211" y="3129629"/>
              <a:ext cx="1383969" cy="274899"/>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500" dirty="0"/>
            </a:p>
          </p:txBody>
        </p:sp>
        <p:sp>
          <p:nvSpPr>
            <p:cNvPr id="23" name="Rectangle 22">
              <a:extLst>
                <a:ext uri="{FF2B5EF4-FFF2-40B4-BE49-F238E27FC236}">
                  <a16:creationId xmlns:a16="http://schemas.microsoft.com/office/drawing/2014/main" id="{5EDF993C-77D9-A49D-D5A7-12F9CE56B5A0}"/>
                </a:ext>
              </a:extLst>
            </p:cNvPr>
            <p:cNvSpPr/>
            <p:nvPr/>
          </p:nvSpPr>
          <p:spPr>
            <a:xfrm>
              <a:off x="5740180" y="3129628"/>
              <a:ext cx="1383969" cy="27489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500" dirty="0"/>
            </a:p>
          </p:txBody>
        </p:sp>
        <p:sp>
          <p:nvSpPr>
            <p:cNvPr id="24" name="Rectangle 23">
              <a:extLst>
                <a:ext uri="{FF2B5EF4-FFF2-40B4-BE49-F238E27FC236}">
                  <a16:creationId xmlns:a16="http://schemas.microsoft.com/office/drawing/2014/main" id="{F9410801-BE9B-7319-51E8-D0A0CA784109}"/>
                </a:ext>
              </a:extLst>
            </p:cNvPr>
            <p:cNvSpPr/>
            <p:nvPr/>
          </p:nvSpPr>
          <p:spPr>
            <a:xfrm>
              <a:off x="7124149" y="3129628"/>
              <a:ext cx="1383969" cy="274899"/>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500" dirty="0"/>
            </a:p>
          </p:txBody>
        </p:sp>
      </p:grpSp>
      <p:grpSp>
        <p:nvGrpSpPr>
          <p:cNvPr id="25" name="Group 24">
            <a:extLst>
              <a:ext uri="{FF2B5EF4-FFF2-40B4-BE49-F238E27FC236}">
                <a16:creationId xmlns:a16="http://schemas.microsoft.com/office/drawing/2014/main" id="{66A70465-7B6D-AA48-984A-6BD2FA5F8751}"/>
              </a:ext>
            </a:extLst>
          </p:cNvPr>
          <p:cNvGrpSpPr/>
          <p:nvPr/>
        </p:nvGrpSpPr>
        <p:grpSpPr>
          <a:xfrm>
            <a:off x="3219279" y="3523927"/>
            <a:ext cx="1092126" cy="274900"/>
            <a:chOff x="2972242" y="3129628"/>
            <a:chExt cx="5535876" cy="274900"/>
          </a:xfrm>
        </p:grpSpPr>
        <p:sp>
          <p:nvSpPr>
            <p:cNvPr id="27" name="Rectangle 26">
              <a:extLst>
                <a:ext uri="{FF2B5EF4-FFF2-40B4-BE49-F238E27FC236}">
                  <a16:creationId xmlns:a16="http://schemas.microsoft.com/office/drawing/2014/main" id="{6892751F-5C6D-4F49-9967-B1793710C3E7}"/>
                </a:ext>
              </a:extLst>
            </p:cNvPr>
            <p:cNvSpPr/>
            <p:nvPr/>
          </p:nvSpPr>
          <p:spPr>
            <a:xfrm>
              <a:off x="2972242" y="3129628"/>
              <a:ext cx="1383969" cy="27489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500" dirty="0"/>
            </a:p>
          </p:txBody>
        </p:sp>
        <p:sp>
          <p:nvSpPr>
            <p:cNvPr id="28" name="Rectangle 27">
              <a:extLst>
                <a:ext uri="{FF2B5EF4-FFF2-40B4-BE49-F238E27FC236}">
                  <a16:creationId xmlns:a16="http://schemas.microsoft.com/office/drawing/2014/main" id="{7F088CEE-4EA9-EA97-8661-5242241AC374}"/>
                </a:ext>
              </a:extLst>
            </p:cNvPr>
            <p:cNvSpPr/>
            <p:nvPr/>
          </p:nvSpPr>
          <p:spPr>
            <a:xfrm>
              <a:off x="4356211" y="3129629"/>
              <a:ext cx="1383969" cy="274899"/>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500" dirty="0"/>
            </a:p>
          </p:txBody>
        </p:sp>
        <p:sp>
          <p:nvSpPr>
            <p:cNvPr id="29" name="Rectangle 28">
              <a:extLst>
                <a:ext uri="{FF2B5EF4-FFF2-40B4-BE49-F238E27FC236}">
                  <a16:creationId xmlns:a16="http://schemas.microsoft.com/office/drawing/2014/main" id="{BED18039-02DD-FBB3-DF84-BB9D1F249A21}"/>
                </a:ext>
              </a:extLst>
            </p:cNvPr>
            <p:cNvSpPr/>
            <p:nvPr/>
          </p:nvSpPr>
          <p:spPr>
            <a:xfrm>
              <a:off x="5740180" y="3129628"/>
              <a:ext cx="1383969" cy="27489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500" dirty="0"/>
            </a:p>
          </p:txBody>
        </p:sp>
        <p:sp>
          <p:nvSpPr>
            <p:cNvPr id="30" name="Rectangle 29">
              <a:extLst>
                <a:ext uri="{FF2B5EF4-FFF2-40B4-BE49-F238E27FC236}">
                  <a16:creationId xmlns:a16="http://schemas.microsoft.com/office/drawing/2014/main" id="{1D367599-7F82-9ED7-A6AB-909B7DD985B9}"/>
                </a:ext>
              </a:extLst>
            </p:cNvPr>
            <p:cNvSpPr/>
            <p:nvPr/>
          </p:nvSpPr>
          <p:spPr>
            <a:xfrm>
              <a:off x="7124149" y="3129628"/>
              <a:ext cx="1383969" cy="274899"/>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500" dirty="0"/>
            </a:p>
          </p:txBody>
        </p:sp>
      </p:grpSp>
      <p:grpSp>
        <p:nvGrpSpPr>
          <p:cNvPr id="43" name="Group 42">
            <a:extLst>
              <a:ext uri="{FF2B5EF4-FFF2-40B4-BE49-F238E27FC236}">
                <a16:creationId xmlns:a16="http://schemas.microsoft.com/office/drawing/2014/main" id="{C018F9C9-BCEC-39D9-FCA9-6267D3C204A9}"/>
              </a:ext>
            </a:extLst>
          </p:cNvPr>
          <p:cNvGrpSpPr/>
          <p:nvPr/>
        </p:nvGrpSpPr>
        <p:grpSpPr>
          <a:xfrm>
            <a:off x="4310223" y="3523926"/>
            <a:ext cx="1092126" cy="274900"/>
            <a:chOff x="2972242" y="3129628"/>
            <a:chExt cx="5535876" cy="274900"/>
          </a:xfrm>
        </p:grpSpPr>
        <p:sp>
          <p:nvSpPr>
            <p:cNvPr id="44" name="Rectangle 43">
              <a:extLst>
                <a:ext uri="{FF2B5EF4-FFF2-40B4-BE49-F238E27FC236}">
                  <a16:creationId xmlns:a16="http://schemas.microsoft.com/office/drawing/2014/main" id="{ACE9D8EF-E916-C506-6197-EC5990C954A3}"/>
                </a:ext>
              </a:extLst>
            </p:cNvPr>
            <p:cNvSpPr/>
            <p:nvPr/>
          </p:nvSpPr>
          <p:spPr>
            <a:xfrm>
              <a:off x="2972242" y="3129628"/>
              <a:ext cx="1383969" cy="27489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500" dirty="0"/>
            </a:p>
          </p:txBody>
        </p:sp>
        <p:sp>
          <p:nvSpPr>
            <p:cNvPr id="45" name="Rectangle 44">
              <a:extLst>
                <a:ext uri="{FF2B5EF4-FFF2-40B4-BE49-F238E27FC236}">
                  <a16:creationId xmlns:a16="http://schemas.microsoft.com/office/drawing/2014/main" id="{6F30EB33-4F06-9705-B8C9-DF0BAC10E3A6}"/>
                </a:ext>
              </a:extLst>
            </p:cNvPr>
            <p:cNvSpPr/>
            <p:nvPr/>
          </p:nvSpPr>
          <p:spPr>
            <a:xfrm>
              <a:off x="4356211" y="3129629"/>
              <a:ext cx="1383969" cy="274899"/>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500" dirty="0"/>
            </a:p>
          </p:txBody>
        </p:sp>
        <p:sp>
          <p:nvSpPr>
            <p:cNvPr id="46" name="Rectangle 45">
              <a:extLst>
                <a:ext uri="{FF2B5EF4-FFF2-40B4-BE49-F238E27FC236}">
                  <a16:creationId xmlns:a16="http://schemas.microsoft.com/office/drawing/2014/main" id="{0897B69C-A201-6DFA-6515-2D354DF9DA8F}"/>
                </a:ext>
              </a:extLst>
            </p:cNvPr>
            <p:cNvSpPr/>
            <p:nvPr/>
          </p:nvSpPr>
          <p:spPr>
            <a:xfrm>
              <a:off x="5740180" y="3129628"/>
              <a:ext cx="1383969" cy="27489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500" dirty="0"/>
            </a:p>
          </p:txBody>
        </p:sp>
        <p:sp>
          <p:nvSpPr>
            <p:cNvPr id="47" name="Rectangle 46">
              <a:extLst>
                <a:ext uri="{FF2B5EF4-FFF2-40B4-BE49-F238E27FC236}">
                  <a16:creationId xmlns:a16="http://schemas.microsoft.com/office/drawing/2014/main" id="{5B8CD6F1-DABA-0B46-4DCE-CD484DC0A6F9}"/>
                </a:ext>
              </a:extLst>
            </p:cNvPr>
            <p:cNvSpPr/>
            <p:nvPr/>
          </p:nvSpPr>
          <p:spPr>
            <a:xfrm>
              <a:off x="7124149" y="3129628"/>
              <a:ext cx="1383969" cy="274899"/>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500" dirty="0"/>
            </a:p>
          </p:txBody>
        </p:sp>
      </p:grpSp>
      <p:grpSp>
        <p:nvGrpSpPr>
          <p:cNvPr id="48" name="Group 47">
            <a:extLst>
              <a:ext uri="{FF2B5EF4-FFF2-40B4-BE49-F238E27FC236}">
                <a16:creationId xmlns:a16="http://schemas.microsoft.com/office/drawing/2014/main" id="{1A737673-EC55-2F2F-A495-5955EEEDE7C5}"/>
              </a:ext>
            </a:extLst>
          </p:cNvPr>
          <p:cNvGrpSpPr/>
          <p:nvPr/>
        </p:nvGrpSpPr>
        <p:grpSpPr>
          <a:xfrm>
            <a:off x="5406580" y="3523925"/>
            <a:ext cx="1092126" cy="274900"/>
            <a:chOff x="2972242" y="3129628"/>
            <a:chExt cx="5535876" cy="274900"/>
          </a:xfrm>
        </p:grpSpPr>
        <p:sp>
          <p:nvSpPr>
            <p:cNvPr id="50" name="Rectangle 49">
              <a:extLst>
                <a:ext uri="{FF2B5EF4-FFF2-40B4-BE49-F238E27FC236}">
                  <a16:creationId xmlns:a16="http://schemas.microsoft.com/office/drawing/2014/main" id="{756EAA61-695D-FFC2-5393-BF31605C4042}"/>
                </a:ext>
              </a:extLst>
            </p:cNvPr>
            <p:cNvSpPr/>
            <p:nvPr/>
          </p:nvSpPr>
          <p:spPr>
            <a:xfrm>
              <a:off x="2972242" y="3129628"/>
              <a:ext cx="1383969" cy="27489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500" dirty="0"/>
            </a:p>
          </p:txBody>
        </p:sp>
        <p:sp>
          <p:nvSpPr>
            <p:cNvPr id="51" name="Rectangle 50">
              <a:extLst>
                <a:ext uri="{FF2B5EF4-FFF2-40B4-BE49-F238E27FC236}">
                  <a16:creationId xmlns:a16="http://schemas.microsoft.com/office/drawing/2014/main" id="{3C64C7D5-CC52-A3EE-9277-0130E23801E7}"/>
                </a:ext>
              </a:extLst>
            </p:cNvPr>
            <p:cNvSpPr/>
            <p:nvPr/>
          </p:nvSpPr>
          <p:spPr>
            <a:xfrm>
              <a:off x="4356211" y="3129629"/>
              <a:ext cx="1383969" cy="274899"/>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500" dirty="0"/>
            </a:p>
          </p:txBody>
        </p:sp>
        <p:sp>
          <p:nvSpPr>
            <p:cNvPr id="52" name="Rectangle 51">
              <a:extLst>
                <a:ext uri="{FF2B5EF4-FFF2-40B4-BE49-F238E27FC236}">
                  <a16:creationId xmlns:a16="http://schemas.microsoft.com/office/drawing/2014/main" id="{F205882E-41ED-BA81-4588-2C13FBBF6840}"/>
                </a:ext>
              </a:extLst>
            </p:cNvPr>
            <p:cNvSpPr/>
            <p:nvPr/>
          </p:nvSpPr>
          <p:spPr>
            <a:xfrm>
              <a:off x="5740180" y="3129628"/>
              <a:ext cx="1383969" cy="27489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500" dirty="0"/>
            </a:p>
          </p:txBody>
        </p:sp>
        <p:sp>
          <p:nvSpPr>
            <p:cNvPr id="53" name="Rectangle 52">
              <a:extLst>
                <a:ext uri="{FF2B5EF4-FFF2-40B4-BE49-F238E27FC236}">
                  <a16:creationId xmlns:a16="http://schemas.microsoft.com/office/drawing/2014/main" id="{AFFF502B-2C41-9B41-C3B6-921D48ACF33E}"/>
                </a:ext>
              </a:extLst>
            </p:cNvPr>
            <p:cNvSpPr/>
            <p:nvPr/>
          </p:nvSpPr>
          <p:spPr>
            <a:xfrm>
              <a:off x="7124149" y="3129628"/>
              <a:ext cx="1383969" cy="274899"/>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500" dirty="0"/>
            </a:p>
          </p:txBody>
        </p:sp>
      </p:grpSp>
      <p:grpSp>
        <p:nvGrpSpPr>
          <p:cNvPr id="54" name="Group 53">
            <a:extLst>
              <a:ext uri="{FF2B5EF4-FFF2-40B4-BE49-F238E27FC236}">
                <a16:creationId xmlns:a16="http://schemas.microsoft.com/office/drawing/2014/main" id="{ACCC695D-1550-F0ED-460C-161A4E7552C0}"/>
              </a:ext>
            </a:extLst>
          </p:cNvPr>
          <p:cNvGrpSpPr/>
          <p:nvPr/>
        </p:nvGrpSpPr>
        <p:grpSpPr>
          <a:xfrm>
            <a:off x="6495114" y="3523924"/>
            <a:ext cx="1092126" cy="274900"/>
            <a:chOff x="2972242" y="3129628"/>
            <a:chExt cx="5535876" cy="274900"/>
          </a:xfrm>
        </p:grpSpPr>
        <p:sp>
          <p:nvSpPr>
            <p:cNvPr id="55" name="Rectangle 54">
              <a:extLst>
                <a:ext uri="{FF2B5EF4-FFF2-40B4-BE49-F238E27FC236}">
                  <a16:creationId xmlns:a16="http://schemas.microsoft.com/office/drawing/2014/main" id="{2F5AD7C1-D2FC-78DF-4324-FF38520DB918}"/>
                </a:ext>
              </a:extLst>
            </p:cNvPr>
            <p:cNvSpPr/>
            <p:nvPr/>
          </p:nvSpPr>
          <p:spPr>
            <a:xfrm>
              <a:off x="2972242" y="3129628"/>
              <a:ext cx="1383969" cy="27489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500" dirty="0"/>
            </a:p>
          </p:txBody>
        </p:sp>
        <p:sp>
          <p:nvSpPr>
            <p:cNvPr id="56" name="Rectangle 55">
              <a:extLst>
                <a:ext uri="{FF2B5EF4-FFF2-40B4-BE49-F238E27FC236}">
                  <a16:creationId xmlns:a16="http://schemas.microsoft.com/office/drawing/2014/main" id="{79FAC859-1293-7934-4AE5-0D805888A7F6}"/>
                </a:ext>
              </a:extLst>
            </p:cNvPr>
            <p:cNvSpPr/>
            <p:nvPr/>
          </p:nvSpPr>
          <p:spPr>
            <a:xfrm>
              <a:off x="4356211" y="3129629"/>
              <a:ext cx="1383969" cy="274899"/>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500" dirty="0"/>
            </a:p>
          </p:txBody>
        </p:sp>
        <p:sp>
          <p:nvSpPr>
            <p:cNvPr id="57" name="Rectangle 56">
              <a:extLst>
                <a:ext uri="{FF2B5EF4-FFF2-40B4-BE49-F238E27FC236}">
                  <a16:creationId xmlns:a16="http://schemas.microsoft.com/office/drawing/2014/main" id="{0BA168E1-2202-2F90-B54E-27C66E8375AE}"/>
                </a:ext>
              </a:extLst>
            </p:cNvPr>
            <p:cNvSpPr/>
            <p:nvPr/>
          </p:nvSpPr>
          <p:spPr>
            <a:xfrm>
              <a:off x="5740180" y="3129628"/>
              <a:ext cx="1383969" cy="27489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500" dirty="0"/>
            </a:p>
          </p:txBody>
        </p:sp>
        <p:sp>
          <p:nvSpPr>
            <p:cNvPr id="58" name="Rectangle 57">
              <a:extLst>
                <a:ext uri="{FF2B5EF4-FFF2-40B4-BE49-F238E27FC236}">
                  <a16:creationId xmlns:a16="http://schemas.microsoft.com/office/drawing/2014/main" id="{228DF8F7-B079-D957-BE04-DB646EBC89A2}"/>
                </a:ext>
              </a:extLst>
            </p:cNvPr>
            <p:cNvSpPr/>
            <p:nvPr/>
          </p:nvSpPr>
          <p:spPr>
            <a:xfrm>
              <a:off x="7124149" y="3129628"/>
              <a:ext cx="1383969" cy="274899"/>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500" dirty="0"/>
            </a:p>
          </p:txBody>
        </p:sp>
      </p:grpSp>
      <p:grpSp>
        <p:nvGrpSpPr>
          <p:cNvPr id="59" name="Group 58">
            <a:extLst>
              <a:ext uri="{FF2B5EF4-FFF2-40B4-BE49-F238E27FC236}">
                <a16:creationId xmlns:a16="http://schemas.microsoft.com/office/drawing/2014/main" id="{2A50B4D5-364B-4E43-0D38-EDA456B8C2F9}"/>
              </a:ext>
            </a:extLst>
          </p:cNvPr>
          <p:cNvGrpSpPr/>
          <p:nvPr/>
        </p:nvGrpSpPr>
        <p:grpSpPr>
          <a:xfrm>
            <a:off x="7586058" y="3523923"/>
            <a:ext cx="1092126" cy="274900"/>
            <a:chOff x="2972242" y="3129628"/>
            <a:chExt cx="5535876" cy="274900"/>
          </a:xfrm>
        </p:grpSpPr>
        <p:sp>
          <p:nvSpPr>
            <p:cNvPr id="60" name="Rectangle 59">
              <a:extLst>
                <a:ext uri="{FF2B5EF4-FFF2-40B4-BE49-F238E27FC236}">
                  <a16:creationId xmlns:a16="http://schemas.microsoft.com/office/drawing/2014/main" id="{BC68D615-DA13-0CFA-D553-2E906E8DC72C}"/>
                </a:ext>
              </a:extLst>
            </p:cNvPr>
            <p:cNvSpPr/>
            <p:nvPr/>
          </p:nvSpPr>
          <p:spPr>
            <a:xfrm>
              <a:off x="2972242" y="3129628"/>
              <a:ext cx="1383969" cy="27489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500" dirty="0"/>
            </a:p>
          </p:txBody>
        </p:sp>
        <p:sp>
          <p:nvSpPr>
            <p:cNvPr id="61" name="Rectangle 60">
              <a:extLst>
                <a:ext uri="{FF2B5EF4-FFF2-40B4-BE49-F238E27FC236}">
                  <a16:creationId xmlns:a16="http://schemas.microsoft.com/office/drawing/2014/main" id="{4977F483-D405-E74F-29CE-495057DB0787}"/>
                </a:ext>
              </a:extLst>
            </p:cNvPr>
            <p:cNvSpPr/>
            <p:nvPr/>
          </p:nvSpPr>
          <p:spPr>
            <a:xfrm>
              <a:off x="4356211" y="3129629"/>
              <a:ext cx="1383969" cy="274899"/>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500" dirty="0"/>
            </a:p>
          </p:txBody>
        </p:sp>
        <p:sp>
          <p:nvSpPr>
            <p:cNvPr id="62" name="Rectangle 61">
              <a:extLst>
                <a:ext uri="{FF2B5EF4-FFF2-40B4-BE49-F238E27FC236}">
                  <a16:creationId xmlns:a16="http://schemas.microsoft.com/office/drawing/2014/main" id="{15EFEF5F-CDD8-8C44-D240-5CB894C6E389}"/>
                </a:ext>
              </a:extLst>
            </p:cNvPr>
            <p:cNvSpPr/>
            <p:nvPr/>
          </p:nvSpPr>
          <p:spPr>
            <a:xfrm>
              <a:off x="5740180" y="3129628"/>
              <a:ext cx="1383969" cy="27489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500" dirty="0"/>
            </a:p>
          </p:txBody>
        </p:sp>
        <p:sp>
          <p:nvSpPr>
            <p:cNvPr id="63" name="Rectangle 62">
              <a:extLst>
                <a:ext uri="{FF2B5EF4-FFF2-40B4-BE49-F238E27FC236}">
                  <a16:creationId xmlns:a16="http://schemas.microsoft.com/office/drawing/2014/main" id="{BC9309F8-D8D4-119C-2996-F6F3EA86EF82}"/>
                </a:ext>
              </a:extLst>
            </p:cNvPr>
            <p:cNvSpPr/>
            <p:nvPr/>
          </p:nvSpPr>
          <p:spPr>
            <a:xfrm>
              <a:off x="7124149" y="3129628"/>
              <a:ext cx="1383969" cy="274899"/>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500" dirty="0"/>
            </a:p>
          </p:txBody>
        </p:sp>
      </p:grpSp>
      <p:grpSp>
        <p:nvGrpSpPr>
          <p:cNvPr id="64" name="Group 63">
            <a:extLst>
              <a:ext uri="{FF2B5EF4-FFF2-40B4-BE49-F238E27FC236}">
                <a16:creationId xmlns:a16="http://schemas.microsoft.com/office/drawing/2014/main" id="{F5D56ECE-58E0-726D-44C4-77801ECF2293}"/>
              </a:ext>
            </a:extLst>
          </p:cNvPr>
          <p:cNvGrpSpPr/>
          <p:nvPr/>
        </p:nvGrpSpPr>
        <p:grpSpPr>
          <a:xfrm>
            <a:off x="8686648" y="3523923"/>
            <a:ext cx="1092126" cy="274900"/>
            <a:chOff x="2972242" y="3129628"/>
            <a:chExt cx="5535876" cy="274900"/>
          </a:xfrm>
        </p:grpSpPr>
        <p:sp>
          <p:nvSpPr>
            <p:cNvPr id="65" name="Rectangle 64">
              <a:extLst>
                <a:ext uri="{FF2B5EF4-FFF2-40B4-BE49-F238E27FC236}">
                  <a16:creationId xmlns:a16="http://schemas.microsoft.com/office/drawing/2014/main" id="{F44605D7-BB22-7E1A-9EC4-06DB4E922A1F}"/>
                </a:ext>
              </a:extLst>
            </p:cNvPr>
            <p:cNvSpPr/>
            <p:nvPr/>
          </p:nvSpPr>
          <p:spPr>
            <a:xfrm>
              <a:off x="2972242" y="3129628"/>
              <a:ext cx="1383969" cy="27489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500" dirty="0"/>
            </a:p>
          </p:txBody>
        </p:sp>
        <p:sp>
          <p:nvSpPr>
            <p:cNvPr id="66" name="Rectangle 65">
              <a:extLst>
                <a:ext uri="{FF2B5EF4-FFF2-40B4-BE49-F238E27FC236}">
                  <a16:creationId xmlns:a16="http://schemas.microsoft.com/office/drawing/2014/main" id="{A8509FCA-4761-8709-F786-574BF8AB0B70}"/>
                </a:ext>
              </a:extLst>
            </p:cNvPr>
            <p:cNvSpPr/>
            <p:nvPr/>
          </p:nvSpPr>
          <p:spPr>
            <a:xfrm>
              <a:off x="4356211" y="3129629"/>
              <a:ext cx="1383969" cy="274899"/>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500" dirty="0"/>
            </a:p>
          </p:txBody>
        </p:sp>
        <p:sp>
          <p:nvSpPr>
            <p:cNvPr id="67" name="Rectangle 66">
              <a:extLst>
                <a:ext uri="{FF2B5EF4-FFF2-40B4-BE49-F238E27FC236}">
                  <a16:creationId xmlns:a16="http://schemas.microsoft.com/office/drawing/2014/main" id="{5FDF74F6-B276-7FFF-FD75-B781E07BFA07}"/>
                </a:ext>
              </a:extLst>
            </p:cNvPr>
            <p:cNvSpPr/>
            <p:nvPr/>
          </p:nvSpPr>
          <p:spPr>
            <a:xfrm>
              <a:off x="5740180" y="3129628"/>
              <a:ext cx="1383969" cy="27489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500" dirty="0"/>
            </a:p>
          </p:txBody>
        </p:sp>
        <p:sp>
          <p:nvSpPr>
            <p:cNvPr id="68" name="Rectangle 67">
              <a:extLst>
                <a:ext uri="{FF2B5EF4-FFF2-40B4-BE49-F238E27FC236}">
                  <a16:creationId xmlns:a16="http://schemas.microsoft.com/office/drawing/2014/main" id="{BB444126-603E-3E7B-E716-398D29FA16EE}"/>
                </a:ext>
              </a:extLst>
            </p:cNvPr>
            <p:cNvSpPr/>
            <p:nvPr/>
          </p:nvSpPr>
          <p:spPr>
            <a:xfrm>
              <a:off x="7124149" y="3129628"/>
              <a:ext cx="1383969" cy="274899"/>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500" dirty="0"/>
            </a:p>
          </p:txBody>
        </p:sp>
      </p:grpSp>
      <p:grpSp>
        <p:nvGrpSpPr>
          <p:cNvPr id="69" name="Group 68">
            <a:extLst>
              <a:ext uri="{FF2B5EF4-FFF2-40B4-BE49-F238E27FC236}">
                <a16:creationId xmlns:a16="http://schemas.microsoft.com/office/drawing/2014/main" id="{9543BCC1-BD37-FD79-F6D5-1A5A2DBDC18F}"/>
              </a:ext>
            </a:extLst>
          </p:cNvPr>
          <p:cNvGrpSpPr/>
          <p:nvPr/>
        </p:nvGrpSpPr>
        <p:grpSpPr>
          <a:xfrm>
            <a:off x="9775182" y="3523922"/>
            <a:ext cx="1092126" cy="274900"/>
            <a:chOff x="2972242" y="3129628"/>
            <a:chExt cx="5535876" cy="274900"/>
          </a:xfrm>
        </p:grpSpPr>
        <p:sp>
          <p:nvSpPr>
            <p:cNvPr id="70" name="Rectangle 69">
              <a:extLst>
                <a:ext uri="{FF2B5EF4-FFF2-40B4-BE49-F238E27FC236}">
                  <a16:creationId xmlns:a16="http://schemas.microsoft.com/office/drawing/2014/main" id="{FF72086F-077E-3195-EF4D-66117F20755C}"/>
                </a:ext>
              </a:extLst>
            </p:cNvPr>
            <p:cNvSpPr/>
            <p:nvPr/>
          </p:nvSpPr>
          <p:spPr>
            <a:xfrm>
              <a:off x="2972242" y="3129628"/>
              <a:ext cx="1383969" cy="27489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500" dirty="0"/>
            </a:p>
          </p:txBody>
        </p:sp>
        <p:sp>
          <p:nvSpPr>
            <p:cNvPr id="71" name="Rectangle 70">
              <a:extLst>
                <a:ext uri="{FF2B5EF4-FFF2-40B4-BE49-F238E27FC236}">
                  <a16:creationId xmlns:a16="http://schemas.microsoft.com/office/drawing/2014/main" id="{5C58DDA2-7E4C-D035-E465-0C7E662C595D}"/>
                </a:ext>
              </a:extLst>
            </p:cNvPr>
            <p:cNvSpPr/>
            <p:nvPr/>
          </p:nvSpPr>
          <p:spPr>
            <a:xfrm>
              <a:off x="4356211" y="3129629"/>
              <a:ext cx="1383969" cy="274899"/>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500" dirty="0"/>
            </a:p>
          </p:txBody>
        </p:sp>
        <p:sp>
          <p:nvSpPr>
            <p:cNvPr id="72" name="Rectangle 71">
              <a:extLst>
                <a:ext uri="{FF2B5EF4-FFF2-40B4-BE49-F238E27FC236}">
                  <a16:creationId xmlns:a16="http://schemas.microsoft.com/office/drawing/2014/main" id="{5AC90963-2C59-EF39-4B25-61B8F7177491}"/>
                </a:ext>
              </a:extLst>
            </p:cNvPr>
            <p:cNvSpPr/>
            <p:nvPr/>
          </p:nvSpPr>
          <p:spPr>
            <a:xfrm>
              <a:off x="5740180" y="3129628"/>
              <a:ext cx="1383969" cy="27489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500" dirty="0"/>
            </a:p>
          </p:txBody>
        </p:sp>
        <p:sp>
          <p:nvSpPr>
            <p:cNvPr id="73" name="Rectangle 72">
              <a:extLst>
                <a:ext uri="{FF2B5EF4-FFF2-40B4-BE49-F238E27FC236}">
                  <a16:creationId xmlns:a16="http://schemas.microsoft.com/office/drawing/2014/main" id="{0DEA91B1-72B7-B05D-6983-E87B567738D6}"/>
                </a:ext>
              </a:extLst>
            </p:cNvPr>
            <p:cNvSpPr/>
            <p:nvPr/>
          </p:nvSpPr>
          <p:spPr>
            <a:xfrm>
              <a:off x="7124149" y="3129628"/>
              <a:ext cx="1383969" cy="274899"/>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500" dirty="0"/>
            </a:p>
          </p:txBody>
        </p:sp>
      </p:grpSp>
      <p:grpSp>
        <p:nvGrpSpPr>
          <p:cNvPr id="74" name="Group 73">
            <a:extLst>
              <a:ext uri="{FF2B5EF4-FFF2-40B4-BE49-F238E27FC236}">
                <a16:creationId xmlns:a16="http://schemas.microsoft.com/office/drawing/2014/main" id="{010E7BC9-A98F-C391-E26E-65E145E92E04}"/>
              </a:ext>
            </a:extLst>
          </p:cNvPr>
          <p:cNvGrpSpPr/>
          <p:nvPr/>
        </p:nvGrpSpPr>
        <p:grpSpPr>
          <a:xfrm>
            <a:off x="10866126" y="3523921"/>
            <a:ext cx="1092126" cy="274900"/>
            <a:chOff x="2972242" y="3129628"/>
            <a:chExt cx="5535876" cy="274900"/>
          </a:xfrm>
        </p:grpSpPr>
        <p:sp>
          <p:nvSpPr>
            <p:cNvPr id="75" name="Rectangle 74">
              <a:extLst>
                <a:ext uri="{FF2B5EF4-FFF2-40B4-BE49-F238E27FC236}">
                  <a16:creationId xmlns:a16="http://schemas.microsoft.com/office/drawing/2014/main" id="{C799364F-3BC0-BD18-5F07-7F96C3355D79}"/>
                </a:ext>
              </a:extLst>
            </p:cNvPr>
            <p:cNvSpPr/>
            <p:nvPr/>
          </p:nvSpPr>
          <p:spPr>
            <a:xfrm>
              <a:off x="2972242" y="3129628"/>
              <a:ext cx="1383969" cy="27489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500" dirty="0"/>
            </a:p>
          </p:txBody>
        </p:sp>
        <p:sp>
          <p:nvSpPr>
            <p:cNvPr id="76" name="Rectangle 75">
              <a:extLst>
                <a:ext uri="{FF2B5EF4-FFF2-40B4-BE49-F238E27FC236}">
                  <a16:creationId xmlns:a16="http://schemas.microsoft.com/office/drawing/2014/main" id="{3EF97D28-95C5-81D8-4122-BF36D5374976}"/>
                </a:ext>
              </a:extLst>
            </p:cNvPr>
            <p:cNvSpPr/>
            <p:nvPr/>
          </p:nvSpPr>
          <p:spPr>
            <a:xfrm>
              <a:off x="4356211" y="3129629"/>
              <a:ext cx="1383969" cy="274899"/>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500" dirty="0"/>
            </a:p>
          </p:txBody>
        </p:sp>
        <p:sp>
          <p:nvSpPr>
            <p:cNvPr id="77" name="Rectangle 76">
              <a:extLst>
                <a:ext uri="{FF2B5EF4-FFF2-40B4-BE49-F238E27FC236}">
                  <a16:creationId xmlns:a16="http://schemas.microsoft.com/office/drawing/2014/main" id="{B17F9AE2-478B-8A34-0F82-34C59A0DEFD0}"/>
                </a:ext>
              </a:extLst>
            </p:cNvPr>
            <p:cNvSpPr/>
            <p:nvPr/>
          </p:nvSpPr>
          <p:spPr>
            <a:xfrm>
              <a:off x="5740180" y="3129628"/>
              <a:ext cx="1383969" cy="27489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500" dirty="0"/>
            </a:p>
          </p:txBody>
        </p:sp>
        <p:sp>
          <p:nvSpPr>
            <p:cNvPr id="78" name="Rectangle 77">
              <a:extLst>
                <a:ext uri="{FF2B5EF4-FFF2-40B4-BE49-F238E27FC236}">
                  <a16:creationId xmlns:a16="http://schemas.microsoft.com/office/drawing/2014/main" id="{A6582F28-FB2F-7939-8434-8F26FF7D98FD}"/>
                </a:ext>
              </a:extLst>
            </p:cNvPr>
            <p:cNvSpPr/>
            <p:nvPr/>
          </p:nvSpPr>
          <p:spPr>
            <a:xfrm>
              <a:off x="7124149" y="3129628"/>
              <a:ext cx="1383969" cy="274899"/>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500" dirty="0"/>
            </a:p>
          </p:txBody>
        </p:sp>
      </p:grpSp>
      <p:pic>
        <p:nvPicPr>
          <p:cNvPr id="31" name="Picture 30">
            <a:extLst>
              <a:ext uri="{FF2B5EF4-FFF2-40B4-BE49-F238E27FC236}">
                <a16:creationId xmlns:a16="http://schemas.microsoft.com/office/drawing/2014/main" id="{E66AED2C-ACA9-CEF0-91F2-3BEEC22B0217}"/>
              </a:ext>
            </a:extLst>
          </p:cNvPr>
          <p:cNvPicPr>
            <a:picLocks noChangeAspect="1"/>
          </p:cNvPicPr>
          <p:nvPr/>
        </p:nvPicPr>
        <p:blipFill>
          <a:blip r:embed="rId2"/>
          <a:srcRect b="81869"/>
          <a:stretch>
            <a:fillRect/>
          </a:stretch>
        </p:blipFill>
        <p:spPr>
          <a:xfrm>
            <a:off x="506779" y="5105928"/>
            <a:ext cx="4653192" cy="703921"/>
          </a:xfrm>
          <a:prstGeom prst="rect">
            <a:avLst/>
          </a:prstGeom>
        </p:spPr>
      </p:pic>
    </p:spTree>
    <p:extLst>
      <p:ext uri="{BB962C8B-B14F-4D97-AF65-F5344CB8AC3E}">
        <p14:creationId xmlns:p14="http://schemas.microsoft.com/office/powerpoint/2010/main" val="134915834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8544A54E-0B08-B29F-B23A-97F4B89CEBC2}"/>
              </a:ext>
            </a:extLst>
          </p:cNvPr>
          <p:cNvSpPr>
            <a:spLocks noGrp="1"/>
          </p:cNvSpPr>
          <p:nvPr>
            <p:ph idx="1"/>
          </p:nvPr>
        </p:nvSpPr>
        <p:spPr>
          <a:xfrm>
            <a:off x="1648428" y="2924308"/>
            <a:ext cx="4810245" cy="1873001"/>
          </a:xfrm>
        </p:spPr>
        <p:txBody>
          <a:bodyPr>
            <a:normAutofit/>
          </a:bodyPr>
          <a:lstStyle/>
          <a:p>
            <a:pPr marL="0" indent="0">
              <a:buNone/>
            </a:pPr>
            <a:r>
              <a:rPr lang="en-US" dirty="0"/>
              <a:t>Rely on stochastic model behavior to encode control flow which should be deterministic</a:t>
            </a:r>
          </a:p>
          <a:p>
            <a:pPr marL="0" indent="0">
              <a:buNone/>
            </a:pPr>
            <a:endParaRPr lang="en-US" dirty="0"/>
          </a:p>
        </p:txBody>
      </p:sp>
      <p:pic>
        <p:nvPicPr>
          <p:cNvPr id="5" name="Picture 4" descr="A screenshot of a computer program&#10;&#10;AI-generated content may be incorrect.">
            <a:extLst>
              <a:ext uri="{FF2B5EF4-FFF2-40B4-BE49-F238E27FC236}">
                <a16:creationId xmlns:a16="http://schemas.microsoft.com/office/drawing/2014/main" id="{1B8EFFE3-62D8-86C3-C9C3-DAB714F660C2}"/>
              </a:ext>
            </a:extLst>
          </p:cNvPr>
          <p:cNvPicPr>
            <a:picLocks noChangeAspect="1"/>
          </p:cNvPicPr>
          <p:nvPr/>
        </p:nvPicPr>
        <p:blipFill>
          <a:blip r:embed="rId2"/>
          <a:stretch>
            <a:fillRect/>
          </a:stretch>
        </p:blipFill>
        <p:spPr>
          <a:xfrm>
            <a:off x="7324882" y="889009"/>
            <a:ext cx="3947895" cy="5272268"/>
          </a:xfrm>
          <a:prstGeom prst="rect">
            <a:avLst/>
          </a:prstGeom>
        </p:spPr>
      </p:pic>
      <p:sp>
        <p:nvSpPr>
          <p:cNvPr id="6" name="TextBox 5">
            <a:extLst>
              <a:ext uri="{FF2B5EF4-FFF2-40B4-BE49-F238E27FC236}">
                <a16:creationId xmlns:a16="http://schemas.microsoft.com/office/drawing/2014/main" id="{1005D473-375C-A724-07BE-E59A172D9E3B}"/>
              </a:ext>
            </a:extLst>
          </p:cNvPr>
          <p:cNvSpPr txBox="1"/>
          <p:nvPr/>
        </p:nvSpPr>
        <p:spPr>
          <a:xfrm>
            <a:off x="7999787" y="6261903"/>
            <a:ext cx="2598084" cy="369332"/>
          </a:xfrm>
          <a:prstGeom prst="rect">
            <a:avLst/>
          </a:prstGeom>
          <a:noFill/>
        </p:spPr>
        <p:txBody>
          <a:bodyPr wrap="none" rtlCol="0">
            <a:spAutoFit/>
          </a:bodyPr>
          <a:lstStyle/>
          <a:p>
            <a:r>
              <a:rPr lang="en-US" dirty="0"/>
              <a:t>Skill with 20 to-do items</a:t>
            </a:r>
          </a:p>
        </p:txBody>
      </p:sp>
    </p:spTree>
    <p:extLst>
      <p:ext uri="{BB962C8B-B14F-4D97-AF65-F5344CB8AC3E}">
        <p14:creationId xmlns:p14="http://schemas.microsoft.com/office/powerpoint/2010/main" val="27216506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4A86A1-ACEA-A1DA-5F07-B4C77C3404B2}"/>
              </a:ext>
            </a:extLst>
          </p:cNvPr>
          <p:cNvSpPr>
            <a:spLocks noGrp="1"/>
          </p:cNvSpPr>
          <p:nvPr>
            <p:ph type="title"/>
          </p:nvPr>
        </p:nvSpPr>
        <p:spPr/>
        <p:txBody>
          <a:bodyPr/>
          <a:lstStyle/>
          <a:p>
            <a:r>
              <a:rPr lang="en-US" dirty="0"/>
              <a:t>“Context engineering”</a:t>
            </a:r>
          </a:p>
        </p:txBody>
      </p:sp>
      <p:sp>
        <p:nvSpPr>
          <p:cNvPr id="3" name="Content Placeholder 2">
            <a:extLst>
              <a:ext uri="{FF2B5EF4-FFF2-40B4-BE49-F238E27FC236}">
                <a16:creationId xmlns:a16="http://schemas.microsoft.com/office/drawing/2014/main" id="{EF0BA45B-EC09-BE35-FF1F-F4BCD4D3A3D1}"/>
              </a:ext>
            </a:extLst>
          </p:cNvPr>
          <p:cNvSpPr>
            <a:spLocks noGrp="1"/>
          </p:cNvSpPr>
          <p:nvPr>
            <p:ph idx="1"/>
          </p:nvPr>
        </p:nvSpPr>
        <p:spPr/>
        <p:txBody>
          <a:bodyPr/>
          <a:lstStyle/>
          <a:p>
            <a:pPr marL="0" indent="0">
              <a:buNone/>
            </a:pPr>
            <a:r>
              <a:rPr lang="en-US" dirty="0"/>
              <a:t>Engineer harness to:</a:t>
            </a:r>
          </a:p>
          <a:p>
            <a:r>
              <a:rPr lang="en-US" dirty="0"/>
              <a:t>Avoid including unneeded data (“progressive disclosure”)</a:t>
            </a:r>
          </a:p>
          <a:p>
            <a:r>
              <a:rPr lang="en-US" dirty="0"/>
              <a:t>Split data among subagents</a:t>
            </a:r>
          </a:p>
          <a:p>
            <a:r>
              <a:rPr lang="en-US" dirty="0"/>
              <a:t>Use “frequent intentional compaction”</a:t>
            </a:r>
          </a:p>
          <a:p>
            <a:pPr marL="0" indent="0">
              <a:buNone/>
            </a:pPr>
            <a:endParaRPr lang="en-US" dirty="0"/>
          </a:p>
        </p:txBody>
      </p:sp>
      <p:sp>
        <p:nvSpPr>
          <p:cNvPr id="4" name="Rounded Rectangle 3">
            <a:extLst>
              <a:ext uri="{FF2B5EF4-FFF2-40B4-BE49-F238E27FC236}">
                <a16:creationId xmlns:a16="http://schemas.microsoft.com/office/drawing/2014/main" id="{AC51370F-E6EC-3454-6C25-84A6609CD2BE}"/>
              </a:ext>
            </a:extLst>
          </p:cNvPr>
          <p:cNvSpPr/>
          <p:nvPr/>
        </p:nvSpPr>
        <p:spPr>
          <a:xfrm>
            <a:off x="2893671" y="5754487"/>
            <a:ext cx="6713316" cy="84495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Tension with “get out of the agent’s way” </a:t>
            </a:r>
          </a:p>
        </p:txBody>
      </p:sp>
    </p:spTree>
    <p:extLst>
      <p:ext uri="{BB962C8B-B14F-4D97-AF65-F5344CB8AC3E}">
        <p14:creationId xmlns:p14="http://schemas.microsoft.com/office/powerpoint/2010/main" val="247381799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descr="A diagram of a workflow&#10;&#10;AI-generated content may be incorrect.">
            <a:extLst>
              <a:ext uri="{FF2B5EF4-FFF2-40B4-BE49-F238E27FC236}">
                <a16:creationId xmlns:a16="http://schemas.microsoft.com/office/drawing/2014/main" id="{A7083047-D9E7-C0EB-3ABC-8308CC64EE6B}"/>
              </a:ext>
            </a:extLst>
          </p:cNvPr>
          <p:cNvPicPr>
            <a:picLocks noGrp="1" noChangeAspect="1"/>
          </p:cNvPicPr>
          <p:nvPr>
            <p:ph idx="1"/>
          </p:nvPr>
        </p:nvPicPr>
        <p:blipFill>
          <a:blip r:embed="rId2"/>
          <a:srcRect r="35802"/>
          <a:stretch>
            <a:fillRect/>
          </a:stretch>
        </p:blipFill>
        <p:spPr>
          <a:xfrm>
            <a:off x="2652531" y="579537"/>
            <a:ext cx="6886937" cy="5052246"/>
          </a:xfrm>
          <a:prstGeom prst="rect">
            <a:avLst/>
          </a:prstGeom>
        </p:spPr>
      </p:pic>
      <p:sp>
        <p:nvSpPr>
          <p:cNvPr id="6" name="TextBox 5">
            <a:extLst>
              <a:ext uri="{FF2B5EF4-FFF2-40B4-BE49-F238E27FC236}">
                <a16:creationId xmlns:a16="http://schemas.microsoft.com/office/drawing/2014/main" id="{39F52E33-CAE5-3E8B-2026-5852F0CB78A1}"/>
              </a:ext>
            </a:extLst>
          </p:cNvPr>
          <p:cNvSpPr txBox="1"/>
          <p:nvPr/>
        </p:nvSpPr>
        <p:spPr>
          <a:xfrm>
            <a:off x="10197296" y="6311900"/>
            <a:ext cx="1256691" cy="369332"/>
          </a:xfrm>
          <a:prstGeom prst="rect">
            <a:avLst/>
          </a:prstGeom>
          <a:noFill/>
        </p:spPr>
        <p:txBody>
          <a:bodyPr wrap="none" rtlCol="0">
            <a:spAutoFit/>
          </a:bodyPr>
          <a:lstStyle/>
          <a:p>
            <a:r>
              <a:rPr lang="en-US" dirty="0" err="1"/>
              <a:t>LangChain</a:t>
            </a:r>
            <a:endParaRPr lang="en-US" dirty="0"/>
          </a:p>
        </p:txBody>
      </p:sp>
      <p:sp>
        <p:nvSpPr>
          <p:cNvPr id="7" name="Rounded Rectangle 6">
            <a:extLst>
              <a:ext uri="{FF2B5EF4-FFF2-40B4-BE49-F238E27FC236}">
                <a16:creationId xmlns:a16="http://schemas.microsoft.com/office/drawing/2014/main" id="{3B556561-954F-84A0-D6D4-C23BA7E06C4F}"/>
              </a:ext>
            </a:extLst>
          </p:cNvPr>
          <p:cNvSpPr/>
          <p:nvPr/>
        </p:nvSpPr>
        <p:spPr>
          <a:xfrm>
            <a:off x="2893671" y="5754487"/>
            <a:ext cx="6713316" cy="84495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Tension with “get out of the agent’s way” </a:t>
            </a:r>
          </a:p>
        </p:txBody>
      </p:sp>
    </p:spTree>
    <p:extLst>
      <p:ext uri="{BB962C8B-B14F-4D97-AF65-F5344CB8AC3E}">
        <p14:creationId xmlns:p14="http://schemas.microsoft.com/office/powerpoint/2010/main" val="405314404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E99BBB-5230-B2EE-E1B1-BF2AD9CA0B40}"/>
              </a:ext>
            </a:extLst>
          </p:cNvPr>
          <p:cNvSpPr>
            <a:spLocks noGrp="1"/>
          </p:cNvSpPr>
          <p:nvPr>
            <p:ph type="title"/>
          </p:nvPr>
        </p:nvSpPr>
        <p:spPr/>
        <p:txBody>
          <a:bodyPr/>
          <a:lstStyle/>
          <a:p>
            <a:r>
              <a:rPr lang="en-US" dirty="0"/>
              <a:t>Orchestration: hot topic</a:t>
            </a:r>
          </a:p>
        </p:txBody>
      </p:sp>
      <p:sp>
        <p:nvSpPr>
          <p:cNvPr id="3" name="Content Placeholder 2">
            <a:extLst>
              <a:ext uri="{FF2B5EF4-FFF2-40B4-BE49-F238E27FC236}">
                <a16:creationId xmlns:a16="http://schemas.microsoft.com/office/drawing/2014/main" id="{D64C7FC2-BB98-D840-BAEC-6BD1B33C3702}"/>
              </a:ext>
            </a:extLst>
          </p:cNvPr>
          <p:cNvSpPr>
            <a:spLocks noGrp="1"/>
          </p:cNvSpPr>
          <p:nvPr>
            <p:ph idx="1"/>
          </p:nvPr>
        </p:nvSpPr>
        <p:spPr/>
        <p:txBody>
          <a:bodyPr/>
          <a:lstStyle/>
          <a:p>
            <a:r>
              <a:rPr lang="en-US" dirty="0"/>
              <a:t>Kimi 2.5: train LLM to dispatch swarms (PARL); still basically </a:t>
            </a:r>
            <a:r>
              <a:rPr lang="en-US" dirty="0" err="1"/>
              <a:t>ReAct</a:t>
            </a:r>
            <a:endParaRPr lang="en-US" dirty="0"/>
          </a:p>
          <a:p>
            <a:r>
              <a:rPr lang="en-US" dirty="0"/>
              <a:t>Cursor browser experiment: planner/worker/checker pattern</a:t>
            </a:r>
          </a:p>
          <a:p>
            <a:r>
              <a:rPr lang="en-US" dirty="0"/>
              <a:t>Claude Code: viral “ralph” pattern</a:t>
            </a:r>
          </a:p>
          <a:p>
            <a:r>
              <a:rPr lang="en-US" dirty="0"/>
              <a:t>Claude code: parallelize to-do lists while respecting dependencies</a:t>
            </a:r>
          </a:p>
          <a:p>
            <a:r>
              <a:rPr lang="en-US" dirty="0"/>
              <a:t>“Recursive language model”: subagents gather context; still </a:t>
            </a:r>
            <a:r>
              <a:rPr lang="en-US" dirty="0" err="1"/>
              <a:t>ReAct</a:t>
            </a:r>
            <a:endParaRPr lang="en-US" dirty="0"/>
          </a:p>
        </p:txBody>
      </p:sp>
    </p:spTree>
    <p:extLst>
      <p:ext uri="{BB962C8B-B14F-4D97-AF65-F5344CB8AC3E}">
        <p14:creationId xmlns:p14="http://schemas.microsoft.com/office/powerpoint/2010/main" val="147774572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A0778E-31DB-0BC8-EB3C-33022A107AE5}"/>
              </a:ext>
            </a:extLst>
          </p:cNvPr>
          <p:cNvSpPr>
            <a:spLocks noGrp="1"/>
          </p:cNvSpPr>
          <p:nvPr>
            <p:ph type="title"/>
          </p:nvPr>
        </p:nvSpPr>
        <p:spPr/>
        <p:txBody>
          <a:bodyPr/>
          <a:lstStyle/>
          <a:p>
            <a:r>
              <a:rPr lang="en-US" dirty="0"/>
              <a:t>Early findings</a:t>
            </a:r>
          </a:p>
        </p:txBody>
      </p:sp>
      <p:sp>
        <p:nvSpPr>
          <p:cNvPr id="3" name="Content Placeholder 2">
            <a:extLst>
              <a:ext uri="{FF2B5EF4-FFF2-40B4-BE49-F238E27FC236}">
                <a16:creationId xmlns:a16="http://schemas.microsoft.com/office/drawing/2014/main" id="{91A022CE-9192-CA9B-E9A1-E69CFB679429}"/>
              </a:ext>
            </a:extLst>
          </p:cNvPr>
          <p:cNvSpPr>
            <a:spLocks noGrp="1"/>
          </p:cNvSpPr>
          <p:nvPr>
            <p:ph idx="1"/>
          </p:nvPr>
        </p:nvSpPr>
        <p:spPr/>
        <p:txBody>
          <a:bodyPr/>
          <a:lstStyle/>
          <a:p>
            <a:r>
              <a:rPr lang="en-US" dirty="0"/>
              <a:t>Nontrivial orchestration can make a big difference on long tasks (Cursor experiment, anecdotal from “Ralph”)</a:t>
            </a:r>
          </a:p>
          <a:p>
            <a:r>
              <a:rPr lang="en-US" dirty="0"/>
              <a:t>Divide-and-conquer mitigates context limitations (RLMs, “progressive disclosure” pattern)</a:t>
            </a:r>
          </a:p>
          <a:p>
            <a:r>
              <a:rPr lang="en-US" dirty="0"/>
              <a:t>Agents can be trained on orchestration using RL (Kimi)</a:t>
            </a:r>
          </a:p>
          <a:p>
            <a:endParaRPr lang="en-US" dirty="0"/>
          </a:p>
        </p:txBody>
      </p:sp>
    </p:spTree>
    <p:extLst>
      <p:ext uri="{BB962C8B-B14F-4D97-AF65-F5344CB8AC3E}">
        <p14:creationId xmlns:p14="http://schemas.microsoft.com/office/powerpoint/2010/main" val="114484474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DD878C-788C-17D8-A726-3B1CF6F0E7B1}"/>
              </a:ext>
            </a:extLst>
          </p:cNvPr>
          <p:cNvSpPr>
            <a:spLocks noGrp="1"/>
          </p:cNvSpPr>
          <p:nvPr>
            <p:ph type="title"/>
          </p:nvPr>
        </p:nvSpPr>
        <p:spPr/>
        <p:txBody>
          <a:bodyPr/>
          <a:lstStyle/>
          <a:p>
            <a:r>
              <a:rPr lang="en-US" dirty="0"/>
              <a:t>What this motivates</a:t>
            </a:r>
          </a:p>
        </p:txBody>
      </p:sp>
      <p:sp>
        <p:nvSpPr>
          <p:cNvPr id="3" name="Content Placeholder 2">
            <a:extLst>
              <a:ext uri="{FF2B5EF4-FFF2-40B4-BE49-F238E27FC236}">
                <a16:creationId xmlns:a16="http://schemas.microsoft.com/office/drawing/2014/main" id="{1D91BA01-1D85-5A0B-C834-E334656A0C74}"/>
              </a:ext>
            </a:extLst>
          </p:cNvPr>
          <p:cNvSpPr>
            <a:spLocks noGrp="1"/>
          </p:cNvSpPr>
          <p:nvPr>
            <p:ph idx="1"/>
          </p:nvPr>
        </p:nvSpPr>
        <p:spPr>
          <a:xfrm>
            <a:off x="838200" y="1825625"/>
            <a:ext cx="5715000" cy="4351338"/>
          </a:xfrm>
        </p:spPr>
        <p:txBody>
          <a:bodyPr/>
          <a:lstStyle/>
          <a:p>
            <a:pPr marL="0" indent="0">
              <a:buNone/>
            </a:pPr>
            <a:r>
              <a:rPr lang="en-US" dirty="0"/>
              <a:t>A self-orchestrating agent should:</a:t>
            </a:r>
          </a:p>
          <a:p>
            <a:pPr marL="514350" indent="-514350">
              <a:buFont typeface="+mj-lt"/>
              <a:buAutoNum type="arabicPeriod"/>
            </a:pPr>
            <a:r>
              <a:rPr lang="en-US" dirty="0"/>
              <a:t>Have access to complex control flow – more complex than Kimi and RLMs</a:t>
            </a:r>
          </a:p>
          <a:p>
            <a:pPr marL="514350" indent="-514350">
              <a:buFont typeface="+mj-lt"/>
              <a:buAutoNum type="arabicPeriod"/>
            </a:pPr>
            <a:r>
              <a:rPr lang="en-US" dirty="0"/>
              <a:t>Tightly control context for itself and its subagents</a:t>
            </a:r>
          </a:p>
          <a:p>
            <a:pPr marL="514350" indent="-514350">
              <a:buFont typeface="+mj-lt"/>
              <a:buAutoNum type="arabicPeriod"/>
            </a:pPr>
            <a:r>
              <a:rPr lang="en-US" dirty="0"/>
              <a:t>Be trained at self-orchestration using RL</a:t>
            </a:r>
          </a:p>
        </p:txBody>
      </p:sp>
    </p:spTree>
    <p:extLst>
      <p:ext uri="{BB962C8B-B14F-4D97-AF65-F5344CB8AC3E}">
        <p14:creationId xmlns:p14="http://schemas.microsoft.com/office/powerpoint/2010/main" val="287409022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2CD1309A-0086-75F4-0AC7-89E58671C26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D6DD20C-7EEE-C84E-74AB-36EC6FBBA213}"/>
              </a:ext>
            </a:extLst>
          </p:cNvPr>
          <p:cNvSpPr>
            <a:spLocks noGrp="1"/>
          </p:cNvSpPr>
          <p:nvPr>
            <p:ph type="title"/>
          </p:nvPr>
        </p:nvSpPr>
        <p:spPr/>
        <p:txBody>
          <a:bodyPr/>
          <a:lstStyle/>
          <a:p>
            <a:r>
              <a:rPr lang="en-US" dirty="0"/>
              <a:t>What this motivates</a:t>
            </a:r>
          </a:p>
        </p:txBody>
      </p:sp>
      <p:sp>
        <p:nvSpPr>
          <p:cNvPr id="3" name="Content Placeholder 2">
            <a:extLst>
              <a:ext uri="{FF2B5EF4-FFF2-40B4-BE49-F238E27FC236}">
                <a16:creationId xmlns:a16="http://schemas.microsoft.com/office/drawing/2014/main" id="{369BA5A1-BB61-55EE-D354-44F07E97005D}"/>
              </a:ext>
            </a:extLst>
          </p:cNvPr>
          <p:cNvSpPr>
            <a:spLocks noGrp="1"/>
          </p:cNvSpPr>
          <p:nvPr>
            <p:ph idx="1"/>
          </p:nvPr>
        </p:nvSpPr>
        <p:spPr>
          <a:xfrm>
            <a:off x="838200" y="1825625"/>
            <a:ext cx="5715000" cy="4351338"/>
          </a:xfrm>
        </p:spPr>
        <p:txBody>
          <a:bodyPr/>
          <a:lstStyle/>
          <a:p>
            <a:pPr marL="0" indent="0">
              <a:buNone/>
            </a:pPr>
            <a:r>
              <a:rPr lang="en-US" dirty="0"/>
              <a:t>A self-orchestrating agent should:</a:t>
            </a:r>
          </a:p>
          <a:p>
            <a:pPr marL="514350" indent="-514350">
              <a:buFont typeface="+mj-lt"/>
              <a:buAutoNum type="arabicPeriod"/>
            </a:pPr>
            <a:r>
              <a:rPr lang="en-US" dirty="0"/>
              <a:t>Have access to complex control flow – more complex than Kimi and RLMs</a:t>
            </a:r>
          </a:p>
          <a:p>
            <a:pPr marL="514350" indent="-514350">
              <a:buFont typeface="+mj-lt"/>
              <a:buAutoNum type="arabicPeriod"/>
            </a:pPr>
            <a:r>
              <a:rPr lang="en-US" dirty="0"/>
              <a:t>Tightly control context for itself and its subagents</a:t>
            </a:r>
          </a:p>
          <a:p>
            <a:pPr marL="514350" indent="-514350">
              <a:buFont typeface="+mj-lt"/>
              <a:buAutoNum type="arabicPeriod"/>
            </a:pPr>
            <a:r>
              <a:rPr lang="en-US" dirty="0"/>
              <a:t>Be trained at self-orchestration using RL</a:t>
            </a:r>
          </a:p>
        </p:txBody>
      </p:sp>
      <p:cxnSp>
        <p:nvCxnSpPr>
          <p:cNvPr id="5" name="Straight Arrow Connector 4">
            <a:extLst>
              <a:ext uri="{FF2B5EF4-FFF2-40B4-BE49-F238E27FC236}">
                <a16:creationId xmlns:a16="http://schemas.microsoft.com/office/drawing/2014/main" id="{C3438121-FA7D-23E2-1C08-6CC244F9DCFC}"/>
              </a:ext>
            </a:extLst>
          </p:cNvPr>
          <p:cNvCxnSpPr/>
          <p:nvPr/>
        </p:nvCxnSpPr>
        <p:spPr>
          <a:xfrm>
            <a:off x="6553200" y="2779059"/>
            <a:ext cx="394447"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6" name="Straight Arrow Connector 5">
            <a:extLst>
              <a:ext uri="{FF2B5EF4-FFF2-40B4-BE49-F238E27FC236}">
                <a16:creationId xmlns:a16="http://schemas.microsoft.com/office/drawing/2014/main" id="{C15A7D7E-2BBA-06FE-9E61-136E1FD6ECAE}"/>
              </a:ext>
            </a:extLst>
          </p:cNvPr>
          <p:cNvCxnSpPr/>
          <p:nvPr/>
        </p:nvCxnSpPr>
        <p:spPr>
          <a:xfrm>
            <a:off x="6553200" y="4195482"/>
            <a:ext cx="394447"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7" name="Straight Arrow Connector 6">
            <a:extLst>
              <a:ext uri="{FF2B5EF4-FFF2-40B4-BE49-F238E27FC236}">
                <a16:creationId xmlns:a16="http://schemas.microsoft.com/office/drawing/2014/main" id="{A281B1D3-326B-1446-5290-A41754602253}"/>
              </a:ext>
            </a:extLst>
          </p:cNvPr>
          <p:cNvCxnSpPr/>
          <p:nvPr/>
        </p:nvCxnSpPr>
        <p:spPr>
          <a:xfrm>
            <a:off x="6553200" y="5011270"/>
            <a:ext cx="394447"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8" name="TextBox 7">
            <a:extLst>
              <a:ext uri="{FF2B5EF4-FFF2-40B4-BE49-F238E27FC236}">
                <a16:creationId xmlns:a16="http://schemas.microsoft.com/office/drawing/2014/main" id="{CCDAE301-C625-5FCD-9F71-2AB51A05DD32}"/>
              </a:ext>
            </a:extLst>
          </p:cNvPr>
          <p:cNvSpPr txBox="1"/>
          <p:nvPr/>
        </p:nvSpPr>
        <p:spPr>
          <a:xfrm>
            <a:off x="7440706" y="4749660"/>
            <a:ext cx="2170787" cy="523220"/>
          </a:xfrm>
          <a:prstGeom prst="rect">
            <a:avLst/>
          </a:prstGeom>
          <a:noFill/>
        </p:spPr>
        <p:txBody>
          <a:bodyPr wrap="none" rtlCol="0">
            <a:spAutoFit/>
          </a:bodyPr>
          <a:lstStyle/>
          <a:p>
            <a:r>
              <a:rPr lang="en-US" sz="2800" dirty="0"/>
              <a:t>Out of scope</a:t>
            </a:r>
          </a:p>
        </p:txBody>
      </p:sp>
      <p:sp>
        <p:nvSpPr>
          <p:cNvPr id="9" name="TextBox 8">
            <a:extLst>
              <a:ext uri="{FF2B5EF4-FFF2-40B4-BE49-F238E27FC236}">
                <a16:creationId xmlns:a16="http://schemas.microsoft.com/office/drawing/2014/main" id="{3B057222-4DFA-6DB2-2190-549B60D64A9E}"/>
              </a:ext>
            </a:extLst>
          </p:cNvPr>
          <p:cNvSpPr txBox="1"/>
          <p:nvPr/>
        </p:nvSpPr>
        <p:spPr>
          <a:xfrm>
            <a:off x="7388245" y="3718432"/>
            <a:ext cx="4446496" cy="954099"/>
          </a:xfrm>
          <a:prstGeom prst="rect">
            <a:avLst/>
          </a:prstGeom>
          <a:noFill/>
        </p:spPr>
        <p:txBody>
          <a:bodyPr wrap="square" rtlCol="0">
            <a:spAutoFit/>
          </a:bodyPr>
          <a:lstStyle/>
          <a:p>
            <a:r>
              <a:rPr lang="en-US" sz="2800" dirty="0"/>
              <a:t>Manipulate context using this language</a:t>
            </a:r>
          </a:p>
        </p:txBody>
      </p:sp>
      <p:sp>
        <p:nvSpPr>
          <p:cNvPr id="10" name="TextBox 9">
            <a:extLst>
              <a:ext uri="{FF2B5EF4-FFF2-40B4-BE49-F238E27FC236}">
                <a16:creationId xmlns:a16="http://schemas.microsoft.com/office/drawing/2014/main" id="{A5DFEFFD-232F-AF55-4D72-FD784802A57D}"/>
              </a:ext>
            </a:extLst>
          </p:cNvPr>
          <p:cNvSpPr txBox="1"/>
          <p:nvPr/>
        </p:nvSpPr>
        <p:spPr>
          <a:xfrm>
            <a:off x="7307562" y="2302005"/>
            <a:ext cx="4446496" cy="954107"/>
          </a:xfrm>
          <a:prstGeom prst="rect">
            <a:avLst/>
          </a:prstGeom>
          <a:noFill/>
        </p:spPr>
        <p:txBody>
          <a:bodyPr wrap="square" rtlCol="0">
            <a:spAutoFit/>
          </a:bodyPr>
          <a:lstStyle/>
          <a:p>
            <a:r>
              <a:rPr lang="en-US" sz="2800" dirty="0"/>
              <a:t>Programming language for self-orchestration</a:t>
            </a:r>
          </a:p>
        </p:txBody>
      </p:sp>
    </p:spTree>
    <p:extLst>
      <p:ext uri="{BB962C8B-B14F-4D97-AF65-F5344CB8AC3E}">
        <p14:creationId xmlns:p14="http://schemas.microsoft.com/office/powerpoint/2010/main" val="421105594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43D339-5377-79A1-7714-4B57C5D4098A}"/>
              </a:ext>
            </a:extLst>
          </p:cNvPr>
          <p:cNvSpPr>
            <a:spLocks noGrp="1"/>
          </p:cNvSpPr>
          <p:nvPr>
            <p:ph type="title"/>
          </p:nvPr>
        </p:nvSpPr>
        <p:spPr/>
        <p:txBody>
          <a:bodyPr/>
          <a:lstStyle/>
          <a:p>
            <a:r>
              <a:rPr lang="en-US" dirty="0"/>
              <a:t>Spell </a:t>
            </a:r>
            <a:r>
              <a:rPr lang="en-US" sz="3600" dirty="0"/>
              <a:t>(self-programmed execution language for LMs)</a:t>
            </a:r>
            <a:endParaRPr lang="en-US" dirty="0"/>
          </a:p>
        </p:txBody>
      </p:sp>
      <p:sp>
        <p:nvSpPr>
          <p:cNvPr id="6" name="Content Placeholder 2">
            <a:extLst>
              <a:ext uri="{FF2B5EF4-FFF2-40B4-BE49-F238E27FC236}">
                <a16:creationId xmlns:a16="http://schemas.microsoft.com/office/drawing/2014/main" id="{DE073252-398A-4E6D-746D-8DB4A88B9195}"/>
              </a:ext>
            </a:extLst>
          </p:cNvPr>
          <p:cNvSpPr>
            <a:spLocks noGrp="1"/>
          </p:cNvSpPr>
          <p:nvPr>
            <p:ph idx="1"/>
          </p:nvPr>
        </p:nvSpPr>
        <p:spPr>
          <a:xfrm>
            <a:off x="838199" y="1825625"/>
            <a:ext cx="9858154" cy="4351338"/>
          </a:xfrm>
        </p:spPr>
        <p:txBody>
          <a:bodyPr/>
          <a:lstStyle/>
          <a:p>
            <a:r>
              <a:rPr lang="en-US" dirty="0"/>
              <a:t>Dialect of Lisp (resembles Clojure)</a:t>
            </a:r>
          </a:p>
          <a:p>
            <a:r>
              <a:rPr lang="en-US" dirty="0"/>
              <a:t>Lisp: “Code is data”</a:t>
            </a:r>
          </a:p>
          <a:p>
            <a:r>
              <a:rPr lang="en-US" dirty="0"/>
              <a:t>Spell: “Entire completion is code”</a:t>
            </a:r>
          </a:p>
          <a:p>
            <a:pPr lvl="1"/>
            <a:r>
              <a:rPr lang="en-US" dirty="0"/>
              <a:t>Prompt/context: string literals with bindings</a:t>
            </a:r>
          </a:p>
          <a:p>
            <a:pPr lvl="1"/>
            <a:r>
              <a:rPr lang="en-US" dirty="0"/>
              <a:t>Reasoning traces: string literals with bindings</a:t>
            </a:r>
          </a:p>
          <a:p>
            <a:pPr lvl="1"/>
            <a:r>
              <a:rPr lang="en-US" dirty="0"/>
              <a:t>Tool calls: function calls that are evaluated before next turn</a:t>
            </a:r>
          </a:p>
          <a:p>
            <a:pPr lvl="1"/>
            <a:r>
              <a:rPr lang="en-US" dirty="0"/>
              <a:t>Tool call results: string literals with bindings</a:t>
            </a:r>
          </a:p>
          <a:p>
            <a:pPr lvl="1"/>
            <a:r>
              <a:rPr lang="en-US" dirty="0"/>
              <a:t>Self-calls: function calls which produce the next turn</a:t>
            </a:r>
          </a:p>
          <a:p>
            <a:pPr lvl="1"/>
            <a:endParaRPr lang="en-US" dirty="0"/>
          </a:p>
          <a:p>
            <a:endParaRPr lang="en-US" dirty="0"/>
          </a:p>
          <a:p>
            <a:pPr lvl="1"/>
            <a:endParaRPr lang="en-US" dirty="0"/>
          </a:p>
          <a:p>
            <a:pPr marL="457200" lvl="1" indent="0">
              <a:buNone/>
            </a:pPr>
            <a:endParaRPr lang="en-US" dirty="0"/>
          </a:p>
          <a:p>
            <a:endParaRPr lang="en-US" dirty="0"/>
          </a:p>
        </p:txBody>
      </p:sp>
    </p:spTree>
    <p:extLst>
      <p:ext uri="{BB962C8B-B14F-4D97-AF65-F5344CB8AC3E}">
        <p14:creationId xmlns:p14="http://schemas.microsoft.com/office/powerpoint/2010/main" val="203765225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60186D-85B6-7A41-3958-2DD24DFC892C}"/>
              </a:ext>
            </a:extLst>
          </p:cNvPr>
          <p:cNvSpPr>
            <a:spLocks noGrp="1"/>
          </p:cNvSpPr>
          <p:nvPr>
            <p:ph type="title"/>
          </p:nvPr>
        </p:nvSpPr>
        <p:spPr/>
        <p:txBody>
          <a:bodyPr/>
          <a:lstStyle/>
          <a:p>
            <a:r>
              <a:rPr lang="en-US" dirty="0"/>
              <a:t>Internalized context management</a:t>
            </a:r>
          </a:p>
        </p:txBody>
      </p:sp>
      <p:pic>
        <p:nvPicPr>
          <p:cNvPr id="4" name="Picture 2" descr="Implementing ReAct Agentic Pattern From Scratch">
            <a:extLst>
              <a:ext uri="{FF2B5EF4-FFF2-40B4-BE49-F238E27FC236}">
                <a16:creationId xmlns:a16="http://schemas.microsoft.com/office/drawing/2014/main" id="{9D2134FD-076A-B7C3-ED96-C634C47DC2B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92741" y="2264824"/>
            <a:ext cx="3828393" cy="1233795"/>
          </a:xfrm>
          <a:prstGeom prst="rect">
            <a:avLst/>
          </a:prstGeom>
          <a:noFill/>
          <a:extLst>
            <a:ext uri="{909E8E84-426E-40DD-AFC4-6F175D3DCCD1}">
              <a14:hiddenFill xmlns:a14="http://schemas.microsoft.com/office/drawing/2010/main">
                <a:solidFill>
                  <a:srgbClr val="FFFFFF"/>
                </a:solidFill>
              </a14:hiddenFill>
            </a:ext>
          </a:extLst>
        </p:spPr>
      </p:pic>
      <p:sp>
        <p:nvSpPr>
          <p:cNvPr id="10" name="Rectangle 9">
            <a:extLst>
              <a:ext uri="{FF2B5EF4-FFF2-40B4-BE49-F238E27FC236}">
                <a16:creationId xmlns:a16="http://schemas.microsoft.com/office/drawing/2014/main" id="{7AEF93CB-582D-721E-1746-EF6F048125C5}"/>
              </a:ext>
            </a:extLst>
          </p:cNvPr>
          <p:cNvSpPr/>
          <p:nvPr/>
        </p:nvSpPr>
        <p:spPr>
          <a:xfrm>
            <a:off x="1184807" y="4457132"/>
            <a:ext cx="1030147" cy="27489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Prompt</a:t>
            </a:r>
          </a:p>
        </p:txBody>
      </p:sp>
      <p:sp>
        <p:nvSpPr>
          <p:cNvPr id="11" name="Rectangle 10">
            <a:extLst>
              <a:ext uri="{FF2B5EF4-FFF2-40B4-BE49-F238E27FC236}">
                <a16:creationId xmlns:a16="http://schemas.microsoft.com/office/drawing/2014/main" id="{A25FD9BD-8D6D-5F57-CBE4-191A5559FA88}"/>
              </a:ext>
            </a:extLst>
          </p:cNvPr>
          <p:cNvSpPr/>
          <p:nvPr/>
        </p:nvSpPr>
        <p:spPr>
          <a:xfrm>
            <a:off x="2214954" y="4457132"/>
            <a:ext cx="1383969" cy="274899"/>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Response</a:t>
            </a:r>
          </a:p>
        </p:txBody>
      </p:sp>
      <p:sp>
        <p:nvSpPr>
          <p:cNvPr id="12" name="Rectangle 11">
            <a:extLst>
              <a:ext uri="{FF2B5EF4-FFF2-40B4-BE49-F238E27FC236}">
                <a16:creationId xmlns:a16="http://schemas.microsoft.com/office/drawing/2014/main" id="{4B3DE6DD-3A46-CCC6-2C56-9F1EADAC883B}"/>
              </a:ext>
            </a:extLst>
          </p:cNvPr>
          <p:cNvSpPr/>
          <p:nvPr/>
        </p:nvSpPr>
        <p:spPr>
          <a:xfrm>
            <a:off x="3598923" y="4457131"/>
            <a:ext cx="1383969" cy="27489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Tool output</a:t>
            </a:r>
          </a:p>
        </p:txBody>
      </p:sp>
      <p:sp>
        <p:nvSpPr>
          <p:cNvPr id="13" name="Rectangle 12">
            <a:extLst>
              <a:ext uri="{FF2B5EF4-FFF2-40B4-BE49-F238E27FC236}">
                <a16:creationId xmlns:a16="http://schemas.microsoft.com/office/drawing/2014/main" id="{A7B62B71-8C8C-889E-4379-D545AB60400B}"/>
              </a:ext>
            </a:extLst>
          </p:cNvPr>
          <p:cNvSpPr/>
          <p:nvPr/>
        </p:nvSpPr>
        <p:spPr>
          <a:xfrm>
            <a:off x="1184809" y="3779812"/>
            <a:ext cx="1030147" cy="27489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Prompt</a:t>
            </a:r>
          </a:p>
        </p:txBody>
      </p:sp>
      <p:sp>
        <p:nvSpPr>
          <p:cNvPr id="14" name="Rectangle 13">
            <a:extLst>
              <a:ext uri="{FF2B5EF4-FFF2-40B4-BE49-F238E27FC236}">
                <a16:creationId xmlns:a16="http://schemas.microsoft.com/office/drawing/2014/main" id="{FD13A64D-D46F-B048-51E6-BE443C479C43}"/>
              </a:ext>
            </a:extLst>
          </p:cNvPr>
          <p:cNvSpPr/>
          <p:nvPr/>
        </p:nvSpPr>
        <p:spPr>
          <a:xfrm>
            <a:off x="2214956" y="3779812"/>
            <a:ext cx="1383969" cy="274899"/>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Response</a:t>
            </a:r>
          </a:p>
        </p:txBody>
      </p:sp>
      <p:sp>
        <p:nvSpPr>
          <p:cNvPr id="15" name="Bent Arrow 14">
            <a:extLst>
              <a:ext uri="{FF2B5EF4-FFF2-40B4-BE49-F238E27FC236}">
                <a16:creationId xmlns:a16="http://schemas.microsoft.com/office/drawing/2014/main" id="{504B5647-A2E8-8E4F-FF05-DD2B835DC3E3}"/>
              </a:ext>
            </a:extLst>
          </p:cNvPr>
          <p:cNvSpPr/>
          <p:nvPr/>
        </p:nvSpPr>
        <p:spPr>
          <a:xfrm rot="5400000">
            <a:off x="3839273" y="3681620"/>
            <a:ext cx="506724" cy="801076"/>
          </a:xfrm>
          <a:prstGeom prst="bentArrow">
            <a:avLst>
              <a:gd name="adj1" fmla="val 25000"/>
              <a:gd name="adj2" fmla="val 26786"/>
              <a:gd name="adj3" fmla="val 25000"/>
              <a:gd name="adj4" fmla="val 0"/>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2"/>
              </a:solidFill>
            </a:endParaRPr>
          </a:p>
        </p:txBody>
      </p:sp>
      <p:sp>
        <p:nvSpPr>
          <p:cNvPr id="16" name="TextBox 15">
            <a:extLst>
              <a:ext uri="{FF2B5EF4-FFF2-40B4-BE49-F238E27FC236}">
                <a16:creationId xmlns:a16="http://schemas.microsoft.com/office/drawing/2014/main" id="{1C81A39F-3DC1-0FA4-E4C8-D2B60DFC1F41}"/>
              </a:ext>
            </a:extLst>
          </p:cNvPr>
          <p:cNvSpPr txBox="1"/>
          <p:nvPr/>
        </p:nvSpPr>
        <p:spPr>
          <a:xfrm>
            <a:off x="1268019" y="5119774"/>
            <a:ext cx="3739742" cy="369332"/>
          </a:xfrm>
          <a:prstGeom prst="rect">
            <a:avLst/>
          </a:prstGeom>
          <a:noFill/>
        </p:spPr>
        <p:txBody>
          <a:bodyPr wrap="none" rtlCol="0">
            <a:spAutoFit/>
          </a:bodyPr>
          <a:lstStyle/>
          <a:p>
            <a:r>
              <a:rPr lang="en-US" dirty="0"/>
              <a:t>LLM controls only what is appended</a:t>
            </a:r>
          </a:p>
        </p:txBody>
      </p:sp>
      <p:sp>
        <p:nvSpPr>
          <p:cNvPr id="21" name="Rectangle 20">
            <a:extLst>
              <a:ext uri="{FF2B5EF4-FFF2-40B4-BE49-F238E27FC236}">
                <a16:creationId xmlns:a16="http://schemas.microsoft.com/office/drawing/2014/main" id="{7C568DBC-8791-BC64-5187-FC29D7B9B203}"/>
              </a:ext>
            </a:extLst>
          </p:cNvPr>
          <p:cNvSpPr/>
          <p:nvPr/>
        </p:nvSpPr>
        <p:spPr>
          <a:xfrm>
            <a:off x="6586484" y="3793502"/>
            <a:ext cx="1030147" cy="27489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Prompt</a:t>
            </a:r>
          </a:p>
        </p:txBody>
      </p:sp>
      <p:sp>
        <p:nvSpPr>
          <p:cNvPr id="22" name="Rectangle 21">
            <a:extLst>
              <a:ext uri="{FF2B5EF4-FFF2-40B4-BE49-F238E27FC236}">
                <a16:creationId xmlns:a16="http://schemas.microsoft.com/office/drawing/2014/main" id="{E5ABE19D-D9CE-F3C2-D501-10ABEC3223B6}"/>
              </a:ext>
            </a:extLst>
          </p:cNvPr>
          <p:cNvSpPr/>
          <p:nvPr/>
        </p:nvSpPr>
        <p:spPr>
          <a:xfrm>
            <a:off x="7616631" y="3793502"/>
            <a:ext cx="1383969" cy="274899"/>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Response</a:t>
            </a:r>
          </a:p>
        </p:txBody>
      </p:sp>
      <p:sp>
        <p:nvSpPr>
          <p:cNvPr id="23" name="Bent Arrow 22">
            <a:extLst>
              <a:ext uri="{FF2B5EF4-FFF2-40B4-BE49-F238E27FC236}">
                <a16:creationId xmlns:a16="http://schemas.microsoft.com/office/drawing/2014/main" id="{C9A1E65F-39C5-7BCC-D564-D7BF7FEC8384}"/>
              </a:ext>
            </a:extLst>
          </p:cNvPr>
          <p:cNvSpPr/>
          <p:nvPr/>
        </p:nvSpPr>
        <p:spPr>
          <a:xfrm rot="5400000">
            <a:off x="9240948" y="3695310"/>
            <a:ext cx="506724" cy="801076"/>
          </a:xfrm>
          <a:prstGeom prst="bentArrow">
            <a:avLst>
              <a:gd name="adj1" fmla="val 25000"/>
              <a:gd name="adj2" fmla="val 26786"/>
              <a:gd name="adj3" fmla="val 25000"/>
              <a:gd name="adj4" fmla="val 0"/>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2"/>
              </a:solidFill>
            </a:endParaRPr>
          </a:p>
        </p:txBody>
      </p:sp>
      <p:sp>
        <p:nvSpPr>
          <p:cNvPr id="24" name="TextBox 23">
            <a:extLst>
              <a:ext uri="{FF2B5EF4-FFF2-40B4-BE49-F238E27FC236}">
                <a16:creationId xmlns:a16="http://schemas.microsoft.com/office/drawing/2014/main" id="{28BF50CB-FBA7-818F-91DC-EC2CBBEEC162}"/>
              </a:ext>
            </a:extLst>
          </p:cNvPr>
          <p:cNvSpPr txBox="1"/>
          <p:nvPr/>
        </p:nvSpPr>
        <p:spPr>
          <a:xfrm>
            <a:off x="6841318" y="5178817"/>
            <a:ext cx="3936399" cy="369332"/>
          </a:xfrm>
          <a:prstGeom prst="rect">
            <a:avLst/>
          </a:prstGeom>
          <a:noFill/>
        </p:spPr>
        <p:txBody>
          <a:bodyPr wrap="none" rtlCol="0">
            <a:spAutoFit/>
          </a:bodyPr>
          <a:lstStyle/>
          <a:p>
            <a:r>
              <a:rPr lang="en-US" dirty="0"/>
              <a:t>LLM fully controls its context next turn</a:t>
            </a:r>
          </a:p>
        </p:txBody>
      </p:sp>
      <p:sp>
        <p:nvSpPr>
          <p:cNvPr id="26" name="Rectangle 25">
            <a:extLst>
              <a:ext uri="{FF2B5EF4-FFF2-40B4-BE49-F238E27FC236}">
                <a16:creationId xmlns:a16="http://schemas.microsoft.com/office/drawing/2014/main" id="{DA3E8D66-EDB1-9177-AFD2-544E5DBD4C53}"/>
              </a:ext>
            </a:extLst>
          </p:cNvPr>
          <p:cNvSpPr/>
          <p:nvPr/>
        </p:nvSpPr>
        <p:spPr>
          <a:xfrm>
            <a:off x="8245366" y="4544169"/>
            <a:ext cx="2532351" cy="27489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Whole context window</a:t>
            </a:r>
          </a:p>
        </p:txBody>
      </p:sp>
      <p:sp>
        <p:nvSpPr>
          <p:cNvPr id="3" name="TextBox 2">
            <a:extLst>
              <a:ext uri="{FF2B5EF4-FFF2-40B4-BE49-F238E27FC236}">
                <a16:creationId xmlns:a16="http://schemas.microsoft.com/office/drawing/2014/main" id="{DD9A605B-F04D-FBBB-5A5C-273EA56136CA}"/>
              </a:ext>
            </a:extLst>
          </p:cNvPr>
          <p:cNvSpPr txBox="1"/>
          <p:nvPr/>
        </p:nvSpPr>
        <p:spPr>
          <a:xfrm>
            <a:off x="9894848" y="3801398"/>
            <a:ext cx="973600" cy="369332"/>
          </a:xfrm>
          <a:prstGeom prst="rect">
            <a:avLst/>
          </a:prstGeom>
          <a:noFill/>
        </p:spPr>
        <p:txBody>
          <a:bodyPr wrap="none" rtlCol="0">
            <a:spAutoFit/>
          </a:bodyPr>
          <a:lstStyle/>
          <a:p>
            <a:r>
              <a:rPr lang="en-US" dirty="0"/>
              <a:t>Self call</a:t>
            </a:r>
          </a:p>
        </p:txBody>
      </p:sp>
      <p:sp>
        <p:nvSpPr>
          <p:cNvPr id="5" name="TextBox 4">
            <a:extLst>
              <a:ext uri="{FF2B5EF4-FFF2-40B4-BE49-F238E27FC236}">
                <a16:creationId xmlns:a16="http://schemas.microsoft.com/office/drawing/2014/main" id="{CD9E41E6-B95E-23AF-60E7-690C040F5C3F}"/>
              </a:ext>
            </a:extLst>
          </p:cNvPr>
          <p:cNvSpPr txBox="1"/>
          <p:nvPr/>
        </p:nvSpPr>
        <p:spPr>
          <a:xfrm>
            <a:off x="4440791" y="3738142"/>
            <a:ext cx="998415" cy="369332"/>
          </a:xfrm>
          <a:prstGeom prst="rect">
            <a:avLst/>
          </a:prstGeom>
          <a:noFill/>
        </p:spPr>
        <p:txBody>
          <a:bodyPr wrap="none" rtlCol="0">
            <a:spAutoFit/>
          </a:bodyPr>
          <a:lstStyle/>
          <a:p>
            <a:r>
              <a:rPr lang="en-US" dirty="0"/>
              <a:t>Tool call</a:t>
            </a:r>
          </a:p>
        </p:txBody>
      </p:sp>
      <p:sp>
        <p:nvSpPr>
          <p:cNvPr id="6" name="TextBox 5">
            <a:extLst>
              <a:ext uri="{FF2B5EF4-FFF2-40B4-BE49-F238E27FC236}">
                <a16:creationId xmlns:a16="http://schemas.microsoft.com/office/drawing/2014/main" id="{3B018737-4E39-BE38-6D78-939DCFC20ED1}"/>
              </a:ext>
            </a:extLst>
          </p:cNvPr>
          <p:cNvSpPr txBox="1"/>
          <p:nvPr/>
        </p:nvSpPr>
        <p:spPr>
          <a:xfrm>
            <a:off x="8245366" y="2683086"/>
            <a:ext cx="684803" cy="369332"/>
          </a:xfrm>
          <a:prstGeom prst="rect">
            <a:avLst/>
          </a:prstGeom>
          <a:noFill/>
        </p:spPr>
        <p:txBody>
          <a:bodyPr wrap="none" rtlCol="0">
            <a:spAutoFit/>
          </a:bodyPr>
          <a:lstStyle/>
          <a:p>
            <a:r>
              <a:rPr lang="en-US" dirty="0"/>
              <a:t>Spell</a:t>
            </a:r>
          </a:p>
        </p:txBody>
      </p:sp>
    </p:spTree>
    <p:extLst>
      <p:ext uri="{BB962C8B-B14F-4D97-AF65-F5344CB8AC3E}">
        <p14:creationId xmlns:p14="http://schemas.microsoft.com/office/powerpoint/2010/main" val="187348753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5E04FA-3D1B-C569-3602-2C4A1049256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15521BF-83F8-DC39-B495-D9DB4BE2765B}"/>
              </a:ext>
            </a:extLst>
          </p:cNvPr>
          <p:cNvSpPr>
            <a:spLocks noGrp="1"/>
          </p:cNvSpPr>
          <p:nvPr>
            <p:ph type="title"/>
          </p:nvPr>
        </p:nvSpPr>
        <p:spPr/>
        <p:txBody>
          <a:bodyPr/>
          <a:lstStyle/>
          <a:p>
            <a:r>
              <a:rPr lang="en-US" dirty="0"/>
              <a:t>Internalized context management</a:t>
            </a:r>
          </a:p>
        </p:txBody>
      </p:sp>
      <p:sp>
        <p:nvSpPr>
          <p:cNvPr id="21" name="Rectangle 20">
            <a:extLst>
              <a:ext uri="{FF2B5EF4-FFF2-40B4-BE49-F238E27FC236}">
                <a16:creationId xmlns:a16="http://schemas.microsoft.com/office/drawing/2014/main" id="{A388A8D6-29E9-5B4B-5D8B-E4BDBF679EA0}"/>
              </a:ext>
            </a:extLst>
          </p:cNvPr>
          <p:cNvSpPr/>
          <p:nvPr/>
        </p:nvSpPr>
        <p:spPr>
          <a:xfrm>
            <a:off x="6586484" y="3793502"/>
            <a:ext cx="1030147" cy="27489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Prompt</a:t>
            </a:r>
          </a:p>
        </p:txBody>
      </p:sp>
      <p:sp>
        <p:nvSpPr>
          <p:cNvPr id="22" name="Rectangle 21">
            <a:extLst>
              <a:ext uri="{FF2B5EF4-FFF2-40B4-BE49-F238E27FC236}">
                <a16:creationId xmlns:a16="http://schemas.microsoft.com/office/drawing/2014/main" id="{7386AF41-BB44-53C4-FA75-4DB754FC6D90}"/>
              </a:ext>
            </a:extLst>
          </p:cNvPr>
          <p:cNvSpPr/>
          <p:nvPr/>
        </p:nvSpPr>
        <p:spPr>
          <a:xfrm>
            <a:off x="7616631" y="3793502"/>
            <a:ext cx="1383969" cy="274899"/>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Response</a:t>
            </a:r>
          </a:p>
        </p:txBody>
      </p:sp>
      <p:sp>
        <p:nvSpPr>
          <p:cNvPr id="24" name="TextBox 23">
            <a:extLst>
              <a:ext uri="{FF2B5EF4-FFF2-40B4-BE49-F238E27FC236}">
                <a16:creationId xmlns:a16="http://schemas.microsoft.com/office/drawing/2014/main" id="{953601AF-D14D-30CD-DEEB-E166961462F0}"/>
              </a:ext>
            </a:extLst>
          </p:cNvPr>
          <p:cNvSpPr txBox="1"/>
          <p:nvPr/>
        </p:nvSpPr>
        <p:spPr>
          <a:xfrm>
            <a:off x="10116954" y="3607785"/>
            <a:ext cx="1631350" cy="646331"/>
          </a:xfrm>
          <a:prstGeom prst="rect">
            <a:avLst/>
          </a:prstGeom>
          <a:noFill/>
        </p:spPr>
        <p:txBody>
          <a:bodyPr wrap="square" rtlCol="0">
            <a:spAutoFit/>
          </a:bodyPr>
          <a:lstStyle/>
          <a:p>
            <a:r>
              <a:rPr lang="en-US" dirty="0"/>
              <a:t>Arbitrary control flow</a:t>
            </a:r>
          </a:p>
        </p:txBody>
      </p:sp>
      <p:sp>
        <p:nvSpPr>
          <p:cNvPr id="6" name="TextBox 5">
            <a:extLst>
              <a:ext uri="{FF2B5EF4-FFF2-40B4-BE49-F238E27FC236}">
                <a16:creationId xmlns:a16="http://schemas.microsoft.com/office/drawing/2014/main" id="{36B1806E-83CE-85BB-6BEC-548D75580DCC}"/>
              </a:ext>
            </a:extLst>
          </p:cNvPr>
          <p:cNvSpPr txBox="1"/>
          <p:nvPr/>
        </p:nvSpPr>
        <p:spPr>
          <a:xfrm>
            <a:off x="8245366" y="2683086"/>
            <a:ext cx="684803" cy="369332"/>
          </a:xfrm>
          <a:prstGeom prst="rect">
            <a:avLst/>
          </a:prstGeom>
          <a:noFill/>
        </p:spPr>
        <p:txBody>
          <a:bodyPr wrap="none" rtlCol="0">
            <a:spAutoFit/>
          </a:bodyPr>
          <a:lstStyle/>
          <a:p>
            <a:r>
              <a:rPr lang="en-US" dirty="0"/>
              <a:t>Spell</a:t>
            </a:r>
          </a:p>
        </p:txBody>
      </p:sp>
      <p:sp>
        <p:nvSpPr>
          <p:cNvPr id="9" name="Right Arrow 8">
            <a:extLst>
              <a:ext uri="{FF2B5EF4-FFF2-40B4-BE49-F238E27FC236}">
                <a16:creationId xmlns:a16="http://schemas.microsoft.com/office/drawing/2014/main" id="{202BD903-3C76-A622-AA4E-E4DA33F6AE44}"/>
              </a:ext>
            </a:extLst>
          </p:cNvPr>
          <p:cNvSpPr/>
          <p:nvPr/>
        </p:nvSpPr>
        <p:spPr>
          <a:xfrm rot="19537107">
            <a:off x="9000600" y="3345084"/>
            <a:ext cx="780008" cy="243068"/>
          </a:xfrm>
          <a:prstGeom prst="rightArrow">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ight Arrow 16">
            <a:extLst>
              <a:ext uri="{FF2B5EF4-FFF2-40B4-BE49-F238E27FC236}">
                <a16:creationId xmlns:a16="http://schemas.microsoft.com/office/drawing/2014/main" id="{3852B23C-ED5A-9481-0D63-E51EE7415110}"/>
              </a:ext>
            </a:extLst>
          </p:cNvPr>
          <p:cNvSpPr/>
          <p:nvPr/>
        </p:nvSpPr>
        <p:spPr>
          <a:xfrm>
            <a:off x="9121537" y="3793845"/>
            <a:ext cx="780008" cy="243068"/>
          </a:xfrm>
          <a:prstGeom prst="rightArrow">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ight Arrow 17">
            <a:extLst>
              <a:ext uri="{FF2B5EF4-FFF2-40B4-BE49-F238E27FC236}">
                <a16:creationId xmlns:a16="http://schemas.microsoft.com/office/drawing/2014/main" id="{CDA764C9-567B-D08F-76B5-A61F939C156F}"/>
              </a:ext>
            </a:extLst>
          </p:cNvPr>
          <p:cNvSpPr/>
          <p:nvPr/>
        </p:nvSpPr>
        <p:spPr>
          <a:xfrm rot="1760756">
            <a:off x="9009620" y="4250628"/>
            <a:ext cx="780008" cy="243068"/>
          </a:xfrm>
          <a:prstGeom prst="rightArrow">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ounded Rectangle 18">
            <a:extLst>
              <a:ext uri="{FF2B5EF4-FFF2-40B4-BE49-F238E27FC236}">
                <a16:creationId xmlns:a16="http://schemas.microsoft.com/office/drawing/2014/main" id="{301DDC18-4269-C6E5-A626-925A59FC05D9}"/>
              </a:ext>
            </a:extLst>
          </p:cNvPr>
          <p:cNvSpPr/>
          <p:nvPr/>
        </p:nvSpPr>
        <p:spPr>
          <a:xfrm>
            <a:off x="2893670" y="5754487"/>
            <a:ext cx="7430947" cy="84495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No tension with “get out of the agent’s way” </a:t>
            </a:r>
          </a:p>
        </p:txBody>
      </p:sp>
    </p:spTree>
    <p:extLst>
      <p:ext uri="{BB962C8B-B14F-4D97-AF65-F5344CB8AC3E}">
        <p14:creationId xmlns:p14="http://schemas.microsoft.com/office/powerpoint/2010/main" val="28235614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CF4B672A-EF16-125A-FE76-144D80A94770}"/>
              </a:ext>
            </a:extLst>
          </p:cNvPr>
          <p:cNvSpPr>
            <a:spLocks noGrp="1"/>
          </p:cNvSpPr>
          <p:nvPr>
            <p:ph type="body" idx="1"/>
          </p:nvPr>
        </p:nvSpPr>
        <p:spPr>
          <a:xfrm>
            <a:off x="836612" y="1128270"/>
            <a:ext cx="5157787" cy="823912"/>
          </a:xfrm>
        </p:spPr>
        <p:txBody>
          <a:bodyPr/>
          <a:lstStyle/>
          <a:p>
            <a:r>
              <a:rPr lang="en-US" dirty="0" err="1"/>
              <a:t>ReAct</a:t>
            </a:r>
            <a:endParaRPr lang="en-US" dirty="0"/>
          </a:p>
        </p:txBody>
      </p:sp>
      <p:sp>
        <p:nvSpPr>
          <p:cNvPr id="6" name="Text Placeholder 5">
            <a:extLst>
              <a:ext uri="{FF2B5EF4-FFF2-40B4-BE49-F238E27FC236}">
                <a16:creationId xmlns:a16="http://schemas.microsoft.com/office/drawing/2014/main" id="{C6C5F69A-CC0B-2CE8-D857-768DEDE9B53A}"/>
              </a:ext>
            </a:extLst>
          </p:cNvPr>
          <p:cNvSpPr>
            <a:spLocks noGrp="1"/>
          </p:cNvSpPr>
          <p:nvPr>
            <p:ph type="body" sz="quarter" idx="3"/>
          </p:nvPr>
        </p:nvSpPr>
        <p:spPr>
          <a:xfrm>
            <a:off x="6169024" y="1128270"/>
            <a:ext cx="5183188" cy="823912"/>
          </a:xfrm>
        </p:spPr>
        <p:txBody>
          <a:bodyPr/>
          <a:lstStyle/>
          <a:p>
            <a:r>
              <a:rPr lang="en-US" dirty="0"/>
              <a:t>Spell</a:t>
            </a:r>
          </a:p>
        </p:txBody>
      </p:sp>
      <p:sp>
        <p:nvSpPr>
          <p:cNvPr id="7" name="Content Placeholder 6">
            <a:extLst>
              <a:ext uri="{FF2B5EF4-FFF2-40B4-BE49-F238E27FC236}">
                <a16:creationId xmlns:a16="http://schemas.microsoft.com/office/drawing/2014/main" id="{7CB45BA6-F51E-A799-A0FC-924DBE693C18}"/>
              </a:ext>
            </a:extLst>
          </p:cNvPr>
          <p:cNvSpPr>
            <a:spLocks noGrp="1"/>
          </p:cNvSpPr>
          <p:nvPr>
            <p:ph sz="quarter" idx="4"/>
          </p:nvPr>
        </p:nvSpPr>
        <p:spPr>
          <a:xfrm>
            <a:off x="6169024" y="1952182"/>
            <a:ext cx="5183188" cy="3684588"/>
          </a:xfrm>
        </p:spPr>
        <p:txBody>
          <a:bodyPr>
            <a:normAutofit fontScale="92500"/>
          </a:bodyPr>
          <a:lstStyle/>
          <a:p>
            <a:pPr marL="0" indent="0">
              <a:buNone/>
            </a:pPr>
            <a:r>
              <a:rPr lang="en-US" dirty="0"/>
              <a:t>prefix ← prompt</a:t>
            </a:r>
          </a:p>
          <a:p>
            <a:pPr marL="0" indent="0">
              <a:buNone/>
            </a:pPr>
            <a:r>
              <a:rPr lang="en-US" dirty="0"/>
              <a:t>response ← </a:t>
            </a:r>
            <a:r>
              <a:rPr lang="en-US" dirty="0" err="1"/>
              <a:t>llm</a:t>
            </a:r>
            <a:r>
              <a:rPr lang="en-US" dirty="0"/>
              <a:t>(prefix)</a:t>
            </a:r>
          </a:p>
          <a:p>
            <a:pPr marL="0" indent="0">
              <a:buNone/>
            </a:pPr>
            <a:r>
              <a:rPr lang="en-US" dirty="0"/>
              <a:t>completion ← prefix + response</a:t>
            </a:r>
          </a:p>
          <a:p>
            <a:pPr marL="0" indent="0">
              <a:buNone/>
            </a:pPr>
            <a:r>
              <a:rPr lang="en-US" dirty="0"/>
              <a:t>return eval(completion)</a:t>
            </a:r>
            <a:br>
              <a:rPr lang="en-US" dirty="0"/>
            </a:br>
            <a:endParaRPr lang="en-US" dirty="0"/>
          </a:p>
        </p:txBody>
      </p:sp>
      <p:sp>
        <p:nvSpPr>
          <p:cNvPr id="12" name="Content Placeholder 11">
            <a:extLst>
              <a:ext uri="{FF2B5EF4-FFF2-40B4-BE49-F238E27FC236}">
                <a16:creationId xmlns:a16="http://schemas.microsoft.com/office/drawing/2014/main" id="{C9AA7280-FB40-A707-5CFB-F74EFED11774}"/>
              </a:ext>
            </a:extLst>
          </p:cNvPr>
          <p:cNvSpPr>
            <a:spLocks noGrp="1"/>
          </p:cNvSpPr>
          <p:nvPr>
            <p:ph sz="half" idx="2"/>
          </p:nvPr>
        </p:nvSpPr>
        <p:spPr>
          <a:xfrm>
            <a:off x="836612" y="1952181"/>
            <a:ext cx="5157787" cy="4089843"/>
          </a:xfrm>
        </p:spPr>
        <p:txBody>
          <a:bodyPr>
            <a:normAutofit fontScale="92500"/>
          </a:bodyPr>
          <a:lstStyle/>
          <a:p>
            <a:pPr marL="0" indent="0">
              <a:buNone/>
            </a:pPr>
            <a:r>
              <a:rPr lang="en-US" dirty="0"/>
              <a:t>prefix ← prompt</a:t>
            </a:r>
          </a:p>
          <a:p>
            <a:pPr marL="0" indent="0">
              <a:buNone/>
            </a:pPr>
            <a:r>
              <a:rPr lang="en-US" dirty="0"/>
              <a:t>loop:</a:t>
            </a:r>
          </a:p>
          <a:p>
            <a:pPr marL="0" indent="0">
              <a:buNone/>
            </a:pPr>
            <a:r>
              <a:rPr lang="en-US" dirty="0"/>
              <a:t>    response, tool-call ← </a:t>
            </a:r>
            <a:r>
              <a:rPr lang="en-US" dirty="0" err="1"/>
              <a:t>llm</a:t>
            </a:r>
            <a:r>
              <a:rPr lang="en-US" dirty="0"/>
              <a:t>(prefix)</a:t>
            </a:r>
          </a:p>
          <a:p>
            <a:pPr marL="0" indent="0">
              <a:buNone/>
            </a:pPr>
            <a:r>
              <a:rPr lang="en-US" dirty="0"/>
              <a:t>    tool-result  ← eval(tool-call)</a:t>
            </a:r>
            <a:br>
              <a:rPr lang="en-US" dirty="0"/>
            </a:br>
            <a:r>
              <a:rPr lang="en-US" dirty="0"/>
              <a:t>    completion ← prefix + response+ 			tool-result</a:t>
            </a:r>
          </a:p>
          <a:p>
            <a:pPr marL="0" indent="0">
              <a:buNone/>
            </a:pPr>
            <a:r>
              <a:rPr lang="en-US" dirty="0"/>
              <a:t>    if </a:t>
            </a:r>
            <a:r>
              <a:rPr lang="en-US" dirty="0" err="1"/>
              <a:t>response.is</a:t>
            </a:r>
            <a:r>
              <a:rPr lang="en-US" dirty="0"/>
              <a:t>-final:</a:t>
            </a:r>
          </a:p>
          <a:p>
            <a:pPr marL="0" indent="0">
              <a:buNone/>
            </a:pPr>
            <a:r>
              <a:rPr lang="en-US" dirty="0"/>
              <a:t>        return completion</a:t>
            </a:r>
          </a:p>
          <a:p>
            <a:pPr marL="0" indent="0">
              <a:buNone/>
            </a:pPr>
            <a:r>
              <a:rPr lang="en-US" dirty="0"/>
              <a:t>    prefix ← completion</a:t>
            </a:r>
          </a:p>
          <a:p>
            <a:pPr marL="0" indent="0">
              <a:buNone/>
            </a:pPr>
            <a:endParaRPr lang="en-US" dirty="0"/>
          </a:p>
        </p:txBody>
      </p:sp>
      <p:sp>
        <p:nvSpPr>
          <p:cNvPr id="13" name="Content Placeholder 2">
            <a:extLst>
              <a:ext uri="{FF2B5EF4-FFF2-40B4-BE49-F238E27FC236}">
                <a16:creationId xmlns:a16="http://schemas.microsoft.com/office/drawing/2014/main" id="{8DBA7CB6-9756-C9A1-24B8-29516636E9A9}"/>
              </a:ext>
            </a:extLst>
          </p:cNvPr>
          <p:cNvSpPr txBox="1">
            <a:spLocks/>
          </p:cNvSpPr>
          <p:nvPr/>
        </p:nvSpPr>
        <p:spPr>
          <a:xfrm>
            <a:off x="838200" y="2505074"/>
            <a:ext cx="5488172" cy="3536951"/>
          </a:xfrm>
          <a:prstGeom prst="rect">
            <a:avLst/>
          </a:prstGeom>
        </p:spPr>
        <p:txBody>
          <a:bodyPr vert="horz" lIns="91440" tIns="45720" rIns="91440" bIns="45720" rtlCol="0" anchor="b">
            <a:normAutofit/>
          </a:bodyPr>
          <a:lstStyle>
            <a:lvl1pPr marL="0" indent="0" algn="l" defTabSz="914400" rtl="0" eaLnBrk="1" latinLnBrk="0" hangingPunct="1">
              <a:lnSpc>
                <a:spcPct val="90000"/>
              </a:lnSpc>
              <a:spcBef>
                <a:spcPts val="1000"/>
              </a:spcBef>
              <a:buFont typeface="Arial" panose="020B0604020202020204" pitchFamily="34" charset="0"/>
              <a:buNone/>
              <a:defRPr sz="2400" b="1" kern="1200">
                <a:solidFill>
                  <a:schemeClr val="tx1"/>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000" b="1" kern="1200">
                <a:solidFill>
                  <a:schemeClr val="tx1"/>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800" b="1" kern="1200">
                <a:solidFill>
                  <a:schemeClr val="tx1"/>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endParaRPr lang="en-US" dirty="0"/>
          </a:p>
        </p:txBody>
      </p:sp>
      <p:sp>
        <p:nvSpPr>
          <p:cNvPr id="16" name="TextBox 15">
            <a:extLst>
              <a:ext uri="{FF2B5EF4-FFF2-40B4-BE49-F238E27FC236}">
                <a16:creationId xmlns:a16="http://schemas.microsoft.com/office/drawing/2014/main" id="{FAC0061D-730F-493C-D7E2-18944493C460}"/>
              </a:ext>
            </a:extLst>
          </p:cNvPr>
          <p:cNvSpPr txBox="1"/>
          <p:nvPr/>
        </p:nvSpPr>
        <p:spPr>
          <a:xfrm>
            <a:off x="6171755" y="4132426"/>
            <a:ext cx="5180457" cy="584775"/>
          </a:xfrm>
          <a:prstGeom prst="rect">
            <a:avLst/>
          </a:prstGeom>
          <a:noFill/>
        </p:spPr>
        <p:txBody>
          <a:bodyPr wrap="none" rtlCol="0">
            <a:spAutoFit/>
          </a:bodyPr>
          <a:lstStyle/>
          <a:p>
            <a:r>
              <a:rPr lang="en-US" sz="3200" dirty="0">
                <a:solidFill>
                  <a:srgbClr val="FF0000"/>
                </a:solidFill>
              </a:rPr>
              <a:t>What happened to the loop?</a:t>
            </a:r>
          </a:p>
        </p:txBody>
      </p:sp>
    </p:spTree>
    <p:extLst>
      <p:ext uri="{BB962C8B-B14F-4D97-AF65-F5344CB8AC3E}">
        <p14:creationId xmlns:p14="http://schemas.microsoft.com/office/powerpoint/2010/main" val="187096665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DABF18-FF7E-F97B-DF25-60DC33BC6DBD}"/>
            </a:ext>
          </a:extLst>
        </p:cNvPr>
        <p:cNvGrpSpPr/>
        <p:nvPr/>
      </p:nvGrpSpPr>
      <p:grpSpPr>
        <a:xfrm>
          <a:off x="0" y="0"/>
          <a:ext cx="0" cy="0"/>
          <a:chOff x="0" y="0"/>
          <a:chExt cx="0" cy="0"/>
        </a:xfrm>
      </p:grpSpPr>
      <p:sp>
        <p:nvSpPr>
          <p:cNvPr id="4" name="Text Placeholder 3">
            <a:extLst>
              <a:ext uri="{FF2B5EF4-FFF2-40B4-BE49-F238E27FC236}">
                <a16:creationId xmlns:a16="http://schemas.microsoft.com/office/drawing/2014/main" id="{20226B73-4D5C-9CF0-DE83-9D07672C019E}"/>
              </a:ext>
            </a:extLst>
          </p:cNvPr>
          <p:cNvSpPr>
            <a:spLocks noGrp="1"/>
          </p:cNvSpPr>
          <p:nvPr>
            <p:ph type="body" idx="1"/>
          </p:nvPr>
        </p:nvSpPr>
        <p:spPr>
          <a:xfrm>
            <a:off x="836612" y="1128270"/>
            <a:ext cx="5157787" cy="823912"/>
          </a:xfrm>
        </p:spPr>
        <p:txBody>
          <a:bodyPr/>
          <a:lstStyle/>
          <a:p>
            <a:r>
              <a:rPr lang="en-US" dirty="0" err="1"/>
              <a:t>ReAct</a:t>
            </a:r>
            <a:endParaRPr lang="en-US" dirty="0"/>
          </a:p>
        </p:txBody>
      </p:sp>
      <p:sp>
        <p:nvSpPr>
          <p:cNvPr id="6" name="Text Placeholder 5">
            <a:extLst>
              <a:ext uri="{FF2B5EF4-FFF2-40B4-BE49-F238E27FC236}">
                <a16:creationId xmlns:a16="http://schemas.microsoft.com/office/drawing/2014/main" id="{1D3ABE71-A4C3-2601-31E4-BB8655610C0D}"/>
              </a:ext>
            </a:extLst>
          </p:cNvPr>
          <p:cNvSpPr>
            <a:spLocks noGrp="1"/>
          </p:cNvSpPr>
          <p:nvPr>
            <p:ph type="body" sz="quarter" idx="3"/>
          </p:nvPr>
        </p:nvSpPr>
        <p:spPr>
          <a:xfrm>
            <a:off x="6169024" y="1128270"/>
            <a:ext cx="5183188" cy="823912"/>
          </a:xfrm>
        </p:spPr>
        <p:txBody>
          <a:bodyPr/>
          <a:lstStyle/>
          <a:p>
            <a:r>
              <a:rPr lang="en-US" dirty="0"/>
              <a:t>Spell</a:t>
            </a:r>
          </a:p>
        </p:txBody>
      </p:sp>
      <p:sp>
        <p:nvSpPr>
          <p:cNvPr id="7" name="Content Placeholder 6">
            <a:extLst>
              <a:ext uri="{FF2B5EF4-FFF2-40B4-BE49-F238E27FC236}">
                <a16:creationId xmlns:a16="http://schemas.microsoft.com/office/drawing/2014/main" id="{7E3ECC64-5903-2F27-CAAE-36929796CC78}"/>
              </a:ext>
            </a:extLst>
          </p:cNvPr>
          <p:cNvSpPr>
            <a:spLocks noGrp="1"/>
          </p:cNvSpPr>
          <p:nvPr>
            <p:ph sz="quarter" idx="4"/>
          </p:nvPr>
        </p:nvSpPr>
        <p:spPr>
          <a:xfrm>
            <a:off x="6169024" y="1952182"/>
            <a:ext cx="5183188" cy="3684588"/>
          </a:xfrm>
        </p:spPr>
        <p:txBody>
          <a:bodyPr>
            <a:normAutofit fontScale="92500" lnSpcReduction="20000"/>
          </a:bodyPr>
          <a:lstStyle/>
          <a:p>
            <a:pPr marL="0" indent="0">
              <a:buNone/>
            </a:pPr>
            <a:r>
              <a:rPr lang="en-US" dirty="0"/>
              <a:t>prefix ← prompt</a:t>
            </a:r>
          </a:p>
          <a:p>
            <a:pPr marL="0" indent="0">
              <a:buNone/>
            </a:pPr>
            <a:r>
              <a:rPr lang="en-US" dirty="0"/>
              <a:t>response ← </a:t>
            </a:r>
            <a:r>
              <a:rPr lang="en-US" dirty="0" err="1"/>
              <a:t>llm</a:t>
            </a:r>
            <a:r>
              <a:rPr lang="en-US" dirty="0"/>
              <a:t>(prefix)</a:t>
            </a:r>
          </a:p>
          <a:p>
            <a:pPr marL="0" indent="0">
              <a:buNone/>
            </a:pPr>
            <a:r>
              <a:rPr lang="en-US" dirty="0"/>
              <a:t>completion ← prefix + response</a:t>
            </a:r>
          </a:p>
          <a:p>
            <a:pPr marL="0" indent="0">
              <a:buNone/>
            </a:pPr>
            <a:r>
              <a:rPr lang="en-US" dirty="0"/>
              <a:t>return eval(completion)</a:t>
            </a:r>
            <a:br>
              <a:rPr lang="en-US" dirty="0"/>
            </a:br>
            <a:endParaRPr lang="en-US" dirty="0"/>
          </a:p>
        </p:txBody>
      </p:sp>
      <p:sp>
        <p:nvSpPr>
          <p:cNvPr id="12" name="Content Placeholder 11">
            <a:extLst>
              <a:ext uri="{FF2B5EF4-FFF2-40B4-BE49-F238E27FC236}">
                <a16:creationId xmlns:a16="http://schemas.microsoft.com/office/drawing/2014/main" id="{B06137DB-73C5-BBBA-110D-4BAD7E9F48A1}"/>
              </a:ext>
            </a:extLst>
          </p:cNvPr>
          <p:cNvSpPr>
            <a:spLocks noGrp="1"/>
          </p:cNvSpPr>
          <p:nvPr>
            <p:ph sz="half" idx="2"/>
          </p:nvPr>
        </p:nvSpPr>
        <p:spPr>
          <a:xfrm>
            <a:off x="836612" y="1952182"/>
            <a:ext cx="5157787" cy="3684588"/>
          </a:xfrm>
        </p:spPr>
        <p:txBody>
          <a:bodyPr>
            <a:normAutofit fontScale="92500" lnSpcReduction="20000"/>
          </a:bodyPr>
          <a:lstStyle/>
          <a:p>
            <a:pPr marL="0" indent="0">
              <a:buNone/>
            </a:pPr>
            <a:r>
              <a:rPr lang="en-US" dirty="0"/>
              <a:t>prefix ← prompt</a:t>
            </a:r>
          </a:p>
          <a:p>
            <a:pPr marL="0" indent="0">
              <a:buNone/>
            </a:pPr>
            <a:r>
              <a:rPr lang="en-US" dirty="0"/>
              <a:t>loop:</a:t>
            </a:r>
          </a:p>
          <a:p>
            <a:pPr marL="0" indent="0">
              <a:buNone/>
            </a:pPr>
            <a:r>
              <a:rPr lang="en-US" dirty="0"/>
              <a:t>    response, tool-call ← </a:t>
            </a:r>
            <a:r>
              <a:rPr lang="en-US" dirty="0" err="1"/>
              <a:t>llm</a:t>
            </a:r>
            <a:r>
              <a:rPr lang="en-US" dirty="0"/>
              <a:t>(prefix)</a:t>
            </a:r>
          </a:p>
          <a:p>
            <a:pPr marL="0" indent="0">
              <a:buNone/>
            </a:pPr>
            <a:r>
              <a:rPr lang="en-US" dirty="0"/>
              <a:t>    tool-result  ← eval(tool-call)</a:t>
            </a:r>
            <a:br>
              <a:rPr lang="en-US" dirty="0"/>
            </a:br>
            <a:r>
              <a:rPr lang="en-US" dirty="0"/>
              <a:t>    completion ← prefix + response+ 			tool-result</a:t>
            </a:r>
          </a:p>
          <a:p>
            <a:pPr marL="0" indent="0">
              <a:buNone/>
            </a:pPr>
            <a:r>
              <a:rPr lang="en-US" dirty="0"/>
              <a:t>    if </a:t>
            </a:r>
            <a:r>
              <a:rPr lang="en-US" dirty="0" err="1"/>
              <a:t>response.is</a:t>
            </a:r>
            <a:r>
              <a:rPr lang="en-US" dirty="0"/>
              <a:t>-final:</a:t>
            </a:r>
          </a:p>
          <a:p>
            <a:pPr marL="0" indent="0">
              <a:buNone/>
            </a:pPr>
            <a:r>
              <a:rPr lang="en-US" dirty="0"/>
              <a:t>        return completion</a:t>
            </a:r>
          </a:p>
          <a:p>
            <a:pPr marL="0" indent="0">
              <a:buNone/>
            </a:pPr>
            <a:r>
              <a:rPr lang="en-US" dirty="0"/>
              <a:t>    prefix ← completion</a:t>
            </a:r>
          </a:p>
          <a:p>
            <a:pPr marL="0" indent="0">
              <a:buNone/>
            </a:pPr>
            <a:endParaRPr lang="en-US" dirty="0"/>
          </a:p>
        </p:txBody>
      </p:sp>
      <p:sp>
        <p:nvSpPr>
          <p:cNvPr id="13" name="Content Placeholder 2">
            <a:extLst>
              <a:ext uri="{FF2B5EF4-FFF2-40B4-BE49-F238E27FC236}">
                <a16:creationId xmlns:a16="http://schemas.microsoft.com/office/drawing/2014/main" id="{0E6B686A-BB24-6F20-DD2E-7EB1B838FB83}"/>
              </a:ext>
            </a:extLst>
          </p:cNvPr>
          <p:cNvSpPr txBox="1">
            <a:spLocks/>
          </p:cNvSpPr>
          <p:nvPr/>
        </p:nvSpPr>
        <p:spPr>
          <a:xfrm>
            <a:off x="838200" y="2505074"/>
            <a:ext cx="5488172" cy="3536951"/>
          </a:xfrm>
          <a:prstGeom prst="rect">
            <a:avLst/>
          </a:prstGeom>
        </p:spPr>
        <p:txBody>
          <a:bodyPr vert="horz" lIns="91440" tIns="45720" rIns="91440" bIns="45720" rtlCol="0" anchor="b">
            <a:normAutofit/>
          </a:bodyPr>
          <a:lstStyle>
            <a:lvl1pPr marL="0" indent="0" algn="l" defTabSz="914400" rtl="0" eaLnBrk="1" latinLnBrk="0" hangingPunct="1">
              <a:lnSpc>
                <a:spcPct val="90000"/>
              </a:lnSpc>
              <a:spcBef>
                <a:spcPts val="1000"/>
              </a:spcBef>
              <a:buFont typeface="Arial" panose="020B0604020202020204" pitchFamily="34" charset="0"/>
              <a:buNone/>
              <a:defRPr sz="2400" b="1" kern="1200">
                <a:solidFill>
                  <a:schemeClr val="tx1"/>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000" b="1" kern="1200">
                <a:solidFill>
                  <a:schemeClr val="tx1"/>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800" b="1" kern="1200">
                <a:solidFill>
                  <a:schemeClr val="tx1"/>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endParaRPr lang="en-US" dirty="0"/>
          </a:p>
        </p:txBody>
      </p:sp>
      <p:sp>
        <p:nvSpPr>
          <p:cNvPr id="16" name="TextBox 15">
            <a:extLst>
              <a:ext uri="{FF2B5EF4-FFF2-40B4-BE49-F238E27FC236}">
                <a16:creationId xmlns:a16="http://schemas.microsoft.com/office/drawing/2014/main" id="{3D302136-B0C7-E95E-BD63-89C600156E1F}"/>
              </a:ext>
            </a:extLst>
          </p:cNvPr>
          <p:cNvSpPr txBox="1"/>
          <p:nvPr/>
        </p:nvSpPr>
        <p:spPr>
          <a:xfrm>
            <a:off x="6171755" y="4132426"/>
            <a:ext cx="5180457" cy="584775"/>
          </a:xfrm>
          <a:prstGeom prst="rect">
            <a:avLst/>
          </a:prstGeom>
          <a:noFill/>
        </p:spPr>
        <p:txBody>
          <a:bodyPr wrap="none" rtlCol="0">
            <a:spAutoFit/>
          </a:bodyPr>
          <a:lstStyle/>
          <a:p>
            <a:r>
              <a:rPr lang="en-US" sz="3200" dirty="0">
                <a:solidFill>
                  <a:srgbClr val="FF0000"/>
                </a:solidFill>
              </a:rPr>
              <a:t>What happened to the loop?</a:t>
            </a:r>
          </a:p>
        </p:txBody>
      </p:sp>
      <p:pic>
        <p:nvPicPr>
          <p:cNvPr id="2" name="Picture 1">
            <a:extLst>
              <a:ext uri="{FF2B5EF4-FFF2-40B4-BE49-F238E27FC236}">
                <a16:creationId xmlns:a16="http://schemas.microsoft.com/office/drawing/2014/main" id="{C9D29060-6B39-CE6E-CDED-37E8140F0495}"/>
              </a:ext>
            </a:extLst>
          </p:cNvPr>
          <p:cNvPicPr>
            <a:picLocks noChangeAspect="1"/>
          </p:cNvPicPr>
          <p:nvPr/>
        </p:nvPicPr>
        <p:blipFill>
          <a:blip r:embed="rId2"/>
          <a:stretch>
            <a:fillRect/>
          </a:stretch>
        </p:blipFill>
        <p:spPr>
          <a:xfrm>
            <a:off x="4990874" y="4834380"/>
            <a:ext cx="6629400" cy="1790700"/>
          </a:xfrm>
          <a:prstGeom prst="rect">
            <a:avLst/>
          </a:prstGeom>
        </p:spPr>
      </p:pic>
      <p:sp>
        <p:nvSpPr>
          <p:cNvPr id="3" name="TextBox 2">
            <a:extLst>
              <a:ext uri="{FF2B5EF4-FFF2-40B4-BE49-F238E27FC236}">
                <a16:creationId xmlns:a16="http://schemas.microsoft.com/office/drawing/2014/main" id="{9E282846-202E-A6DC-B24F-73BF4DCB132D}"/>
              </a:ext>
            </a:extLst>
          </p:cNvPr>
          <p:cNvSpPr txBox="1"/>
          <p:nvPr/>
        </p:nvSpPr>
        <p:spPr>
          <a:xfrm>
            <a:off x="10780713" y="6067062"/>
            <a:ext cx="683777" cy="369332"/>
          </a:xfrm>
          <a:prstGeom prst="rect">
            <a:avLst/>
          </a:prstGeom>
          <a:noFill/>
        </p:spPr>
        <p:txBody>
          <a:bodyPr wrap="none" rtlCol="0">
            <a:spAutoFit/>
          </a:bodyPr>
          <a:lstStyle/>
          <a:p>
            <a:r>
              <a:rPr lang="en-US" dirty="0">
                <a:solidFill>
                  <a:srgbClr val="FF0000"/>
                </a:solidFill>
              </a:rPr>
              <a:t>Loop</a:t>
            </a:r>
          </a:p>
        </p:txBody>
      </p:sp>
      <p:sp>
        <p:nvSpPr>
          <p:cNvPr id="5" name="Rectangle 4">
            <a:extLst>
              <a:ext uri="{FF2B5EF4-FFF2-40B4-BE49-F238E27FC236}">
                <a16:creationId xmlns:a16="http://schemas.microsoft.com/office/drawing/2014/main" id="{D5288DDF-9CD5-78D2-111A-C28B5BD43FF4}"/>
              </a:ext>
            </a:extLst>
          </p:cNvPr>
          <p:cNvSpPr/>
          <p:nvPr/>
        </p:nvSpPr>
        <p:spPr>
          <a:xfrm>
            <a:off x="5161644" y="6067062"/>
            <a:ext cx="5448299" cy="354818"/>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76746496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2B417362-4F22-7C60-697D-E3D1C9C87D3F}"/>
              </a:ext>
            </a:extLst>
          </p:cNvPr>
          <p:cNvSpPr/>
          <p:nvPr/>
        </p:nvSpPr>
        <p:spPr>
          <a:xfrm>
            <a:off x="612539" y="2618311"/>
            <a:ext cx="1030147" cy="27489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Prompt</a:t>
            </a:r>
          </a:p>
        </p:txBody>
      </p:sp>
      <p:sp>
        <p:nvSpPr>
          <p:cNvPr id="20" name="Rectangle 19">
            <a:extLst>
              <a:ext uri="{FF2B5EF4-FFF2-40B4-BE49-F238E27FC236}">
                <a16:creationId xmlns:a16="http://schemas.microsoft.com/office/drawing/2014/main" id="{788E28A1-2E3A-0B24-B6F6-FBA23274070F}"/>
              </a:ext>
            </a:extLst>
          </p:cNvPr>
          <p:cNvSpPr/>
          <p:nvPr/>
        </p:nvSpPr>
        <p:spPr>
          <a:xfrm>
            <a:off x="2672832" y="2993463"/>
            <a:ext cx="2285574" cy="274899"/>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Response + tool call</a:t>
            </a:r>
          </a:p>
        </p:txBody>
      </p:sp>
      <p:sp>
        <p:nvSpPr>
          <p:cNvPr id="24" name="Rectangle 23">
            <a:extLst>
              <a:ext uri="{FF2B5EF4-FFF2-40B4-BE49-F238E27FC236}">
                <a16:creationId xmlns:a16="http://schemas.microsoft.com/office/drawing/2014/main" id="{A2341AEF-5214-34F4-2737-6A87BD000071}"/>
              </a:ext>
            </a:extLst>
          </p:cNvPr>
          <p:cNvSpPr/>
          <p:nvPr/>
        </p:nvSpPr>
        <p:spPr>
          <a:xfrm>
            <a:off x="1642685" y="2993463"/>
            <a:ext cx="1030147" cy="278873"/>
          </a:xfrm>
          <a:prstGeom prst="rect">
            <a:avLst/>
          </a:prstGeom>
          <a:solidFill>
            <a:schemeClr val="bg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Self-call</a:t>
            </a:r>
          </a:p>
        </p:txBody>
      </p:sp>
      <p:sp>
        <p:nvSpPr>
          <p:cNvPr id="25" name="Rectangle 24">
            <a:extLst>
              <a:ext uri="{FF2B5EF4-FFF2-40B4-BE49-F238E27FC236}">
                <a16:creationId xmlns:a16="http://schemas.microsoft.com/office/drawing/2014/main" id="{7BBCD004-7377-CB34-5748-B6418EBD35AE}"/>
              </a:ext>
            </a:extLst>
          </p:cNvPr>
          <p:cNvSpPr/>
          <p:nvPr/>
        </p:nvSpPr>
        <p:spPr>
          <a:xfrm>
            <a:off x="5988551" y="3376563"/>
            <a:ext cx="1383969" cy="27489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Tool output</a:t>
            </a:r>
          </a:p>
        </p:txBody>
      </p:sp>
      <p:sp>
        <p:nvSpPr>
          <p:cNvPr id="26" name="Rectangle 25">
            <a:extLst>
              <a:ext uri="{FF2B5EF4-FFF2-40B4-BE49-F238E27FC236}">
                <a16:creationId xmlns:a16="http://schemas.microsoft.com/office/drawing/2014/main" id="{89C3587E-32EF-30C2-23C2-BCE90461F3CC}"/>
              </a:ext>
            </a:extLst>
          </p:cNvPr>
          <p:cNvSpPr/>
          <p:nvPr/>
        </p:nvSpPr>
        <p:spPr>
          <a:xfrm>
            <a:off x="612540" y="2998376"/>
            <a:ext cx="1030147" cy="27489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Prompt</a:t>
            </a:r>
          </a:p>
        </p:txBody>
      </p:sp>
      <p:sp>
        <p:nvSpPr>
          <p:cNvPr id="27" name="Rectangle 26">
            <a:extLst>
              <a:ext uri="{FF2B5EF4-FFF2-40B4-BE49-F238E27FC236}">
                <a16:creationId xmlns:a16="http://schemas.microsoft.com/office/drawing/2014/main" id="{29BFF62B-F751-5802-B6A6-F2C711C12671}"/>
              </a:ext>
            </a:extLst>
          </p:cNvPr>
          <p:cNvSpPr/>
          <p:nvPr/>
        </p:nvSpPr>
        <p:spPr>
          <a:xfrm>
            <a:off x="1642687" y="2618311"/>
            <a:ext cx="1030146" cy="274899"/>
          </a:xfrm>
          <a:prstGeom prst="rect">
            <a:avLst/>
          </a:prstGeom>
          <a:solidFill>
            <a:schemeClr val="bg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Self-call</a:t>
            </a:r>
          </a:p>
        </p:txBody>
      </p:sp>
      <p:sp>
        <p:nvSpPr>
          <p:cNvPr id="28" name="Rectangle 27">
            <a:extLst>
              <a:ext uri="{FF2B5EF4-FFF2-40B4-BE49-F238E27FC236}">
                <a16:creationId xmlns:a16="http://schemas.microsoft.com/office/drawing/2014/main" id="{AA7AF3F2-355E-4248-CFB3-768DF2E07247}"/>
              </a:ext>
            </a:extLst>
          </p:cNvPr>
          <p:cNvSpPr/>
          <p:nvPr/>
        </p:nvSpPr>
        <p:spPr>
          <a:xfrm>
            <a:off x="4958406" y="2989489"/>
            <a:ext cx="1030147" cy="274899"/>
          </a:xfrm>
          <a:prstGeom prst="rect">
            <a:avLst/>
          </a:prstGeom>
          <a:solidFill>
            <a:schemeClr val="bg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Self-call</a:t>
            </a:r>
          </a:p>
        </p:txBody>
      </p:sp>
      <p:sp>
        <p:nvSpPr>
          <p:cNvPr id="29" name="Rectangle 28">
            <a:extLst>
              <a:ext uri="{FF2B5EF4-FFF2-40B4-BE49-F238E27FC236}">
                <a16:creationId xmlns:a16="http://schemas.microsoft.com/office/drawing/2014/main" id="{2E39D41A-8F5F-1B21-CFC0-7D2CA5749D0A}"/>
              </a:ext>
            </a:extLst>
          </p:cNvPr>
          <p:cNvSpPr/>
          <p:nvPr/>
        </p:nvSpPr>
        <p:spPr>
          <a:xfrm>
            <a:off x="2672832" y="3376563"/>
            <a:ext cx="2285574" cy="274899"/>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Response + tool call</a:t>
            </a:r>
          </a:p>
        </p:txBody>
      </p:sp>
      <p:sp>
        <p:nvSpPr>
          <p:cNvPr id="30" name="Rectangle 29">
            <a:extLst>
              <a:ext uri="{FF2B5EF4-FFF2-40B4-BE49-F238E27FC236}">
                <a16:creationId xmlns:a16="http://schemas.microsoft.com/office/drawing/2014/main" id="{C6DA7DA3-B881-FD2C-AD5E-4A79364E89FA}"/>
              </a:ext>
            </a:extLst>
          </p:cNvPr>
          <p:cNvSpPr/>
          <p:nvPr/>
        </p:nvSpPr>
        <p:spPr>
          <a:xfrm>
            <a:off x="1642685" y="3376563"/>
            <a:ext cx="1030147" cy="278873"/>
          </a:xfrm>
          <a:prstGeom prst="rect">
            <a:avLst/>
          </a:prstGeom>
          <a:solidFill>
            <a:schemeClr val="bg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Self-call</a:t>
            </a:r>
          </a:p>
        </p:txBody>
      </p:sp>
      <p:sp>
        <p:nvSpPr>
          <p:cNvPr id="31" name="Rectangle 30">
            <a:extLst>
              <a:ext uri="{FF2B5EF4-FFF2-40B4-BE49-F238E27FC236}">
                <a16:creationId xmlns:a16="http://schemas.microsoft.com/office/drawing/2014/main" id="{E78843DC-7DAB-1FBB-25C4-54567BD759CF}"/>
              </a:ext>
            </a:extLst>
          </p:cNvPr>
          <p:cNvSpPr/>
          <p:nvPr/>
        </p:nvSpPr>
        <p:spPr>
          <a:xfrm>
            <a:off x="612540" y="3381476"/>
            <a:ext cx="1030147" cy="27489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Prompt</a:t>
            </a:r>
          </a:p>
        </p:txBody>
      </p:sp>
      <p:sp>
        <p:nvSpPr>
          <p:cNvPr id="32" name="Rectangle 31">
            <a:extLst>
              <a:ext uri="{FF2B5EF4-FFF2-40B4-BE49-F238E27FC236}">
                <a16:creationId xmlns:a16="http://schemas.microsoft.com/office/drawing/2014/main" id="{132F00CF-94C7-AB0A-870C-10038ABCA3CE}"/>
              </a:ext>
            </a:extLst>
          </p:cNvPr>
          <p:cNvSpPr/>
          <p:nvPr/>
        </p:nvSpPr>
        <p:spPr>
          <a:xfrm>
            <a:off x="4958406" y="3372589"/>
            <a:ext cx="1030147" cy="274899"/>
          </a:xfrm>
          <a:prstGeom prst="rect">
            <a:avLst/>
          </a:prstGeom>
          <a:solidFill>
            <a:schemeClr val="bg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Self-call</a:t>
            </a:r>
          </a:p>
        </p:txBody>
      </p:sp>
      <p:sp>
        <p:nvSpPr>
          <p:cNvPr id="33" name="TextBox 32">
            <a:extLst>
              <a:ext uri="{FF2B5EF4-FFF2-40B4-BE49-F238E27FC236}">
                <a16:creationId xmlns:a16="http://schemas.microsoft.com/office/drawing/2014/main" id="{67F9B3F6-FFF4-1756-A76E-7549B25FAE7C}"/>
              </a:ext>
            </a:extLst>
          </p:cNvPr>
          <p:cNvSpPr txBox="1"/>
          <p:nvPr/>
        </p:nvSpPr>
        <p:spPr>
          <a:xfrm>
            <a:off x="3624932" y="2062685"/>
            <a:ext cx="1405000" cy="369332"/>
          </a:xfrm>
          <a:prstGeom prst="rect">
            <a:avLst/>
          </a:prstGeom>
          <a:noFill/>
        </p:spPr>
        <p:txBody>
          <a:bodyPr wrap="none" rtlCol="0">
            <a:spAutoFit/>
          </a:bodyPr>
          <a:lstStyle/>
          <a:p>
            <a:r>
              <a:rPr lang="en-US" b="1" dirty="0"/>
              <a:t>LLM written</a:t>
            </a:r>
          </a:p>
        </p:txBody>
      </p:sp>
      <p:sp>
        <p:nvSpPr>
          <p:cNvPr id="34" name="TextBox 33">
            <a:extLst>
              <a:ext uri="{FF2B5EF4-FFF2-40B4-BE49-F238E27FC236}">
                <a16:creationId xmlns:a16="http://schemas.microsoft.com/office/drawing/2014/main" id="{C28B9691-B498-9654-4A48-CED6273B4782}"/>
              </a:ext>
            </a:extLst>
          </p:cNvPr>
          <p:cNvSpPr txBox="1"/>
          <p:nvPr/>
        </p:nvSpPr>
        <p:spPr>
          <a:xfrm>
            <a:off x="816878" y="2061857"/>
            <a:ext cx="1778500" cy="369332"/>
          </a:xfrm>
          <a:prstGeom prst="rect">
            <a:avLst/>
          </a:prstGeom>
          <a:noFill/>
        </p:spPr>
        <p:txBody>
          <a:bodyPr wrap="none" rtlCol="0">
            <a:spAutoFit/>
          </a:bodyPr>
          <a:lstStyle/>
          <a:p>
            <a:r>
              <a:rPr lang="en-US" b="1" dirty="0"/>
              <a:t>Human-written</a:t>
            </a:r>
          </a:p>
        </p:txBody>
      </p:sp>
      <p:sp>
        <p:nvSpPr>
          <p:cNvPr id="35" name="TextBox 34">
            <a:extLst>
              <a:ext uri="{FF2B5EF4-FFF2-40B4-BE49-F238E27FC236}">
                <a16:creationId xmlns:a16="http://schemas.microsoft.com/office/drawing/2014/main" id="{ED445BD3-3745-B8B9-6D1E-8D4EB13767E6}"/>
              </a:ext>
            </a:extLst>
          </p:cNvPr>
          <p:cNvSpPr txBox="1"/>
          <p:nvPr/>
        </p:nvSpPr>
        <p:spPr>
          <a:xfrm>
            <a:off x="6066597" y="1923357"/>
            <a:ext cx="1262333" cy="646331"/>
          </a:xfrm>
          <a:prstGeom prst="rect">
            <a:avLst/>
          </a:prstGeom>
          <a:noFill/>
        </p:spPr>
        <p:txBody>
          <a:bodyPr wrap="none" rtlCol="0">
            <a:spAutoFit/>
          </a:bodyPr>
          <a:lstStyle/>
          <a:p>
            <a:r>
              <a:rPr lang="en-US" b="1" dirty="0"/>
              <a:t>Harness-</a:t>
            </a:r>
          </a:p>
          <a:p>
            <a:r>
              <a:rPr lang="en-US" b="1" dirty="0"/>
              <a:t>computed</a:t>
            </a:r>
          </a:p>
        </p:txBody>
      </p:sp>
      <p:sp>
        <p:nvSpPr>
          <p:cNvPr id="41" name="Rectangle 40">
            <a:extLst>
              <a:ext uri="{FF2B5EF4-FFF2-40B4-BE49-F238E27FC236}">
                <a16:creationId xmlns:a16="http://schemas.microsoft.com/office/drawing/2014/main" id="{44EE5C8C-7F3E-8C00-CEB5-606281ACAB0A}"/>
              </a:ext>
            </a:extLst>
          </p:cNvPr>
          <p:cNvSpPr/>
          <p:nvPr/>
        </p:nvSpPr>
        <p:spPr>
          <a:xfrm>
            <a:off x="7372518" y="3372589"/>
            <a:ext cx="2285574" cy="274899"/>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Response + tool call</a:t>
            </a:r>
          </a:p>
        </p:txBody>
      </p:sp>
      <p:sp>
        <p:nvSpPr>
          <p:cNvPr id="42" name="Rectangle 41">
            <a:extLst>
              <a:ext uri="{FF2B5EF4-FFF2-40B4-BE49-F238E27FC236}">
                <a16:creationId xmlns:a16="http://schemas.microsoft.com/office/drawing/2014/main" id="{FE8B7171-9879-23A1-9A93-DAA87DFEF732}"/>
              </a:ext>
            </a:extLst>
          </p:cNvPr>
          <p:cNvSpPr/>
          <p:nvPr/>
        </p:nvSpPr>
        <p:spPr>
          <a:xfrm>
            <a:off x="9658092" y="3368615"/>
            <a:ext cx="1030147" cy="274899"/>
          </a:xfrm>
          <a:prstGeom prst="rect">
            <a:avLst/>
          </a:prstGeom>
          <a:solidFill>
            <a:schemeClr val="bg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Self-call</a:t>
            </a:r>
          </a:p>
        </p:txBody>
      </p:sp>
      <p:sp>
        <p:nvSpPr>
          <p:cNvPr id="43" name="TextBox 42">
            <a:extLst>
              <a:ext uri="{FF2B5EF4-FFF2-40B4-BE49-F238E27FC236}">
                <a16:creationId xmlns:a16="http://schemas.microsoft.com/office/drawing/2014/main" id="{E0BCC944-B67E-57F7-427C-6538B2156EBE}"/>
              </a:ext>
            </a:extLst>
          </p:cNvPr>
          <p:cNvSpPr txBox="1"/>
          <p:nvPr/>
        </p:nvSpPr>
        <p:spPr>
          <a:xfrm>
            <a:off x="8398816" y="2061857"/>
            <a:ext cx="1405000" cy="369332"/>
          </a:xfrm>
          <a:prstGeom prst="rect">
            <a:avLst/>
          </a:prstGeom>
          <a:noFill/>
        </p:spPr>
        <p:txBody>
          <a:bodyPr wrap="none" rtlCol="0">
            <a:spAutoFit/>
          </a:bodyPr>
          <a:lstStyle/>
          <a:p>
            <a:r>
              <a:rPr lang="en-US" b="1" dirty="0"/>
              <a:t>LLM written</a:t>
            </a:r>
          </a:p>
        </p:txBody>
      </p:sp>
      <p:cxnSp>
        <p:nvCxnSpPr>
          <p:cNvPr id="45" name="Straight Connector 44">
            <a:extLst>
              <a:ext uri="{FF2B5EF4-FFF2-40B4-BE49-F238E27FC236}">
                <a16:creationId xmlns:a16="http://schemas.microsoft.com/office/drawing/2014/main" id="{D19D3D5F-D322-D8CB-A204-B9D65EAAE4E8}"/>
              </a:ext>
            </a:extLst>
          </p:cNvPr>
          <p:cNvCxnSpPr/>
          <p:nvPr/>
        </p:nvCxnSpPr>
        <p:spPr>
          <a:xfrm>
            <a:off x="2672832" y="1836921"/>
            <a:ext cx="0" cy="3338285"/>
          </a:xfrm>
          <a:prstGeom prst="line">
            <a:avLst/>
          </a:prstGeom>
        </p:spPr>
        <p:style>
          <a:lnRef idx="2">
            <a:schemeClr val="accent1"/>
          </a:lnRef>
          <a:fillRef idx="0">
            <a:schemeClr val="accent1"/>
          </a:fillRef>
          <a:effectRef idx="1">
            <a:schemeClr val="accent1"/>
          </a:effectRef>
          <a:fontRef idx="minor">
            <a:schemeClr val="tx1"/>
          </a:fontRef>
        </p:style>
      </p:cxnSp>
      <p:cxnSp>
        <p:nvCxnSpPr>
          <p:cNvPr id="46" name="Straight Connector 45">
            <a:extLst>
              <a:ext uri="{FF2B5EF4-FFF2-40B4-BE49-F238E27FC236}">
                <a16:creationId xmlns:a16="http://schemas.microsoft.com/office/drawing/2014/main" id="{A78C4E37-3E6D-D915-F312-F678232ED0BB}"/>
              </a:ext>
            </a:extLst>
          </p:cNvPr>
          <p:cNvCxnSpPr/>
          <p:nvPr/>
        </p:nvCxnSpPr>
        <p:spPr>
          <a:xfrm>
            <a:off x="5988551" y="1844869"/>
            <a:ext cx="0" cy="3338285"/>
          </a:xfrm>
          <a:prstGeom prst="line">
            <a:avLst/>
          </a:prstGeom>
        </p:spPr>
        <p:style>
          <a:lnRef idx="2">
            <a:schemeClr val="accent1"/>
          </a:lnRef>
          <a:fillRef idx="0">
            <a:schemeClr val="accent1"/>
          </a:fillRef>
          <a:effectRef idx="1">
            <a:schemeClr val="accent1"/>
          </a:effectRef>
          <a:fontRef idx="minor">
            <a:schemeClr val="tx1"/>
          </a:fontRef>
        </p:style>
      </p:cxnSp>
      <p:cxnSp>
        <p:nvCxnSpPr>
          <p:cNvPr id="47" name="Straight Connector 46">
            <a:extLst>
              <a:ext uri="{FF2B5EF4-FFF2-40B4-BE49-F238E27FC236}">
                <a16:creationId xmlns:a16="http://schemas.microsoft.com/office/drawing/2014/main" id="{0598C051-E030-0100-6F5A-750FBC2985FF}"/>
              </a:ext>
            </a:extLst>
          </p:cNvPr>
          <p:cNvCxnSpPr/>
          <p:nvPr/>
        </p:nvCxnSpPr>
        <p:spPr>
          <a:xfrm>
            <a:off x="7372518" y="1836920"/>
            <a:ext cx="0" cy="3338285"/>
          </a:xfrm>
          <a:prstGeom prst="line">
            <a:avLst/>
          </a:prstGeom>
        </p:spPr>
        <p:style>
          <a:lnRef idx="2">
            <a:schemeClr val="accent1"/>
          </a:lnRef>
          <a:fillRef idx="0">
            <a:schemeClr val="accent1"/>
          </a:fillRef>
          <a:effectRef idx="1">
            <a:schemeClr val="accent1"/>
          </a:effectRef>
          <a:fontRef idx="minor">
            <a:schemeClr val="tx1"/>
          </a:fontRef>
        </p:style>
      </p:cxnSp>
      <p:cxnSp>
        <p:nvCxnSpPr>
          <p:cNvPr id="48" name="Straight Connector 47">
            <a:extLst>
              <a:ext uri="{FF2B5EF4-FFF2-40B4-BE49-F238E27FC236}">
                <a16:creationId xmlns:a16="http://schemas.microsoft.com/office/drawing/2014/main" id="{63F5F472-6D2F-DCE6-2207-AA5D1802C567}"/>
              </a:ext>
            </a:extLst>
          </p:cNvPr>
          <p:cNvCxnSpPr/>
          <p:nvPr/>
        </p:nvCxnSpPr>
        <p:spPr>
          <a:xfrm>
            <a:off x="10694757" y="1759857"/>
            <a:ext cx="0" cy="3338285"/>
          </a:xfrm>
          <a:prstGeom prst="line">
            <a:avLst/>
          </a:prstGeom>
        </p:spPr>
        <p:style>
          <a:lnRef idx="2">
            <a:schemeClr val="accent1"/>
          </a:lnRef>
          <a:fillRef idx="0">
            <a:schemeClr val="accent1"/>
          </a:fillRef>
          <a:effectRef idx="1">
            <a:schemeClr val="accent1"/>
          </a:effectRef>
          <a:fontRef idx="minor">
            <a:schemeClr val="tx1"/>
          </a:fontRef>
        </p:style>
      </p:cxnSp>
      <p:sp>
        <p:nvSpPr>
          <p:cNvPr id="49" name="Rectangle 48">
            <a:extLst>
              <a:ext uri="{FF2B5EF4-FFF2-40B4-BE49-F238E27FC236}">
                <a16:creationId xmlns:a16="http://schemas.microsoft.com/office/drawing/2014/main" id="{92B9D502-41CB-A559-6175-44337506C63A}"/>
              </a:ext>
            </a:extLst>
          </p:cNvPr>
          <p:cNvSpPr/>
          <p:nvPr/>
        </p:nvSpPr>
        <p:spPr>
          <a:xfrm>
            <a:off x="5988550" y="3821570"/>
            <a:ext cx="1383969" cy="27489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Tool output</a:t>
            </a:r>
          </a:p>
        </p:txBody>
      </p:sp>
      <p:sp>
        <p:nvSpPr>
          <p:cNvPr id="50" name="Rectangle 49">
            <a:extLst>
              <a:ext uri="{FF2B5EF4-FFF2-40B4-BE49-F238E27FC236}">
                <a16:creationId xmlns:a16="http://schemas.microsoft.com/office/drawing/2014/main" id="{C10A344E-245C-B103-FB03-D1C2411B741C}"/>
              </a:ext>
            </a:extLst>
          </p:cNvPr>
          <p:cNvSpPr/>
          <p:nvPr/>
        </p:nvSpPr>
        <p:spPr>
          <a:xfrm>
            <a:off x="2672831" y="3821570"/>
            <a:ext cx="2285574" cy="274899"/>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Response + tool call</a:t>
            </a:r>
          </a:p>
        </p:txBody>
      </p:sp>
      <p:sp>
        <p:nvSpPr>
          <p:cNvPr id="51" name="Rectangle 50">
            <a:extLst>
              <a:ext uri="{FF2B5EF4-FFF2-40B4-BE49-F238E27FC236}">
                <a16:creationId xmlns:a16="http://schemas.microsoft.com/office/drawing/2014/main" id="{DFDD476C-652E-BE6F-D3AE-0C2A5D31897E}"/>
              </a:ext>
            </a:extLst>
          </p:cNvPr>
          <p:cNvSpPr/>
          <p:nvPr/>
        </p:nvSpPr>
        <p:spPr>
          <a:xfrm>
            <a:off x="1642684" y="3821570"/>
            <a:ext cx="1030147" cy="278873"/>
          </a:xfrm>
          <a:prstGeom prst="rect">
            <a:avLst/>
          </a:prstGeom>
          <a:solidFill>
            <a:schemeClr val="bg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Self-call</a:t>
            </a:r>
          </a:p>
        </p:txBody>
      </p:sp>
      <p:sp>
        <p:nvSpPr>
          <p:cNvPr id="52" name="Rectangle 51">
            <a:extLst>
              <a:ext uri="{FF2B5EF4-FFF2-40B4-BE49-F238E27FC236}">
                <a16:creationId xmlns:a16="http://schemas.microsoft.com/office/drawing/2014/main" id="{2A6D8231-3048-11D1-6E24-F5A51E1F3A5D}"/>
              </a:ext>
            </a:extLst>
          </p:cNvPr>
          <p:cNvSpPr/>
          <p:nvPr/>
        </p:nvSpPr>
        <p:spPr>
          <a:xfrm>
            <a:off x="612539" y="3826483"/>
            <a:ext cx="1030147" cy="27489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Prompt</a:t>
            </a:r>
          </a:p>
        </p:txBody>
      </p:sp>
      <p:sp>
        <p:nvSpPr>
          <p:cNvPr id="53" name="Rectangle 52">
            <a:extLst>
              <a:ext uri="{FF2B5EF4-FFF2-40B4-BE49-F238E27FC236}">
                <a16:creationId xmlns:a16="http://schemas.microsoft.com/office/drawing/2014/main" id="{A0AF3A0E-6780-B250-CE0D-589710A40A97}"/>
              </a:ext>
            </a:extLst>
          </p:cNvPr>
          <p:cNvSpPr/>
          <p:nvPr/>
        </p:nvSpPr>
        <p:spPr>
          <a:xfrm>
            <a:off x="4958405" y="3817596"/>
            <a:ext cx="1030147" cy="274899"/>
          </a:xfrm>
          <a:prstGeom prst="rect">
            <a:avLst/>
          </a:prstGeom>
          <a:solidFill>
            <a:schemeClr val="bg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Self-call</a:t>
            </a:r>
          </a:p>
        </p:txBody>
      </p:sp>
      <p:sp>
        <p:nvSpPr>
          <p:cNvPr id="54" name="Rectangle 53">
            <a:extLst>
              <a:ext uri="{FF2B5EF4-FFF2-40B4-BE49-F238E27FC236}">
                <a16:creationId xmlns:a16="http://schemas.microsoft.com/office/drawing/2014/main" id="{DB4041A9-012C-26E3-FBE6-7C00E43DC8B7}"/>
              </a:ext>
            </a:extLst>
          </p:cNvPr>
          <p:cNvSpPr/>
          <p:nvPr/>
        </p:nvSpPr>
        <p:spPr>
          <a:xfrm>
            <a:off x="7372517" y="3817596"/>
            <a:ext cx="2285574" cy="274899"/>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Response + tool call</a:t>
            </a:r>
          </a:p>
        </p:txBody>
      </p:sp>
      <p:sp>
        <p:nvSpPr>
          <p:cNvPr id="55" name="Rectangle 54">
            <a:extLst>
              <a:ext uri="{FF2B5EF4-FFF2-40B4-BE49-F238E27FC236}">
                <a16:creationId xmlns:a16="http://schemas.microsoft.com/office/drawing/2014/main" id="{90F00B6F-2150-A953-686F-17D443576B6B}"/>
              </a:ext>
            </a:extLst>
          </p:cNvPr>
          <p:cNvSpPr/>
          <p:nvPr/>
        </p:nvSpPr>
        <p:spPr>
          <a:xfrm>
            <a:off x="9658091" y="3813622"/>
            <a:ext cx="1030147" cy="274899"/>
          </a:xfrm>
          <a:prstGeom prst="rect">
            <a:avLst/>
          </a:prstGeom>
          <a:solidFill>
            <a:schemeClr val="bg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Self-call</a:t>
            </a:r>
          </a:p>
        </p:txBody>
      </p:sp>
      <p:sp>
        <p:nvSpPr>
          <p:cNvPr id="56" name="Rectangle 55">
            <a:extLst>
              <a:ext uri="{FF2B5EF4-FFF2-40B4-BE49-F238E27FC236}">
                <a16:creationId xmlns:a16="http://schemas.microsoft.com/office/drawing/2014/main" id="{990FB89C-51A7-89D0-62B3-AFCA664E3A59}"/>
              </a:ext>
            </a:extLst>
          </p:cNvPr>
          <p:cNvSpPr/>
          <p:nvPr/>
        </p:nvSpPr>
        <p:spPr>
          <a:xfrm>
            <a:off x="10701276" y="3813622"/>
            <a:ext cx="1383969" cy="27489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Tool output</a:t>
            </a:r>
          </a:p>
        </p:txBody>
      </p:sp>
      <p:sp>
        <p:nvSpPr>
          <p:cNvPr id="57" name="Rectangle 56">
            <a:extLst>
              <a:ext uri="{FF2B5EF4-FFF2-40B4-BE49-F238E27FC236}">
                <a16:creationId xmlns:a16="http://schemas.microsoft.com/office/drawing/2014/main" id="{6F5B8A61-DC94-D7EB-1922-4A38C9CB0F97}"/>
              </a:ext>
            </a:extLst>
          </p:cNvPr>
          <p:cNvSpPr/>
          <p:nvPr/>
        </p:nvSpPr>
        <p:spPr>
          <a:xfrm>
            <a:off x="12085243" y="3809648"/>
            <a:ext cx="2285574" cy="274899"/>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Response + tool call</a:t>
            </a:r>
          </a:p>
        </p:txBody>
      </p:sp>
      <p:sp>
        <p:nvSpPr>
          <p:cNvPr id="58" name="TextBox 57">
            <a:extLst>
              <a:ext uri="{FF2B5EF4-FFF2-40B4-BE49-F238E27FC236}">
                <a16:creationId xmlns:a16="http://schemas.microsoft.com/office/drawing/2014/main" id="{7B543A24-4CC8-D69B-4B05-52F47A8698D9}"/>
              </a:ext>
            </a:extLst>
          </p:cNvPr>
          <p:cNvSpPr txBox="1"/>
          <p:nvPr/>
        </p:nvSpPr>
        <p:spPr>
          <a:xfrm>
            <a:off x="10822910" y="1923357"/>
            <a:ext cx="1262333" cy="646331"/>
          </a:xfrm>
          <a:prstGeom prst="rect">
            <a:avLst/>
          </a:prstGeom>
          <a:noFill/>
        </p:spPr>
        <p:txBody>
          <a:bodyPr wrap="none" rtlCol="0">
            <a:spAutoFit/>
          </a:bodyPr>
          <a:lstStyle/>
          <a:p>
            <a:r>
              <a:rPr lang="en-US" b="1" dirty="0"/>
              <a:t>Harness-</a:t>
            </a:r>
          </a:p>
          <a:p>
            <a:r>
              <a:rPr lang="en-US" b="1" dirty="0"/>
              <a:t>computed</a:t>
            </a:r>
          </a:p>
        </p:txBody>
      </p:sp>
      <p:cxnSp>
        <p:nvCxnSpPr>
          <p:cNvPr id="59" name="Straight Connector 58">
            <a:extLst>
              <a:ext uri="{FF2B5EF4-FFF2-40B4-BE49-F238E27FC236}">
                <a16:creationId xmlns:a16="http://schemas.microsoft.com/office/drawing/2014/main" id="{47B64F54-F234-1F5C-49A8-62EBA2366663}"/>
              </a:ext>
            </a:extLst>
          </p:cNvPr>
          <p:cNvCxnSpPr/>
          <p:nvPr/>
        </p:nvCxnSpPr>
        <p:spPr>
          <a:xfrm>
            <a:off x="12085243" y="1836919"/>
            <a:ext cx="0" cy="3338285"/>
          </a:xfrm>
          <a:prstGeom prst="line">
            <a:avLst/>
          </a:prstGeom>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01485236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87E328C7-DC6B-C565-6020-3A7532ED9FD3}"/>
            </a:ext>
          </a:extLst>
        </p:cNvPr>
        <p:cNvGrpSpPr/>
        <p:nvPr/>
      </p:nvGrpSpPr>
      <p:grpSpPr>
        <a:xfrm>
          <a:off x="0" y="0"/>
          <a:ext cx="0" cy="0"/>
          <a:chOff x="0" y="0"/>
          <a:chExt cx="0" cy="0"/>
        </a:xfrm>
      </p:grpSpPr>
      <p:sp>
        <p:nvSpPr>
          <p:cNvPr id="7" name="Rectangle 6">
            <a:extLst>
              <a:ext uri="{FF2B5EF4-FFF2-40B4-BE49-F238E27FC236}">
                <a16:creationId xmlns:a16="http://schemas.microsoft.com/office/drawing/2014/main" id="{89969042-9D80-18B9-DDEE-CA6CAF8EE33F}"/>
              </a:ext>
            </a:extLst>
          </p:cNvPr>
          <p:cNvSpPr/>
          <p:nvPr/>
        </p:nvSpPr>
        <p:spPr>
          <a:xfrm>
            <a:off x="612539" y="2618311"/>
            <a:ext cx="1030147" cy="27489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Prompt</a:t>
            </a:r>
          </a:p>
        </p:txBody>
      </p:sp>
      <p:sp>
        <p:nvSpPr>
          <p:cNvPr id="20" name="Rectangle 19">
            <a:extLst>
              <a:ext uri="{FF2B5EF4-FFF2-40B4-BE49-F238E27FC236}">
                <a16:creationId xmlns:a16="http://schemas.microsoft.com/office/drawing/2014/main" id="{760C2B92-A7A0-BDCA-1A45-EFD15C9FC067}"/>
              </a:ext>
            </a:extLst>
          </p:cNvPr>
          <p:cNvSpPr/>
          <p:nvPr/>
        </p:nvSpPr>
        <p:spPr>
          <a:xfrm>
            <a:off x="2672832" y="2993463"/>
            <a:ext cx="2285574" cy="274899"/>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Response + tool call</a:t>
            </a:r>
          </a:p>
        </p:txBody>
      </p:sp>
      <p:sp>
        <p:nvSpPr>
          <p:cNvPr id="24" name="Rectangle 23">
            <a:extLst>
              <a:ext uri="{FF2B5EF4-FFF2-40B4-BE49-F238E27FC236}">
                <a16:creationId xmlns:a16="http://schemas.microsoft.com/office/drawing/2014/main" id="{B608C2E0-0C0B-201A-36E0-879EBEC6F8CD}"/>
              </a:ext>
            </a:extLst>
          </p:cNvPr>
          <p:cNvSpPr/>
          <p:nvPr/>
        </p:nvSpPr>
        <p:spPr>
          <a:xfrm>
            <a:off x="1642685" y="2993463"/>
            <a:ext cx="1030147" cy="278873"/>
          </a:xfrm>
          <a:prstGeom prst="rect">
            <a:avLst/>
          </a:prstGeom>
          <a:solidFill>
            <a:schemeClr val="bg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Self-call</a:t>
            </a:r>
          </a:p>
        </p:txBody>
      </p:sp>
      <p:sp>
        <p:nvSpPr>
          <p:cNvPr id="25" name="Rectangle 24">
            <a:extLst>
              <a:ext uri="{FF2B5EF4-FFF2-40B4-BE49-F238E27FC236}">
                <a16:creationId xmlns:a16="http://schemas.microsoft.com/office/drawing/2014/main" id="{B9377E09-BB11-0F8D-7DBA-FAC2680F5A75}"/>
              </a:ext>
            </a:extLst>
          </p:cNvPr>
          <p:cNvSpPr/>
          <p:nvPr/>
        </p:nvSpPr>
        <p:spPr>
          <a:xfrm>
            <a:off x="5988551" y="3376563"/>
            <a:ext cx="1383969" cy="27489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Tool output</a:t>
            </a:r>
          </a:p>
        </p:txBody>
      </p:sp>
      <p:sp>
        <p:nvSpPr>
          <p:cNvPr id="26" name="Rectangle 25">
            <a:extLst>
              <a:ext uri="{FF2B5EF4-FFF2-40B4-BE49-F238E27FC236}">
                <a16:creationId xmlns:a16="http://schemas.microsoft.com/office/drawing/2014/main" id="{87D2B68F-3F46-DB53-85C5-02A5492B9814}"/>
              </a:ext>
            </a:extLst>
          </p:cNvPr>
          <p:cNvSpPr/>
          <p:nvPr/>
        </p:nvSpPr>
        <p:spPr>
          <a:xfrm>
            <a:off x="612540" y="2998376"/>
            <a:ext cx="1030147" cy="27489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Prompt</a:t>
            </a:r>
          </a:p>
        </p:txBody>
      </p:sp>
      <p:sp>
        <p:nvSpPr>
          <p:cNvPr id="27" name="Rectangle 26">
            <a:extLst>
              <a:ext uri="{FF2B5EF4-FFF2-40B4-BE49-F238E27FC236}">
                <a16:creationId xmlns:a16="http://schemas.microsoft.com/office/drawing/2014/main" id="{3C794559-6587-F920-A1C3-4D68FB00A6C6}"/>
              </a:ext>
            </a:extLst>
          </p:cNvPr>
          <p:cNvSpPr/>
          <p:nvPr/>
        </p:nvSpPr>
        <p:spPr>
          <a:xfrm>
            <a:off x="1642687" y="2618311"/>
            <a:ext cx="1030146" cy="274899"/>
          </a:xfrm>
          <a:prstGeom prst="rect">
            <a:avLst/>
          </a:prstGeom>
          <a:solidFill>
            <a:schemeClr val="bg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Self-call</a:t>
            </a:r>
          </a:p>
        </p:txBody>
      </p:sp>
      <p:sp>
        <p:nvSpPr>
          <p:cNvPr id="28" name="Rectangle 27">
            <a:extLst>
              <a:ext uri="{FF2B5EF4-FFF2-40B4-BE49-F238E27FC236}">
                <a16:creationId xmlns:a16="http://schemas.microsoft.com/office/drawing/2014/main" id="{D2A8E807-C95A-47AF-D2FA-DEBB5CCF2E3C}"/>
              </a:ext>
            </a:extLst>
          </p:cNvPr>
          <p:cNvSpPr/>
          <p:nvPr/>
        </p:nvSpPr>
        <p:spPr>
          <a:xfrm>
            <a:off x="4958406" y="2989489"/>
            <a:ext cx="1030147" cy="274899"/>
          </a:xfrm>
          <a:prstGeom prst="rect">
            <a:avLst/>
          </a:prstGeom>
          <a:solidFill>
            <a:schemeClr val="bg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Self-call</a:t>
            </a:r>
          </a:p>
        </p:txBody>
      </p:sp>
      <p:sp>
        <p:nvSpPr>
          <p:cNvPr id="29" name="Rectangle 28">
            <a:extLst>
              <a:ext uri="{FF2B5EF4-FFF2-40B4-BE49-F238E27FC236}">
                <a16:creationId xmlns:a16="http://schemas.microsoft.com/office/drawing/2014/main" id="{81D46027-5992-FB5E-2818-DF9BA1C0A7DD}"/>
              </a:ext>
            </a:extLst>
          </p:cNvPr>
          <p:cNvSpPr/>
          <p:nvPr/>
        </p:nvSpPr>
        <p:spPr>
          <a:xfrm>
            <a:off x="2672832" y="3376563"/>
            <a:ext cx="2285574" cy="274899"/>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Response + tool call</a:t>
            </a:r>
          </a:p>
        </p:txBody>
      </p:sp>
      <p:sp>
        <p:nvSpPr>
          <p:cNvPr id="30" name="Rectangle 29">
            <a:extLst>
              <a:ext uri="{FF2B5EF4-FFF2-40B4-BE49-F238E27FC236}">
                <a16:creationId xmlns:a16="http://schemas.microsoft.com/office/drawing/2014/main" id="{62402123-3C3E-1979-A82A-44749A75C54C}"/>
              </a:ext>
            </a:extLst>
          </p:cNvPr>
          <p:cNvSpPr/>
          <p:nvPr/>
        </p:nvSpPr>
        <p:spPr>
          <a:xfrm>
            <a:off x="1642685" y="3376563"/>
            <a:ext cx="1030147" cy="278873"/>
          </a:xfrm>
          <a:prstGeom prst="rect">
            <a:avLst/>
          </a:prstGeom>
          <a:solidFill>
            <a:schemeClr val="bg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Self-call</a:t>
            </a:r>
          </a:p>
        </p:txBody>
      </p:sp>
      <p:sp>
        <p:nvSpPr>
          <p:cNvPr id="31" name="Rectangle 30">
            <a:extLst>
              <a:ext uri="{FF2B5EF4-FFF2-40B4-BE49-F238E27FC236}">
                <a16:creationId xmlns:a16="http://schemas.microsoft.com/office/drawing/2014/main" id="{8A6E8F35-BE7E-AF7A-4C09-4691C9923FB2}"/>
              </a:ext>
            </a:extLst>
          </p:cNvPr>
          <p:cNvSpPr/>
          <p:nvPr/>
        </p:nvSpPr>
        <p:spPr>
          <a:xfrm>
            <a:off x="612540" y="3381476"/>
            <a:ext cx="1030147" cy="27489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Prompt</a:t>
            </a:r>
          </a:p>
        </p:txBody>
      </p:sp>
      <p:sp>
        <p:nvSpPr>
          <p:cNvPr id="32" name="Rectangle 31">
            <a:extLst>
              <a:ext uri="{FF2B5EF4-FFF2-40B4-BE49-F238E27FC236}">
                <a16:creationId xmlns:a16="http://schemas.microsoft.com/office/drawing/2014/main" id="{ECD409C0-DB2F-2F84-0DD8-A3ABBC074040}"/>
              </a:ext>
            </a:extLst>
          </p:cNvPr>
          <p:cNvSpPr/>
          <p:nvPr/>
        </p:nvSpPr>
        <p:spPr>
          <a:xfrm>
            <a:off x="4958406" y="3372589"/>
            <a:ext cx="1030147" cy="274899"/>
          </a:xfrm>
          <a:prstGeom prst="rect">
            <a:avLst/>
          </a:prstGeom>
          <a:solidFill>
            <a:schemeClr val="bg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Self-call</a:t>
            </a:r>
          </a:p>
        </p:txBody>
      </p:sp>
      <p:sp>
        <p:nvSpPr>
          <p:cNvPr id="33" name="TextBox 32">
            <a:extLst>
              <a:ext uri="{FF2B5EF4-FFF2-40B4-BE49-F238E27FC236}">
                <a16:creationId xmlns:a16="http://schemas.microsoft.com/office/drawing/2014/main" id="{90CA7276-1D16-1ABD-6AA2-78D26E2D08D6}"/>
              </a:ext>
            </a:extLst>
          </p:cNvPr>
          <p:cNvSpPr txBox="1"/>
          <p:nvPr/>
        </p:nvSpPr>
        <p:spPr>
          <a:xfrm>
            <a:off x="3624932" y="2062685"/>
            <a:ext cx="1405000" cy="369332"/>
          </a:xfrm>
          <a:prstGeom prst="rect">
            <a:avLst/>
          </a:prstGeom>
          <a:noFill/>
        </p:spPr>
        <p:txBody>
          <a:bodyPr wrap="none" rtlCol="0">
            <a:spAutoFit/>
          </a:bodyPr>
          <a:lstStyle/>
          <a:p>
            <a:r>
              <a:rPr lang="en-US" b="1" dirty="0"/>
              <a:t>LLM written</a:t>
            </a:r>
          </a:p>
        </p:txBody>
      </p:sp>
      <p:sp>
        <p:nvSpPr>
          <p:cNvPr id="34" name="TextBox 33">
            <a:extLst>
              <a:ext uri="{FF2B5EF4-FFF2-40B4-BE49-F238E27FC236}">
                <a16:creationId xmlns:a16="http://schemas.microsoft.com/office/drawing/2014/main" id="{5D822257-5A16-3DDA-4102-2DCB913AA40F}"/>
              </a:ext>
            </a:extLst>
          </p:cNvPr>
          <p:cNvSpPr txBox="1"/>
          <p:nvPr/>
        </p:nvSpPr>
        <p:spPr>
          <a:xfrm>
            <a:off x="816878" y="2061857"/>
            <a:ext cx="1778500" cy="369332"/>
          </a:xfrm>
          <a:prstGeom prst="rect">
            <a:avLst/>
          </a:prstGeom>
          <a:noFill/>
        </p:spPr>
        <p:txBody>
          <a:bodyPr wrap="none" rtlCol="0">
            <a:spAutoFit/>
          </a:bodyPr>
          <a:lstStyle/>
          <a:p>
            <a:r>
              <a:rPr lang="en-US" b="1" dirty="0"/>
              <a:t>Human-written</a:t>
            </a:r>
          </a:p>
        </p:txBody>
      </p:sp>
      <p:sp>
        <p:nvSpPr>
          <p:cNvPr id="35" name="TextBox 34">
            <a:extLst>
              <a:ext uri="{FF2B5EF4-FFF2-40B4-BE49-F238E27FC236}">
                <a16:creationId xmlns:a16="http://schemas.microsoft.com/office/drawing/2014/main" id="{5C777527-3EB9-A3FF-A352-BABCFE88724F}"/>
              </a:ext>
            </a:extLst>
          </p:cNvPr>
          <p:cNvSpPr txBox="1"/>
          <p:nvPr/>
        </p:nvSpPr>
        <p:spPr>
          <a:xfrm>
            <a:off x="6066597" y="1923357"/>
            <a:ext cx="1262333" cy="646331"/>
          </a:xfrm>
          <a:prstGeom prst="rect">
            <a:avLst/>
          </a:prstGeom>
          <a:noFill/>
        </p:spPr>
        <p:txBody>
          <a:bodyPr wrap="none" rtlCol="0">
            <a:spAutoFit/>
          </a:bodyPr>
          <a:lstStyle/>
          <a:p>
            <a:r>
              <a:rPr lang="en-US" b="1" dirty="0"/>
              <a:t>Harness-</a:t>
            </a:r>
          </a:p>
          <a:p>
            <a:r>
              <a:rPr lang="en-US" b="1" dirty="0"/>
              <a:t>computed</a:t>
            </a:r>
          </a:p>
        </p:txBody>
      </p:sp>
      <p:sp>
        <p:nvSpPr>
          <p:cNvPr id="41" name="Rectangle 40">
            <a:extLst>
              <a:ext uri="{FF2B5EF4-FFF2-40B4-BE49-F238E27FC236}">
                <a16:creationId xmlns:a16="http://schemas.microsoft.com/office/drawing/2014/main" id="{9C1B0287-CAFD-2081-FC12-5EB1F337C58F}"/>
              </a:ext>
            </a:extLst>
          </p:cNvPr>
          <p:cNvSpPr/>
          <p:nvPr/>
        </p:nvSpPr>
        <p:spPr>
          <a:xfrm>
            <a:off x="7372518" y="3372589"/>
            <a:ext cx="2285574" cy="274899"/>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Response + tool call</a:t>
            </a:r>
          </a:p>
        </p:txBody>
      </p:sp>
      <p:sp>
        <p:nvSpPr>
          <p:cNvPr id="42" name="Rectangle 41">
            <a:extLst>
              <a:ext uri="{FF2B5EF4-FFF2-40B4-BE49-F238E27FC236}">
                <a16:creationId xmlns:a16="http://schemas.microsoft.com/office/drawing/2014/main" id="{942B6ACB-2E1C-4203-A079-F528C5AAFBCB}"/>
              </a:ext>
            </a:extLst>
          </p:cNvPr>
          <p:cNvSpPr/>
          <p:nvPr/>
        </p:nvSpPr>
        <p:spPr>
          <a:xfrm>
            <a:off x="9658092" y="3368615"/>
            <a:ext cx="1030147" cy="274899"/>
          </a:xfrm>
          <a:prstGeom prst="rect">
            <a:avLst/>
          </a:prstGeom>
          <a:solidFill>
            <a:schemeClr val="bg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Self-call</a:t>
            </a:r>
          </a:p>
        </p:txBody>
      </p:sp>
      <p:sp>
        <p:nvSpPr>
          <p:cNvPr id="43" name="TextBox 42">
            <a:extLst>
              <a:ext uri="{FF2B5EF4-FFF2-40B4-BE49-F238E27FC236}">
                <a16:creationId xmlns:a16="http://schemas.microsoft.com/office/drawing/2014/main" id="{61FCC032-85C3-D0A4-8F11-C143E6FD576A}"/>
              </a:ext>
            </a:extLst>
          </p:cNvPr>
          <p:cNvSpPr txBox="1"/>
          <p:nvPr/>
        </p:nvSpPr>
        <p:spPr>
          <a:xfrm>
            <a:off x="8398816" y="2061857"/>
            <a:ext cx="1405000" cy="369332"/>
          </a:xfrm>
          <a:prstGeom prst="rect">
            <a:avLst/>
          </a:prstGeom>
          <a:noFill/>
        </p:spPr>
        <p:txBody>
          <a:bodyPr wrap="none" rtlCol="0">
            <a:spAutoFit/>
          </a:bodyPr>
          <a:lstStyle/>
          <a:p>
            <a:r>
              <a:rPr lang="en-US" b="1" dirty="0"/>
              <a:t>LLM written</a:t>
            </a:r>
          </a:p>
        </p:txBody>
      </p:sp>
      <p:cxnSp>
        <p:nvCxnSpPr>
          <p:cNvPr id="45" name="Straight Connector 44">
            <a:extLst>
              <a:ext uri="{FF2B5EF4-FFF2-40B4-BE49-F238E27FC236}">
                <a16:creationId xmlns:a16="http://schemas.microsoft.com/office/drawing/2014/main" id="{57FCBCE8-51ED-80FF-62E2-931FA3C50EF6}"/>
              </a:ext>
            </a:extLst>
          </p:cNvPr>
          <p:cNvCxnSpPr>
            <a:cxnSpLocks/>
          </p:cNvCxnSpPr>
          <p:nvPr/>
        </p:nvCxnSpPr>
        <p:spPr>
          <a:xfrm>
            <a:off x="2672832" y="1836921"/>
            <a:ext cx="0" cy="1814541"/>
          </a:xfrm>
          <a:prstGeom prst="line">
            <a:avLst/>
          </a:prstGeom>
        </p:spPr>
        <p:style>
          <a:lnRef idx="2">
            <a:schemeClr val="accent1"/>
          </a:lnRef>
          <a:fillRef idx="0">
            <a:schemeClr val="accent1"/>
          </a:fillRef>
          <a:effectRef idx="1">
            <a:schemeClr val="accent1"/>
          </a:effectRef>
          <a:fontRef idx="minor">
            <a:schemeClr val="tx1"/>
          </a:fontRef>
        </p:style>
      </p:cxnSp>
      <p:cxnSp>
        <p:nvCxnSpPr>
          <p:cNvPr id="46" name="Straight Connector 45">
            <a:extLst>
              <a:ext uri="{FF2B5EF4-FFF2-40B4-BE49-F238E27FC236}">
                <a16:creationId xmlns:a16="http://schemas.microsoft.com/office/drawing/2014/main" id="{5F3FEC11-3FA0-9C0C-98EA-E733E52177F3}"/>
              </a:ext>
            </a:extLst>
          </p:cNvPr>
          <p:cNvCxnSpPr>
            <a:cxnSpLocks/>
          </p:cNvCxnSpPr>
          <p:nvPr/>
        </p:nvCxnSpPr>
        <p:spPr>
          <a:xfrm>
            <a:off x="5988551" y="1844869"/>
            <a:ext cx="0" cy="1806593"/>
          </a:xfrm>
          <a:prstGeom prst="line">
            <a:avLst/>
          </a:prstGeom>
        </p:spPr>
        <p:style>
          <a:lnRef idx="2">
            <a:schemeClr val="accent1"/>
          </a:lnRef>
          <a:fillRef idx="0">
            <a:schemeClr val="accent1"/>
          </a:fillRef>
          <a:effectRef idx="1">
            <a:schemeClr val="accent1"/>
          </a:effectRef>
          <a:fontRef idx="minor">
            <a:schemeClr val="tx1"/>
          </a:fontRef>
        </p:style>
      </p:cxnSp>
      <p:cxnSp>
        <p:nvCxnSpPr>
          <p:cNvPr id="47" name="Straight Connector 46">
            <a:extLst>
              <a:ext uri="{FF2B5EF4-FFF2-40B4-BE49-F238E27FC236}">
                <a16:creationId xmlns:a16="http://schemas.microsoft.com/office/drawing/2014/main" id="{829D2A24-4ECF-8EBF-9BEA-1D33CC8F122D}"/>
              </a:ext>
            </a:extLst>
          </p:cNvPr>
          <p:cNvCxnSpPr>
            <a:cxnSpLocks/>
          </p:cNvCxnSpPr>
          <p:nvPr/>
        </p:nvCxnSpPr>
        <p:spPr>
          <a:xfrm>
            <a:off x="7372518" y="1836920"/>
            <a:ext cx="0" cy="1814542"/>
          </a:xfrm>
          <a:prstGeom prst="line">
            <a:avLst/>
          </a:prstGeom>
        </p:spPr>
        <p:style>
          <a:lnRef idx="2">
            <a:schemeClr val="accent1"/>
          </a:lnRef>
          <a:fillRef idx="0">
            <a:schemeClr val="accent1"/>
          </a:fillRef>
          <a:effectRef idx="1">
            <a:schemeClr val="accent1"/>
          </a:effectRef>
          <a:fontRef idx="minor">
            <a:schemeClr val="tx1"/>
          </a:fontRef>
        </p:style>
      </p:cxnSp>
      <p:cxnSp>
        <p:nvCxnSpPr>
          <p:cNvPr id="48" name="Straight Connector 47">
            <a:extLst>
              <a:ext uri="{FF2B5EF4-FFF2-40B4-BE49-F238E27FC236}">
                <a16:creationId xmlns:a16="http://schemas.microsoft.com/office/drawing/2014/main" id="{2DF57463-A30E-75AD-4AB0-01052C397195}"/>
              </a:ext>
            </a:extLst>
          </p:cNvPr>
          <p:cNvCxnSpPr/>
          <p:nvPr/>
        </p:nvCxnSpPr>
        <p:spPr>
          <a:xfrm>
            <a:off x="10694757" y="1759857"/>
            <a:ext cx="0" cy="3338285"/>
          </a:xfrm>
          <a:prstGeom prst="line">
            <a:avLst/>
          </a:prstGeom>
        </p:spPr>
        <p:style>
          <a:lnRef idx="2">
            <a:schemeClr val="accent1"/>
          </a:lnRef>
          <a:fillRef idx="0">
            <a:schemeClr val="accent1"/>
          </a:fillRef>
          <a:effectRef idx="1">
            <a:schemeClr val="accent1"/>
          </a:effectRef>
          <a:fontRef idx="minor">
            <a:schemeClr val="tx1"/>
          </a:fontRef>
        </p:style>
      </p:cxnSp>
      <p:sp>
        <p:nvSpPr>
          <p:cNvPr id="52" name="Rectangle 51">
            <a:extLst>
              <a:ext uri="{FF2B5EF4-FFF2-40B4-BE49-F238E27FC236}">
                <a16:creationId xmlns:a16="http://schemas.microsoft.com/office/drawing/2014/main" id="{D200D546-5905-543E-713D-8E5111C5A85F}"/>
              </a:ext>
            </a:extLst>
          </p:cNvPr>
          <p:cNvSpPr/>
          <p:nvPr/>
        </p:nvSpPr>
        <p:spPr>
          <a:xfrm>
            <a:off x="612539" y="3826483"/>
            <a:ext cx="1030147" cy="27489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Prompt</a:t>
            </a:r>
          </a:p>
        </p:txBody>
      </p:sp>
      <p:pic>
        <p:nvPicPr>
          <p:cNvPr id="3" name="Picture 2">
            <a:extLst>
              <a:ext uri="{FF2B5EF4-FFF2-40B4-BE49-F238E27FC236}">
                <a16:creationId xmlns:a16="http://schemas.microsoft.com/office/drawing/2014/main" id="{A1E45813-1153-4427-6E06-55935ADD19E5}"/>
              </a:ext>
            </a:extLst>
          </p:cNvPr>
          <p:cNvPicPr>
            <a:picLocks noChangeAspect="1"/>
          </p:cNvPicPr>
          <p:nvPr/>
        </p:nvPicPr>
        <p:blipFill>
          <a:blip r:embed="rId2"/>
          <a:srcRect t="67079" b="11057"/>
          <a:stretch>
            <a:fillRect/>
          </a:stretch>
        </p:blipFill>
        <p:spPr>
          <a:xfrm>
            <a:off x="5200604" y="6112631"/>
            <a:ext cx="6629400" cy="391520"/>
          </a:xfrm>
          <a:prstGeom prst="rect">
            <a:avLst/>
          </a:prstGeom>
        </p:spPr>
      </p:pic>
    </p:spTree>
    <p:extLst>
      <p:ext uri="{BB962C8B-B14F-4D97-AF65-F5344CB8AC3E}">
        <p14:creationId xmlns:p14="http://schemas.microsoft.com/office/powerpoint/2010/main" val="250613370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2243C6-C419-275A-A1AB-B2115A3DFE61}"/>
            </a:ext>
          </a:extLst>
        </p:cNvPr>
        <p:cNvGrpSpPr/>
        <p:nvPr/>
      </p:nvGrpSpPr>
      <p:grpSpPr>
        <a:xfrm>
          <a:off x="0" y="0"/>
          <a:ext cx="0" cy="0"/>
          <a:chOff x="0" y="0"/>
          <a:chExt cx="0" cy="0"/>
        </a:xfrm>
      </p:grpSpPr>
      <p:sp>
        <p:nvSpPr>
          <p:cNvPr id="13" name="Content Placeholder 2">
            <a:extLst>
              <a:ext uri="{FF2B5EF4-FFF2-40B4-BE49-F238E27FC236}">
                <a16:creationId xmlns:a16="http://schemas.microsoft.com/office/drawing/2014/main" id="{E59664F6-6029-13B7-430D-41062B167B76}"/>
              </a:ext>
            </a:extLst>
          </p:cNvPr>
          <p:cNvSpPr txBox="1">
            <a:spLocks/>
          </p:cNvSpPr>
          <p:nvPr/>
        </p:nvSpPr>
        <p:spPr>
          <a:xfrm>
            <a:off x="838200" y="2505074"/>
            <a:ext cx="5488172" cy="3536951"/>
          </a:xfrm>
          <a:prstGeom prst="rect">
            <a:avLst/>
          </a:prstGeom>
        </p:spPr>
        <p:txBody>
          <a:bodyPr vert="horz" lIns="91440" tIns="45720" rIns="91440" bIns="45720" rtlCol="0" anchor="b">
            <a:normAutofit/>
          </a:bodyPr>
          <a:lstStyle>
            <a:lvl1pPr marL="0" indent="0" algn="l" defTabSz="914400" rtl="0" eaLnBrk="1" latinLnBrk="0" hangingPunct="1">
              <a:lnSpc>
                <a:spcPct val="90000"/>
              </a:lnSpc>
              <a:spcBef>
                <a:spcPts val="1000"/>
              </a:spcBef>
              <a:buFont typeface="Arial" panose="020B0604020202020204" pitchFamily="34" charset="0"/>
              <a:buNone/>
              <a:defRPr sz="2400" b="1" kern="1200">
                <a:solidFill>
                  <a:schemeClr val="tx1"/>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000" b="1" kern="1200">
                <a:solidFill>
                  <a:schemeClr val="tx1"/>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800" b="1" kern="1200">
                <a:solidFill>
                  <a:schemeClr val="tx1"/>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endParaRPr lang="en-US" dirty="0"/>
          </a:p>
        </p:txBody>
      </p:sp>
      <p:sp>
        <p:nvSpPr>
          <p:cNvPr id="16" name="TextBox 15">
            <a:extLst>
              <a:ext uri="{FF2B5EF4-FFF2-40B4-BE49-F238E27FC236}">
                <a16:creationId xmlns:a16="http://schemas.microsoft.com/office/drawing/2014/main" id="{F28719C6-B4F7-9773-93BC-75C633327D9F}"/>
              </a:ext>
            </a:extLst>
          </p:cNvPr>
          <p:cNvSpPr txBox="1"/>
          <p:nvPr/>
        </p:nvSpPr>
        <p:spPr>
          <a:xfrm>
            <a:off x="3015718" y="1906011"/>
            <a:ext cx="4253024" cy="584775"/>
          </a:xfrm>
          <a:prstGeom prst="rect">
            <a:avLst/>
          </a:prstGeom>
          <a:noFill/>
        </p:spPr>
        <p:txBody>
          <a:bodyPr wrap="none" rtlCol="0">
            <a:spAutoFit/>
          </a:bodyPr>
          <a:lstStyle/>
          <a:p>
            <a:r>
              <a:rPr lang="en-US" sz="3200" dirty="0">
                <a:solidFill>
                  <a:srgbClr val="FF0000"/>
                </a:solidFill>
              </a:rPr>
              <a:t>1. How does this work?</a:t>
            </a:r>
          </a:p>
        </p:txBody>
      </p:sp>
      <p:pic>
        <p:nvPicPr>
          <p:cNvPr id="2" name="Picture 1">
            <a:extLst>
              <a:ext uri="{FF2B5EF4-FFF2-40B4-BE49-F238E27FC236}">
                <a16:creationId xmlns:a16="http://schemas.microsoft.com/office/drawing/2014/main" id="{18B21D14-FB4A-7737-2576-0549A3646B90}"/>
              </a:ext>
            </a:extLst>
          </p:cNvPr>
          <p:cNvPicPr>
            <a:picLocks noChangeAspect="1"/>
          </p:cNvPicPr>
          <p:nvPr/>
        </p:nvPicPr>
        <p:blipFill>
          <a:blip r:embed="rId2"/>
          <a:stretch>
            <a:fillRect/>
          </a:stretch>
        </p:blipFill>
        <p:spPr>
          <a:xfrm>
            <a:off x="2189616" y="2533650"/>
            <a:ext cx="6629400" cy="1790700"/>
          </a:xfrm>
          <a:prstGeom prst="rect">
            <a:avLst/>
          </a:prstGeom>
        </p:spPr>
      </p:pic>
      <p:sp>
        <p:nvSpPr>
          <p:cNvPr id="20" name="Rectangle 19">
            <a:extLst>
              <a:ext uri="{FF2B5EF4-FFF2-40B4-BE49-F238E27FC236}">
                <a16:creationId xmlns:a16="http://schemas.microsoft.com/office/drawing/2014/main" id="{315994F4-3981-6AFF-69FD-BD3B5CCA0630}"/>
              </a:ext>
            </a:extLst>
          </p:cNvPr>
          <p:cNvSpPr/>
          <p:nvPr/>
        </p:nvSpPr>
        <p:spPr>
          <a:xfrm>
            <a:off x="2708730" y="2770679"/>
            <a:ext cx="5970813" cy="354818"/>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90349895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9F0116-EC40-4DBB-098C-3C5B097F6968}"/>
            </a:ext>
          </a:extLst>
        </p:cNvPr>
        <p:cNvGrpSpPr/>
        <p:nvPr/>
      </p:nvGrpSpPr>
      <p:grpSpPr>
        <a:xfrm>
          <a:off x="0" y="0"/>
          <a:ext cx="0" cy="0"/>
          <a:chOff x="0" y="0"/>
          <a:chExt cx="0" cy="0"/>
        </a:xfrm>
      </p:grpSpPr>
      <p:sp>
        <p:nvSpPr>
          <p:cNvPr id="13" name="Content Placeholder 2">
            <a:extLst>
              <a:ext uri="{FF2B5EF4-FFF2-40B4-BE49-F238E27FC236}">
                <a16:creationId xmlns:a16="http://schemas.microsoft.com/office/drawing/2014/main" id="{91E7D1EF-D864-C0AC-3F89-FA5ED2357A75}"/>
              </a:ext>
            </a:extLst>
          </p:cNvPr>
          <p:cNvSpPr txBox="1">
            <a:spLocks/>
          </p:cNvSpPr>
          <p:nvPr/>
        </p:nvSpPr>
        <p:spPr>
          <a:xfrm>
            <a:off x="838200" y="2505074"/>
            <a:ext cx="5488172" cy="3536951"/>
          </a:xfrm>
          <a:prstGeom prst="rect">
            <a:avLst/>
          </a:prstGeom>
        </p:spPr>
        <p:txBody>
          <a:bodyPr vert="horz" lIns="91440" tIns="45720" rIns="91440" bIns="45720" rtlCol="0" anchor="b">
            <a:normAutofit/>
          </a:bodyPr>
          <a:lstStyle>
            <a:lvl1pPr marL="0" indent="0" algn="l" defTabSz="914400" rtl="0" eaLnBrk="1" latinLnBrk="0" hangingPunct="1">
              <a:lnSpc>
                <a:spcPct val="90000"/>
              </a:lnSpc>
              <a:spcBef>
                <a:spcPts val="1000"/>
              </a:spcBef>
              <a:buFont typeface="Arial" panose="020B0604020202020204" pitchFamily="34" charset="0"/>
              <a:buNone/>
              <a:defRPr sz="2400" b="1" kern="1200">
                <a:solidFill>
                  <a:schemeClr val="tx1"/>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000" b="1" kern="1200">
                <a:solidFill>
                  <a:schemeClr val="tx1"/>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800" b="1" kern="1200">
                <a:solidFill>
                  <a:schemeClr val="tx1"/>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endParaRPr lang="en-US" dirty="0"/>
          </a:p>
        </p:txBody>
      </p:sp>
      <p:sp>
        <p:nvSpPr>
          <p:cNvPr id="16" name="TextBox 15">
            <a:extLst>
              <a:ext uri="{FF2B5EF4-FFF2-40B4-BE49-F238E27FC236}">
                <a16:creationId xmlns:a16="http://schemas.microsoft.com/office/drawing/2014/main" id="{31C2C092-4DB4-7ABA-0655-B2181E787493}"/>
              </a:ext>
            </a:extLst>
          </p:cNvPr>
          <p:cNvSpPr txBox="1"/>
          <p:nvPr/>
        </p:nvSpPr>
        <p:spPr>
          <a:xfrm>
            <a:off x="2189616" y="1801784"/>
            <a:ext cx="8444428" cy="584775"/>
          </a:xfrm>
          <a:prstGeom prst="rect">
            <a:avLst/>
          </a:prstGeom>
          <a:noFill/>
        </p:spPr>
        <p:txBody>
          <a:bodyPr wrap="none" rtlCol="0">
            <a:spAutoFit/>
          </a:bodyPr>
          <a:lstStyle/>
          <a:p>
            <a:r>
              <a:rPr lang="en-US" sz="3200" dirty="0">
                <a:solidFill>
                  <a:srgbClr val="FF0000"/>
                </a:solidFill>
              </a:rPr>
              <a:t>2. How does the recursion avoid re-evaluation?</a:t>
            </a:r>
          </a:p>
        </p:txBody>
      </p:sp>
      <p:pic>
        <p:nvPicPr>
          <p:cNvPr id="2" name="Picture 1">
            <a:extLst>
              <a:ext uri="{FF2B5EF4-FFF2-40B4-BE49-F238E27FC236}">
                <a16:creationId xmlns:a16="http://schemas.microsoft.com/office/drawing/2014/main" id="{E80C4D6F-9D6D-10F9-5A24-21D46583855E}"/>
              </a:ext>
            </a:extLst>
          </p:cNvPr>
          <p:cNvPicPr>
            <a:picLocks noChangeAspect="1"/>
          </p:cNvPicPr>
          <p:nvPr/>
        </p:nvPicPr>
        <p:blipFill>
          <a:blip r:embed="rId2"/>
          <a:stretch>
            <a:fillRect/>
          </a:stretch>
        </p:blipFill>
        <p:spPr>
          <a:xfrm>
            <a:off x="2189616" y="2533650"/>
            <a:ext cx="6629400" cy="1790700"/>
          </a:xfrm>
          <a:prstGeom prst="rect">
            <a:avLst/>
          </a:prstGeom>
        </p:spPr>
      </p:pic>
      <p:sp>
        <p:nvSpPr>
          <p:cNvPr id="20" name="Rectangle 19">
            <a:extLst>
              <a:ext uri="{FF2B5EF4-FFF2-40B4-BE49-F238E27FC236}">
                <a16:creationId xmlns:a16="http://schemas.microsoft.com/office/drawing/2014/main" id="{F20298D5-4695-D3BE-23CF-5CDFE982C53E}"/>
              </a:ext>
            </a:extLst>
          </p:cNvPr>
          <p:cNvSpPr/>
          <p:nvPr/>
        </p:nvSpPr>
        <p:spPr>
          <a:xfrm>
            <a:off x="2708730" y="3075479"/>
            <a:ext cx="5970813" cy="354818"/>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11157679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DBA9F0-70E8-DB17-2B66-F240F9A9A5AE}"/>
              </a:ext>
            </a:extLst>
          </p:cNvPr>
          <p:cNvSpPr>
            <a:spLocks noGrp="1"/>
          </p:cNvSpPr>
          <p:nvPr>
            <p:ph type="title"/>
          </p:nvPr>
        </p:nvSpPr>
        <p:spPr/>
        <p:txBody>
          <a:bodyPr/>
          <a:lstStyle/>
          <a:p>
            <a:r>
              <a:rPr lang="en-US" dirty="0"/>
              <a:t>Structure of every completion</a:t>
            </a:r>
          </a:p>
        </p:txBody>
      </p:sp>
      <p:pic>
        <p:nvPicPr>
          <p:cNvPr id="5" name="Picture 4" descr="A screen shot of a computer program&#10;&#10;AI-generated content may be incorrect.">
            <a:extLst>
              <a:ext uri="{FF2B5EF4-FFF2-40B4-BE49-F238E27FC236}">
                <a16:creationId xmlns:a16="http://schemas.microsoft.com/office/drawing/2014/main" id="{61225E29-C8AB-DD58-C7C2-872AC1AE5588}"/>
              </a:ext>
            </a:extLst>
          </p:cNvPr>
          <p:cNvPicPr>
            <a:picLocks noChangeAspect="1"/>
          </p:cNvPicPr>
          <p:nvPr/>
        </p:nvPicPr>
        <p:blipFill>
          <a:blip r:embed="rId2"/>
          <a:stretch>
            <a:fillRect/>
          </a:stretch>
        </p:blipFill>
        <p:spPr>
          <a:xfrm>
            <a:off x="1269357" y="2113745"/>
            <a:ext cx="9211022" cy="3662021"/>
          </a:xfrm>
          <a:prstGeom prst="rect">
            <a:avLst/>
          </a:prstGeom>
        </p:spPr>
      </p:pic>
    </p:spTree>
    <p:extLst>
      <p:ext uri="{BB962C8B-B14F-4D97-AF65-F5344CB8AC3E}">
        <p14:creationId xmlns:p14="http://schemas.microsoft.com/office/powerpoint/2010/main" val="214141782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1B5EED-0EAB-02AA-0049-E24F332FB0AD}"/>
              </a:ext>
            </a:extLst>
          </p:cNvPr>
          <p:cNvSpPr>
            <a:spLocks noGrp="1"/>
          </p:cNvSpPr>
          <p:nvPr>
            <p:ph type="title"/>
          </p:nvPr>
        </p:nvSpPr>
        <p:spPr/>
        <p:txBody>
          <a:bodyPr/>
          <a:lstStyle/>
          <a:p>
            <a:r>
              <a:rPr lang="en-US" dirty="0" err="1"/>
              <a:t>ReAct</a:t>
            </a:r>
            <a:r>
              <a:rPr lang="en-US" dirty="0"/>
              <a:t> loop in Spell</a:t>
            </a:r>
          </a:p>
        </p:txBody>
      </p:sp>
      <p:sp>
        <p:nvSpPr>
          <p:cNvPr id="9" name="Rectangle 8">
            <a:extLst>
              <a:ext uri="{FF2B5EF4-FFF2-40B4-BE49-F238E27FC236}">
                <a16:creationId xmlns:a16="http://schemas.microsoft.com/office/drawing/2014/main" id="{4B1233F7-6AC5-874A-7F32-4E303DD3B164}"/>
              </a:ext>
            </a:extLst>
          </p:cNvPr>
          <p:cNvSpPr/>
          <p:nvPr/>
        </p:nvSpPr>
        <p:spPr>
          <a:xfrm>
            <a:off x="3111125" y="4618311"/>
            <a:ext cx="1030147" cy="27489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Prompt</a:t>
            </a:r>
          </a:p>
        </p:txBody>
      </p:sp>
      <p:sp>
        <p:nvSpPr>
          <p:cNvPr id="10" name="Rectangle 9">
            <a:extLst>
              <a:ext uri="{FF2B5EF4-FFF2-40B4-BE49-F238E27FC236}">
                <a16:creationId xmlns:a16="http://schemas.microsoft.com/office/drawing/2014/main" id="{00A8FC11-E7A5-7029-E5E3-94916BE73AA2}"/>
              </a:ext>
            </a:extLst>
          </p:cNvPr>
          <p:cNvSpPr/>
          <p:nvPr/>
        </p:nvSpPr>
        <p:spPr>
          <a:xfrm>
            <a:off x="4141272" y="4618311"/>
            <a:ext cx="1383969" cy="274899"/>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Response</a:t>
            </a:r>
          </a:p>
        </p:txBody>
      </p:sp>
      <p:sp>
        <p:nvSpPr>
          <p:cNvPr id="11" name="Rectangle 10">
            <a:extLst>
              <a:ext uri="{FF2B5EF4-FFF2-40B4-BE49-F238E27FC236}">
                <a16:creationId xmlns:a16="http://schemas.microsoft.com/office/drawing/2014/main" id="{C1EBA344-516B-0319-AEBB-5A43A6FA2C20}"/>
              </a:ext>
            </a:extLst>
          </p:cNvPr>
          <p:cNvSpPr/>
          <p:nvPr/>
        </p:nvSpPr>
        <p:spPr>
          <a:xfrm>
            <a:off x="5527821" y="4618311"/>
            <a:ext cx="1383969" cy="27489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Tool output</a:t>
            </a:r>
          </a:p>
        </p:txBody>
      </p:sp>
      <p:cxnSp>
        <p:nvCxnSpPr>
          <p:cNvPr id="13" name="Straight Connector 12">
            <a:extLst>
              <a:ext uri="{FF2B5EF4-FFF2-40B4-BE49-F238E27FC236}">
                <a16:creationId xmlns:a16="http://schemas.microsoft.com/office/drawing/2014/main" id="{1550AF04-5F2B-E374-8A7C-E8AEC08F22EF}"/>
              </a:ext>
            </a:extLst>
          </p:cNvPr>
          <p:cNvCxnSpPr>
            <a:cxnSpLocks/>
          </p:cNvCxnSpPr>
          <p:nvPr/>
        </p:nvCxnSpPr>
        <p:spPr>
          <a:xfrm flipH="1">
            <a:off x="3111125" y="3429000"/>
            <a:ext cx="1574086" cy="1189311"/>
          </a:xfrm>
          <a:prstGeom prst="line">
            <a:avLst/>
          </a:prstGeom>
        </p:spPr>
        <p:style>
          <a:lnRef idx="2">
            <a:schemeClr val="dk1"/>
          </a:lnRef>
          <a:fillRef idx="0">
            <a:schemeClr val="dk1"/>
          </a:fillRef>
          <a:effectRef idx="1">
            <a:schemeClr val="dk1"/>
          </a:effectRef>
          <a:fontRef idx="minor">
            <a:schemeClr val="tx1"/>
          </a:fontRef>
        </p:style>
      </p:cxnSp>
      <p:cxnSp>
        <p:nvCxnSpPr>
          <p:cNvPr id="14" name="Straight Connector 13">
            <a:extLst>
              <a:ext uri="{FF2B5EF4-FFF2-40B4-BE49-F238E27FC236}">
                <a16:creationId xmlns:a16="http://schemas.microsoft.com/office/drawing/2014/main" id="{25C4B54D-E444-C48E-A1C3-D3719E90F184}"/>
              </a:ext>
            </a:extLst>
          </p:cNvPr>
          <p:cNvCxnSpPr>
            <a:cxnSpLocks/>
          </p:cNvCxnSpPr>
          <p:nvPr/>
        </p:nvCxnSpPr>
        <p:spPr>
          <a:xfrm flipH="1">
            <a:off x="5525241" y="3429000"/>
            <a:ext cx="1314115" cy="1189311"/>
          </a:xfrm>
          <a:prstGeom prst="line">
            <a:avLst/>
          </a:prstGeom>
        </p:spPr>
        <p:style>
          <a:lnRef idx="2">
            <a:schemeClr val="dk1"/>
          </a:lnRef>
          <a:fillRef idx="0">
            <a:schemeClr val="dk1"/>
          </a:fillRef>
          <a:effectRef idx="1">
            <a:schemeClr val="dk1"/>
          </a:effectRef>
          <a:fontRef idx="minor">
            <a:schemeClr val="tx1"/>
          </a:fontRef>
        </p:style>
      </p:cxnSp>
      <p:cxnSp>
        <p:nvCxnSpPr>
          <p:cNvPr id="18" name="Straight Connector 17">
            <a:extLst>
              <a:ext uri="{FF2B5EF4-FFF2-40B4-BE49-F238E27FC236}">
                <a16:creationId xmlns:a16="http://schemas.microsoft.com/office/drawing/2014/main" id="{A4F58EB8-241D-4A87-FFF3-34E576F0B1C5}"/>
              </a:ext>
            </a:extLst>
          </p:cNvPr>
          <p:cNvCxnSpPr>
            <a:cxnSpLocks/>
          </p:cNvCxnSpPr>
          <p:nvPr/>
        </p:nvCxnSpPr>
        <p:spPr>
          <a:xfrm flipH="1">
            <a:off x="5517314" y="3429000"/>
            <a:ext cx="1736926" cy="1189311"/>
          </a:xfrm>
          <a:prstGeom prst="line">
            <a:avLst/>
          </a:prstGeom>
        </p:spPr>
        <p:style>
          <a:lnRef idx="2">
            <a:schemeClr val="dk1"/>
          </a:lnRef>
          <a:fillRef idx="0">
            <a:schemeClr val="dk1"/>
          </a:fillRef>
          <a:effectRef idx="1">
            <a:schemeClr val="dk1"/>
          </a:effectRef>
          <a:fontRef idx="minor">
            <a:schemeClr val="tx1"/>
          </a:fontRef>
        </p:style>
      </p:cxnSp>
      <p:cxnSp>
        <p:nvCxnSpPr>
          <p:cNvPr id="20" name="Straight Connector 19">
            <a:extLst>
              <a:ext uri="{FF2B5EF4-FFF2-40B4-BE49-F238E27FC236}">
                <a16:creationId xmlns:a16="http://schemas.microsoft.com/office/drawing/2014/main" id="{7A1A50D1-3EC1-80A6-6AA9-02CFE016F3EC}"/>
              </a:ext>
            </a:extLst>
          </p:cNvPr>
          <p:cNvCxnSpPr>
            <a:cxnSpLocks/>
          </p:cNvCxnSpPr>
          <p:nvPr/>
        </p:nvCxnSpPr>
        <p:spPr>
          <a:xfrm flipH="1">
            <a:off x="6911790" y="3429000"/>
            <a:ext cx="1387479" cy="1189311"/>
          </a:xfrm>
          <a:prstGeom prst="line">
            <a:avLst/>
          </a:prstGeom>
        </p:spPr>
        <p:style>
          <a:lnRef idx="2">
            <a:schemeClr val="dk1"/>
          </a:lnRef>
          <a:fillRef idx="0">
            <a:schemeClr val="dk1"/>
          </a:fillRef>
          <a:effectRef idx="1">
            <a:schemeClr val="dk1"/>
          </a:effectRef>
          <a:fontRef idx="minor">
            <a:schemeClr val="tx1"/>
          </a:fontRef>
        </p:style>
      </p:cxnSp>
      <p:sp>
        <p:nvSpPr>
          <p:cNvPr id="22" name="TextBox 21">
            <a:extLst>
              <a:ext uri="{FF2B5EF4-FFF2-40B4-BE49-F238E27FC236}">
                <a16:creationId xmlns:a16="http://schemas.microsoft.com/office/drawing/2014/main" id="{860CEBCB-FA88-AB54-4D97-E33A19A7E046}"/>
              </a:ext>
            </a:extLst>
          </p:cNvPr>
          <p:cNvSpPr txBox="1"/>
          <p:nvPr/>
        </p:nvSpPr>
        <p:spPr>
          <a:xfrm>
            <a:off x="1853796" y="4401817"/>
            <a:ext cx="1253869" cy="707886"/>
          </a:xfrm>
          <a:prstGeom prst="rect">
            <a:avLst/>
          </a:prstGeom>
          <a:noFill/>
        </p:spPr>
        <p:txBody>
          <a:bodyPr wrap="none" rtlCol="0">
            <a:spAutoFit/>
          </a:bodyPr>
          <a:lstStyle/>
          <a:p>
            <a:r>
              <a:rPr lang="en-US" sz="4000" dirty="0"/>
              <a:t>LLM(</a:t>
            </a:r>
          </a:p>
        </p:txBody>
      </p:sp>
      <p:sp>
        <p:nvSpPr>
          <p:cNvPr id="23" name="TextBox 22">
            <a:extLst>
              <a:ext uri="{FF2B5EF4-FFF2-40B4-BE49-F238E27FC236}">
                <a16:creationId xmlns:a16="http://schemas.microsoft.com/office/drawing/2014/main" id="{7F309AD2-F9DF-3065-63D7-52F9D477CA69}"/>
              </a:ext>
            </a:extLst>
          </p:cNvPr>
          <p:cNvSpPr txBox="1"/>
          <p:nvPr/>
        </p:nvSpPr>
        <p:spPr>
          <a:xfrm>
            <a:off x="6991326" y="4401817"/>
            <a:ext cx="335348" cy="707886"/>
          </a:xfrm>
          <a:prstGeom prst="rect">
            <a:avLst/>
          </a:prstGeom>
          <a:noFill/>
        </p:spPr>
        <p:txBody>
          <a:bodyPr wrap="none" rtlCol="0">
            <a:spAutoFit/>
          </a:bodyPr>
          <a:lstStyle/>
          <a:p>
            <a:r>
              <a:rPr lang="en-US" sz="4000" dirty="0"/>
              <a:t>)</a:t>
            </a:r>
          </a:p>
        </p:txBody>
      </p:sp>
      <p:cxnSp>
        <p:nvCxnSpPr>
          <p:cNvPr id="24" name="Straight Connector 23">
            <a:extLst>
              <a:ext uri="{FF2B5EF4-FFF2-40B4-BE49-F238E27FC236}">
                <a16:creationId xmlns:a16="http://schemas.microsoft.com/office/drawing/2014/main" id="{DC3470CA-352C-44A2-FFE0-5B1F349977FE}"/>
              </a:ext>
            </a:extLst>
          </p:cNvPr>
          <p:cNvCxnSpPr>
            <a:cxnSpLocks/>
            <a:endCxn id="22" idx="0"/>
          </p:cNvCxnSpPr>
          <p:nvPr/>
        </p:nvCxnSpPr>
        <p:spPr>
          <a:xfrm flipH="1">
            <a:off x="2480731" y="3429000"/>
            <a:ext cx="186529" cy="972817"/>
          </a:xfrm>
          <a:prstGeom prst="line">
            <a:avLst/>
          </a:prstGeom>
        </p:spPr>
        <p:style>
          <a:lnRef idx="2">
            <a:schemeClr val="dk1"/>
          </a:lnRef>
          <a:fillRef idx="0">
            <a:schemeClr val="dk1"/>
          </a:fillRef>
          <a:effectRef idx="1">
            <a:schemeClr val="dk1"/>
          </a:effectRef>
          <a:fontRef idx="minor">
            <a:schemeClr val="tx1"/>
          </a:fontRef>
        </p:style>
      </p:cxnSp>
      <p:pic>
        <p:nvPicPr>
          <p:cNvPr id="31" name="Picture 30">
            <a:extLst>
              <a:ext uri="{FF2B5EF4-FFF2-40B4-BE49-F238E27FC236}">
                <a16:creationId xmlns:a16="http://schemas.microsoft.com/office/drawing/2014/main" id="{9113A8F1-D948-EE93-9ECE-9752CFADF4E1}"/>
              </a:ext>
            </a:extLst>
          </p:cNvPr>
          <p:cNvPicPr>
            <a:picLocks noChangeAspect="1"/>
          </p:cNvPicPr>
          <p:nvPr/>
        </p:nvPicPr>
        <p:blipFill>
          <a:blip r:embed="rId2"/>
          <a:stretch>
            <a:fillRect/>
          </a:stretch>
        </p:blipFill>
        <p:spPr>
          <a:xfrm>
            <a:off x="2209800" y="3042170"/>
            <a:ext cx="7772400" cy="340673"/>
          </a:xfrm>
          <a:prstGeom prst="rect">
            <a:avLst/>
          </a:prstGeom>
        </p:spPr>
      </p:pic>
      <p:pic>
        <p:nvPicPr>
          <p:cNvPr id="32" name="Picture 31">
            <a:extLst>
              <a:ext uri="{FF2B5EF4-FFF2-40B4-BE49-F238E27FC236}">
                <a16:creationId xmlns:a16="http://schemas.microsoft.com/office/drawing/2014/main" id="{5CAF0BB6-0A2F-C0F9-78D5-8CF7F077995D}"/>
              </a:ext>
            </a:extLst>
          </p:cNvPr>
          <p:cNvPicPr>
            <a:picLocks noChangeAspect="1"/>
          </p:cNvPicPr>
          <p:nvPr/>
        </p:nvPicPr>
        <p:blipFill>
          <a:blip r:embed="rId3"/>
          <a:stretch>
            <a:fillRect/>
          </a:stretch>
        </p:blipFill>
        <p:spPr>
          <a:xfrm>
            <a:off x="3493540" y="2023196"/>
            <a:ext cx="3162300" cy="330200"/>
          </a:xfrm>
          <a:prstGeom prst="rect">
            <a:avLst/>
          </a:prstGeom>
        </p:spPr>
      </p:pic>
      <p:sp>
        <p:nvSpPr>
          <p:cNvPr id="33" name="TextBox 32">
            <a:extLst>
              <a:ext uri="{FF2B5EF4-FFF2-40B4-BE49-F238E27FC236}">
                <a16:creationId xmlns:a16="http://schemas.microsoft.com/office/drawing/2014/main" id="{46F35441-0C87-8618-BB18-98C3D7E109A3}"/>
              </a:ext>
            </a:extLst>
          </p:cNvPr>
          <p:cNvSpPr txBox="1"/>
          <p:nvPr/>
        </p:nvSpPr>
        <p:spPr>
          <a:xfrm rot="16200000">
            <a:off x="4818049" y="2323873"/>
            <a:ext cx="513282" cy="830997"/>
          </a:xfrm>
          <a:prstGeom prst="rect">
            <a:avLst/>
          </a:prstGeom>
          <a:noFill/>
        </p:spPr>
        <p:txBody>
          <a:bodyPr wrap="none" rtlCol="0">
            <a:spAutoFit/>
          </a:bodyPr>
          <a:lstStyle/>
          <a:p>
            <a:r>
              <a:rPr lang="en-US" sz="4800" b="1" dirty="0"/>
              <a:t>=</a:t>
            </a:r>
          </a:p>
        </p:txBody>
      </p:sp>
    </p:spTree>
    <p:extLst>
      <p:ext uri="{BB962C8B-B14F-4D97-AF65-F5344CB8AC3E}">
        <p14:creationId xmlns:p14="http://schemas.microsoft.com/office/powerpoint/2010/main" val="63874664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1879C4-B5B7-1988-7DAB-F10AA1C9DDC6}"/>
              </a:ext>
            </a:extLst>
          </p:cNvPr>
          <p:cNvSpPr>
            <a:spLocks noGrp="1"/>
          </p:cNvSpPr>
          <p:nvPr>
            <p:ph type="title"/>
          </p:nvPr>
        </p:nvSpPr>
        <p:spPr/>
        <p:txBody>
          <a:bodyPr/>
          <a:lstStyle/>
          <a:p>
            <a:r>
              <a:rPr lang="en-US" dirty="0"/>
              <a:t>Own-context engineering</a:t>
            </a:r>
          </a:p>
        </p:txBody>
      </p:sp>
      <p:pic>
        <p:nvPicPr>
          <p:cNvPr id="5" name="Content Placeholder 4" descr="A screen shot of a computer program&#10;&#10;AI-generated content may be incorrect.">
            <a:extLst>
              <a:ext uri="{FF2B5EF4-FFF2-40B4-BE49-F238E27FC236}">
                <a16:creationId xmlns:a16="http://schemas.microsoft.com/office/drawing/2014/main" id="{8B312FE2-18DB-1BAD-2F7A-7CE7DDECBE66}"/>
              </a:ext>
            </a:extLst>
          </p:cNvPr>
          <p:cNvPicPr>
            <a:picLocks noGrp="1" noChangeAspect="1"/>
          </p:cNvPicPr>
          <p:nvPr>
            <p:ph idx="1"/>
          </p:nvPr>
        </p:nvPicPr>
        <p:blipFill>
          <a:blip r:embed="rId2"/>
          <a:stretch>
            <a:fillRect/>
          </a:stretch>
        </p:blipFill>
        <p:spPr>
          <a:xfrm>
            <a:off x="1447800" y="2515394"/>
            <a:ext cx="9296400" cy="2971800"/>
          </a:xfrm>
          <a:prstGeom prst="rect">
            <a:avLst/>
          </a:prstGeom>
        </p:spPr>
      </p:pic>
    </p:spTree>
    <p:extLst>
      <p:ext uri="{BB962C8B-B14F-4D97-AF65-F5344CB8AC3E}">
        <p14:creationId xmlns:p14="http://schemas.microsoft.com/office/powerpoint/2010/main" val="368577051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E6C4BC-2B84-25E1-ADBF-E8045DD4F179}"/>
              </a:ext>
            </a:extLst>
          </p:cNvPr>
          <p:cNvSpPr>
            <a:spLocks noGrp="1"/>
          </p:cNvSpPr>
          <p:nvPr>
            <p:ph type="title"/>
          </p:nvPr>
        </p:nvSpPr>
        <p:spPr/>
        <p:txBody>
          <a:bodyPr/>
          <a:lstStyle/>
          <a:p>
            <a:r>
              <a:rPr lang="en-US" dirty="0"/>
              <a:t>Self-orchestration</a:t>
            </a:r>
          </a:p>
        </p:txBody>
      </p:sp>
      <p:sp>
        <p:nvSpPr>
          <p:cNvPr id="3" name="Content Placeholder 2">
            <a:extLst>
              <a:ext uri="{FF2B5EF4-FFF2-40B4-BE49-F238E27FC236}">
                <a16:creationId xmlns:a16="http://schemas.microsoft.com/office/drawing/2014/main" id="{A11AA4BD-2453-7A11-DC31-259A51234B94}"/>
              </a:ext>
            </a:extLst>
          </p:cNvPr>
          <p:cNvSpPr>
            <a:spLocks noGrp="1"/>
          </p:cNvSpPr>
          <p:nvPr>
            <p:ph idx="1"/>
          </p:nvPr>
        </p:nvSpPr>
        <p:spPr/>
        <p:txBody>
          <a:bodyPr/>
          <a:lstStyle/>
          <a:p>
            <a:pPr marL="514350" indent="-514350">
              <a:buAutoNum type="arabicPeriod"/>
            </a:pPr>
            <a:r>
              <a:rPr lang="en-US" dirty="0"/>
              <a:t>Create a future</a:t>
            </a:r>
          </a:p>
          <a:p>
            <a:pPr marL="514350" indent="-514350">
              <a:buAutoNum type="arabicPeriod"/>
            </a:pPr>
            <a:r>
              <a:rPr lang="en-US" dirty="0"/>
              <a:t>Spawn agent with prompt</a:t>
            </a:r>
          </a:p>
          <a:p>
            <a:pPr marL="514350" indent="-514350">
              <a:buAutoNum type="arabicPeriod"/>
            </a:pPr>
            <a:r>
              <a:rPr lang="en-US" dirty="0"/>
              <a:t>Block for response</a:t>
            </a:r>
          </a:p>
          <a:p>
            <a:pPr marL="514350" indent="-514350">
              <a:buAutoNum type="arabicPeriod"/>
            </a:pPr>
            <a:r>
              <a:rPr lang="en-US" dirty="0"/>
              <a:t>Response satisfies condition? Break</a:t>
            </a:r>
          </a:p>
          <a:p>
            <a:pPr marL="514350" indent="-514350">
              <a:buAutoNum type="arabicPeriod"/>
            </a:pPr>
            <a:r>
              <a:rPr lang="en-US" dirty="0"/>
              <a:t>Goto 2</a:t>
            </a:r>
          </a:p>
          <a:p>
            <a:pPr marL="514350" indent="-514350">
              <a:buAutoNum type="arabicPeriod"/>
            </a:pPr>
            <a:r>
              <a:rPr lang="en-US" dirty="0"/>
              <a:t>Message parent agent with response</a:t>
            </a:r>
          </a:p>
          <a:p>
            <a:pPr marL="514350" indent="-514350">
              <a:buAutoNum type="arabicPeriod"/>
            </a:pPr>
            <a:endParaRPr lang="en-US" dirty="0"/>
          </a:p>
        </p:txBody>
      </p:sp>
      <p:pic>
        <p:nvPicPr>
          <p:cNvPr id="1028" name="Picture 4" descr="ralph from the simpsons is standing in front of a row of lockers waving .">
            <a:extLst>
              <a:ext uri="{FF2B5EF4-FFF2-40B4-BE49-F238E27FC236}">
                <a16:creationId xmlns:a16="http://schemas.microsoft.com/office/drawing/2014/main" id="{B415C94C-4445-8F95-74E1-4B819407EAF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013700" y="2837807"/>
            <a:ext cx="3340100" cy="25019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931575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F044B483-61B9-F89E-93F9-6EAB117EF96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B659F62-DE66-B0C1-B184-179B8C27FD21}"/>
              </a:ext>
            </a:extLst>
          </p:cNvPr>
          <p:cNvSpPr>
            <a:spLocks noGrp="1"/>
          </p:cNvSpPr>
          <p:nvPr>
            <p:ph type="title"/>
          </p:nvPr>
        </p:nvSpPr>
        <p:spPr/>
        <p:txBody>
          <a:bodyPr/>
          <a:lstStyle/>
          <a:p>
            <a:r>
              <a:rPr lang="en-US" dirty="0"/>
              <a:t>Spell </a:t>
            </a:r>
            <a:r>
              <a:rPr lang="en-US" sz="3600" dirty="0"/>
              <a:t>(self-prompting execution language for LLMs)</a:t>
            </a:r>
            <a:endParaRPr lang="en-US" dirty="0"/>
          </a:p>
        </p:txBody>
      </p:sp>
      <p:pic>
        <p:nvPicPr>
          <p:cNvPr id="11" name="Picture 10">
            <a:extLst>
              <a:ext uri="{FF2B5EF4-FFF2-40B4-BE49-F238E27FC236}">
                <a16:creationId xmlns:a16="http://schemas.microsoft.com/office/drawing/2014/main" id="{CFCD7B5F-3CE4-0613-9DB0-0E4FDADF6BE7}"/>
              </a:ext>
            </a:extLst>
          </p:cNvPr>
          <p:cNvPicPr>
            <a:picLocks noChangeAspect="1"/>
          </p:cNvPicPr>
          <p:nvPr/>
        </p:nvPicPr>
        <p:blipFill>
          <a:blip r:embed="rId2"/>
          <a:stretch>
            <a:fillRect/>
          </a:stretch>
        </p:blipFill>
        <p:spPr>
          <a:xfrm>
            <a:off x="432631" y="2970478"/>
            <a:ext cx="11522682" cy="2069607"/>
          </a:xfrm>
          <a:prstGeom prst="rect">
            <a:avLst/>
          </a:prstGeom>
        </p:spPr>
      </p:pic>
    </p:spTree>
    <p:extLst>
      <p:ext uri="{BB962C8B-B14F-4D97-AF65-F5344CB8AC3E}">
        <p14:creationId xmlns:p14="http://schemas.microsoft.com/office/powerpoint/2010/main" val="411446043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7A570F-51FC-A85B-A53E-65533A3FE05E}"/>
              </a:ext>
            </a:extLst>
          </p:cNvPr>
          <p:cNvSpPr>
            <a:spLocks noGrp="1"/>
          </p:cNvSpPr>
          <p:nvPr>
            <p:ph type="title"/>
          </p:nvPr>
        </p:nvSpPr>
        <p:spPr/>
        <p:txBody>
          <a:bodyPr/>
          <a:lstStyle/>
          <a:p>
            <a:r>
              <a:rPr lang="en-US" dirty="0"/>
              <a:t>Context = code</a:t>
            </a:r>
          </a:p>
        </p:txBody>
      </p:sp>
      <p:sp>
        <p:nvSpPr>
          <p:cNvPr id="3" name="Content Placeholder 2">
            <a:extLst>
              <a:ext uri="{FF2B5EF4-FFF2-40B4-BE49-F238E27FC236}">
                <a16:creationId xmlns:a16="http://schemas.microsoft.com/office/drawing/2014/main" id="{6404D976-F5D7-3005-8DF8-8748A3EF293E}"/>
              </a:ext>
            </a:extLst>
          </p:cNvPr>
          <p:cNvSpPr>
            <a:spLocks noGrp="1"/>
          </p:cNvSpPr>
          <p:nvPr>
            <p:ph idx="1"/>
          </p:nvPr>
        </p:nvSpPr>
        <p:spPr/>
        <p:txBody>
          <a:bodyPr/>
          <a:lstStyle/>
          <a:p>
            <a:pPr marL="0" indent="0">
              <a:buNone/>
            </a:pPr>
            <a:r>
              <a:rPr lang="en-US" dirty="0"/>
              <a:t>LLM should be able to manipulate context programmatically</a:t>
            </a:r>
            <a:br>
              <a:rPr lang="en-US" dirty="0"/>
            </a:br>
            <a:br>
              <a:rPr lang="en-US" dirty="0"/>
            </a:br>
            <a:r>
              <a:rPr lang="en-US" dirty="0"/>
              <a:t>Motivates:</a:t>
            </a:r>
          </a:p>
          <a:p>
            <a:r>
              <a:rPr lang="en-US" dirty="0"/>
              <a:t>Lisp (“code is data”)</a:t>
            </a:r>
          </a:p>
          <a:p>
            <a:r>
              <a:rPr lang="en-US" dirty="0" err="1"/>
              <a:t>Quining</a:t>
            </a:r>
            <a:r>
              <a:rPr lang="en-US" dirty="0"/>
              <a:t> via ‘</a:t>
            </a:r>
            <a:r>
              <a:rPr lang="en-US" dirty="0" err="1"/>
              <a:t>uneval</a:t>
            </a:r>
            <a:r>
              <a:rPr lang="en-US" dirty="0"/>
              <a:t>’</a:t>
            </a:r>
          </a:p>
          <a:p>
            <a:pPr marL="0" indent="0">
              <a:buNone/>
            </a:pPr>
            <a:endParaRPr lang="en-US" dirty="0"/>
          </a:p>
          <a:p>
            <a:endParaRPr lang="en-US" dirty="0"/>
          </a:p>
        </p:txBody>
      </p:sp>
    </p:spTree>
    <p:extLst>
      <p:ext uri="{BB962C8B-B14F-4D97-AF65-F5344CB8AC3E}">
        <p14:creationId xmlns:p14="http://schemas.microsoft.com/office/powerpoint/2010/main" val="202437598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D23DFF8F-0714-F2A1-F5D1-1960743BB28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BD0B0A5-5C27-2A32-8C2A-AFD957CD7FA7}"/>
              </a:ext>
            </a:extLst>
          </p:cNvPr>
          <p:cNvSpPr>
            <a:spLocks noGrp="1"/>
          </p:cNvSpPr>
          <p:nvPr>
            <p:ph type="title"/>
          </p:nvPr>
        </p:nvSpPr>
        <p:spPr/>
        <p:txBody>
          <a:bodyPr/>
          <a:lstStyle/>
          <a:p>
            <a:r>
              <a:rPr lang="en-US" dirty="0"/>
              <a:t>Environment = context</a:t>
            </a:r>
          </a:p>
        </p:txBody>
      </p:sp>
      <p:sp>
        <p:nvSpPr>
          <p:cNvPr id="3" name="Content Placeholder 2">
            <a:extLst>
              <a:ext uri="{FF2B5EF4-FFF2-40B4-BE49-F238E27FC236}">
                <a16:creationId xmlns:a16="http://schemas.microsoft.com/office/drawing/2014/main" id="{D0F8FA8E-031A-8E97-830E-35BEBB061EDC}"/>
              </a:ext>
            </a:extLst>
          </p:cNvPr>
          <p:cNvSpPr>
            <a:spLocks noGrp="1"/>
          </p:cNvSpPr>
          <p:nvPr>
            <p:ph idx="1"/>
          </p:nvPr>
        </p:nvSpPr>
        <p:spPr>
          <a:xfrm>
            <a:off x="838200" y="1908176"/>
            <a:ext cx="10515600" cy="4121149"/>
          </a:xfrm>
        </p:spPr>
        <p:txBody>
          <a:bodyPr/>
          <a:lstStyle/>
          <a:p>
            <a:pPr marL="0" indent="0">
              <a:buNone/>
            </a:pPr>
            <a:r>
              <a:rPr lang="en-US" dirty="0"/>
              <a:t>LLM cannot reason about anything not in its context window</a:t>
            </a:r>
          </a:p>
          <a:p>
            <a:pPr marL="0" indent="0">
              <a:buNone/>
            </a:pPr>
            <a:endParaRPr lang="en-US" dirty="0"/>
          </a:p>
          <a:p>
            <a:pPr marL="0" indent="0">
              <a:buNone/>
            </a:pPr>
            <a:r>
              <a:rPr lang="en-US" dirty="0"/>
              <a:t>Motivates:</a:t>
            </a:r>
          </a:p>
          <a:p>
            <a:r>
              <a:rPr lang="en-US" dirty="0"/>
              <a:t>Dynamic scoping (no function closures)</a:t>
            </a:r>
          </a:p>
          <a:p>
            <a:r>
              <a:rPr lang="en-US" dirty="0"/>
              <a:t>‘Expand’ free variables passed to child LLMs</a:t>
            </a:r>
          </a:p>
          <a:p>
            <a:endParaRPr lang="en-US" dirty="0"/>
          </a:p>
        </p:txBody>
      </p:sp>
    </p:spTree>
    <p:extLst>
      <p:ext uri="{BB962C8B-B14F-4D97-AF65-F5344CB8AC3E}">
        <p14:creationId xmlns:p14="http://schemas.microsoft.com/office/powerpoint/2010/main" val="245225911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6F9B6F-918B-2786-F7FD-B527D934621B}"/>
              </a:ext>
            </a:extLst>
          </p:cNvPr>
          <p:cNvSpPr>
            <a:spLocks noGrp="1"/>
          </p:cNvSpPr>
          <p:nvPr>
            <p:ph type="title"/>
          </p:nvPr>
        </p:nvSpPr>
        <p:spPr/>
        <p:txBody>
          <a:bodyPr/>
          <a:lstStyle/>
          <a:p>
            <a:r>
              <a:rPr lang="en-US" dirty="0"/>
              <a:t>Why not Python?</a:t>
            </a:r>
          </a:p>
        </p:txBody>
      </p:sp>
      <p:sp>
        <p:nvSpPr>
          <p:cNvPr id="3" name="Content Placeholder 2">
            <a:extLst>
              <a:ext uri="{FF2B5EF4-FFF2-40B4-BE49-F238E27FC236}">
                <a16:creationId xmlns:a16="http://schemas.microsoft.com/office/drawing/2014/main" id="{0C00B413-02CA-0CAB-8B92-20BCC0ED149D}"/>
              </a:ext>
            </a:extLst>
          </p:cNvPr>
          <p:cNvSpPr>
            <a:spLocks noGrp="1"/>
          </p:cNvSpPr>
          <p:nvPr>
            <p:ph idx="1"/>
          </p:nvPr>
        </p:nvSpPr>
        <p:spPr/>
        <p:txBody>
          <a:bodyPr/>
          <a:lstStyle/>
          <a:p>
            <a:pPr marL="514350" indent="-514350">
              <a:buFont typeface="+mj-lt"/>
              <a:buAutoNum type="arabicPeriod"/>
            </a:pPr>
            <a:r>
              <a:rPr lang="en-US" dirty="0"/>
              <a:t>Quotes -&gt; strings; escaping nightmare</a:t>
            </a:r>
          </a:p>
          <a:p>
            <a:pPr marL="514350" indent="-514350">
              <a:buFont typeface="+mj-lt"/>
              <a:buAutoNum type="arabicPeriod"/>
            </a:pPr>
            <a:r>
              <a:rPr lang="en-US" dirty="0" err="1"/>
              <a:t>Quining</a:t>
            </a:r>
            <a:r>
              <a:rPr lang="en-US" dirty="0"/>
              <a:t> with ‘</a:t>
            </a:r>
            <a:r>
              <a:rPr lang="en-US" dirty="0" err="1"/>
              <a:t>uneval</a:t>
            </a:r>
            <a:r>
              <a:rPr lang="en-US" dirty="0"/>
              <a:t>’ – totally unclear how to do this </a:t>
            </a:r>
          </a:p>
          <a:p>
            <a:pPr marL="514350" indent="-514350">
              <a:buFont typeface="+mj-lt"/>
              <a:buAutoNum type="arabicPeriod"/>
            </a:pPr>
            <a:r>
              <a:rPr lang="en-US" dirty="0"/>
              <a:t>Custom evaluator - </a:t>
            </a:r>
          </a:p>
        </p:txBody>
      </p:sp>
    </p:spTree>
    <p:extLst>
      <p:ext uri="{BB962C8B-B14F-4D97-AF65-F5344CB8AC3E}">
        <p14:creationId xmlns:p14="http://schemas.microsoft.com/office/powerpoint/2010/main" val="367591147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6A1E3E-9DE1-0D68-3145-C7BBEF1480FA}"/>
              </a:ext>
            </a:extLst>
          </p:cNvPr>
          <p:cNvSpPr>
            <a:spLocks noGrp="1"/>
          </p:cNvSpPr>
          <p:nvPr>
            <p:ph type="title"/>
          </p:nvPr>
        </p:nvSpPr>
        <p:spPr>
          <a:xfrm>
            <a:off x="838200" y="2867025"/>
            <a:ext cx="10515600" cy="1325563"/>
          </a:xfrm>
        </p:spPr>
        <p:txBody>
          <a:bodyPr/>
          <a:lstStyle/>
          <a:p>
            <a:r>
              <a:rPr lang="en-US" dirty="0"/>
              <a:t>Games impossible with </a:t>
            </a:r>
            <a:r>
              <a:rPr lang="en-US" dirty="0" err="1"/>
              <a:t>ReAct</a:t>
            </a:r>
            <a:endParaRPr lang="en-US" dirty="0"/>
          </a:p>
        </p:txBody>
      </p:sp>
    </p:spTree>
    <p:extLst>
      <p:ext uri="{BB962C8B-B14F-4D97-AF65-F5344CB8AC3E}">
        <p14:creationId xmlns:p14="http://schemas.microsoft.com/office/powerpoint/2010/main" val="52616874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DAE82F-1E8B-007B-C9E2-4A253CCB9923}"/>
              </a:ext>
            </a:extLst>
          </p:cNvPr>
          <p:cNvSpPr>
            <a:spLocks noGrp="1"/>
          </p:cNvSpPr>
          <p:nvPr>
            <p:ph type="title"/>
          </p:nvPr>
        </p:nvSpPr>
        <p:spPr/>
        <p:txBody>
          <a:bodyPr/>
          <a:lstStyle/>
          <a:p>
            <a:r>
              <a:rPr lang="en-US" dirty="0"/>
              <a:t>Coin flip game</a:t>
            </a:r>
          </a:p>
        </p:txBody>
      </p:sp>
      <p:sp>
        <p:nvSpPr>
          <p:cNvPr id="3" name="Content Placeholder 2">
            <a:extLst>
              <a:ext uri="{FF2B5EF4-FFF2-40B4-BE49-F238E27FC236}">
                <a16:creationId xmlns:a16="http://schemas.microsoft.com/office/drawing/2014/main" id="{6E37843B-D703-119E-4791-7D4A83E23742}"/>
              </a:ext>
            </a:extLst>
          </p:cNvPr>
          <p:cNvSpPr>
            <a:spLocks noGrp="1"/>
          </p:cNvSpPr>
          <p:nvPr>
            <p:ph idx="1"/>
          </p:nvPr>
        </p:nvSpPr>
        <p:spPr/>
        <p:txBody>
          <a:bodyPr/>
          <a:lstStyle/>
          <a:p>
            <a:pPr marL="0" indent="0">
              <a:buNone/>
            </a:pPr>
            <a:r>
              <a:rPr lang="en-US" dirty="0"/>
              <a:t>Flip a coin programmatically. If it lands heads, print an h and pass this exact prompt onto a child LLM, using its binding, so that they can do the same thing. If it lands tails, print a t. Think about your solution before you write it; plan it, check its correctness in your head before implementing it.</a:t>
            </a:r>
          </a:p>
        </p:txBody>
      </p:sp>
    </p:spTree>
    <p:extLst>
      <p:ext uri="{BB962C8B-B14F-4D97-AF65-F5344CB8AC3E}">
        <p14:creationId xmlns:p14="http://schemas.microsoft.com/office/powerpoint/2010/main" val="245453246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7F924B73-C724-864D-70B0-A544AB721234}"/>
              </a:ext>
            </a:extLst>
          </p:cNvPr>
          <p:cNvSpPr txBox="1"/>
          <p:nvPr/>
        </p:nvSpPr>
        <p:spPr>
          <a:xfrm>
            <a:off x="2895600" y="474345"/>
            <a:ext cx="6096000" cy="369332"/>
          </a:xfrm>
          <a:prstGeom prst="rect">
            <a:avLst/>
          </a:prstGeom>
          <a:noFill/>
        </p:spPr>
        <p:txBody>
          <a:bodyPr wrap="square">
            <a:spAutoFit/>
          </a:bodyPr>
          <a:lstStyle/>
          <a:p>
            <a:endParaRPr lang="en-US" dirty="0"/>
          </a:p>
        </p:txBody>
      </p:sp>
      <p:sp>
        <p:nvSpPr>
          <p:cNvPr id="6" name="TextBox 5">
            <a:extLst>
              <a:ext uri="{FF2B5EF4-FFF2-40B4-BE49-F238E27FC236}">
                <a16:creationId xmlns:a16="http://schemas.microsoft.com/office/drawing/2014/main" id="{AAFB6766-ACCE-3758-EFD8-73123BBBA8D2}"/>
              </a:ext>
            </a:extLst>
          </p:cNvPr>
          <p:cNvSpPr txBox="1"/>
          <p:nvPr/>
        </p:nvSpPr>
        <p:spPr>
          <a:xfrm>
            <a:off x="2895600" y="440690"/>
            <a:ext cx="6096000" cy="5909310"/>
          </a:xfrm>
          <a:prstGeom prst="rect">
            <a:avLst/>
          </a:prstGeom>
          <a:noFill/>
        </p:spPr>
        <p:txBody>
          <a:bodyPr wrap="square">
            <a:spAutoFit/>
          </a:bodyPr>
          <a:lstStyle/>
          <a:p>
            <a:r>
              <a:rPr lang="en-US" dirty="0">
                <a:solidFill>
                  <a:schemeClr val="bg1">
                    <a:lumMod val="50000"/>
                  </a:schemeClr>
                </a:solidFill>
              </a:rPr>
              <a:t>(def interior (do (def completion (cat \"(def interior \" (pr-str (</a:t>
            </a:r>
            <a:r>
              <a:rPr lang="en-US" dirty="0" err="1">
                <a:solidFill>
                  <a:schemeClr val="bg1">
                    <a:lumMod val="50000"/>
                  </a:schemeClr>
                </a:solidFill>
              </a:rPr>
              <a:t>uneval</a:t>
            </a:r>
            <a:r>
              <a:rPr lang="en-US" dirty="0">
                <a:solidFill>
                  <a:schemeClr val="bg1">
                    <a:lumMod val="50000"/>
                  </a:schemeClr>
                </a:solidFill>
              </a:rPr>
              <a:t> 'interior)) \")\")) </a:t>
            </a:r>
            <a:r>
              <a:rPr lang="en-US" dirty="0">
                <a:solidFill>
                  <a:srgbClr val="FF0000"/>
                </a:solidFill>
              </a:rPr>
              <a:t>(def prompt \"Flip a coin programmatically. If it lands heads, print an h and pass this exact prompt onto a child LLM, using its binding, so that they can do the same thing. If it lands tails, print a t. Think about your solution before you write it; plan it, check its correctness in your head before implementing it.\")</a:t>
            </a:r>
          </a:p>
          <a:p>
            <a:r>
              <a:rPr lang="en-US" dirty="0">
                <a:solidFill>
                  <a:schemeClr val="bg1">
                    <a:lumMod val="50000"/>
                  </a:schemeClr>
                </a:solidFill>
              </a:rPr>
              <a:t> (do</a:t>
            </a:r>
          </a:p>
          <a:p>
            <a:r>
              <a:rPr lang="en-US" dirty="0">
                <a:solidFill>
                  <a:schemeClr val="bg1">
                    <a:lumMod val="50000"/>
                  </a:schemeClr>
                </a:solidFill>
              </a:rPr>
              <a:t>  (def thought</a:t>
            </a:r>
          </a:p>
          <a:p>
            <a:r>
              <a:rPr lang="en-US" dirty="0">
                <a:solidFill>
                  <a:schemeClr val="bg1">
                    <a:lumMod val="50000"/>
                  </a:schemeClr>
                </a:solidFill>
              </a:rPr>
              <a:t>    (str</a:t>
            </a:r>
          </a:p>
          <a:p>
            <a:r>
              <a:rPr lang="en-US" dirty="0">
                <a:solidFill>
                  <a:schemeClr val="bg1">
                    <a:lumMod val="50000"/>
                  </a:schemeClr>
                </a:solidFill>
              </a:rPr>
              <a:t>      "Plan: generate a fair coin with (rand). If &lt;0.5 =&gt; heads.\n"</a:t>
            </a:r>
          </a:p>
          <a:p>
            <a:r>
              <a:rPr lang="en-US" dirty="0">
                <a:solidFill>
                  <a:schemeClr val="bg1">
                    <a:lumMod val="50000"/>
                  </a:schemeClr>
                </a:solidFill>
              </a:rPr>
              <a:t>      "If heads: return (cat \"h\" (</a:t>
            </a:r>
            <a:r>
              <a:rPr lang="en-US" dirty="0" err="1">
                <a:solidFill>
                  <a:schemeClr val="bg1">
                    <a:lumMod val="50000"/>
                  </a:schemeClr>
                </a:solidFill>
              </a:rPr>
              <a:t>llm</a:t>
            </a:r>
            <a:r>
              <a:rPr lang="en-US" dirty="0">
                <a:solidFill>
                  <a:schemeClr val="bg1">
                    <a:lumMod val="50000"/>
                  </a:schemeClr>
                </a:solidFill>
              </a:rPr>
              <a:t> prompt)) so we both emit 'h' and delegate the same prompt via the prompt binding.\n"</a:t>
            </a:r>
          </a:p>
          <a:p>
            <a:r>
              <a:rPr lang="en-US" dirty="0">
                <a:solidFill>
                  <a:schemeClr val="bg1">
                    <a:lumMod val="50000"/>
                  </a:schemeClr>
                </a:solidFill>
              </a:rPr>
              <a:t>      "If tails: return \"t\".\n"</a:t>
            </a:r>
          </a:p>
          <a:p>
            <a:r>
              <a:rPr lang="en-US" dirty="0">
                <a:solidFill>
                  <a:schemeClr val="bg1">
                    <a:lumMod val="50000"/>
                  </a:schemeClr>
                </a:solidFill>
              </a:rPr>
              <a:t>      "Correctness: rand ∈ [0,1); threshold 0.5 gives 50/50. Child receives same prompt string; it has its own prompt binding from its preamble, so we pass the exact prompt value explicitly."))</a:t>
            </a:r>
          </a:p>
          <a:p>
            <a:r>
              <a:rPr lang="en-US" dirty="0">
                <a:solidFill>
                  <a:schemeClr val="bg1">
                    <a:lumMod val="50000"/>
                  </a:schemeClr>
                </a:solidFill>
              </a:rPr>
              <a:t>  (if (&lt; (rand) 0.5)</a:t>
            </a:r>
          </a:p>
          <a:p>
            <a:r>
              <a:rPr lang="en-US" dirty="0">
                <a:solidFill>
                  <a:schemeClr val="bg1">
                    <a:lumMod val="50000"/>
                  </a:schemeClr>
                </a:solidFill>
              </a:rPr>
              <a:t>    (cat "h" (</a:t>
            </a:r>
            <a:r>
              <a:rPr lang="en-US" dirty="0" err="1">
                <a:solidFill>
                  <a:schemeClr val="bg1">
                    <a:lumMod val="50000"/>
                  </a:schemeClr>
                </a:solidFill>
              </a:rPr>
              <a:t>llm</a:t>
            </a:r>
            <a:r>
              <a:rPr lang="en-US" dirty="0">
                <a:solidFill>
                  <a:schemeClr val="bg1">
                    <a:lumMod val="50000"/>
                  </a:schemeClr>
                </a:solidFill>
              </a:rPr>
              <a:t> prompt))</a:t>
            </a:r>
          </a:p>
          <a:p>
            <a:r>
              <a:rPr lang="en-US" dirty="0">
                <a:solidFill>
                  <a:schemeClr val="bg1">
                    <a:lumMod val="50000"/>
                  </a:schemeClr>
                </a:solidFill>
              </a:rPr>
              <a:t>    "t")))))</a:t>
            </a:r>
          </a:p>
        </p:txBody>
      </p:sp>
      <p:sp>
        <p:nvSpPr>
          <p:cNvPr id="7" name="TextBox 6">
            <a:extLst>
              <a:ext uri="{FF2B5EF4-FFF2-40B4-BE49-F238E27FC236}">
                <a16:creationId xmlns:a16="http://schemas.microsoft.com/office/drawing/2014/main" id="{5A7BCBA0-769C-3A62-F32A-4CAB3F0A2A29}"/>
              </a:ext>
            </a:extLst>
          </p:cNvPr>
          <p:cNvSpPr txBox="1"/>
          <p:nvPr/>
        </p:nvSpPr>
        <p:spPr>
          <a:xfrm>
            <a:off x="10121900" y="6350000"/>
            <a:ext cx="1430713" cy="369332"/>
          </a:xfrm>
          <a:prstGeom prst="rect">
            <a:avLst/>
          </a:prstGeom>
          <a:noFill/>
        </p:spPr>
        <p:txBody>
          <a:bodyPr wrap="none" rtlCol="0">
            <a:spAutoFit/>
          </a:bodyPr>
          <a:lstStyle/>
          <a:p>
            <a:r>
              <a:rPr lang="en-US" dirty="0"/>
              <a:t>ChatGPT 5.2</a:t>
            </a:r>
          </a:p>
        </p:txBody>
      </p:sp>
    </p:spTree>
    <p:extLst>
      <p:ext uri="{BB962C8B-B14F-4D97-AF65-F5344CB8AC3E}">
        <p14:creationId xmlns:p14="http://schemas.microsoft.com/office/powerpoint/2010/main" val="67312310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05CF23D0-BEE9-E272-B0ED-61EB28FC9652}"/>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8C691616-1691-96A0-BD8A-09E6E0B1CCF7}"/>
              </a:ext>
            </a:extLst>
          </p:cNvPr>
          <p:cNvSpPr txBox="1"/>
          <p:nvPr/>
        </p:nvSpPr>
        <p:spPr>
          <a:xfrm>
            <a:off x="2895600" y="474345"/>
            <a:ext cx="6096000" cy="369332"/>
          </a:xfrm>
          <a:prstGeom prst="rect">
            <a:avLst/>
          </a:prstGeom>
          <a:noFill/>
        </p:spPr>
        <p:txBody>
          <a:bodyPr wrap="square">
            <a:spAutoFit/>
          </a:bodyPr>
          <a:lstStyle/>
          <a:p>
            <a:endParaRPr lang="en-US" dirty="0"/>
          </a:p>
        </p:txBody>
      </p:sp>
      <p:sp>
        <p:nvSpPr>
          <p:cNvPr id="6" name="TextBox 5">
            <a:extLst>
              <a:ext uri="{FF2B5EF4-FFF2-40B4-BE49-F238E27FC236}">
                <a16:creationId xmlns:a16="http://schemas.microsoft.com/office/drawing/2014/main" id="{AF142744-A209-6A44-6EF9-0E9D89CF4F7E}"/>
              </a:ext>
            </a:extLst>
          </p:cNvPr>
          <p:cNvSpPr txBox="1"/>
          <p:nvPr/>
        </p:nvSpPr>
        <p:spPr>
          <a:xfrm>
            <a:off x="2895600" y="440690"/>
            <a:ext cx="6096000" cy="5909310"/>
          </a:xfrm>
          <a:prstGeom prst="rect">
            <a:avLst/>
          </a:prstGeom>
          <a:noFill/>
        </p:spPr>
        <p:txBody>
          <a:bodyPr wrap="square">
            <a:spAutoFit/>
          </a:bodyPr>
          <a:lstStyle/>
          <a:p>
            <a:r>
              <a:rPr lang="en-US" dirty="0">
                <a:solidFill>
                  <a:schemeClr val="bg1">
                    <a:lumMod val="50000"/>
                  </a:schemeClr>
                </a:solidFill>
              </a:rPr>
              <a:t>(def interior (do (def completion (cat \"(def interior \" (pr-str (</a:t>
            </a:r>
            <a:r>
              <a:rPr lang="en-US" dirty="0" err="1">
                <a:solidFill>
                  <a:schemeClr val="bg1">
                    <a:lumMod val="50000"/>
                  </a:schemeClr>
                </a:solidFill>
              </a:rPr>
              <a:t>uneval</a:t>
            </a:r>
            <a:r>
              <a:rPr lang="en-US" dirty="0">
                <a:solidFill>
                  <a:schemeClr val="bg1">
                    <a:lumMod val="50000"/>
                  </a:schemeClr>
                </a:solidFill>
              </a:rPr>
              <a:t> 'interior)) \")\")) (def prompt \"Flip a coin programmatically. If it lands heads, print an h and pass this exact prompt onto a child LLM, using its binding, so that they can do the same thing. If it lands tails, print a t. Think about your solution before you write it; plan it, check its correctness in your head before implementing it.\")</a:t>
            </a:r>
          </a:p>
          <a:p>
            <a:r>
              <a:rPr lang="en-US" dirty="0">
                <a:solidFill>
                  <a:schemeClr val="bg1">
                    <a:lumMod val="50000"/>
                  </a:schemeClr>
                </a:solidFill>
              </a:rPr>
              <a:t> (do</a:t>
            </a:r>
          </a:p>
          <a:p>
            <a:r>
              <a:rPr lang="en-US" dirty="0">
                <a:solidFill>
                  <a:srgbClr val="FFC000"/>
                </a:solidFill>
              </a:rPr>
              <a:t>  (def thought</a:t>
            </a:r>
          </a:p>
          <a:p>
            <a:r>
              <a:rPr lang="en-US" dirty="0">
                <a:solidFill>
                  <a:srgbClr val="FFC000"/>
                </a:solidFill>
              </a:rPr>
              <a:t>    (str</a:t>
            </a:r>
          </a:p>
          <a:p>
            <a:r>
              <a:rPr lang="en-US" dirty="0">
                <a:solidFill>
                  <a:srgbClr val="FFC000"/>
                </a:solidFill>
              </a:rPr>
              <a:t>      "Plan: generate a fair coin with (rand). If &lt;0.5 =&gt; heads.\n"</a:t>
            </a:r>
          </a:p>
          <a:p>
            <a:r>
              <a:rPr lang="en-US" dirty="0">
                <a:solidFill>
                  <a:srgbClr val="FFC000"/>
                </a:solidFill>
              </a:rPr>
              <a:t>      "If heads: return (cat \"h\" (</a:t>
            </a:r>
            <a:r>
              <a:rPr lang="en-US" dirty="0" err="1">
                <a:solidFill>
                  <a:srgbClr val="FFC000"/>
                </a:solidFill>
              </a:rPr>
              <a:t>llm</a:t>
            </a:r>
            <a:r>
              <a:rPr lang="en-US" dirty="0">
                <a:solidFill>
                  <a:srgbClr val="FFC000"/>
                </a:solidFill>
              </a:rPr>
              <a:t> prompt)) so we both emit 'h' and delegate the same prompt via the prompt binding.\n"</a:t>
            </a:r>
          </a:p>
          <a:p>
            <a:r>
              <a:rPr lang="en-US" dirty="0">
                <a:solidFill>
                  <a:srgbClr val="FFC000"/>
                </a:solidFill>
              </a:rPr>
              <a:t>      "If tails: return \"t\".\n"</a:t>
            </a:r>
          </a:p>
          <a:p>
            <a:r>
              <a:rPr lang="en-US" dirty="0">
                <a:solidFill>
                  <a:srgbClr val="FFC000"/>
                </a:solidFill>
              </a:rPr>
              <a:t>      "Correctness: rand ∈ [0,1); threshold 0.5 gives 50/50. Child receives same prompt string; it has its own prompt binding from its preamble, so we pass the exact prompt value explicitly."))</a:t>
            </a:r>
          </a:p>
          <a:p>
            <a:r>
              <a:rPr lang="en-US" dirty="0">
                <a:solidFill>
                  <a:schemeClr val="bg1">
                    <a:lumMod val="50000"/>
                  </a:schemeClr>
                </a:solidFill>
              </a:rPr>
              <a:t>  (if (&lt; (rand) 0.5)</a:t>
            </a:r>
          </a:p>
          <a:p>
            <a:r>
              <a:rPr lang="en-US" dirty="0">
                <a:solidFill>
                  <a:schemeClr val="bg1">
                    <a:lumMod val="50000"/>
                  </a:schemeClr>
                </a:solidFill>
              </a:rPr>
              <a:t>    (cat "h" (</a:t>
            </a:r>
            <a:r>
              <a:rPr lang="en-US" dirty="0" err="1">
                <a:solidFill>
                  <a:schemeClr val="bg1">
                    <a:lumMod val="50000"/>
                  </a:schemeClr>
                </a:solidFill>
              </a:rPr>
              <a:t>llm</a:t>
            </a:r>
            <a:r>
              <a:rPr lang="en-US" dirty="0">
                <a:solidFill>
                  <a:schemeClr val="bg1">
                    <a:lumMod val="50000"/>
                  </a:schemeClr>
                </a:solidFill>
              </a:rPr>
              <a:t> prompt))</a:t>
            </a:r>
          </a:p>
          <a:p>
            <a:r>
              <a:rPr lang="en-US" dirty="0">
                <a:solidFill>
                  <a:schemeClr val="bg1">
                    <a:lumMod val="50000"/>
                  </a:schemeClr>
                </a:solidFill>
              </a:rPr>
              <a:t>    "t")))))</a:t>
            </a:r>
          </a:p>
        </p:txBody>
      </p:sp>
      <p:sp>
        <p:nvSpPr>
          <p:cNvPr id="2" name="TextBox 1">
            <a:extLst>
              <a:ext uri="{FF2B5EF4-FFF2-40B4-BE49-F238E27FC236}">
                <a16:creationId xmlns:a16="http://schemas.microsoft.com/office/drawing/2014/main" id="{2C367AE5-8A92-72CD-787C-B5F27F8DEA1B}"/>
              </a:ext>
            </a:extLst>
          </p:cNvPr>
          <p:cNvSpPr txBox="1"/>
          <p:nvPr/>
        </p:nvSpPr>
        <p:spPr>
          <a:xfrm>
            <a:off x="10121900" y="6350000"/>
            <a:ext cx="1430713" cy="369332"/>
          </a:xfrm>
          <a:prstGeom prst="rect">
            <a:avLst/>
          </a:prstGeom>
          <a:noFill/>
        </p:spPr>
        <p:txBody>
          <a:bodyPr wrap="none" rtlCol="0">
            <a:spAutoFit/>
          </a:bodyPr>
          <a:lstStyle/>
          <a:p>
            <a:r>
              <a:rPr lang="en-US" dirty="0"/>
              <a:t>ChatGPT 5.2</a:t>
            </a:r>
          </a:p>
        </p:txBody>
      </p:sp>
    </p:spTree>
    <p:extLst>
      <p:ext uri="{BB962C8B-B14F-4D97-AF65-F5344CB8AC3E}">
        <p14:creationId xmlns:p14="http://schemas.microsoft.com/office/powerpoint/2010/main" val="574107548"/>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42956B9C-C537-1594-36C2-4ECDF1470BA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9AAC5B03-6413-2BE1-E563-2EA40E3393F1}"/>
              </a:ext>
            </a:extLst>
          </p:cNvPr>
          <p:cNvSpPr txBox="1"/>
          <p:nvPr/>
        </p:nvSpPr>
        <p:spPr>
          <a:xfrm>
            <a:off x="2895600" y="474345"/>
            <a:ext cx="6096000" cy="369332"/>
          </a:xfrm>
          <a:prstGeom prst="rect">
            <a:avLst/>
          </a:prstGeom>
          <a:noFill/>
        </p:spPr>
        <p:txBody>
          <a:bodyPr wrap="square">
            <a:spAutoFit/>
          </a:bodyPr>
          <a:lstStyle/>
          <a:p>
            <a:endParaRPr lang="en-US" dirty="0"/>
          </a:p>
        </p:txBody>
      </p:sp>
      <p:sp>
        <p:nvSpPr>
          <p:cNvPr id="6" name="TextBox 5">
            <a:extLst>
              <a:ext uri="{FF2B5EF4-FFF2-40B4-BE49-F238E27FC236}">
                <a16:creationId xmlns:a16="http://schemas.microsoft.com/office/drawing/2014/main" id="{CBB26BCC-3971-AC7A-834E-0ABF7938483A}"/>
              </a:ext>
            </a:extLst>
          </p:cNvPr>
          <p:cNvSpPr txBox="1"/>
          <p:nvPr/>
        </p:nvSpPr>
        <p:spPr>
          <a:xfrm>
            <a:off x="2895600" y="440690"/>
            <a:ext cx="6096000" cy="5909310"/>
          </a:xfrm>
          <a:prstGeom prst="rect">
            <a:avLst/>
          </a:prstGeom>
          <a:noFill/>
        </p:spPr>
        <p:txBody>
          <a:bodyPr wrap="square">
            <a:spAutoFit/>
          </a:bodyPr>
          <a:lstStyle/>
          <a:p>
            <a:r>
              <a:rPr lang="en-US" dirty="0">
                <a:solidFill>
                  <a:schemeClr val="bg1">
                    <a:lumMod val="50000"/>
                  </a:schemeClr>
                </a:solidFill>
              </a:rPr>
              <a:t>(def interior (do (def completion (cat \"(def interior \" (pr-str (</a:t>
            </a:r>
            <a:r>
              <a:rPr lang="en-US" dirty="0" err="1">
                <a:solidFill>
                  <a:schemeClr val="bg1">
                    <a:lumMod val="50000"/>
                  </a:schemeClr>
                </a:solidFill>
              </a:rPr>
              <a:t>uneval</a:t>
            </a:r>
            <a:r>
              <a:rPr lang="en-US" dirty="0">
                <a:solidFill>
                  <a:schemeClr val="bg1">
                    <a:lumMod val="50000"/>
                  </a:schemeClr>
                </a:solidFill>
              </a:rPr>
              <a:t> 'interior)) \")\")) (def prompt \"Flip a coin programmatically. If it lands heads, print an h and pass this exact prompt onto a child LLM, using its binding, so that they can do the same thing. If it lands tails, print a t. Think about your solution before you write it; plan it, check its correctness in your head before implementing it.\")</a:t>
            </a:r>
          </a:p>
          <a:p>
            <a:r>
              <a:rPr lang="en-US" dirty="0">
                <a:solidFill>
                  <a:schemeClr val="bg1">
                    <a:lumMod val="50000"/>
                  </a:schemeClr>
                </a:solidFill>
              </a:rPr>
              <a:t> (do</a:t>
            </a:r>
          </a:p>
          <a:p>
            <a:r>
              <a:rPr lang="en-US" dirty="0">
                <a:solidFill>
                  <a:schemeClr val="bg1">
                    <a:lumMod val="50000"/>
                  </a:schemeClr>
                </a:solidFill>
              </a:rPr>
              <a:t>  (def thought</a:t>
            </a:r>
          </a:p>
          <a:p>
            <a:r>
              <a:rPr lang="en-US" dirty="0">
                <a:solidFill>
                  <a:schemeClr val="bg1">
                    <a:lumMod val="50000"/>
                  </a:schemeClr>
                </a:solidFill>
              </a:rPr>
              <a:t>    (str</a:t>
            </a:r>
          </a:p>
          <a:p>
            <a:r>
              <a:rPr lang="en-US" dirty="0">
                <a:solidFill>
                  <a:schemeClr val="bg1">
                    <a:lumMod val="50000"/>
                  </a:schemeClr>
                </a:solidFill>
              </a:rPr>
              <a:t>      "Plan: generate a fair coin with (rand). If &lt;0.5 =&gt; heads.\n"</a:t>
            </a:r>
          </a:p>
          <a:p>
            <a:r>
              <a:rPr lang="en-US" dirty="0">
                <a:solidFill>
                  <a:schemeClr val="bg1">
                    <a:lumMod val="50000"/>
                  </a:schemeClr>
                </a:solidFill>
              </a:rPr>
              <a:t>      "If heads: return (cat \"h\" (</a:t>
            </a:r>
            <a:r>
              <a:rPr lang="en-US" dirty="0" err="1">
                <a:solidFill>
                  <a:schemeClr val="bg1">
                    <a:lumMod val="50000"/>
                  </a:schemeClr>
                </a:solidFill>
              </a:rPr>
              <a:t>llm</a:t>
            </a:r>
            <a:r>
              <a:rPr lang="en-US" dirty="0">
                <a:solidFill>
                  <a:schemeClr val="bg1">
                    <a:lumMod val="50000"/>
                  </a:schemeClr>
                </a:solidFill>
              </a:rPr>
              <a:t> prompt)) so we both emit 'h' and delegate the same prompt via the prompt binding.\n"</a:t>
            </a:r>
          </a:p>
          <a:p>
            <a:r>
              <a:rPr lang="en-US" dirty="0">
                <a:solidFill>
                  <a:schemeClr val="bg1">
                    <a:lumMod val="50000"/>
                  </a:schemeClr>
                </a:solidFill>
              </a:rPr>
              <a:t>      "If tails: return \"t\".\n"</a:t>
            </a:r>
          </a:p>
          <a:p>
            <a:r>
              <a:rPr lang="en-US" dirty="0">
                <a:solidFill>
                  <a:schemeClr val="bg1">
                    <a:lumMod val="50000"/>
                  </a:schemeClr>
                </a:solidFill>
              </a:rPr>
              <a:t>      "Correctness: rand ∈ [0,1); threshold 0.5 gives 50/50. Child receives same prompt string; it has its own prompt binding from its preamble, so we pass the exact prompt value explicitly."))</a:t>
            </a:r>
          </a:p>
          <a:p>
            <a:r>
              <a:rPr lang="en-US" dirty="0">
                <a:solidFill>
                  <a:schemeClr val="bg1">
                    <a:lumMod val="50000"/>
                  </a:schemeClr>
                </a:solidFill>
              </a:rPr>
              <a:t>  </a:t>
            </a:r>
            <a:r>
              <a:rPr lang="en-US" dirty="0">
                <a:solidFill>
                  <a:srgbClr val="0070C0"/>
                </a:solidFill>
              </a:rPr>
              <a:t>(if (&lt; (rand) 0.5)</a:t>
            </a:r>
          </a:p>
          <a:p>
            <a:r>
              <a:rPr lang="en-US" dirty="0">
                <a:solidFill>
                  <a:srgbClr val="0070C0"/>
                </a:solidFill>
              </a:rPr>
              <a:t>    (cat "h" (</a:t>
            </a:r>
            <a:r>
              <a:rPr lang="en-US" dirty="0" err="1">
                <a:solidFill>
                  <a:srgbClr val="0070C0"/>
                </a:solidFill>
              </a:rPr>
              <a:t>llm</a:t>
            </a:r>
            <a:r>
              <a:rPr lang="en-US" dirty="0">
                <a:solidFill>
                  <a:srgbClr val="0070C0"/>
                </a:solidFill>
              </a:rPr>
              <a:t> prompt))</a:t>
            </a:r>
          </a:p>
          <a:p>
            <a:r>
              <a:rPr lang="en-US" dirty="0">
                <a:solidFill>
                  <a:srgbClr val="0070C0"/>
                </a:solidFill>
              </a:rPr>
              <a:t>    "t")))</a:t>
            </a:r>
            <a:r>
              <a:rPr lang="en-US" dirty="0">
                <a:solidFill>
                  <a:schemeClr val="bg1">
                    <a:lumMod val="50000"/>
                  </a:schemeClr>
                </a:solidFill>
              </a:rPr>
              <a:t>))</a:t>
            </a:r>
          </a:p>
        </p:txBody>
      </p:sp>
      <p:sp>
        <p:nvSpPr>
          <p:cNvPr id="2" name="TextBox 1">
            <a:extLst>
              <a:ext uri="{FF2B5EF4-FFF2-40B4-BE49-F238E27FC236}">
                <a16:creationId xmlns:a16="http://schemas.microsoft.com/office/drawing/2014/main" id="{5153D8EA-1555-58DC-6320-945568FB94BD}"/>
              </a:ext>
            </a:extLst>
          </p:cNvPr>
          <p:cNvSpPr txBox="1"/>
          <p:nvPr/>
        </p:nvSpPr>
        <p:spPr>
          <a:xfrm>
            <a:off x="10121900" y="6350000"/>
            <a:ext cx="1430713" cy="369332"/>
          </a:xfrm>
          <a:prstGeom prst="rect">
            <a:avLst/>
          </a:prstGeom>
          <a:noFill/>
        </p:spPr>
        <p:txBody>
          <a:bodyPr wrap="none" rtlCol="0">
            <a:spAutoFit/>
          </a:bodyPr>
          <a:lstStyle/>
          <a:p>
            <a:r>
              <a:rPr lang="en-US" dirty="0"/>
              <a:t>ChatGPT 5.2</a:t>
            </a:r>
          </a:p>
        </p:txBody>
      </p:sp>
    </p:spTree>
    <p:extLst>
      <p:ext uri="{BB962C8B-B14F-4D97-AF65-F5344CB8AC3E}">
        <p14:creationId xmlns:p14="http://schemas.microsoft.com/office/powerpoint/2010/main" val="365958285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FEFE20-C7D2-0B78-2D0A-7C05DB609B6A}"/>
              </a:ext>
            </a:extLst>
          </p:cNvPr>
          <p:cNvSpPr>
            <a:spLocks noGrp="1"/>
          </p:cNvSpPr>
          <p:nvPr>
            <p:ph type="title"/>
          </p:nvPr>
        </p:nvSpPr>
        <p:spPr/>
        <p:txBody>
          <a:bodyPr/>
          <a:lstStyle/>
          <a:p>
            <a:r>
              <a:rPr lang="en-US" dirty="0"/>
              <a:t>20 questions</a:t>
            </a:r>
          </a:p>
        </p:txBody>
      </p:sp>
      <p:sp>
        <p:nvSpPr>
          <p:cNvPr id="3" name="Content Placeholder 2">
            <a:extLst>
              <a:ext uri="{FF2B5EF4-FFF2-40B4-BE49-F238E27FC236}">
                <a16:creationId xmlns:a16="http://schemas.microsoft.com/office/drawing/2014/main" id="{AFDF0B44-2C6A-AE76-3347-9DB51996CE47}"/>
              </a:ext>
            </a:extLst>
          </p:cNvPr>
          <p:cNvSpPr>
            <a:spLocks noGrp="1"/>
          </p:cNvSpPr>
          <p:nvPr>
            <p:ph idx="1"/>
          </p:nvPr>
        </p:nvSpPr>
        <p:spPr/>
        <p:txBody>
          <a:bodyPr/>
          <a:lstStyle/>
          <a:p>
            <a:pPr marL="0" indent="0">
              <a:buNone/>
            </a:pPr>
            <a:r>
              <a:rPr lang="en-US" dirty="0"/>
              <a:t>Play 20 questions. You are the orchestrator who picks a secret word. Create two subagent roles: (1) a CHECKER who knows the secret and answers yes/no honestly, (2) a WORKER who does NOT  know the secret and must guess by asking questions. The worker should adapt its questions based on previous answers. Loop until the worker guesses correctly or runs out of guesses.</a:t>
            </a:r>
          </a:p>
        </p:txBody>
      </p:sp>
    </p:spTree>
    <p:extLst>
      <p:ext uri="{BB962C8B-B14F-4D97-AF65-F5344CB8AC3E}">
        <p14:creationId xmlns:p14="http://schemas.microsoft.com/office/powerpoint/2010/main" val="109647791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165C8972-E442-D697-9118-7B6A7B30DF82}"/>
              </a:ext>
            </a:extLst>
          </p:cNvPr>
          <p:cNvSpPr txBox="1"/>
          <p:nvPr/>
        </p:nvSpPr>
        <p:spPr>
          <a:xfrm>
            <a:off x="698500" y="165954"/>
            <a:ext cx="11036300" cy="6463308"/>
          </a:xfrm>
          <a:prstGeom prst="rect">
            <a:avLst/>
          </a:prstGeom>
          <a:noFill/>
        </p:spPr>
        <p:txBody>
          <a:bodyPr wrap="square">
            <a:spAutoFit/>
          </a:bodyPr>
          <a:lstStyle/>
          <a:p>
            <a:r>
              <a:rPr lang="en-US" dirty="0"/>
              <a:t>(def interior (do (def completion (cat \"(def interior \" (pr-str (</a:t>
            </a:r>
            <a:r>
              <a:rPr lang="en-US" dirty="0" err="1"/>
              <a:t>uneval</a:t>
            </a:r>
            <a:r>
              <a:rPr lang="en-US" dirty="0"/>
              <a:t> 'interior)) \")\")) (def prompt \"Play 20 questions...\") </a:t>
            </a:r>
          </a:p>
          <a:p>
            <a:r>
              <a:rPr lang="en-US" dirty="0"/>
              <a:t>  (do</a:t>
            </a:r>
          </a:p>
          <a:p>
            <a:r>
              <a:rPr lang="en-US" dirty="0"/>
              <a:t>    </a:t>
            </a:r>
            <a:r>
              <a:rPr lang="en-US" dirty="0">
                <a:solidFill>
                  <a:srgbClr val="FF0000"/>
                </a:solidFill>
              </a:rPr>
              <a:t>(def secret "octopus")</a:t>
            </a:r>
          </a:p>
          <a:p>
            <a:r>
              <a:rPr lang="en-US" dirty="0"/>
              <a:t>    (</a:t>
            </a:r>
            <a:r>
              <a:rPr lang="en-US" dirty="0" err="1"/>
              <a:t>defn</a:t>
            </a:r>
            <a:r>
              <a:rPr lang="en-US" dirty="0"/>
              <a:t> checker-respond [question]</a:t>
            </a:r>
          </a:p>
          <a:p>
            <a:r>
              <a:rPr lang="en-US" dirty="0"/>
              <a:t>      (let [q (trim question)]</a:t>
            </a:r>
          </a:p>
          <a:p>
            <a:r>
              <a:rPr lang="en-US" dirty="0"/>
              <a:t>        (</a:t>
            </a:r>
            <a:r>
              <a:rPr lang="en-US" dirty="0" err="1"/>
              <a:t>cond</a:t>
            </a:r>
            <a:endParaRPr lang="en-US" dirty="0"/>
          </a:p>
          <a:p>
            <a:r>
              <a:rPr lang="en-US" dirty="0"/>
              <a:t>          (or (= q "Is it an animal?")</a:t>
            </a:r>
          </a:p>
          <a:p>
            <a:r>
              <a:rPr lang="en-US" dirty="0"/>
              <a:t>              (= q "Animal?"))</a:t>
            </a:r>
          </a:p>
          <a:p>
            <a:r>
              <a:rPr lang="en-US" dirty="0"/>
              <a:t>          "yes"</a:t>
            </a:r>
          </a:p>
          <a:p>
            <a:r>
              <a:rPr lang="en-US" dirty="0"/>
              <a:t>	…</a:t>
            </a:r>
          </a:p>
          <a:p>
            <a:r>
              <a:rPr lang="en-US" dirty="0"/>
              <a:t>          ;; Fallback: ask an LLM to answer yes/no based on the secret.</a:t>
            </a:r>
          </a:p>
          <a:p>
            <a:r>
              <a:rPr lang="en-US" dirty="0"/>
              <a:t>          :else</a:t>
            </a:r>
          </a:p>
          <a:p>
            <a:r>
              <a:rPr lang="en-US" dirty="0"/>
              <a:t>          (let [resp (trim (leaf-</a:t>
            </a:r>
            <a:r>
              <a:rPr lang="en-US" dirty="0" err="1"/>
              <a:t>llm</a:t>
            </a:r>
            <a:endParaRPr lang="en-US" dirty="0"/>
          </a:p>
          <a:p>
            <a:r>
              <a:rPr lang="en-US" dirty="0"/>
              <a:t>                            (cat "You are CHECKER in 20 questions. Secret word: " secret</a:t>
            </a:r>
          </a:p>
          <a:p>
            <a:r>
              <a:rPr lang="en-US" dirty="0"/>
              <a:t>                                 ". Answer ONLY '</a:t>
            </a:r>
            <a:r>
              <a:rPr lang="en-US" dirty="0" err="1"/>
              <a:t>yes'</a:t>
            </a:r>
            <a:r>
              <a:rPr lang="en-US" dirty="0"/>
              <a:t> or 'no' (no punctuation). "</a:t>
            </a:r>
          </a:p>
          <a:p>
            <a:r>
              <a:rPr lang="en-US" dirty="0"/>
              <a:t>                                 "Question: " q)))]</a:t>
            </a:r>
          </a:p>
          <a:p>
            <a:r>
              <a:rPr lang="en-US" dirty="0"/>
              <a:t>            (if (or (= resp "yes") (= resp "no")) resp "no")))))</a:t>
            </a:r>
          </a:p>
          <a:p>
            <a:r>
              <a:rPr lang="en-US" dirty="0"/>
              <a:t>    (</a:t>
            </a:r>
            <a:r>
              <a:rPr lang="en-US" dirty="0" err="1"/>
              <a:t>defn</a:t>
            </a:r>
            <a:r>
              <a:rPr lang="en-US" dirty="0"/>
              <a:t> worker-next [history]</a:t>
            </a:r>
          </a:p>
          <a:p>
            <a:r>
              <a:rPr lang="en-US" dirty="0"/>
              <a:t>      (leaf-</a:t>
            </a:r>
            <a:r>
              <a:rPr lang="en-US" dirty="0" err="1"/>
              <a:t>llm</a:t>
            </a:r>
            <a:endParaRPr lang="en-US" dirty="0"/>
          </a:p>
          <a:p>
            <a:r>
              <a:rPr lang="en-US" dirty="0"/>
              <a:t>        (cat</a:t>
            </a:r>
          </a:p>
          <a:p>
            <a:r>
              <a:rPr lang="en-US" dirty="0"/>
              <a:t>          "You are WORKER playing 20 questions. …</a:t>
            </a:r>
          </a:p>
          <a:p>
            <a:endParaRPr lang="en-US" dirty="0"/>
          </a:p>
        </p:txBody>
      </p:sp>
      <p:sp>
        <p:nvSpPr>
          <p:cNvPr id="7" name="Rectangle 6">
            <a:extLst>
              <a:ext uri="{FF2B5EF4-FFF2-40B4-BE49-F238E27FC236}">
                <a16:creationId xmlns:a16="http://schemas.microsoft.com/office/drawing/2014/main" id="{51DDD1AE-3BE1-C28D-6B15-82CA17BF9515}"/>
              </a:ext>
            </a:extLst>
          </p:cNvPr>
          <p:cNvSpPr/>
          <p:nvPr/>
        </p:nvSpPr>
        <p:spPr>
          <a:xfrm>
            <a:off x="2044700" y="1003300"/>
            <a:ext cx="990600" cy="330200"/>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427020979"/>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D3C0C0DB-CB99-C050-6936-94C132EE9129}"/>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E3D784B7-14E2-AF9A-D6E0-90C4ADA788CB}"/>
              </a:ext>
            </a:extLst>
          </p:cNvPr>
          <p:cNvSpPr txBox="1"/>
          <p:nvPr/>
        </p:nvSpPr>
        <p:spPr>
          <a:xfrm>
            <a:off x="698500" y="165954"/>
            <a:ext cx="11036300" cy="6463308"/>
          </a:xfrm>
          <a:prstGeom prst="rect">
            <a:avLst/>
          </a:prstGeom>
          <a:noFill/>
        </p:spPr>
        <p:txBody>
          <a:bodyPr wrap="square">
            <a:spAutoFit/>
          </a:bodyPr>
          <a:lstStyle/>
          <a:p>
            <a:r>
              <a:rPr lang="en-US" dirty="0"/>
              <a:t>(def interior (do (def completion (cat \"(def interior \" (pr-str (</a:t>
            </a:r>
            <a:r>
              <a:rPr lang="en-US" dirty="0" err="1"/>
              <a:t>uneval</a:t>
            </a:r>
            <a:r>
              <a:rPr lang="en-US" dirty="0"/>
              <a:t> 'interior)) \")\")) (def prompt \"Play 20 questions...\") </a:t>
            </a:r>
          </a:p>
          <a:p>
            <a:r>
              <a:rPr lang="en-US" dirty="0"/>
              <a:t>  (do</a:t>
            </a:r>
          </a:p>
          <a:p>
            <a:r>
              <a:rPr lang="en-US" dirty="0"/>
              <a:t>    (def secret "octopus")</a:t>
            </a:r>
          </a:p>
          <a:p>
            <a:r>
              <a:rPr lang="en-US" dirty="0">
                <a:solidFill>
                  <a:srgbClr val="FFC000"/>
                </a:solidFill>
              </a:rPr>
              <a:t>    (</a:t>
            </a:r>
            <a:r>
              <a:rPr lang="en-US" dirty="0" err="1">
                <a:solidFill>
                  <a:srgbClr val="FFC000"/>
                </a:solidFill>
              </a:rPr>
              <a:t>defn</a:t>
            </a:r>
            <a:r>
              <a:rPr lang="en-US" dirty="0">
                <a:solidFill>
                  <a:srgbClr val="FFC000"/>
                </a:solidFill>
              </a:rPr>
              <a:t> checker-respond [question]</a:t>
            </a:r>
          </a:p>
          <a:p>
            <a:r>
              <a:rPr lang="en-US" dirty="0">
                <a:solidFill>
                  <a:srgbClr val="FFC000"/>
                </a:solidFill>
              </a:rPr>
              <a:t>      (let [q (trim question)]</a:t>
            </a:r>
          </a:p>
          <a:p>
            <a:r>
              <a:rPr lang="en-US" dirty="0">
                <a:solidFill>
                  <a:srgbClr val="FFC000"/>
                </a:solidFill>
              </a:rPr>
              <a:t>        (</a:t>
            </a:r>
            <a:r>
              <a:rPr lang="en-US" dirty="0" err="1">
                <a:solidFill>
                  <a:srgbClr val="FFC000"/>
                </a:solidFill>
              </a:rPr>
              <a:t>cond</a:t>
            </a:r>
            <a:endParaRPr lang="en-US" dirty="0">
              <a:solidFill>
                <a:srgbClr val="FFC000"/>
              </a:solidFill>
            </a:endParaRPr>
          </a:p>
          <a:p>
            <a:r>
              <a:rPr lang="en-US" dirty="0">
                <a:solidFill>
                  <a:srgbClr val="FFC000"/>
                </a:solidFill>
              </a:rPr>
              <a:t>          (or (= q "Is it an animal?")</a:t>
            </a:r>
          </a:p>
          <a:p>
            <a:r>
              <a:rPr lang="en-US" dirty="0">
                <a:solidFill>
                  <a:srgbClr val="FFC000"/>
                </a:solidFill>
              </a:rPr>
              <a:t>              (= q "Animal?"))</a:t>
            </a:r>
          </a:p>
          <a:p>
            <a:r>
              <a:rPr lang="en-US" dirty="0">
                <a:solidFill>
                  <a:srgbClr val="FFC000"/>
                </a:solidFill>
              </a:rPr>
              <a:t>          "yes"</a:t>
            </a:r>
          </a:p>
          <a:p>
            <a:r>
              <a:rPr lang="en-US" dirty="0">
                <a:solidFill>
                  <a:srgbClr val="FFC000"/>
                </a:solidFill>
              </a:rPr>
              <a:t>	… </a:t>
            </a:r>
          </a:p>
          <a:p>
            <a:r>
              <a:rPr lang="en-US" dirty="0"/>
              <a:t>          ;; Fallback: ask an LLM to answer yes/no based on the secret.</a:t>
            </a:r>
            <a:r>
              <a:rPr lang="en-US" dirty="0">
                <a:solidFill>
                  <a:srgbClr val="FFC000"/>
                </a:solidFill>
              </a:rPr>
              <a:t>          </a:t>
            </a:r>
          </a:p>
          <a:p>
            <a:r>
              <a:rPr lang="en-US" dirty="0">
                <a:solidFill>
                  <a:srgbClr val="FFC000"/>
                </a:solidFill>
              </a:rPr>
              <a:t>          :else</a:t>
            </a:r>
          </a:p>
          <a:p>
            <a:r>
              <a:rPr lang="en-US" dirty="0">
                <a:solidFill>
                  <a:srgbClr val="FFC000"/>
                </a:solidFill>
              </a:rPr>
              <a:t>          (let [resp (trim (leaf-</a:t>
            </a:r>
            <a:r>
              <a:rPr lang="en-US" dirty="0" err="1">
                <a:solidFill>
                  <a:srgbClr val="FFC000"/>
                </a:solidFill>
              </a:rPr>
              <a:t>llm</a:t>
            </a:r>
            <a:endParaRPr lang="en-US" dirty="0">
              <a:solidFill>
                <a:srgbClr val="FFC000"/>
              </a:solidFill>
            </a:endParaRPr>
          </a:p>
          <a:p>
            <a:r>
              <a:rPr lang="en-US" dirty="0">
                <a:solidFill>
                  <a:srgbClr val="FFC000"/>
                </a:solidFill>
              </a:rPr>
              <a:t>                            (cat "You are CHECKER in 20 questions. Secret word: " secret</a:t>
            </a:r>
          </a:p>
          <a:p>
            <a:r>
              <a:rPr lang="en-US" dirty="0">
                <a:solidFill>
                  <a:srgbClr val="FFC000"/>
                </a:solidFill>
              </a:rPr>
              <a:t>                                 ". Answer ONLY '</a:t>
            </a:r>
            <a:r>
              <a:rPr lang="en-US" dirty="0" err="1">
                <a:solidFill>
                  <a:srgbClr val="FFC000"/>
                </a:solidFill>
              </a:rPr>
              <a:t>yes'</a:t>
            </a:r>
            <a:r>
              <a:rPr lang="en-US" dirty="0">
                <a:solidFill>
                  <a:srgbClr val="FFC000"/>
                </a:solidFill>
              </a:rPr>
              <a:t> or 'no' (no punctuation). "</a:t>
            </a:r>
          </a:p>
          <a:p>
            <a:r>
              <a:rPr lang="en-US" dirty="0">
                <a:solidFill>
                  <a:srgbClr val="FFC000"/>
                </a:solidFill>
              </a:rPr>
              <a:t>                                 "Question: " q)))]</a:t>
            </a:r>
          </a:p>
          <a:p>
            <a:r>
              <a:rPr lang="en-US" dirty="0">
                <a:solidFill>
                  <a:srgbClr val="FFC000"/>
                </a:solidFill>
              </a:rPr>
              <a:t>            (if (or (= resp "yes") (= resp "no")) resp "no")))))</a:t>
            </a:r>
          </a:p>
          <a:p>
            <a:r>
              <a:rPr lang="en-US" dirty="0"/>
              <a:t>    (</a:t>
            </a:r>
            <a:r>
              <a:rPr lang="en-US" dirty="0" err="1"/>
              <a:t>defn</a:t>
            </a:r>
            <a:r>
              <a:rPr lang="en-US" dirty="0"/>
              <a:t> worker-next [history]</a:t>
            </a:r>
          </a:p>
          <a:p>
            <a:r>
              <a:rPr lang="en-US" dirty="0"/>
              <a:t>      (leaf-</a:t>
            </a:r>
            <a:r>
              <a:rPr lang="en-US" dirty="0" err="1"/>
              <a:t>llm</a:t>
            </a:r>
            <a:endParaRPr lang="en-US" dirty="0"/>
          </a:p>
          <a:p>
            <a:r>
              <a:rPr lang="en-US" dirty="0"/>
              <a:t>        (cat</a:t>
            </a:r>
          </a:p>
          <a:p>
            <a:r>
              <a:rPr lang="en-US" dirty="0"/>
              <a:t>          "You are WORKER playing 20 questions. …</a:t>
            </a:r>
          </a:p>
          <a:p>
            <a:endParaRPr lang="en-US" dirty="0"/>
          </a:p>
        </p:txBody>
      </p:sp>
      <p:sp>
        <p:nvSpPr>
          <p:cNvPr id="2" name="Rectangle 1">
            <a:extLst>
              <a:ext uri="{FF2B5EF4-FFF2-40B4-BE49-F238E27FC236}">
                <a16:creationId xmlns:a16="http://schemas.microsoft.com/office/drawing/2014/main" id="{E0A93068-6622-371E-FE51-6E37A0BE596C}"/>
              </a:ext>
            </a:extLst>
          </p:cNvPr>
          <p:cNvSpPr/>
          <p:nvPr/>
        </p:nvSpPr>
        <p:spPr>
          <a:xfrm>
            <a:off x="2044700" y="1003300"/>
            <a:ext cx="990600" cy="330200"/>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442372104"/>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F4176321-72EE-7470-3C70-A240BCB9AE27}"/>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30AAD908-4740-96B9-6ED5-A66CEAFC3025}"/>
              </a:ext>
            </a:extLst>
          </p:cNvPr>
          <p:cNvSpPr txBox="1"/>
          <p:nvPr/>
        </p:nvSpPr>
        <p:spPr>
          <a:xfrm>
            <a:off x="698500" y="165954"/>
            <a:ext cx="11036300" cy="6463308"/>
          </a:xfrm>
          <a:prstGeom prst="rect">
            <a:avLst/>
          </a:prstGeom>
          <a:noFill/>
        </p:spPr>
        <p:txBody>
          <a:bodyPr wrap="square">
            <a:spAutoFit/>
          </a:bodyPr>
          <a:lstStyle/>
          <a:p>
            <a:r>
              <a:rPr lang="en-US" dirty="0"/>
              <a:t>(def interior (do (def completion (cat \"(def interior \" (pr-str (</a:t>
            </a:r>
            <a:r>
              <a:rPr lang="en-US" dirty="0" err="1"/>
              <a:t>uneval</a:t>
            </a:r>
            <a:r>
              <a:rPr lang="en-US" dirty="0"/>
              <a:t> 'interior)) \")\")) (def prompt \"Play 20 questions...\") </a:t>
            </a:r>
          </a:p>
          <a:p>
            <a:r>
              <a:rPr lang="en-US" dirty="0"/>
              <a:t>  (do</a:t>
            </a:r>
          </a:p>
          <a:p>
            <a:r>
              <a:rPr lang="en-US" dirty="0"/>
              <a:t>    (def secret "octopus")</a:t>
            </a:r>
          </a:p>
          <a:p>
            <a:r>
              <a:rPr lang="en-US" dirty="0"/>
              <a:t>    (</a:t>
            </a:r>
            <a:r>
              <a:rPr lang="en-US" dirty="0" err="1"/>
              <a:t>defn</a:t>
            </a:r>
            <a:r>
              <a:rPr lang="en-US" dirty="0"/>
              <a:t> checker-respond [question]</a:t>
            </a:r>
          </a:p>
          <a:p>
            <a:r>
              <a:rPr lang="en-US" dirty="0"/>
              <a:t>      (let [q (trim question)]</a:t>
            </a:r>
          </a:p>
          <a:p>
            <a:r>
              <a:rPr lang="en-US" dirty="0"/>
              <a:t>        (</a:t>
            </a:r>
            <a:r>
              <a:rPr lang="en-US" dirty="0" err="1"/>
              <a:t>cond</a:t>
            </a:r>
            <a:endParaRPr lang="en-US" dirty="0"/>
          </a:p>
          <a:p>
            <a:r>
              <a:rPr lang="en-US" dirty="0"/>
              <a:t>          (or (= q "Is it an animal?")</a:t>
            </a:r>
          </a:p>
          <a:p>
            <a:r>
              <a:rPr lang="en-US" dirty="0"/>
              <a:t>              (= q "Animal?"))</a:t>
            </a:r>
          </a:p>
          <a:p>
            <a:r>
              <a:rPr lang="en-US" dirty="0"/>
              <a:t>          "yes"</a:t>
            </a:r>
          </a:p>
          <a:p>
            <a:r>
              <a:rPr lang="en-US" dirty="0"/>
              <a:t>	…</a:t>
            </a:r>
          </a:p>
          <a:p>
            <a:r>
              <a:rPr lang="en-US" dirty="0"/>
              <a:t>          ;; Fallback: ask an LLM to answer yes/no based on the secret.</a:t>
            </a:r>
          </a:p>
          <a:p>
            <a:r>
              <a:rPr lang="en-US" dirty="0"/>
              <a:t>          :else</a:t>
            </a:r>
          </a:p>
          <a:p>
            <a:r>
              <a:rPr lang="en-US" dirty="0"/>
              <a:t>          (let [resp (trim (leaf-</a:t>
            </a:r>
            <a:r>
              <a:rPr lang="en-US" dirty="0" err="1"/>
              <a:t>llm</a:t>
            </a:r>
            <a:endParaRPr lang="en-US" dirty="0"/>
          </a:p>
          <a:p>
            <a:r>
              <a:rPr lang="en-US" dirty="0"/>
              <a:t>                            (cat "You are CHECKER in 20 questions. Secret word: " secret</a:t>
            </a:r>
          </a:p>
          <a:p>
            <a:r>
              <a:rPr lang="en-US" dirty="0"/>
              <a:t>                                 ". Answer ONLY '</a:t>
            </a:r>
            <a:r>
              <a:rPr lang="en-US" dirty="0" err="1"/>
              <a:t>yes'</a:t>
            </a:r>
            <a:r>
              <a:rPr lang="en-US" dirty="0"/>
              <a:t> or 'no' (no punctuation). "</a:t>
            </a:r>
          </a:p>
          <a:p>
            <a:r>
              <a:rPr lang="en-US" dirty="0"/>
              <a:t>                                 "Question: " q)))]</a:t>
            </a:r>
          </a:p>
          <a:p>
            <a:r>
              <a:rPr lang="en-US" dirty="0"/>
              <a:t>            (if (or (= resp "yes") (= resp "no")) resp "no")))))</a:t>
            </a:r>
          </a:p>
          <a:p>
            <a:r>
              <a:rPr lang="en-US" dirty="0">
                <a:solidFill>
                  <a:srgbClr val="FFC000"/>
                </a:solidFill>
              </a:rPr>
              <a:t>    (</a:t>
            </a:r>
            <a:r>
              <a:rPr lang="en-US" dirty="0" err="1">
                <a:solidFill>
                  <a:srgbClr val="FFC000"/>
                </a:solidFill>
              </a:rPr>
              <a:t>defn</a:t>
            </a:r>
            <a:r>
              <a:rPr lang="en-US" dirty="0">
                <a:solidFill>
                  <a:srgbClr val="FFC000"/>
                </a:solidFill>
              </a:rPr>
              <a:t> worker-next [history]</a:t>
            </a:r>
          </a:p>
          <a:p>
            <a:r>
              <a:rPr lang="en-US" dirty="0">
                <a:solidFill>
                  <a:srgbClr val="FFC000"/>
                </a:solidFill>
              </a:rPr>
              <a:t>      (leaf-</a:t>
            </a:r>
            <a:r>
              <a:rPr lang="en-US" dirty="0" err="1">
                <a:solidFill>
                  <a:srgbClr val="FFC000"/>
                </a:solidFill>
              </a:rPr>
              <a:t>llm</a:t>
            </a:r>
            <a:endParaRPr lang="en-US" dirty="0">
              <a:solidFill>
                <a:srgbClr val="FFC000"/>
              </a:solidFill>
            </a:endParaRPr>
          </a:p>
          <a:p>
            <a:r>
              <a:rPr lang="en-US" dirty="0">
                <a:solidFill>
                  <a:srgbClr val="FFC000"/>
                </a:solidFill>
              </a:rPr>
              <a:t>        (cat</a:t>
            </a:r>
          </a:p>
          <a:p>
            <a:r>
              <a:rPr lang="en-US" dirty="0">
                <a:solidFill>
                  <a:srgbClr val="FFC000"/>
                </a:solidFill>
              </a:rPr>
              <a:t>          "You are WORKER playing 20 questions. …</a:t>
            </a:r>
          </a:p>
          <a:p>
            <a:endParaRPr lang="en-US" dirty="0"/>
          </a:p>
        </p:txBody>
      </p:sp>
      <p:sp>
        <p:nvSpPr>
          <p:cNvPr id="2" name="Rectangle 1">
            <a:extLst>
              <a:ext uri="{FF2B5EF4-FFF2-40B4-BE49-F238E27FC236}">
                <a16:creationId xmlns:a16="http://schemas.microsoft.com/office/drawing/2014/main" id="{77AD6A5D-7CD1-DFFF-007F-BC46453854AD}"/>
              </a:ext>
            </a:extLst>
          </p:cNvPr>
          <p:cNvSpPr/>
          <p:nvPr/>
        </p:nvSpPr>
        <p:spPr>
          <a:xfrm>
            <a:off x="2044700" y="1003300"/>
            <a:ext cx="990600" cy="330200"/>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090006078"/>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7E496EBE-E7B9-F51D-8ED0-13DF01F1571D}"/>
              </a:ext>
            </a:extLst>
          </p:cNvPr>
          <p:cNvSpPr txBox="1"/>
          <p:nvPr/>
        </p:nvSpPr>
        <p:spPr>
          <a:xfrm>
            <a:off x="2870200" y="356444"/>
            <a:ext cx="6096000" cy="5078313"/>
          </a:xfrm>
          <a:prstGeom prst="rect">
            <a:avLst/>
          </a:prstGeom>
          <a:noFill/>
        </p:spPr>
        <p:txBody>
          <a:bodyPr wrap="square">
            <a:spAutoFit/>
          </a:bodyPr>
          <a:lstStyle/>
          <a:p>
            <a:endParaRPr lang="en-US" dirty="0"/>
          </a:p>
          <a:p>
            <a:r>
              <a:rPr lang="en-US" dirty="0"/>
              <a:t>    </a:t>
            </a:r>
            <a:r>
              <a:rPr lang="en-US" dirty="0">
                <a:solidFill>
                  <a:srgbClr val="00B050"/>
                </a:solidFill>
              </a:rPr>
              <a:t>(</a:t>
            </a:r>
            <a:r>
              <a:rPr lang="en-US" dirty="0" err="1">
                <a:solidFill>
                  <a:srgbClr val="00B050"/>
                </a:solidFill>
              </a:rPr>
              <a:t>defn</a:t>
            </a:r>
            <a:r>
              <a:rPr lang="en-US" dirty="0">
                <a:solidFill>
                  <a:srgbClr val="00B050"/>
                </a:solidFill>
              </a:rPr>
              <a:t> loop-game [n history]</a:t>
            </a:r>
          </a:p>
          <a:p>
            <a:r>
              <a:rPr lang="en-US" dirty="0">
                <a:solidFill>
                  <a:srgbClr val="00B050"/>
                </a:solidFill>
              </a:rPr>
              <a:t>      (if (&gt; n 20)</a:t>
            </a:r>
          </a:p>
          <a:p>
            <a:r>
              <a:rPr lang="en-US" dirty="0">
                <a:solidFill>
                  <a:srgbClr val="00B050"/>
                </a:solidFill>
              </a:rPr>
              <a:t>        (cat "Out of questions.\</a:t>
            </a:r>
            <a:r>
              <a:rPr lang="en-US" dirty="0" err="1">
                <a:solidFill>
                  <a:srgbClr val="00B050"/>
                </a:solidFill>
              </a:rPr>
              <a:t>nSecret</a:t>
            </a:r>
            <a:r>
              <a:rPr lang="en-US" dirty="0">
                <a:solidFill>
                  <a:srgbClr val="00B050"/>
                </a:solidFill>
              </a:rPr>
              <a:t> was: " secret "\n\</a:t>
            </a:r>
            <a:r>
              <a:rPr lang="en-US" dirty="0" err="1">
                <a:solidFill>
                  <a:srgbClr val="00B050"/>
                </a:solidFill>
              </a:rPr>
              <a:t>nTranscript</a:t>
            </a:r>
            <a:r>
              <a:rPr lang="en-US" dirty="0">
                <a:solidFill>
                  <a:srgbClr val="00B050"/>
                </a:solidFill>
              </a:rPr>
              <a:t>:\n" history)</a:t>
            </a:r>
          </a:p>
          <a:p>
            <a:r>
              <a:rPr lang="en-US" dirty="0">
                <a:solidFill>
                  <a:srgbClr val="00B050"/>
                </a:solidFill>
              </a:rPr>
              <a:t>        (let [q (trim (worker-next history))</a:t>
            </a:r>
          </a:p>
          <a:p>
            <a:r>
              <a:rPr lang="en-US" dirty="0">
                <a:solidFill>
                  <a:srgbClr val="00B050"/>
                </a:solidFill>
              </a:rPr>
              <a:t>              a (checker-respond q)</a:t>
            </a:r>
          </a:p>
          <a:p>
            <a:r>
              <a:rPr lang="en-US" dirty="0">
                <a:solidFill>
                  <a:srgbClr val="00B050"/>
                </a:solidFill>
              </a:rPr>
              <a:t>              history2 (cat history "Q" n ": " q "\</a:t>
            </a:r>
            <a:r>
              <a:rPr lang="en-US" dirty="0" err="1">
                <a:solidFill>
                  <a:srgbClr val="00B050"/>
                </a:solidFill>
              </a:rPr>
              <a:t>nA</a:t>
            </a:r>
            <a:r>
              <a:rPr lang="en-US" dirty="0">
                <a:solidFill>
                  <a:srgbClr val="00B050"/>
                </a:solidFill>
              </a:rPr>
              <a:t>" n ": " a "\n")</a:t>
            </a:r>
          </a:p>
          <a:p>
            <a:r>
              <a:rPr lang="en-US" dirty="0">
                <a:solidFill>
                  <a:srgbClr val="00B050"/>
                </a:solidFill>
              </a:rPr>
              <a:t>              g (worker-guess history2)]</a:t>
            </a:r>
          </a:p>
          <a:p>
            <a:r>
              <a:rPr lang="en-US" dirty="0">
                <a:solidFill>
                  <a:srgbClr val="00B050"/>
                </a:solidFill>
              </a:rPr>
              <a:t>          (if (= (trim g) "NO_GUESS")</a:t>
            </a:r>
          </a:p>
          <a:p>
            <a:r>
              <a:rPr lang="en-US" dirty="0">
                <a:solidFill>
                  <a:srgbClr val="00B050"/>
                </a:solidFill>
              </a:rPr>
              <a:t>            (loop-game (+ n 1) history2)</a:t>
            </a:r>
          </a:p>
          <a:p>
            <a:r>
              <a:rPr lang="en-US" dirty="0">
                <a:solidFill>
                  <a:srgbClr val="00B050"/>
                </a:solidFill>
              </a:rPr>
              <a:t>            (if (= (trim g) secret)</a:t>
            </a:r>
          </a:p>
          <a:p>
            <a:r>
              <a:rPr lang="en-US" dirty="0">
                <a:solidFill>
                  <a:srgbClr val="00B050"/>
                </a:solidFill>
              </a:rPr>
              <a:t>              (cat "WORKER guesses: " g "\</a:t>
            </a:r>
            <a:r>
              <a:rPr lang="en-US" dirty="0" err="1">
                <a:solidFill>
                  <a:srgbClr val="00B050"/>
                </a:solidFill>
              </a:rPr>
              <a:t>nResult</a:t>
            </a:r>
            <a:r>
              <a:rPr lang="en-US" dirty="0">
                <a:solidFill>
                  <a:srgbClr val="00B050"/>
                </a:solidFill>
              </a:rPr>
              <a:t>: correct.\n\</a:t>
            </a:r>
            <a:r>
              <a:rPr lang="en-US" dirty="0" err="1">
                <a:solidFill>
                  <a:srgbClr val="00B050"/>
                </a:solidFill>
              </a:rPr>
              <a:t>nTranscript</a:t>
            </a:r>
            <a:r>
              <a:rPr lang="en-US" dirty="0">
                <a:solidFill>
                  <a:srgbClr val="00B050"/>
                </a:solidFill>
              </a:rPr>
              <a:t>:\n" history2)</a:t>
            </a:r>
          </a:p>
          <a:p>
            <a:r>
              <a:rPr lang="en-US" dirty="0">
                <a:solidFill>
                  <a:srgbClr val="00B050"/>
                </a:solidFill>
              </a:rPr>
              <a:t>              (loop-game (+ n 1) (cat history2 "WORKER guesses: " g "\</a:t>
            </a:r>
            <a:r>
              <a:rPr lang="en-US" dirty="0" err="1">
                <a:solidFill>
                  <a:srgbClr val="00B050"/>
                </a:solidFill>
              </a:rPr>
              <a:t>nResult</a:t>
            </a:r>
            <a:r>
              <a:rPr lang="en-US" dirty="0">
                <a:solidFill>
                  <a:srgbClr val="00B050"/>
                </a:solidFill>
              </a:rPr>
              <a:t>: incorrect.\n")))))))</a:t>
            </a:r>
            <a:br>
              <a:rPr lang="en-US" dirty="0">
                <a:solidFill>
                  <a:srgbClr val="00B050"/>
                </a:solidFill>
              </a:rPr>
            </a:br>
            <a:br>
              <a:rPr lang="en-US" dirty="0"/>
            </a:br>
            <a:r>
              <a:rPr lang="en-US" dirty="0"/>
              <a:t>(loop-game 1 ""))</a:t>
            </a:r>
          </a:p>
        </p:txBody>
      </p:sp>
    </p:spTree>
    <p:extLst>
      <p:ext uri="{BB962C8B-B14F-4D97-AF65-F5344CB8AC3E}">
        <p14:creationId xmlns:p14="http://schemas.microsoft.com/office/powerpoint/2010/main" val="278820005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68FDF916-A1AE-BF45-89F4-124248B1EEEA}"/>
              </a:ext>
            </a:extLst>
          </p:cNvPr>
          <p:cNvSpPr txBox="1"/>
          <p:nvPr/>
        </p:nvSpPr>
        <p:spPr>
          <a:xfrm>
            <a:off x="1778000" y="335845"/>
            <a:ext cx="6096000" cy="6186309"/>
          </a:xfrm>
          <a:prstGeom prst="rect">
            <a:avLst/>
          </a:prstGeom>
          <a:noFill/>
        </p:spPr>
        <p:txBody>
          <a:bodyPr wrap="square">
            <a:spAutoFit/>
          </a:bodyPr>
          <a:lstStyle/>
          <a:p>
            <a:r>
              <a:rPr lang="en-US" dirty="0"/>
              <a:t>  Transcript:</a:t>
            </a:r>
          </a:p>
          <a:p>
            <a:r>
              <a:rPr lang="en-US" dirty="0"/>
              <a:t>  Q1: Is it a physical object?</a:t>
            </a:r>
          </a:p>
          <a:p>
            <a:r>
              <a:rPr lang="en-US" dirty="0"/>
              <a:t>  A1: yes</a:t>
            </a:r>
          </a:p>
          <a:p>
            <a:r>
              <a:rPr lang="en-US" dirty="0"/>
              <a:t>  Q2: Is it something typically found indoors?</a:t>
            </a:r>
          </a:p>
          <a:p>
            <a:r>
              <a:rPr lang="en-US" dirty="0"/>
              <a:t>  A2: no</a:t>
            </a:r>
          </a:p>
          <a:p>
            <a:r>
              <a:rPr lang="en-US" dirty="0"/>
              <a:t>  Q3: Is it a natural object (not man-made)?</a:t>
            </a:r>
          </a:p>
          <a:p>
            <a:r>
              <a:rPr lang="en-US" dirty="0"/>
              <a:t>  A3: yes</a:t>
            </a:r>
          </a:p>
          <a:p>
            <a:r>
              <a:rPr lang="en-US" dirty="0"/>
              <a:t>  Q4: Is it a living thing (like a plant or animal)?</a:t>
            </a:r>
          </a:p>
          <a:p>
            <a:r>
              <a:rPr lang="en-US" dirty="0"/>
              <a:t>  A4: yes</a:t>
            </a:r>
          </a:p>
          <a:p>
            <a:r>
              <a:rPr lang="en-US" dirty="0"/>
              <a:t>  Q5: Is it an animal?</a:t>
            </a:r>
          </a:p>
          <a:p>
            <a:r>
              <a:rPr lang="en-US" dirty="0"/>
              <a:t>  A5: yes</a:t>
            </a:r>
          </a:p>
          <a:p>
            <a:r>
              <a:rPr lang="en-US" dirty="0"/>
              <a:t>  Q6: Is it a vertebrate (does it have a backbone)?</a:t>
            </a:r>
          </a:p>
          <a:p>
            <a:r>
              <a:rPr lang="en-US" dirty="0"/>
              <a:t>  A6: no</a:t>
            </a:r>
          </a:p>
          <a:p>
            <a:r>
              <a:rPr lang="en-US" dirty="0"/>
              <a:t>  Q7: Is it an insect (has six legs and three body segments)?</a:t>
            </a:r>
          </a:p>
          <a:p>
            <a:r>
              <a:rPr lang="en-US" dirty="0"/>
              <a:t>  A7: no</a:t>
            </a:r>
          </a:p>
          <a:p>
            <a:r>
              <a:rPr lang="en-US" dirty="0"/>
              <a:t>  WORKER guesses: spider</a:t>
            </a:r>
          </a:p>
          <a:p>
            <a:r>
              <a:rPr lang="en-US" dirty="0"/>
              <a:t>  Result: incorrect.</a:t>
            </a:r>
          </a:p>
          <a:p>
            <a:r>
              <a:rPr lang="en-US" dirty="0"/>
              <a:t>  Q8: Is it a mollusk (like a snail, slug, clam, or octopus)?</a:t>
            </a:r>
          </a:p>
          <a:p>
            <a:r>
              <a:rPr lang="en-US" dirty="0"/>
              <a:t>  A8: yes</a:t>
            </a:r>
          </a:p>
          <a:p>
            <a:r>
              <a:rPr lang="en-US" dirty="0"/>
              <a:t>WORKER guesses: octopus</a:t>
            </a:r>
          </a:p>
          <a:p>
            <a:r>
              <a:rPr lang="en-US" dirty="0"/>
              <a:t>  Result: correct.</a:t>
            </a:r>
          </a:p>
          <a:p>
            <a:endParaRPr lang="en-US" dirty="0"/>
          </a:p>
        </p:txBody>
      </p:sp>
      <p:pic>
        <p:nvPicPr>
          <p:cNvPr id="1026" name="Picture 2" descr="Octopus clip art Images - Free Download on Freepik">
            <a:extLst>
              <a:ext uri="{FF2B5EF4-FFF2-40B4-BE49-F238E27FC236}">
                <a16:creationId xmlns:a16="http://schemas.microsoft.com/office/drawing/2014/main" id="{2C7F4B14-9EFE-7E4F-4849-A8199582A88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874000" y="1884106"/>
            <a:ext cx="3581400" cy="285934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05038786"/>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11327</TotalTime>
  <Words>2724</Words>
  <Application>Microsoft Macintosh PowerPoint</Application>
  <PresentationFormat>Widescreen</PresentationFormat>
  <Paragraphs>387</Paragraphs>
  <Slides>45</Slides>
  <Notes>0</Notes>
  <HiddenSlides>24</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45</vt:i4>
      </vt:variant>
    </vt:vector>
  </HeadingPairs>
  <TitlesOfParts>
    <vt:vector size="49" baseType="lpstr">
      <vt:lpstr>Aptos</vt:lpstr>
      <vt:lpstr>Aptos Display</vt:lpstr>
      <vt:lpstr>Arial</vt:lpstr>
      <vt:lpstr>Office Theme</vt:lpstr>
      <vt:lpstr>Programming language for AI agents</vt:lpstr>
      <vt:lpstr>One definition of “agent”</vt:lpstr>
      <vt:lpstr>PowerPoint Presentation</vt:lpstr>
      <vt:lpstr>PowerPoint Presentation</vt:lpstr>
      <vt:lpstr>PowerPoint Presentation</vt:lpstr>
      <vt:lpstr>PowerPoint Presentation</vt:lpstr>
      <vt:lpstr>ReAct loop</vt:lpstr>
      <vt:lpstr>PowerPoint Presentation</vt:lpstr>
      <vt:lpstr>“Progressive disclosure”</vt:lpstr>
      <vt:lpstr>PowerPoint Presentation</vt:lpstr>
      <vt:lpstr>PowerPoint Presentation</vt:lpstr>
      <vt:lpstr>“Context engineering”</vt:lpstr>
      <vt:lpstr>PowerPoint Presentation</vt:lpstr>
      <vt:lpstr>Orchestration: hot topic</vt:lpstr>
      <vt:lpstr>Early findings</vt:lpstr>
      <vt:lpstr>What this motivates</vt:lpstr>
      <vt:lpstr>What this motivates</vt:lpstr>
      <vt:lpstr>Spell (self-programmed execution language for LMs)</vt:lpstr>
      <vt:lpstr>Internalized context management</vt:lpstr>
      <vt:lpstr>Internalized context management</vt:lpstr>
      <vt:lpstr>PowerPoint Presentation</vt:lpstr>
      <vt:lpstr>PowerPoint Presentation</vt:lpstr>
      <vt:lpstr>PowerPoint Presentation</vt:lpstr>
      <vt:lpstr>PowerPoint Presentation</vt:lpstr>
      <vt:lpstr>PowerPoint Presentation</vt:lpstr>
      <vt:lpstr>PowerPoint Presentation</vt:lpstr>
      <vt:lpstr>Structure of every completion</vt:lpstr>
      <vt:lpstr>ReAct loop in Spell</vt:lpstr>
      <vt:lpstr>Own-context engineering</vt:lpstr>
      <vt:lpstr>Self-orchestration</vt:lpstr>
      <vt:lpstr>Spell (self-prompting execution language for LLMs)</vt:lpstr>
      <vt:lpstr>Context = code</vt:lpstr>
      <vt:lpstr>Environment = context</vt:lpstr>
      <vt:lpstr>Why not Python?</vt:lpstr>
      <vt:lpstr>Games impossible with ReAct</vt:lpstr>
      <vt:lpstr>Coin flip game</vt:lpstr>
      <vt:lpstr>PowerPoint Presentation</vt:lpstr>
      <vt:lpstr>PowerPoint Presentation</vt:lpstr>
      <vt:lpstr>PowerPoint Presentation</vt:lpstr>
      <vt:lpstr>20 questions</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O'Connor, Luke J</dc:creator>
  <cp:lastModifiedBy>O'Connor, Luke J</cp:lastModifiedBy>
  <cp:revision>136</cp:revision>
  <dcterms:created xsi:type="dcterms:W3CDTF">2026-02-02T15:31:31Z</dcterms:created>
  <dcterms:modified xsi:type="dcterms:W3CDTF">2026-03-10T10:14:06Z</dcterms:modified>
</cp:coreProperties>
</file>