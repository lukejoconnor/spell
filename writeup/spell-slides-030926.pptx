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85" r:id="rId3"/>
    <p:sldId id="327" r:id="rId4"/>
    <p:sldId id="301" r:id="rId5"/>
    <p:sldId id="304" r:id="rId6"/>
    <p:sldId id="305" r:id="rId7"/>
    <p:sldId id="286" r:id="rId8"/>
    <p:sldId id="257" r:id="rId9"/>
    <p:sldId id="298" r:id="rId10"/>
    <p:sldId id="287" r:id="rId11"/>
    <p:sldId id="307" r:id="rId12"/>
    <p:sldId id="306" r:id="rId13"/>
    <p:sldId id="328" r:id="rId14"/>
    <p:sldId id="296" r:id="rId15"/>
    <p:sldId id="303" r:id="rId16"/>
    <p:sldId id="329" r:id="rId17"/>
    <p:sldId id="325" r:id="rId18"/>
    <p:sldId id="331" r:id="rId19"/>
    <p:sldId id="330" r:id="rId20"/>
    <p:sldId id="333" r:id="rId21"/>
    <p:sldId id="334" r:id="rId22"/>
    <p:sldId id="337" r:id="rId23"/>
    <p:sldId id="338" r:id="rId24"/>
    <p:sldId id="339" r:id="rId25"/>
    <p:sldId id="258" r:id="rId26"/>
    <p:sldId id="259" r:id="rId27"/>
    <p:sldId id="260" r:id="rId28"/>
    <p:sldId id="263" r:id="rId29"/>
    <p:sldId id="340" r:id="rId30"/>
    <p:sldId id="345" r:id="rId31"/>
    <p:sldId id="342" r:id="rId32"/>
    <p:sldId id="341" r:id="rId33"/>
    <p:sldId id="343" r:id="rId34"/>
    <p:sldId id="262" r:id="rId35"/>
    <p:sldId id="346" r:id="rId36"/>
    <p:sldId id="347" r:id="rId37"/>
    <p:sldId id="349" r:id="rId38"/>
    <p:sldId id="348" r:id="rId39"/>
    <p:sldId id="299" r:id="rId40"/>
    <p:sldId id="308" r:id="rId41"/>
    <p:sldId id="312" r:id="rId42"/>
    <p:sldId id="319" r:id="rId43"/>
    <p:sldId id="321" r:id="rId44"/>
    <p:sldId id="322" r:id="rId45"/>
    <p:sldId id="323" r:id="rId46"/>
    <p:sldId id="288" r:id="rId47"/>
    <p:sldId id="313" r:id="rId48"/>
    <p:sldId id="290" r:id="rId49"/>
    <p:sldId id="293" r:id="rId50"/>
    <p:sldId id="295" r:id="rId51"/>
    <p:sldId id="291" r:id="rId52"/>
    <p:sldId id="292" r:id="rId53"/>
    <p:sldId id="266" r:id="rId54"/>
    <p:sldId id="267" r:id="rId55"/>
    <p:sldId id="309" r:id="rId56"/>
    <p:sldId id="310" r:id="rId57"/>
    <p:sldId id="314" r:id="rId58"/>
    <p:sldId id="316" r:id="rId59"/>
    <p:sldId id="317" r:id="rId60"/>
    <p:sldId id="318" r:id="rId61"/>
    <p:sldId id="315" r:id="rId62"/>
    <p:sldId id="275" r:id="rId63"/>
    <p:sldId id="276" r:id="rId64"/>
    <p:sldId id="279" r:id="rId65"/>
    <p:sldId id="280" r:id="rId66"/>
    <p:sldId id="278" r:id="rId67"/>
    <p:sldId id="277" r:id="rId68"/>
    <p:sldId id="264" r:id="rId69"/>
    <p:sldId id="284" r:id="rId70"/>
    <p:sldId id="283" r:id="rId71"/>
    <p:sldId id="269"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65"/>
    <p:restoredTop sz="94659"/>
  </p:normalViewPr>
  <p:slideViewPr>
    <p:cSldViewPr snapToGrid="0">
      <p:cViewPr varScale="1">
        <p:scale>
          <a:sx n="136" d="100"/>
          <a:sy n="136" d="100"/>
        </p:scale>
        <p:origin x="22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1DE1D4-4C18-A34D-8788-7DD6FD639AAE}"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8CA95-F8BA-DE4A-AB3F-DA5A81EC0799}" type="slidenum">
              <a:rPr lang="en-US" smtClean="0"/>
              <a:t>‹#›</a:t>
            </a:fld>
            <a:endParaRPr lang="en-US"/>
          </a:p>
        </p:txBody>
      </p:sp>
    </p:spTree>
    <p:extLst>
      <p:ext uri="{BB962C8B-B14F-4D97-AF65-F5344CB8AC3E}">
        <p14:creationId xmlns:p14="http://schemas.microsoft.com/office/powerpoint/2010/main" val="362795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CA95-F8BA-DE4A-AB3F-DA5A81EC0799}" type="slidenum">
              <a:rPr lang="en-US" smtClean="0"/>
              <a:t>36</a:t>
            </a:fld>
            <a:endParaRPr lang="en-US"/>
          </a:p>
        </p:txBody>
      </p:sp>
    </p:spTree>
    <p:extLst>
      <p:ext uri="{BB962C8B-B14F-4D97-AF65-F5344CB8AC3E}">
        <p14:creationId xmlns:p14="http://schemas.microsoft.com/office/powerpoint/2010/main" val="789182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CA95-F8BA-DE4A-AB3F-DA5A81EC0799}" type="slidenum">
              <a:rPr lang="en-US" smtClean="0"/>
              <a:t>56</a:t>
            </a:fld>
            <a:endParaRPr lang="en-US"/>
          </a:p>
        </p:txBody>
      </p:sp>
    </p:spTree>
    <p:extLst>
      <p:ext uri="{BB962C8B-B14F-4D97-AF65-F5344CB8AC3E}">
        <p14:creationId xmlns:p14="http://schemas.microsoft.com/office/powerpoint/2010/main" val="290108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D37F-5E93-DE6F-3CF0-F8F827F289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F5160-F6A9-65FD-BF37-5998AD9AE4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B959CA-8C74-3E12-F9A1-07CB0A499E8D}"/>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A0DBEE68-0504-D47B-D275-0B0CDC63F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696FE-9F7B-DA08-BA09-A8AECC99986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1556406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1A0-DEB3-812D-9F01-D2CCEE153C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57BC2-B3DA-02EF-7985-84B511CB8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A63DA-2C85-5F0C-CCD8-7F9454BDA9D3}"/>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B5C302FD-0E0D-6B27-C816-C373D4A9A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407FD-FA8F-4B4E-3D7F-E29DD5E9F6D9}"/>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0797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A34C-1E95-1925-4BC2-DFA61C18EC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9A4ECA-5813-4196-4F1D-31F9B6ED62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9C698C-9648-B9A2-321B-88CE6722AC2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2AD2AF4A-81F6-55EA-F070-BC15496174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2B60B-5409-AB86-9CEB-C8DA09932BA7}"/>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63226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7D7F-C9C3-27E4-28D8-29A01C127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89596-3216-833F-87ED-45E00A5A47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B73883-3F3F-6D2E-9427-60AE9BAA9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8364FD-D128-39CE-0467-FFAEA0F3B07B}"/>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9F3567CE-42C3-33E7-7985-C65AE5B10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893AF-6D89-FAA8-6A8D-14299808725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2837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C758-5E22-4710-FB2E-3D9F21CD75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6CAC7-9A91-9805-759E-E9603EA985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66FA1-F6E5-CFD1-6906-D2EF599245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BC7408-181F-01EB-C2DA-74E1CE7D6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735773-FC68-51C9-D19A-4B120F2863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63CD2D-062F-EA23-228E-5F66310CAB85}"/>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8" name="Footer Placeholder 7">
            <a:extLst>
              <a:ext uri="{FF2B5EF4-FFF2-40B4-BE49-F238E27FC236}">
                <a16:creationId xmlns:a16="http://schemas.microsoft.com/office/drawing/2014/main" id="{75C03F9C-8777-D137-3CA8-8102B7791C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1227CD-5AAF-5FA1-9888-2E0C13C6963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14235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12C0-5913-116A-ABDA-ED5ECF1D2B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A4ABB1-797C-F7C2-607C-BBCD79BEF37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4" name="Footer Placeholder 3">
            <a:extLst>
              <a:ext uri="{FF2B5EF4-FFF2-40B4-BE49-F238E27FC236}">
                <a16:creationId xmlns:a16="http://schemas.microsoft.com/office/drawing/2014/main" id="{C1146DD4-9BB6-18BF-B543-A2DC8B5A7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DBD41A-8AED-27DC-8037-693538DF58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10955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5B9AC2-A3D6-A0B5-7EAC-AF55C43454BD}"/>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3" name="Footer Placeholder 2">
            <a:extLst>
              <a:ext uri="{FF2B5EF4-FFF2-40B4-BE49-F238E27FC236}">
                <a16:creationId xmlns:a16="http://schemas.microsoft.com/office/drawing/2014/main" id="{5A1D7D08-5B8D-2143-BE71-DD60F3D8FC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ADD2D-65FC-71C9-780A-791EA824E08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21108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FB16-6C21-8DF3-C3AD-D2829F9EC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87F28F-81CC-DA86-DC10-A8FC013A0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30AD75-1AD2-17A7-7D2D-BA90DF73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7E133-F6CE-2644-A0FD-78956E9F7BD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CBD6E168-3C06-61A3-A7EA-27D22ADE2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B3E44-BBFC-77B2-AA17-51DEFC0C1742}"/>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26093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1639-D687-C3D9-7B90-FBF5ECADA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1EF093-F5A4-927F-3691-E8FEF93395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4DD80B-5CDB-1B89-1705-1ABDAC607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9223D-F9D1-F332-6392-F993D0993B0B}"/>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AC2B1480-84D6-759E-498E-66A1EC884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3D1EB7-7B67-B624-9BB8-88E56F675706}"/>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576195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E547-3714-0DFE-93C9-7C25C0ACB9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295A6-0177-55F7-51B3-71F655CB47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F6997-4D6C-C52D-8F87-9B16AF71841C}"/>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5CC282D9-8A12-C333-FC52-7F90B8174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91F6-4238-1062-F37C-FCEE9906D31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99369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69D08E-A793-D8C8-A235-B36DA0286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1DE7F-0BF5-1B15-2C46-8CE47972F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9E5BE-71A9-A123-A4C7-62C298708AC5}"/>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12A132F3-F31B-A579-D988-63337C49B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4B06A-1473-3083-A674-48C7B79C3C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91506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AA27D-E5D2-FAFC-4265-FE2BCF36F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4F5719-AC88-6F4B-EECB-DD41ED0235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5D6AD-D7FB-7ACC-CD24-D284B0ED6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F6BCD0BA-265B-02F9-5091-26C6D5380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6F7076-55AC-A02F-8E01-2D7E615DC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F02B05-3B47-5E43-ACC0-66286D1A7179}" type="slidenum">
              <a:rPr lang="en-US" smtClean="0"/>
              <a:t>‹#›</a:t>
            </a:fld>
            <a:endParaRPr lang="en-US"/>
          </a:p>
        </p:txBody>
      </p:sp>
    </p:spTree>
    <p:extLst>
      <p:ext uri="{BB962C8B-B14F-4D97-AF65-F5344CB8AC3E}">
        <p14:creationId xmlns:p14="http://schemas.microsoft.com/office/powerpoint/2010/main" val="381590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B17C-F214-AB2B-F65A-79DC06F7C398}"/>
              </a:ext>
            </a:extLst>
          </p:cNvPr>
          <p:cNvSpPr>
            <a:spLocks noGrp="1"/>
          </p:cNvSpPr>
          <p:nvPr>
            <p:ph type="ctrTitle"/>
          </p:nvPr>
        </p:nvSpPr>
        <p:spPr>
          <a:xfrm>
            <a:off x="1524000" y="2235200"/>
            <a:ext cx="9144000" cy="2387600"/>
          </a:xfrm>
        </p:spPr>
        <p:txBody>
          <a:bodyPr/>
          <a:lstStyle/>
          <a:p>
            <a:r>
              <a:rPr lang="en-US" dirty="0"/>
              <a:t>Programming language for AI agents</a:t>
            </a:r>
          </a:p>
        </p:txBody>
      </p:sp>
    </p:spTree>
    <p:extLst>
      <p:ext uri="{BB962C8B-B14F-4D97-AF65-F5344CB8AC3E}">
        <p14:creationId xmlns:p14="http://schemas.microsoft.com/office/powerpoint/2010/main" val="3991845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E101-F945-4C94-6796-0D5A6E97A68D}"/>
              </a:ext>
            </a:extLst>
          </p:cNvPr>
          <p:cNvSpPr>
            <a:spLocks noGrp="1"/>
          </p:cNvSpPr>
          <p:nvPr>
            <p:ph type="title"/>
          </p:nvPr>
        </p:nvSpPr>
        <p:spPr/>
        <p:txBody>
          <a:bodyPr/>
          <a:lstStyle/>
          <a:p>
            <a:r>
              <a:rPr lang="en-US" dirty="0"/>
              <a:t>One definition of “agent”</a:t>
            </a:r>
          </a:p>
        </p:txBody>
      </p:sp>
      <p:sp>
        <p:nvSpPr>
          <p:cNvPr id="3" name="Content Placeholder 2">
            <a:extLst>
              <a:ext uri="{FF2B5EF4-FFF2-40B4-BE49-F238E27FC236}">
                <a16:creationId xmlns:a16="http://schemas.microsoft.com/office/drawing/2014/main" id="{75145904-5EB8-5BA3-86C3-618F6ACF6604}"/>
              </a:ext>
            </a:extLst>
          </p:cNvPr>
          <p:cNvSpPr>
            <a:spLocks noGrp="1"/>
          </p:cNvSpPr>
          <p:nvPr>
            <p:ph idx="1"/>
          </p:nvPr>
        </p:nvSpPr>
        <p:spPr>
          <a:xfrm>
            <a:off x="838200" y="1852519"/>
            <a:ext cx="10515600" cy="4351338"/>
          </a:xfrm>
        </p:spPr>
        <p:txBody>
          <a:bodyPr/>
          <a:lstStyle/>
          <a:p>
            <a:pPr marL="0" indent="0">
              <a:buNone/>
            </a:pPr>
            <a:r>
              <a:rPr lang="en-US" dirty="0"/>
              <a:t>Program which combines deterministic computation (harness) with intelligent computation (LM)</a:t>
            </a:r>
          </a:p>
          <a:p>
            <a:pPr marL="0" indent="0">
              <a:buNone/>
            </a:pPr>
            <a:r>
              <a:rPr lang="en-US" dirty="0"/>
              <a:t>Traditionally:</a:t>
            </a:r>
          </a:p>
          <a:p>
            <a:pPr marL="514350" indent="-514350">
              <a:buFont typeface="+mj-lt"/>
              <a:buAutoNum type="arabicPeriod"/>
            </a:pPr>
            <a:r>
              <a:rPr lang="en-US" dirty="0"/>
              <a:t>LM partially controls harness via tool calling</a:t>
            </a:r>
          </a:p>
          <a:p>
            <a:pPr marL="514350" indent="-514350">
              <a:buFont typeface="+mj-lt"/>
              <a:buAutoNum type="arabicPeriod"/>
            </a:pPr>
            <a:r>
              <a:rPr lang="en-US" dirty="0"/>
              <a:t>Harness partially controls LM by determining context (“context engineering”) and actually calling it</a:t>
            </a:r>
          </a:p>
        </p:txBody>
      </p:sp>
    </p:spTree>
    <p:extLst>
      <p:ext uri="{BB962C8B-B14F-4D97-AF65-F5344CB8AC3E}">
        <p14:creationId xmlns:p14="http://schemas.microsoft.com/office/powerpoint/2010/main" val="428452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2906-AAC8-87DE-E73F-C3AE853BB8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73DD34-E83D-4A8A-65F1-23DD146E824C}"/>
              </a:ext>
            </a:extLst>
          </p:cNvPr>
          <p:cNvSpPr txBox="1"/>
          <p:nvPr/>
        </p:nvSpPr>
        <p:spPr>
          <a:xfrm>
            <a:off x="1141934" y="3910972"/>
            <a:ext cx="8937496" cy="1200329"/>
          </a:xfrm>
          <a:prstGeom prst="rect">
            <a:avLst/>
          </a:prstGeom>
          <a:noFill/>
        </p:spPr>
        <p:txBody>
          <a:bodyPr wrap="square" rtlCol="0">
            <a:spAutoFit/>
          </a:bodyPr>
          <a:lstStyle/>
          <a:p>
            <a:pPr marL="342900" indent="-342900">
              <a:buAutoNum type="arabicParenBoth"/>
            </a:pPr>
            <a:r>
              <a:rPr lang="en-US" dirty="0"/>
              <a:t>Invocation: call the model with some prefix</a:t>
            </a:r>
          </a:p>
          <a:p>
            <a:pPr marL="342900" indent="-342900">
              <a:buAutoNum type="arabicParenBoth"/>
            </a:pPr>
            <a:r>
              <a:rPr lang="en-US" dirty="0"/>
              <a:t>Generation: model thinks and responds with tool call or program</a:t>
            </a:r>
          </a:p>
          <a:p>
            <a:pPr marL="342900" indent="-342900">
              <a:buAutoNum type="arabicParenBoth"/>
            </a:pPr>
            <a:r>
              <a:rPr lang="en-US" dirty="0"/>
              <a:t>Execution: execute tool call</a:t>
            </a:r>
          </a:p>
          <a:p>
            <a:pPr marL="342900" indent="-342900">
              <a:buAutoNum type="arabicParenBoth"/>
            </a:pPr>
            <a:r>
              <a:rPr lang="en-US" dirty="0"/>
              <a:t>Prefix building: produce new prefix and return to (1)</a:t>
            </a:r>
          </a:p>
        </p:txBody>
      </p:sp>
      <p:pic>
        <p:nvPicPr>
          <p:cNvPr id="19" name="Picture 18" descr="A close-up of a paper&#10;&#10;AI-generated content may be incorrect.">
            <a:extLst>
              <a:ext uri="{FF2B5EF4-FFF2-40B4-BE49-F238E27FC236}">
                <a16:creationId xmlns:a16="http://schemas.microsoft.com/office/drawing/2014/main" id="{13A2C9BE-7A40-C400-A8A5-DBEE43B5D4C7}"/>
              </a:ext>
            </a:extLst>
          </p:cNvPr>
          <p:cNvPicPr>
            <a:picLocks noChangeAspect="1"/>
          </p:cNvPicPr>
          <p:nvPr/>
        </p:nvPicPr>
        <p:blipFill>
          <a:blip r:embed="rId2"/>
          <a:stretch>
            <a:fillRect/>
          </a:stretch>
        </p:blipFill>
        <p:spPr>
          <a:xfrm>
            <a:off x="1141934" y="499939"/>
            <a:ext cx="7772400" cy="2651371"/>
          </a:xfrm>
          <a:prstGeom prst="rect">
            <a:avLst/>
          </a:prstGeom>
        </p:spPr>
      </p:pic>
      <p:sp>
        <p:nvSpPr>
          <p:cNvPr id="25" name="TextBox 24">
            <a:extLst>
              <a:ext uri="{FF2B5EF4-FFF2-40B4-BE49-F238E27FC236}">
                <a16:creationId xmlns:a16="http://schemas.microsoft.com/office/drawing/2014/main" id="{D3299FC1-ACF4-F5CA-0A5C-F735C971E31C}"/>
              </a:ext>
            </a:extLst>
          </p:cNvPr>
          <p:cNvSpPr txBox="1"/>
          <p:nvPr/>
        </p:nvSpPr>
        <p:spPr>
          <a:xfrm>
            <a:off x="4932291" y="3059668"/>
            <a:ext cx="678391" cy="369332"/>
          </a:xfrm>
          <a:prstGeom prst="rect">
            <a:avLst/>
          </a:prstGeom>
          <a:noFill/>
        </p:spPr>
        <p:txBody>
          <a:bodyPr wrap="none" rtlCol="0">
            <a:spAutoFit/>
          </a:bodyPr>
          <a:lstStyle/>
          <a:p>
            <a:r>
              <a:rPr lang="en-US" dirty="0"/>
              <a:t>2023</a:t>
            </a:r>
          </a:p>
        </p:txBody>
      </p:sp>
    </p:spTree>
    <p:extLst>
      <p:ext uri="{BB962C8B-B14F-4D97-AF65-F5344CB8AC3E}">
        <p14:creationId xmlns:p14="http://schemas.microsoft.com/office/powerpoint/2010/main" val="270864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015-dag-orchestrators">
            <a:extLst>
              <a:ext uri="{FF2B5EF4-FFF2-40B4-BE49-F238E27FC236}">
                <a16:creationId xmlns:a16="http://schemas.microsoft.com/office/drawing/2014/main" id="{79A3FDB0-34D0-3DFD-1004-63D359B62B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60"/>
          <a:stretch>
            <a:fillRect/>
          </a:stretch>
        </p:blipFill>
        <p:spPr bwMode="auto">
          <a:xfrm>
            <a:off x="1502866" y="1949183"/>
            <a:ext cx="8263157" cy="367043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D06F316-D919-1AE0-BADD-C362D0E71997}"/>
              </a:ext>
            </a:extLst>
          </p:cNvPr>
          <p:cNvSpPr txBox="1"/>
          <p:nvPr/>
        </p:nvSpPr>
        <p:spPr>
          <a:xfrm>
            <a:off x="3462425" y="1425963"/>
            <a:ext cx="3716017" cy="523220"/>
          </a:xfrm>
          <a:prstGeom prst="rect">
            <a:avLst/>
          </a:prstGeom>
          <a:noFill/>
        </p:spPr>
        <p:txBody>
          <a:bodyPr wrap="none" rtlCol="0">
            <a:spAutoFit/>
          </a:bodyPr>
          <a:lstStyle/>
          <a:p>
            <a:r>
              <a:rPr lang="en-US" sz="2800" dirty="0"/>
              <a:t>Traditional control flow</a:t>
            </a:r>
          </a:p>
        </p:txBody>
      </p:sp>
      <p:sp>
        <p:nvSpPr>
          <p:cNvPr id="3" name="TextBox 2">
            <a:extLst>
              <a:ext uri="{FF2B5EF4-FFF2-40B4-BE49-F238E27FC236}">
                <a16:creationId xmlns:a16="http://schemas.microsoft.com/office/drawing/2014/main" id="{CD4EAFB8-EDC4-52F5-5DF1-2F95BBFF996F}"/>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374387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EEB6-E0D6-6BB5-35DE-444C4E5F1775}"/>
            </a:ext>
          </a:extLst>
        </p:cNvPr>
        <p:cNvGrpSpPr/>
        <p:nvPr/>
      </p:nvGrpSpPr>
      <p:grpSpPr>
        <a:xfrm>
          <a:off x="0" y="0"/>
          <a:ext cx="0" cy="0"/>
          <a:chOff x="0" y="0"/>
          <a:chExt cx="0" cy="0"/>
        </a:xfrm>
      </p:grpSpPr>
      <p:pic>
        <p:nvPicPr>
          <p:cNvPr id="5122" name="Picture 2" descr="026-agent-dag-lines">
            <a:extLst>
              <a:ext uri="{FF2B5EF4-FFF2-40B4-BE49-F238E27FC236}">
                <a16:creationId xmlns:a16="http://schemas.microsoft.com/office/drawing/2014/main" id="{DBA165DF-2183-B4F6-8439-7AAE3B176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7400"/>
            <a:ext cx="12192000" cy="52816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F5F70E3-BA80-2B97-0531-782D358D48C4}"/>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996122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D70A-20EE-205E-3AA9-C732142A2A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BA3A94-FBD3-CCC1-531D-2F96DBEF8FFE}"/>
              </a:ext>
            </a:extLst>
          </p:cNvPr>
          <p:cNvSpPr txBox="1"/>
          <p:nvPr/>
        </p:nvSpPr>
        <p:spPr>
          <a:xfrm>
            <a:off x="8741378" y="6410835"/>
            <a:ext cx="3342290" cy="369332"/>
          </a:xfrm>
          <a:prstGeom prst="rect">
            <a:avLst/>
          </a:prstGeom>
          <a:noFill/>
        </p:spPr>
        <p:txBody>
          <a:bodyPr wrap="square" rtlCol="0">
            <a:spAutoFit/>
          </a:bodyPr>
          <a:lstStyle/>
          <a:p>
            <a:r>
              <a:rPr lang="en-US" dirty="0"/>
              <a:t>Dex Horthy, 12 factor agents </a:t>
            </a:r>
          </a:p>
        </p:txBody>
      </p:sp>
      <p:pic>
        <p:nvPicPr>
          <p:cNvPr id="7170" name="Picture 2">
            <a:extLst>
              <a:ext uri="{FF2B5EF4-FFF2-40B4-BE49-F238E27FC236}">
                <a16:creationId xmlns:a16="http://schemas.microsoft.com/office/drawing/2014/main" id="{AB85CEBF-57B1-DF99-DAB0-3D82197BF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2925"/>
            <a:ext cx="12192000" cy="577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019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DC36-3C58-4A1A-BEE2-2CD46B5409AF}"/>
              </a:ext>
            </a:extLst>
          </p:cNvPr>
          <p:cNvSpPr>
            <a:spLocks noGrp="1"/>
          </p:cNvSpPr>
          <p:nvPr>
            <p:ph type="title"/>
          </p:nvPr>
        </p:nvSpPr>
        <p:spPr/>
        <p:txBody>
          <a:bodyPr/>
          <a:lstStyle/>
          <a:p>
            <a:r>
              <a:rPr lang="en-US" dirty="0" err="1"/>
              <a:t>ReAct</a:t>
            </a:r>
            <a:r>
              <a:rPr lang="en-US" dirty="0"/>
              <a:t> loop</a:t>
            </a:r>
          </a:p>
        </p:txBody>
      </p:sp>
      <p:sp>
        <p:nvSpPr>
          <p:cNvPr id="3" name="Content Placeholder 2">
            <a:extLst>
              <a:ext uri="{FF2B5EF4-FFF2-40B4-BE49-F238E27FC236}">
                <a16:creationId xmlns:a16="http://schemas.microsoft.com/office/drawing/2014/main" id="{64A22680-113C-1396-FEED-D314CD2C6984}"/>
              </a:ext>
            </a:extLst>
          </p:cNvPr>
          <p:cNvSpPr>
            <a:spLocks noGrp="1"/>
          </p:cNvSpPr>
          <p:nvPr>
            <p:ph idx="1"/>
          </p:nvPr>
        </p:nvSpPr>
        <p:spPr>
          <a:xfrm>
            <a:off x="838200" y="1690688"/>
            <a:ext cx="6639838" cy="4351338"/>
          </a:xfrm>
        </p:spPr>
        <p:txBody>
          <a:bodyPr>
            <a:normAutofit/>
          </a:bodyPr>
          <a:lstStyle/>
          <a:p>
            <a:pPr marL="0" indent="0">
              <a:buNone/>
            </a:pPr>
            <a:r>
              <a:rPr lang="en-US" sz="2400" dirty="0"/>
              <a:t>prefix ←  prompt</a:t>
            </a:r>
          </a:p>
          <a:p>
            <a:pPr marL="0" indent="0">
              <a:buNone/>
            </a:pPr>
            <a:r>
              <a:rPr lang="en-US" sz="2400" dirty="0"/>
              <a:t>loop:</a:t>
            </a:r>
          </a:p>
          <a:p>
            <a:pPr marL="0" indent="0">
              <a:buNone/>
            </a:pPr>
            <a:r>
              <a:rPr lang="en-US" sz="2400" dirty="0"/>
              <a:t>    response, tool-call ← </a:t>
            </a:r>
            <a:r>
              <a:rPr lang="en-US" sz="2400" dirty="0" err="1"/>
              <a:t>llm</a:t>
            </a:r>
            <a:r>
              <a:rPr lang="en-US" sz="2400" dirty="0"/>
              <a:t>(prefix)</a:t>
            </a:r>
          </a:p>
          <a:p>
            <a:pPr marL="0" indent="0">
              <a:buNone/>
            </a:pPr>
            <a:r>
              <a:rPr lang="en-US" sz="2400" dirty="0"/>
              <a:t>    tool-result  ← eval(tool-call)</a:t>
            </a:r>
            <a:br>
              <a:rPr lang="en-US" sz="2400" dirty="0"/>
            </a:br>
            <a:r>
              <a:rPr lang="en-US" sz="2400" dirty="0"/>
              <a:t>    completion ← prefix + response+ tool-result</a:t>
            </a:r>
          </a:p>
          <a:p>
            <a:pPr marL="0" indent="0">
              <a:buNone/>
            </a:pPr>
            <a:r>
              <a:rPr lang="en-US" sz="2400" dirty="0"/>
              <a:t>    if </a:t>
            </a:r>
            <a:r>
              <a:rPr lang="en-US" sz="2400" dirty="0" err="1"/>
              <a:t>response.is</a:t>
            </a:r>
            <a:r>
              <a:rPr lang="en-US" sz="2400" dirty="0"/>
              <a:t>-final:</a:t>
            </a:r>
          </a:p>
          <a:p>
            <a:pPr marL="0" indent="0">
              <a:buNone/>
            </a:pPr>
            <a:r>
              <a:rPr lang="en-US" sz="2400" dirty="0"/>
              <a:t>        return completion</a:t>
            </a:r>
          </a:p>
          <a:p>
            <a:pPr marL="0" indent="0">
              <a:buNone/>
            </a:pPr>
            <a:r>
              <a:rPr lang="en-US" sz="2400" dirty="0"/>
              <a:t>    prefix ← completion</a:t>
            </a:r>
          </a:p>
        </p:txBody>
      </p:sp>
      <p:sp>
        <p:nvSpPr>
          <p:cNvPr id="4" name="TextBox 3">
            <a:extLst>
              <a:ext uri="{FF2B5EF4-FFF2-40B4-BE49-F238E27FC236}">
                <a16:creationId xmlns:a16="http://schemas.microsoft.com/office/drawing/2014/main" id="{4F3AA296-C767-BC8E-FF6D-0390192733E7}"/>
              </a:ext>
            </a:extLst>
          </p:cNvPr>
          <p:cNvSpPr txBox="1"/>
          <p:nvPr/>
        </p:nvSpPr>
        <p:spPr>
          <a:xfrm>
            <a:off x="9068844" y="6308209"/>
            <a:ext cx="2142894" cy="369332"/>
          </a:xfrm>
          <a:prstGeom prst="rect">
            <a:avLst/>
          </a:prstGeom>
          <a:noFill/>
        </p:spPr>
        <p:txBody>
          <a:bodyPr wrap="none" rtlCol="0">
            <a:spAutoFit/>
          </a:bodyPr>
          <a:lstStyle/>
          <a:p>
            <a:r>
              <a:rPr lang="en-US" dirty="0"/>
              <a:t>Yao et al. 2023 ICLR</a:t>
            </a:r>
          </a:p>
        </p:txBody>
      </p:sp>
      <p:pic>
        <p:nvPicPr>
          <p:cNvPr id="5" name="Picture 2" descr="Implementing ReAct Agentic Pattern From Scratch">
            <a:extLst>
              <a:ext uri="{FF2B5EF4-FFF2-40B4-BE49-F238E27FC236}">
                <a16:creationId xmlns:a16="http://schemas.microsoft.com/office/drawing/2014/main" id="{58320706-C3C5-9016-CFB3-4960F6EA9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3461" y="3958846"/>
            <a:ext cx="5655197" cy="182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625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F2B2EA-8743-EC3F-E017-0B98699211D2}"/>
              </a:ext>
            </a:extLst>
          </p:cNvPr>
          <p:cNvSpPr/>
          <p:nvPr/>
        </p:nvSpPr>
        <p:spPr>
          <a:xfrm>
            <a:off x="2163277" y="223513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7" name="Rectangle 6">
            <a:extLst>
              <a:ext uri="{FF2B5EF4-FFF2-40B4-BE49-F238E27FC236}">
                <a16:creationId xmlns:a16="http://schemas.microsoft.com/office/drawing/2014/main" id="{304D26FB-14D4-523A-0449-373173FB3766}"/>
              </a:ext>
            </a:extLst>
          </p:cNvPr>
          <p:cNvSpPr/>
          <p:nvPr/>
        </p:nvSpPr>
        <p:spPr>
          <a:xfrm>
            <a:off x="2163278" y="4195867"/>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 name="Rectangle 7">
            <a:extLst>
              <a:ext uri="{FF2B5EF4-FFF2-40B4-BE49-F238E27FC236}">
                <a16:creationId xmlns:a16="http://schemas.microsoft.com/office/drawing/2014/main" id="{61EFAD1D-ECBA-E7B2-3A3E-F3392E649901}"/>
              </a:ext>
            </a:extLst>
          </p:cNvPr>
          <p:cNvSpPr/>
          <p:nvPr/>
        </p:nvSpPr>
        <p:spPr>
          <a:xfrm>
            <a:off x="3193425" y="4195867"/>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9" name="Rectangle 8">
            <a:extLst>
              <a:ext uri="{FF2B5EF4-FFF2-40B4-BE49-F238E27FC236}">
                <a16:creationId xmlns:a16="http://schemas.microsoft.com/office/drawing/2014/main" id="{5CCD7409-2354-65D5-703B-C5FABA0F64CA}"/>
              </a:ext>
            </a:extLst>
          </p:cNvPr>
          <p:cNvSpPr/>
          <p:nvPr/>
        </p:nvSpPr>
        <p:spPr>
          <a:xfrm>
            <a:off x="4577394" y="4195866"/>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0" name="Rectangle 9">
            <a:extLst>
              <a:ext uri="{FF2B5EF4-FFF2-40B4-BE49-F238E27FC236}">
                <a16:creationId xmlns:a16="http://schemas.microsoft.com/office/drawing/2014/main" id="{093250EC-4A37-A97C-8801-41F2AC70B8C6}"/>
              </a:ext>
            </a:extLst>
          </p:cNvPr>
          <p:cNvSpPr/>
          <p:nvPr/>
        </p:nvSpPr>
        <p:spPr>
          <a:xfrm>
            <a:off x="5961363" y="4195867"/>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A7CE154F-4759-AFA6-32D0-78B5686BBD64}"/>
              </a:ext>
            </a:extLst>
          </p:cNvPr>
          <p:cNvSpPr/>
          <p:nvPr/>
        </p:nvSpPr>
        <p:spPr>
          <a:xfrm>
            <a:off x="7345332" y="4195866"/>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2" name="Rectangle 11">
            <a:extLst>
              <a:ext uri="{FF2B5EF4-FFF2-40B4-BE49-F238E27FC236}">
                <a16:creationId xmlns:a16="http://schemas.microsoft.com/office/drawing/2014/main" id="{E511E3D2-AD69-4366-A33E-77A4770B297F}"/>
              </a:ext>
            </a:extLst>
          </p:cNvPr>
          <p:cNvSpPr/>
          <p:nvPr/>
        </p:nvSpPr>
        <p:spPr>
          <a:xfrm>
            <a:off x="8729301" y="419586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819FBA50-8BFF-4592-FA51-68A4DD16077B}"/>
              </a:ext>
            </a:extLst>
          </p:cNvPr>
          <p:cNvSpPr/>
          <p:nvPr/>
        </p:nvSpPr>
        <p:spPr>
          <a:xfrm>
            <a:off x="2163278" y="378351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5" name="Rectangle 14">
            <a:extLst>
              <a:ext uri="{FF2B5EF4-FFF2-40B4-BE49-F238E27FC236}">
                <a16:creationId xmlns:a16="http://schemas.microsoft.com/office/drawing/2014/main" id="{F228B26A-0502-0288-993A-8CEDF0F36190}"/>
              </a:ext>
            </a:extLst>
          </p:cNvPr>
          <p:cNvSpPr/>
          <p:nvPr/>
        </p:nvSpPr>
        <p:spPr>
          <a:xfrm>
            <a:off x="3193425" y="378351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Rectangle 15">
            <a:extLst>
              <a:ext uri="{FF2B5EF4-FFF2-40B4-BE49-F238E27FC236}">
                <a16:creationId xmlns:a16="http://schemas.microsoft.com/office/drawing/2014/main" id="{675068AF-A7F8-A152-5FC9-F0CFA46D4AB1}"/>
              </a:ext>
            </a:extLst>
          </p:cNvPr>
          <p:cNvSpPr/>
          <p:nvPr/>
        </p:nvSpPr>
        <p:spPr>
          <a:xfrm>
            <a:off x="4577394" y="3783514"/>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7" name="Rectangle 16">
            <a:extLst>
              <a:ext uri="{FF2B5EF4-FFF2-40B4-BE49-F238E27FC236}">
                <a16:creationId xmlns:a16="http://schemas.microsoft.com/office/drawing/2014/main" id="{F748ED0D-4CBC-442B-E66A-D04B01611E50}"/>
              </a:ext>
            </a:extLst>
          </p:cNvPr>
          <p:cNvSpPr/>
          <p:nvPr/>
        </p:nvSpPr>
        <p:spPr>
          <a:xfrm>
            <a:off x="5961363" y="378351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8" name="Rectangle 17">
            <a:extLst>
              <a:ext uri="{FF2B5EF4-FFF2-40B4-BE49-F238E27FC236}">
                <a16:creationId xmlns:a16="http://schemas.microsoft.com/office/drawing/2014/main" id="{2D7F6562-D5F1-40CD-EE14-9EB13C44D57C}"/>
              </a:ext>
            </a:extLst>
          </p:cNvPr>
          <p:cNvSpPr/>
          <p:nvPr/>
        </p:nvSpPr>
        <p:spPr>
          <a:xfrm>
            <a:off x="7345332" y="3783514"/>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1" name="Rectangle 20">
            <a:extLst>
              <a:ext uri="{FF2B5EF4-FFF2-40B4-BE49-F238E27FC236}">
                <a16:creationId xmlns:a16="http://schemas.microsoft.com/office/drawing/2014/main" id="{CFFF3F7C-14F0-F3BE-6589-75FF5A9A414E}"/>
              </a:ext>
            </a:extLst>
          </p:cNvPr>
          <p:cNvSpPr/>
          <p:nvPr/>
        </p:nvSpPr>
        <p:spPr>
          <a:xfrm>
            <a:off x="2163278" y="334874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1D7EDF62-1BF3-699C-6EE9-5086C1604B8B}"/>
              </a:ext>
            </a:extLst>
          </p:cNvPr>
          <p:cNvSpPr/>
          <p:nvPr/>
        </p:nvSpPr>
        <p:spPr>
          <a:xfrm>
            <a:off x="3193425" y="334874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Rectangle 22">
            <a:extLst>
              <a:ext uri="{FF2B5EF4-FFF2-40B4-BE49-F238E27FC236}">
                <a16:creationId xmlns:a16="http://schemas.microsoft.com/office/drawing/2014/main" id="{E670D562-B4A4-0ABE-D8B4-6532E561ADE0}"/>
              </a:ext>
            </a:extLst>
          </p:cNvPr>
          <p:cNvSpPr/>
          <p:nvPr/>
        </p:nvSpPr>
        <p:spPr>
          <a:xfrm>
            <a:off x="4577394" y="334874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4" name="Rectangle 23">
            <a:extLst>
              <a:ext uri="{FF2B5EF4-FFF2-40B4-BE49-F238E27FC236}">
                <a16:creationId xmlns:a16="http://schemas.microsoft.com/office/drawing/2014/main" id="{140D3CBA-AB5E-AC53-2FCB-1FBFB567583D}"/>
              </a:ext>
            </a:extLst>
          </p:cNvPr>
          <p:cNvSpPr/>
          <p:nvPr/>
        </p:nvSpPr>
        <p:spPr>
          <a:xfrm>
            <a:off x="5961363" y="334874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8" name="Rectangle 27">
            <a:extLst>
              <a:ext uri="{FF2B5EF4-FFF2-40B4-BE49-F238E27FC236}">
                <a16:creationId xmlns:a16="http://schemas.microsoft.com/office/drawing/2014/main" id="{0A31EDF1-0A30-AD46-6F10-C1072E9F96C4}"/>
              </a:ext>
            </a:extLst>
          </p:cNvPr>
          <p:cNvSpPr/>
          <p:nvPr/>
        </p:nvSpPr>
        <p:spPr>
          <a:xfrm>
            <a:off x="2163278" y="295882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9" name="Rectangle 28">
            <a:extLst>
              <a:ext uri="{FF2B5EF4-FFF2-40B4-BE49-F238E27FC236}">
                <a16:creationId xmlns:a16="http://schemas.microsoft.com/office/drawing/2014/main" id="{E96A2019-40DE-D02E-D8C0-BCB85C28A0D4}"/>
              </a:ext>
            </a:extLst>
          </p:cNvPr>
          <p:cNvSpPr/>
          <p:nvPr/>
        </p:nvSpPr>
        <p:spPr>
          <a:xfrm>
            <a:off x="3193425" y="29588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0" name="Rectangle 29">
            <a:extLst>
              <a:ext uri="{FF2B5EF4-FFF2-40B4-BE49-F238E27FC236}">
                <a16:creationId xmlns:a16="http://schemas.microsoft.com/office/drawing/2014/main" id="{77805500-D018-DDCF-AAA6-9E7EC4AF0179}"/>
              </a:ext>
            </a:extLst>
          </p:cNvPr>
          <p:cNvSpPr/>
          <p:nvPr/>
        </p:nvSpPr>
        <p:spPr>
          <a:xfrm>
            <a:off x="4577394" y="29588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35" name="Rectangle 34">
            <a:extLst>
              <a:ext uri="{FF2B5EF4-FFF2-40B4-BE49-F238E27FC236}">
                <a16:creationId xmlns:a16="http://schemas.microsoft.com/office/drawing/2014/main" id="{321B081F-E2E5-F1F5-C8B6-5AC83F655CA4}"/>
              </a:ext>
            </a:extLst>
          </p:cNvPr>
          <p:cNvSpPr/>
          <p:nvPr/>
        </p:nvSpPr>
        <p:spPr>
          <a:xfrm>
            <a:off x="2163278" y="2615200"/>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6" name="Rectangle 35">
            <a:extLst>
              <a:ext uri="{FF2B5EF4-FFF2-40B4-BE49-F238E27FC236}">
                <a16:creationId xmlns:a16="http://schemas.microsoft.com/office/drawing/2014/main" id="{B2EE0699-BBEF-8BF1-4557-F23B87E02E54}"/>
              </a:ext>
            </a:extLst>
          </p:cNvPr>
          <p:cNvSpPr/>
          <p:nvPr/>
        </p:nvSpPr>
        <p:spPr>
          <a:xfrm>
            <a:off x="3193425" y="261520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 name="TextBox 2">
            <a:extLst>
              <a:ext uri="{FF2B5EF4-FFF2-40B4-BE49-F238E27FC236}">
                <a16:creationId xmlns:a16="http://schemas.microsoft.com/office/drawing/2014/main" id="{9692D612-4C20-66F1-7113-6AA8588C267F}"/>
              </a:ext>
            </a:extLst>
          </p:cNvPr>
          <p:cNvSpPr txBox="1"/>
          <p:nvPr/>
        </p:nvSpPr>
        <p:spPr>
          <a:xfrm>
            <a:off x="2262535" y="4757266"/>
            <a:ext cx="381836"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6614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7196-99F0-6079-032C-B9C3F81E99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BFF4F1-DF08-EE03-A94D-A7B3F3E121C7}"/>
              </a:ext>
            </a:extLst>
          </p:cNvPr>
          <p:cNvSpPr/>
          <p:nvPr/>
        </p:nvSpPr>
        <p:spPr>
          <a:xfrm>
            <a:off x="558126" y="2444892"/>
            <a:ext cx="1310220" cy="31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D2047F77-8B99-9667-6A53-375A5BA1F6CF}"/>
              </a:ext>
            </a:extLst>
          </p:cNvPr>
          <p:cNvSpPr/>
          <p:nvPr/>
        </p:nvSpPr>
        <p:spPr>
          <a:xfrm>
            <a:off x="1868347" y="2444893"/>
            <a:ext cx="1760238" cy="3108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6" name="Rectangle 5">
            <a:extLst>
              <a:ext uri="{FF2B5EF4-FFF2-40B4-BE49-F238E27FC236}">
                <a16:creationId xmlns:a16="http://schemas.microsoft.com/office/drawing/2014/main" id="{FDFB323B-7C05-1A73-C7D9-CE3B07BEE297}"/>
              </a:ext>
            </a:extLst>
          </p:cNvPr>
          <p:cNvSpPr/>
          <p:nvPr/>
        </p:nvSpPr>
        <p:spPr>
          <a:xfrm>
            <a:off x="3628585" y="2444892"/>
            <a:ext cx="1760238" cy="31087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7" name="Rectangle 6">
            <a:extLst>
              <a:ext uri="{FF2B5EF4-FFF2-40B4-BE49-F238E27FC236}">
                <a16:creationId xmlns:a16="http://schemas.microsoft.com/office/drawing/2014/main" id="{2B270201-3BB0-A052-5C39-53F860291860}"/>
              </a:ext>
            </a:extLst>
          </p:cNvPr>
          <p:cNvSpPr/>
          <p:nvPr/>
        </p:nvSpPr>
        <p:spPr>
          <a:xfrm>
            <a:off x="5388823" y="2444893"/>
            <a:ext cx="6444590" cy="31087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10,000 files in directory</a:t>
            </a:r>
          </a:p>
        </p:txBody>
      </p:sp>
      <p:grpSp>
        <p:nvGrpSpPr>
          <p:cNvPr id="17" name="Group 16">
            <a:extLst>
              <a:ext uri="{FF2B5EF4-FFF2-40B4-BE49-F238E27FC236}">
                <a16:creationId xmlns:a16="http://schemas.microsoft.com/office/drawing/2014/main" id="{33CD094E-4396-6A51-5007-515DB32E1289}"/>
              </a:ext>
            </a:extLst>
          </p:cNvPr>
          <p:cNvGrpSpPr/>
          <p:nvPr/>
        </p:nvGrpSpPr>
        <p:grpSpPr>
          <a:xfrm>
            <a:off x="558126" y="3964785"/>
            <a:ext cx="1295355" cy="274900"/>
            <a:chOff x="558126" y="3129628"/>
            <a:chExt cx="6566023" cy="274900"/>
          </a:xfrm>
        </p:grpSpPr>
        <p:sp>
          <p:nvSpPr>
            <p:cNvPr id="8" name="Rectangle 7">
              <a:extLst>
                <a:ext uri="{FF2B5EF4-FFF2-40B4-BE49-F238E27FC236}">
                  <a16:creationId xmlns:a16="http://schemas.microsoft.com/office/drawing/2014/main" id="{3BAC7100-4216-1426-F4B9-1E7BDB3ACB14}"/>
                </a:ext>
              </a:extLst>
            </p:cNvPr>
            <p:cNvSpPr/>
            <p:nvPr/>
          </p:nvSpPr>
          <p:spPr>
            <a:xfrm>
              <a:off x="558126" y="312962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9" name="Rectangle 8">
              <a:extLst>
                <a:ext uri="{FF2B5EF4-FFF2-40B4-BE49-F238E27FC236}">
                  <a16:creationId xmlns:a16="http://schemas.microsoft.com/office/drawing/2014/main" id="{333960F6-973D-0082-F393-0CEF77C2C467}"/>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3" name="Rectangle 12">
              <a:extLst>
                <a:ext uri="{FF2B5EF4-FFF2-40B4-BE49-F238E27FC236}">
                  <a16:creationId xmlns:a16="http://schemas.microsoft.com/office/drawing/2014/main" id="{A7BD7EFB-BB78-C8AA-5672-0F0038EF504D}"/>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4" name="Rectangle 13">
              <a:extLst>
                <a:ext uri="{FF2B5EF4-FFF2-40B4-BE49-F238E27FC236}">
                  <a16:creationId xmlns:a16="http://schemas.microsoft.com/office/drawing/2014/main" id="{8C0BD092-E238-1BE2-A3EE-5B462AF21508}"/>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5" name="Rectangle 14">
              <a:extLst>
                <a:ext uri="{FF2B5EF4-FFF2-40B4-BE49-F238E27FC236}">
                  <a16:creationId xmlns:a16="http://schemas.microsoft.com/office/drawing/2014/main" id="{DCDB4A45-11D4-E5F4-D247-290555A6082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18" name="Group 17">
            <a:extLst>
              <a:ext uri="{FF2B5EF4-FFF2-40B4-BE49-F238E27FC236}">
                <a16:creationId xmlns:a16="http://schemas.microsoft.com/office/drawing/2014/main" id="{861DB988-56A7-0AE0-8ED5-F1A6CEC43AB0}"/>
              </a:ext>
            </a:extLst>
          </p:cNvPr>
          <p:cNvGrpSpPr/>
          <p:nvPr/>
        </p:nvGrpSpPr>
        <p:grpSpPr>
          <a:xfrm>
            <a:off x="1857713" y="3964785"/>
            <a:ext cx="1365157" cy="274900"/>
            <a:chOff x="1588273" y="3129628"/>
            <a:chExt cx="6919845" cy="274900"/>
          </a:xfrm>
        </p:grpSpPr>
        <p:sp>
          <p:nvSpPr>
            <p:cNvPr id="20" name="Rectangle 19">
              <a:extLst>
                <a:ext uri="{FF2B5EF4-FFF2-40B4-BE49-F238E27FC236}">
                  <a16:creationId xmlns:a16="http://schemas.microsoft.com/office/drawing/2014/main" id="{FE8BFEED-C4A9-1588-DF50-FCEA083D541D}"/>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1" name="Rectangle 20">
              <a:extLst>
                <a:ext uri="{FF2B5EF4-FFF2-40B4-BE49-F238E27FC236}">
                  <a16:creationId xmlns:a16="http://schemas.microsoft.com/office/drawing/2014/main" id="{DDD0B3C3-C15A-811A-1DC8-D3CEE5013792}"/>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2" name="Rectangle 21">
              <a:extLst>
                <a:ext uri="{FF2B5EF4-FFF2-40B4-BE49-F238E27FC236}">
                  <a16:creationId xmlns:a16="http://schemas.microsoft.com/office/drawing/2014/main" id="{93E5A50A-5ED5-085D-2F46-39093A11E61B}"/>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3" name="Rectangle 22">
              <a:extLst>
                <a:ext uri="{FF2B5EF4-FFF2-40B4-BE49-F238E27FC236}">
                  <a16:creationId xmlns:a16="http://schemas.microsoft.com/office/drawing/2014/main" id="{5EDF993C-77D9-A49D-D5A7-12F9CE56B5A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4" name="Rectangle 23">
              <a:extLst>
                <a:ext uri="{FF2B5EF4-FFF2-40B4-BE49-F238E27FC236}">
                  <a16:creationId xmlns:a16="http://schemas.microsoft.com/office/drawing/2014/main" id="{F9410801-BE9B-7319-51E8-D0A0CA78410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25" name="Group 24">
            <a:extLst>
              <a:ext uri="{FF2B5EF4-FFF2-40B4-BE49-F238E27FC236}">
                <a16:creationId xmlns:a16="http://schemas.microsoft.com/office/drawing/2014/main" id="{66A70465-7B6D-AA48-984A-6BD2FA5F8751}"/>
              </a:ext>
            </a:extLst>
          </p:cNvPr>
          <p:cNvGrpSpPr/>
          <p:nvPr/>
        </p:nvGrpSpPr>
        <p:grpSpPr>
          <a:xfrm>
            <a:off x="3219279" y="3964784"/>
            <a:ext cx="1092126" cy="274900"/>
            <a:chOff x="2972242" y="3129628"/>
            <a:chExt cx="5535876" cy="274900"/>
          </a:xfrm>
        </p:grpSpPr>
        <p:sp>
          <p:nvSpPr>
            <p:cNvPr id="27" name="Rectangle 26">
              <a:extLst>
                <a:ext uri="{FF2B5EF4-FFF2-40B4-BE49-F238E27FC236}">
                  <a16:creationId xmlns:a16="http://schemas.microsoft.com/office/drawing/2014/main" id="{6892751F-5C6D-4F49-9967-B1793710C3E7}"/>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8" name="Rectangle 27">
              <a:extLst>
                <a:ext uri="{FF2B5EF4-FFF2-40B4-BE49-F238E27FC236}">
                  <a16:creationId xmlns:a16="http://schemas.microsoft.com/office/drawing/2014/main" id="{7F088CEE-4EA9-EA97-8661-5242241AC374}"/>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9" name="Rectangle 28">
              <a:extLst>
                <a:ext uri="{FF2B5EF4-FFF2-40B4-BE49-F238E27FC236}">
                  <a16:creationId xmlns:a16="http://schemas.microsoft.com/office/drawing/2014/main" id="{BED18039-02DD-FBB3-DF84-BB9D1F249A2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30" name="Rectangle 29">
              <a:extLst>
                <a:ext uri="{FF2B5EF4-FFF2-40B4-BE49-F238E27FC236}">
                  <a16:creationId xmlns:a16="http://schemas.microsoft.com/office/drawing/2014/main" id="{1D367599-7F82-9ED7-A6AB-909B7DD985B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3" name="Group 42">
            <a:extLst>
              <a:ext uri="{FF2B5EF4-FFF2-40B4-BE49-F238E27FC236}">
                <a16:creationId xmlns:a16="http://schemas.microsoft.com/office/drawing/2014/main" id="{C018F9C9-BCEC-39D9-FCA9-6267D3C204A9}"/>
              </a:ext>
            </a:extLst>
          </p:cNvPr>
          <p:cNvGrpSpPr/>
          <p:nvPr/>
        </p:nvGrpSpPr>
        <p:grpSpPr>
          <a:xfrm>
            <a:off x="4310223" y="3964783"/>
            <a:ext cx="1092126" cy="274900"/>
            <a:chOff x="2972242" y="3129628"/>
            <a:chExt cx="5535876" cy="274900"/>
          </a:xfrm>
        </p:grpSpPr>
        <p:sp>
          <p:nvSpPr>
            <p:cNvPr id="44" name="Rectangle 43">
              <a:extLst>
                <a:ext uri="{FF2B5EF4-FFF2-40B4-BE49-F238E27FC236}">
                  <a16:creationId xmlns:a16="http://schemas.microsoft.com/office/drawing/2014/main" id="{ACE9D8EF-E916-C506-6197-EC5990C954A3}"/>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5" name="Rectangle 44">
              <a:extLst>
                <a:ext uri="{FF2B5EF4-FFF2-40B4-BE49-F238E27FC236}">
                  <a16:creationId xmlns:a16="http://schemas.microsoft.com/office/drawing/2014/main" id="{6F30EB33-4F06-9705-B8C9-DF0BAC10E3A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6" name="Rectangle 45">
              <a:extLst>
                <a:ext uri="{FF2B5EF4-FFF2-40B4-BE49-F238E27FC236}">
                  <a16:creationId xmlns:a16="http://schemas.microsoft.com/office/drawing/2014/main" id="{0897B69C-A201-6DFA-6515-2D354DF9DA8F}"/>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7" name="Rectangle 46">
              <a:extLst>
                <a:ext uri="{FF2B5EF4-FFF2-40B4-BE49-F238E27FC236}">
                  <a16:creationId xmlns:a16="http://schemas.microsoft.com/office/drawing/2014/main" id="{5B8CD6F1-DABA-0B46-4DCE-CD484DC0A6F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8" name="Group 47">
            <a:extLst>
              <a:ext uri="{FF2B5EF4-FFF2-40B4-BE49-F238E27FC236}">
                <a16:creationId xmlns:a16="http://schemas.microsoft.com/office/drawing/2014/main" id="{1A737673-EC55-2F2F-A495-5955EEEDE7C5}"/>
              </a:ext>
            </a:extLst>
          </p:cNvPr>
          <p:cNvGrpSpPr/>
          <p:nvPr/>
        </p:nvGrpSpPr>
        <p:grpSpPr>
          <a:xfrm>
            <a:off x="5406580" y="3964782"/>
            <a:ext cx="1092126" cy="274900"/>
            <a:chOff x="2972242" y="3129628"/>
            <a:chExt cx="5535876" cy="274900"/>
          </a:xfrm>
        </p:grpSpPr>
        <p:sp>
          <p:nvSpPr>
            <p:cNvPr id="50" name="Rectangle 49">
              <a:extLst>
                <a:ext uri="{FF2B5EF4-FFF2-40B4-BE49-F238E27FC236}">
                  <a16:creationId xmlns:a16="http://schemas.microsoft.com/office/drawing/2014/main" id="{756EAA61-695D-FFC2-5393-BF31605C4042}"/>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1" name="Rectangle 50">
              <a:extLst>
                <a:ext uri="{FF2B5EF4-FFF2-40B4-BE49-F238E27FC236}">
                  <a16:creationId xmlns:a16="http://schemas.microsoft.com/office/drawing/2014/main" id="{3C64C7D5-CC52-A3EE-9277-0130E23801E7}"/>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2" name="Rectangle 51">
              <a:extLst>
                <a:ext uri="{FF2B5EF4-FFF2-40B4-BE49-F238E27FC236}">
                  <a16:creationId xmlns:a16="http://schemas.microsoft.com/office/drawing/2014/main" id="{F205882E-41ED-BA81-4588-2C13FBBF684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3" name="Rectangle 52">
              <a:extLst>
                <a:ext uri="{FF2B5EF4-FFF2-40B4-BE49-F238E27FC236}">
                  <a16:creationId xmlns:a16="http://schemas.microsoft.com/office/drawing/2014/main" id="{AFFF502B-2C41-9B41-C3B6-921D48ACF33E}"/>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4" name="Group 53">
            <a:extLst>
              <a:ext uri="{FF2B5EF4-FFF2-40B4-BE49-F238E27FC236}">
                <a16:creationId xmlns:a16="http://schemas.microsoft.com/office/drawing/2014/main" id="{ACCC695D-1550-F0ED-460C-161A4E7552C0}"/>
              </a:ext>
            </a:extLst>
          </p:cNvPr>
          <p:cNvGrpSpPr/>
          <p:nvPr/>
        </p:nvGrpSpPr>
        <p:grpSpPr>
          <a:xfrm>
            <a:off x="6495114" y="3964781"/>
            <a:ext cx="1092126" cy="274900"/>
            <a:chOff x="2972242" y="3129628"/>
            <a:chExt cx="5535876" cy="274900"/>
          </a:xfrm>
        </p:grpSpPr>
        <p:sp>
          <p:nvSpPr>
            <p:cNvPr id="55" name="Rectangle 54">
              <a:extLst>
                <a:ext uri="{FF2B5EF4-FFF2-40B4-BE49-F238E27FC236}">
                  <a16:creationId xmlns:a16="http://schemas.microsoft.com/office/drawing/2014/main" id="{2F5AD7C1-D2FC-78DF-4324-FF38520DB918}"/>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6" name="Rectangle 55">
              <a:extLst>
                <a:ext uri="{FF2B5EF4-FFF2-40B4-BE49-F238E27FC236}">
                  <a16:creationId xmlns:a16="http://schemas.microsoft.com/office/drawing/2014/main" id="{79FAC859-1293-7934-4AE5-0D805888A7F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7" name="Rectangle 56">
              <a:extLst>
                <a:ext uri="{FF2B5EF4-FFF2-40B4-BE49-F238E27FC236}">
                  <a16:creationId xmlns:a16="http://schemas.microsoft.com/office/drawing/2014/main" id="{0BA168E1-2202-2F90-B54E-27C66E8375AE}"/>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8" name="Rectangle 57">
              <a:extLst>
                <a:ext uri="{FF2B5EF4-FFF2-40B4-BE49-F238E27FC236}">
                  <a16:creationId xmlns:a16="http://schemas.microsoft.com/office/drawing/2014/main" id="{228DF8F7-B079-D957-BE04-DB646EBC89A2}"/>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9" name="Group 58">
            <a:extLst>
              <a:ext uri="{FF2B5EF4-FFF2-40B4-BE49-F238E27FC236}">
                <a16:creationId xmlns:a16="http://schemas.microsoft.com/office/drawing/2014/main" id="{2A50B4D5-364B-4E43-0D38-EDA456B8C2F9}"/>
              </a:ext>
            </a:extLst>
          </p:cNvPr>
          <p:cNvGrpSpPr/>
          <p:nvPr/>
        </p:nvGrpSpPr>
        <p:grpSpPr>
          <a:xfrm>
            <a:off x="7586058" y="3964780"/>
            <a:ext cx="1092126" cy="274900"/>
            <a:chOff x="2972242" y="3129628"/>
            <a:chExt cx="5535876" cy="274900"/>
          </a:xfrm>
        </p:grpSpPr>
        <p:sp>
          <p:nvSpPr>
            <p:cNvPr id="60" name="Rectangle 59">
              <a:extLst>
                <a:ext uri="{FF2B5EF4-FFF2-40B4-BE49-F238E27FC236}">
                  <a16:creationId xmlns:a16="http://schemas.microsoft.com/office/drawing/2014/main" id="{BC68D615-DA13-0CFA-D553-2E906E8DC72C}"/>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1" name="Rectangle 60">
              <a:extLst>
                <a:ext uri="{FF2B5EF4-FFF2-40B4-BE49-F238E27FC236}">
                  <a16:creationId xmlns:a16="http://schemas.microsoft.com/office/drawing/2014/main" id="{4977F483-D405-E74F-29CE-495057DB0787}"/>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2" name="Rectangle 61">
              <a:extLst>
                <a:ext uri="{FF2B5EF4-FFF2-40B4-BE49-F238E27FC236}">
                  <a16:creationId xmlns:a16="http://schemas.microsoft.com/office/drawing/2014/main" id="{15EFEF5F-CDD8-8C44-D240-5CB894C6E389}"/>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3" name="Rectangle 62">
              <a:extLst>
                <a:ext uri="{FF2B5EF4-FFF2-40B4-BE49-F238E27FC236}">
                  <a16:creationId xmlns:a16="http://schemas.microsoft.com/office/drawing/2014/main" id="{BC9309F8-D8D4-119C-2996-F6F3EA86EF82}"/>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4" name="Group 63">
            <a:extLst>
              <a:ext uri="{FF2B5EF4-FFF2-40B4-BE49-F238E27FC236}">
                <a16:creationId xmlns:a16="http://schemas.microsoft.com/office/drawing/2014/main" id="{F5D56ECE-58E0-726D-44C4-77801ECF2293}"/>
              </a:ext>
            </a:extLst>
          </p:cNvPr>
          <p:cNvGrpSpPr/>
          <p:nvPr/>
        </p:nvGrpSpPr>
        <p:grpSpPr>
          <a:xfrm>
            <a:off x="8686648" y="3964780"/>
            <a:ext cx="1092126" cy="274900"/>
            <a:chOff x="2972242" y="3129628"/>
            <a:chExt cx="5535876" cy="274900"/>
          </a:xfrm>
        </p:grpSpPr>
        <p:sp>
          <p:nvSpPr>
            <p:cNvPr id="65" name="Rectangle 64">
              <a:extLst>
                <a:ext uri="{FF2B5EF4-FFF2-40B4-BE49-F238E27FC236}">
                  <a16:creationId xmlns:a16="http://schemas.microsoft.com/office/drawing/2014/main" id="{F44605D7-BB22-7E1A-9EC4-06DB4E922A1F}"/>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6" name="Rectangle 65">
              <a:extLst>
                <a:ext uri="{FF2B5EF4-FFF2-40B4-BE49-F238E27FC236}">
                  <a16:creationId xmlns:a16="http://schemas.microsoft.com/office/drawing/2014/main" id="{A8509FCA-4761-8709-F786-574BF8AB0B70}"/>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7" name="Rectangle 66">
              <a:extLst>
                <a:ext uri="{FF2B5EF4-FFF2-40B4-BE49-F238E27FC236}">
                  <a16:creationId xmlns:a16="http://schemas.microsoft.com/office/drawing/2014/main" id="{5FDF74F6-B276-7FFF-FD75-B781E07BFA07}"/>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8" name="Rectangle 67">
              <a:extLst>
                <a:ext uri="{FF2B5EF4-FFF2-40B4-BE49-F238E27FC236}">
                  <a16:creationId xmlns:a16="http://schemas.microsoft.com/office/drawing/2014/main" id="{BB444126-603E-3E7B-E716-398D29FA16EE}"/>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9" name="Group 68">
            <a:extLst>
              <a:ext uri="{FF2B5EF4-FFF2-40B4-BE49-F238E27FC236}">
                <a16:creationId xmlns:a16="http://schemas.microsoft.com/office/drawing/2014/main" id="{9543BCC1-BD37-FD79-F6D5-1A5A2DBDC18F}"/>
              </a:ext>
            </a:extLst>
          </p:cNvPr>
          <p:cNvGrpSpPr/>
          <p:nvPr/>
        </p:nvGrpSpPr>
        <p:grpSpPr>
          <a:xfrm>
            <a:off x="9775182" y="3964779"/>
            <a:ext cx="1092126" cy="274900"/>
            <a:chOff x="2972242" y="3129628"/>
            <a:chExt cx="5535876" cy="274900"/>
          </a:xfrm>
        </p:grpSpPr>
        <p:sp>
          <p:nvSpPr>
            <p:cNvPr id="70" name="Rectangle 69">
              <a:extLst>
                <a:ext uri="{FF2B5EF4-FFF2-40B4-BE49-F238E27FC236}">
                  <a16:creationId xmlns:a16="http://schemas.microsoft.com/office/drawing/2014/main" id="{FF72086F-077E-3195-EF4D-66117F20755C}"/>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1" name="Rectangle 70">
              <a:extLst>
                <a:ext uri="{FF2B5EF4-FFF2-40B4-BE49-F238E27FC236}">
                  <a16:creationId xmlns:a16="http://schemas.microsoft.com/office/drawing/2014/main" id="{5C58DDA2-7E4C-D035-E465-0C7E662C595D}"/>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2" name="Rectangle 71">
              <a:extLst>
                <a:ext uri="{FF2B5EF4-FFF2-40B4-BE49-F238E27FC236}">
                  <a16:creationId xmlns:a16="http://schemas.microsoft.com/office/drawing/2014/main" id="{5AC90963-2C59-EF39-4B25-61B8F717749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3" name="Rectangle 72">
              <a:extLst>
                <a:ext uri="{FF2B5EF4-FFF2-40B4-BE49-F238E27FC236}">
                  <a16:creationId xmlns:a16="http://schemas.microsoft.com/office/drawing/2014/main" id="{0DEA91B1-72B7-B05D-6983-E87B567738D6}"/>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74" name="Group 73">
            <a:extLst>
              <a:ext uri="{FF2B5EF4-FFF2-40B4-BE49-F238E27FC236}">
                <a16:creationId xmlns:a16="http://schemas.microsoft.com/office/drawing/2014/main" id="{010E7BC9-A98F-C391-E26E-65E145E92E04}"/>
              </a:ext>
            </a:extLst>
          </p:cNvPr>
          <p:cNvGrpSpPr/>
          <p:nvPr/>
        </p:nvGrpSpPr>
        <p:grpSpPr>
          <a:xfrm>
            <a:off x="10866126" y="3964778"/>
            <a:ext cx="1092126" cy="274900"/>
            <a:chOff x="2972242" y="3129628"/>
            <a:chExt cx="5535876" cy="274900"/>
          </a:xfrm>
        </p:grpSpPr>
        <p:sp>
          <p:nvSpPr>
            <p:cNvPr id="75" name="Rectangle 74">
              <a:extLst>
                <a:ext uri="{FF2B5EF4-FFF2-40B4-BE49-F238E27FC236}">
                  <a16:creationId xmlns:a16="http://schemas.microsoft.com/office/drawing/2014/main" id="{C799364F-3BC0-BD18-5F07-7F96C3355D79}"/>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6" name="Rectangle 75">
              <a:extLst>
                <a:ext uri="{FF2B5EF4-FFF2-40B4-BE49-F238E27FC236}">
                  <a16:creationId xmlns:a16="http://schemas.microsoft.com/office/drawing/2014/main" id="{3EF97D28-95C5-81D8-4122-BF36D537497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7" name="Rectangle 76">
              <a:extLst>
                <a:ext uri="{FF2B5EF4-FFF2-40B4-BE49-F238E27FC236}">
                  <a16:creationId xmlns:a16="http://schemas.microsoft.com/office/drawing/2014/main" id="{B17F9AE2-478B-8A34-0F82-34C59A0DEFD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8" name="Rectangle 77">
              <a:extLst>
                <a:ext uri="{FF2B5EF4-FFF2-40B4-BE49-F238E27FC236}">
                  <a16:creationId xmlns:a16="http://schemas.microsoft.com/office/drawing/2014/main" id="{A6582F28-FB2F-7939-8434-8F26FF7D98FD}"/>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spTree>
    <p:extLst>
      <p:ext uri="{BB962C8B-B14F-4D97-AF65-F5344CB8AC3E}">
        <p14:creationId xmlns:p14="http://schemas.microsoft.com/office/powerpoint/2010/main" val="134915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2284-074A-7E5F-34A4-24BABD5FD81A}"/>
              </a:ext>
            </a:extLst>
          </p:cNvPr>
          <p:cNvSpPr>
            <a:spLocks noGrp="1"/>
          </p:cNvSpPr>
          <p:nvPr>
            <p:ph type="title"/>
          </p:nvPr>
        </p:nvSpPr>
        <p:spPr/>
        <p:txBody>
          <a:bodyPr/>
          <a:lstStyle/>
          <a:p>
            <a:r>
              <a:rPr lang="en-US" dirty="0"/>
              <a:t>“Progressive disclosure”</a:t>
            </a:r>
          </a:p>
        </p:txBody>
      </p:sp>
      <p:sp>
        <p:nvSpPr>
          <p:cNvPr id="3" name="Content Placeholder 2">
            <a:extLst>
              <a:ext uri="{FF2B5EF4-FFF2-40B4-BE49-F238E27FC236}">
                <a16:creationId xmlns:a16="http://schemas.microsoft.com/office/drawing/2014/main" id="{42DDEFE2-FEEA-36A1-3522-18D10BCA8DD5}"/>
              </a:ext>
            </a:extLst>
          </p:cNvPr>
          <p:cNvSpPr>
            <a:spLocks noGrp="1"/>
          </p:cNvSpPr>
          <p:nvPr>
            <p:ph idx="1"/>
          </p:nvPr>
        </p:nvSpPr>
        <p:spPr/>
        <p:txBody>
          <a:bodyPr/>
          <a:lstStyle/>
          <a:p>
            <a:pPr marL="0" indent="0">
              <a:buNone/>
            </a:pPr>
            <a:r>
              <a:rPr lang="en-US" dirty="0"/>
              <a:t>Principle: let agent choose its own context</a:t>
            </a:r>
          </a:p>
          <a:p>
            <a:pPr marL="0" indent="0">
              <a:buNone/>
            </a:pPr>
            <a:endParaRPr lang="en-US" dirty="0"/>
          </a:p>
          <a:p>
            <a:pPr marL="0" indent="0">
              <a:buNone/>
            </a:pPr>
            <a:r>
              <a:rPr lang="en-US" dirty="0"/>
              <a:t>Old approach: harness decides context relevant to prompt</a:t>
            </a:r>
          </a:p>
          <a:p>
            <a:endParaRPr lang="en-US" dirty="0"/>
          </a:p>
          <a:p>
            <a:endParaRPr lang="en-US" dirty="0"/>
          </a:p>
          <a:p>
            <a:pPr marL="0" indent="0">
              <a:buNone/>
            </a:pPr>
            <a:r>
              <a:rPr lang="en-US" dirty="0"/>
              <a:t>Progressive disclosure: agent finds relevant context itself</a:t>
            </a:r>
          </a:p>
          <a:p>
            <a:pPr marL="0" indent="0">
              <a:buNone/>
            </a:pPr>
            <a:endParaRPr lang="en-US" dirty="0"/>
          </a:p>
        </p:txBody>
      </p:sp>
      <p:sp>
        <p:nvSpPr>
          <p:cNvPr id="4" name="Rectangle 3">
            <a:extLst>
              <a:ext uri="{FF2B5EF4-FFF2-40B4-BE49-F238E27FC236}">
                <a16:creationId xmlns:a16="http://schemas.microsoft.com/office/drawing/2014/main" id="{451B066B-677E-AE88-8A2C-15BC3FF25FD1}"/>
              </a:ext>
            </a:extLst>
          </p:cNvPr>
          <p:cNvSpPr/>
          <p:nvPr/>
        </p:nvSpPr>
        <p:spPr>
          <a:xfrm>
            <a:off x="1090715" y="360976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24EDE330-8867-3C2A-13FA-1191A677B577}"/>
              </a:ext>
            </a:extLst>
          </p:cNvPr>
          <p:cNvSpPr/>
          <p:nvPr/>
        </p:nvSpPr>
        <p:spPr>
          <a:xfrm>
            <a:off x="2120862" y="3609770"/>
            <a:ext cx="2767938" cy="27489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Harness-chosen context</a:t>
            </a:r>
          </a:p>
        </p:txBody>
      </p:sp>
      <p:sp>
        <p:nvSpPr>
          <p:cNvPr id="7" name="Rectangle 6">
            <a:extLst>
              <a:ext uri="{FF2B5EF4-FFF2-40B4-BE49-F238E27FC236}">
                <a16:creationId xmlns:a16="http://schemas.microsoft.com/office/drawing/2014/main" id="{FFFAF6A2-D93D-B2A5-89E5-44A93C60DD70}"/>
              </a:ext>
            </a:extLst>
          </p:cNvPr>
          <p:cNvSpPr/>
          <p:nvPr/>
        </p:nvSpPr>
        <p:spPr>
          <a:xfrm>
            <a:off x="4888800" y="360976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8" name="Rectangle 7">
            <a:extLst>
              <a:ext uri="{FF2B5EF4-FFF2-40B4-BE49-F238E27FC236}">
                <a16:creationId xmlns:a16="http://schemas.microsoft.com/office/drawing/2014/main" id="{947E9BD0-2F65-1983-E74B-08177B93453A}"/>
              </a:ext>
            </a:extLst>
          </p:cNvPr>
          <p:cNvSpPr/>
          <p:nvPr/>
        </p:nvSpPr>
        <p:spPr>
          <a:xfrm>
            <a:off x="6272769" y="360976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9" name="Rectangle 8">
            <a:extLst>
              <a:ext uri="{FF2B5EF4-FFF2-40B4-BE49-F238E27FC236}">
                <a16:creationId xmlns:a16="http://schemas.microsoft.com/office/drawing/2014/main" id="{A5BD444E-9FD8-54E8-DA23-127577803F4D}"/>
              </a:ext>
            </a:extLst>
          </p:cNvPr>
          <p:cNvSpPr/>
          <p:nvPr/>
        </p:nvSpPr>
        <p:spPr>
          <a:xfrm>
            <a:off x="7656738" y="360976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0" name="Rectangle 9">
            <a:extLst>
              <a:ext uri="{FF2B5EF4-FFF2-40B4-BE49-F238E27FC236}">
                <a16:creationId xmlns:a16="http://schemas.microsoft.com/office/drawing/2014/main" id="{34B47820-793C-7C98-3EF3-CBD8222206C4}"/>
              </a:ext>
            </a:extLst>
          </p:cNvPr>
          <p:cNvSpPr/>
          <p:nvPr/>
        </p:nvSpPr>
        <p:spPr>
          <a:xfrm>
            <a:off x="1090715" y="528825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1" name="Rectangle 10">
            <a:extLst>
              <a:ext uri="{FF2B5EF4-FFF2-40B4-BE49-F238E27FC236}">
                <a16:creationId xmlns:a16="http://schemas.microsoft.com/office/drawing/2014/main" id="{3EE5E2FB-E414-D58A-4ED6-C74218A35F22}"/>
              </a:ext>
            </a:extLst>
          </p:cNvPr>
          <p:cNvSpPr/>
          <p:nvPr/>
        </p:nvSpPr>
        <p:spPr>
          <a:xfrm>
            <a:off x="2120862"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98F33DF-7E3A-3317-2450-862FE868B887}"/>
              </a:ext>
            </a:extLst>
          </p:cNvPr>
          <p:cNvSpPr/>
          <p:nvPr/>
        </p:nvSpPr>
        <p:spPr>
          <a:xfrm>
            <a:off x="3504831" y="5288255"/>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13" name="Rectangle 12">
            <a:extLst>
              <a:ext uri="{FF2B5EF4-FFF2-40B4-BE49-F238E27FC236}">
                <a16:creationId xmlns:a16="http://schemas.microsoft.com/office/drawing/2014/main" id="{080C75AB-D923-A4AD-1A40-AB885F8943E0}"/>
              </a:ext>
            </a:extLst>
          </p:cNvPr>
          <p:cNvSpPr/>
          <p:nvPr/>
        </p:nvSpPr>
        <p:spPr>
          <a:xfrm>
            <a:off x="4888800"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A02AF0C0-DD7F-BC24-8837-8C72CF1E924C}"/>
              </a:ext>
            </a:extLst>
          </p:cNvPr>
          <p:cNvSpPr/>
          <p:nvPr/>
        </p:nvSpPr>
        <p:spPr>
          <a:xfrm>
            <a:off x="6272768" y="5288255"/>
            <a:ext cx="1731363"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grep some-file</a:t>
            </a:r>
          </a:p>
        </p:txBody>
      </p:sp>
      <p:sp>
        <p:nvSpPr>
          <p:cNvPr id="15" name="Rectangle 14">
            <a:extLst>
              <a:ext uri="{FF2B5EF4-FFF2-40B4-BE49-F238E27FC236}">
                <a16:creationId xmlns:a16="http://schemas.microsoft.com/office/drawing/2014/main" id="{2D5854D4-24C0-CF7E-4AD5-6FAE9A682C22}"/>
              </a:ext>
            </a:extLst>
          </p:cNvPr>
          <p:cNvSpPr/>
          <p:nvPr/>
        </p:nvSpPr>
        <p:spPr>
          <a:xfrm>
            <a:off x="7995186" y="5288254"/>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TextBox 15">
            <a:extLst>
              <a:ext uri="{FF2B5EF4-FFF2-40B4-BE49-F238E27FC236}">
                <a16:creationId xmlns:a16="http://schemas.microsoft.com/office/drawing/2014/main" id="{0FD330FA-BFDB-A7DE-2333-DF15BCC8CF1D}"/>
              </a:ext>
            </a:extLst>
          </p:cNvPr>
          <p:cNvSpPr txBox="1"/>
          <p:nvPr/>
        </p:nvSpPr>
        <p:spPr>
          <a:xfrm>
            <a:off x="9388099" y="5288254"/>
            <a:ext cx="739036" cy="369332"/>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2CBC507C-9534-ABE3-FD43-07D20D60D2E9}"/>
              </a:ext>
            </a:extLst>
          </p:cNvPr>
          <p:cNvSpPr txBox="1"/>
          <p:nvPr/>
        </p:nvSpPr>
        <p:spPr>
          <a:xfrm>
            <a:off x="9107330" y="3631962"/>
            <a:ext cx="739036"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3474190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program&#10;&#10;AI-generated content may be incorrect.">
            <a:extLst>
              <a:ext uri="{FF2B5EF4-FFF2-40B4-BE49-F238E27FC236}">
                <a16:creationId xmlns:a16="http://schemas.microsoft.com/office/drawing/2014/main" id="{1B8EFFE3-62D8-86C3-C9C3-DAB714F660C2}"/>
              </a:ext>
            </a:extLst>
          </p:cNvPr>
          <p:cNvPicPr>
            <a:picLocks noChangeAspect="1"/>
          </p:cNvPicPr>
          <p:nvPr/>
        </p:nvPicPr>
        <p:blipFill>
          <a:blip r:embed="rId2"/>
          <a:stretch>
            <a:fillRect/>
          </a:stretch>
        </p:blipFill>
        <p:spPr>
          <a:xfrm>
            <a:off x="3702116" y="792866"/>
            <a:ext cx="3947895" cy="5272268"/>
          </a:xfrm>
          <a:prstGeom prst="rect">
            <a:avLst/>
          </a:prstGeom>
        </p:spPr>
      </p:pic>
      <p:sp>
        <p:nvSpPr>
          <p:cNvPr id="6" name="TextBox 5">
            <a:extLst>
              <a:ext uri="{FF2B5EF4-FFF2-40B4-BE49-F238E27FC236}">
                <a16:creationId xmlns:a16="http://schemas.microsoft.com/office/drawing/2014/main" id="{1005D473-375C-A724-07BE-E59A172D9E3B}"/>
              </a:ext>
            </a:extLst>
          </p:cNvPr>
          <p:cNvSpPr txBox="1"/>
          <p:nvPr/>
        </p:nvSpPr>
        <p:spPr>
          <a:xfrm>
            <a:off x="4377021" y="6165760"/>
            <a:ext cx="2598084" cy="369332"/>
          </a:xfrm>
          <a:prstGeom prst="rect">
            <a:avLst/>
          </a:prstGeom>
          <a:noFill/>
        </p:spPr>
        <p:txBody>
          <a:bodyPr wrap="none" rtlCol="0">
            <a:spAutoFit/>
          </a:bodyPr>
          <a:lstStyle/>
          <a:p>
            <a:r>
              <a:rPr lang="en-US" dirty="0"/>
              <a:t>Skill with 20 to-do items</a:t>
            </a:r>
          </a:p>
        </p:txBody>
      </p:sp>
    </p:spTree>
    <p:extLst>
      <p:ext uri="{BB962C8B-B14F-4D97-AF65-F5344CB8AC3E}">
        <p14:creationId xmlns:p14="http://schemas.microsoft.com/office/powerpoint/2010/main" val="272165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5179C9-CBA7-7FF4-9ED7-CCAD2DE2EA15}"/>
              </a:ext>
            </a:extLst>
          </p:cNvPr>
          <p:cNvPicPr>
            <a:picLocks noChangeAspect="1"/>
          </p:cNvPicPr>
          <p:nvPr/>
        </p:nvPicPr>
        <p:blipFill>
          <a:blip r:embed="rId2"/>
          <a:stretch>
            <a:fillRect/>
          </a:stretch>
        </p:blipFill>
        <p:spPr>
          <a:xfrm>
            <a:off x="629567" y="2664373"/>
            <a:ext cx="10566577" cy="1882732"/>
          </a:xfrm>
          <a:prstGeom prst="rect">
            <a:avLst/>
          </a:prstGeom>
        </p:spPr>
      </p:pic>
      <p:sp>
        <p:nvSpPr>
          <p:cNvPr id="5" name="TextBox 4">
            <a:extLst>
              <a:ext uri="{FF2B5EF4-FFF2-40B4-BE49-F238E27FC236}">
                <a16:creationId xmlns:a16="http://schemas.microsoft.com/office/drawing/2014/main" id="{E1FA2058-228D-CB7A-992A-34319D1B085B}"/>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1956615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white background with black text&#10;&#10;AI-generated content may be incorrect.">
            <a:extLst>
              <a:ext uri="{FF2B5EF4-FFF2-40B4-BE49-F238E27FC236}">
                <a16:creationId xmlns:a16="http://schemas.microsoft.com/office/drawing/2014/main" id="{6ADE9622-C628-DE3A-6B62-18212303F3D1}"/>
              </a:ext>
            </a:extLst>
          </p:cNvPr>
          <p:cNvPicPr>
            <a:picLocks noGrp="1" noChangeAspect="1"/>
          </p:cNvPicPr>
          <p:nvPr>
            <p:ph idx="4294967295"/>
          </p:nvPr>
        </p:nvPicPr>
        <p:blipFill>
          <a:blip r:embed="rId2"/>
          <a:stretch>
            <a:fillRect/>
          </a:stretch>
        </p:blipFill>
        <p:spPr>
          <a:xfrm>
            <a:off x="2209800" y="2740025"/>
            <a:ext cx="7772400" cy="1377950"/>
          </a:xfrm>
          <a:prstGeom prst="rect">
            <a:avLst/>
          </a:prstGeom>
        </p:spPr>
      </p:pic>
      <p:sp>
        <p:nvSpPr>
          <p:cNvPr id="9" name="TextBox 8">
            <a:extLst>
              <a:ext uri="{FF2B5EF4-FFF2-40B4-BE49-F238E27FC236}">
                <a16:creationId xmlns:a16="http://schemas.microsoft.com/office/drawing/2014/main" id="{4971DE8D-FD63-B2DF-3442-75D07B58C64D}"/>
              </a:ext>
            </a:extLst>
          </p:cNvPr>
          <p:cNvSpPr txBox="1"/>
          <p:nvPr/>
        </p:nvSpPr>
        <p:spPr>
          <a:xfrm>
            <a:off x="9912485" y="6206247"/>
            <a:ext cx="1755096" cy="369332"/>
          </a:xfrm>
          <a:prstGeom prst="rect">
            <a:avLst/>
          </a:prstGeom>
          <a:noFill/>
        </p:spPr>
        <p:txBody>
          <a:bodyPr wrap="none" rtlCol="0">
            <a:spAutoFit/>
          </a:bodyPr>
          <a:lstStyle/>
          <a:p>
            <a:r>
              <a:rPr lang="en-US" dirty="0"/>
              <a:t>Anthropic, 2025</a:t>
            </a:r>
          </a:p>
        </p:txBody>
      </p:sp>
      <p:sp>
        <p:nvSpPr>
          <p:cNvPr id="13" name="Rounded Rectangle 12">
            <a:extLst>
              <a:ext uri="{FF2B5EF4-FFF2-40B4-BE49-F238E27FC236}">
                <a16:creationId xmlns:a16="http://schemas.microsoft.com/office/drawing/2014/main" id="{2AA27EF2-9A66-4687-48F4-9F7CDDC28432}"/>
              </a:ext>
            </a:extLst>
          </p:cNvPr>
          <p:cNvSpPr/>
          <p:nvPr/>
        </p:nvSpPr>
        <p:spPr>
          <a:xfrm>
            <a:off x="2806585" y="5101344"/>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Get out of the agent’s way </a:t>
            </a:r>
          </a:p>
        </p:txBody>
      </p:sp>
    </p:spTree>
    <p:extLst>
      <p:ext uri="{BB962C8B-B14F-4D97-AF65-F5344CB8AC3E}">
        <p14:creationId xmlns:p14="http://schemas.microsoft.com/office/powerpoint/2010/main" val="311277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86A1-ACEA-A1DA-5F07-B4C77C3404B2}"/>
              </a:ext>
            </a:extLst>
          </p:cNvPr>
          <p:cNvSpPr>
            <a:spLocks noGrp="1"/>
          </p:cNvSpPr>
          <p:nvPr>
            <p:ph type="title"/>
          </p:nvPr>
        </p:nvSpPr>
        <p:spPr/>
        <p:txBody>
          <a:bodyPr/>
          <a:lstStyle/>
          <a:p>
            <a:r>
              <a:rPr lang="en-US" dirty="0"/>
              <a:t>Intricate context engineering</a:t>
            </a:r>
          </a:p>
        </p:txBody>
      </p:sp>
      <p:sp>
        <p:nvSpPr>
          <p:cNvPr id="3" name="Content Placeholder 2">
            <a:extLst>
              <a:ext uri="{FF2B5EF4-FFF2-40B4-BE49-F238E27FC236}">
                <a16:creationId xmlns:a16="http://schemas.microsoft.com/office/drawing/2014/main" id="{EF0BA45B-EC09-BE35-FF1F-F4BCD4D3A3D1}"/>
              </a:ext>
            </a:extLst>
          </p:cNvPr>
          <p:cNvSpPr>
            <a:spLocks noGrp="1"/>
          </p:cNvSpPr>
          <p:nvPr>
            <p:ph idx="1"/>
          </p:nvPr>
        </p:nvSpPr>
        <p:spPr/>
        <p:txBody>
          <a:bodyPr/>
          <a:lstStyle/>
          <a:p>
            <a:pPr marL="0" indent="0">
              <a:buNone/>
            </a:pPr>
            <a:r>
              <a:rPr lang="en-US" dirty="0"/>
              <a:t>Engineer harness to:</a:t>
            </a:r>
          </a:p>
          <a:p>
            <a:r>
              <a:rPr lang="en-US" dirty="0"/>
              <a:t>Avoid including unneeded data (“progressive disclosure”)</a:t>
            </a:r>
          </a:p>
          <a:p>
            <a:r>
              <a:rPr lang="en-US" dirty="0"/>
              <a:t>Split data among subagents</a:t>
            </a:r>
          </a:p>
          <a:p>
            <a:r>
              <a:rPr lang="en-US" dirty="0"/>
              <a:t>Use “frequent intentional compaction”</a:t>
            </a:r>
          </a:p>
          <a:p>
            <a:pPr marL="0" indent="0">
              <a:buNone/>
            </a:pPr>
            <a:endParaRPr lang="en-US" dirty="0"/>
          </a:p>
        </p:txBody>
      </p:sp>
      <p:sp>
        <p:nvSpPr>
          <p:cNvPr id="4" name="Rounded Rectangle 3">
            <a:extLst>
              <a:ext uri="{FF2B5EF4-FFF2-40B4-BE49-F238E27FC236}">
                <a16:creationId xmlns:a16="http://schemas.microsoft.com/office/drawing/2014/main" id="{AC51370F-E6EC-3454-6C25-84A6609CD2BE}"/>
              </a:ext>
            </a:extLst>
          </p:cNvPr>
          <p:cNvSpPr/>
          <p:nvPr/>
        </p:nvSpPr>
        <p:spPr>
          <a:xfrm>
            <a:off x="2893671" y="5754487"/>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Tension with “get out of the agent’s way” </a:t>
            </a:r>
          </a:p>
        </p:txBody>
      </p:sp>
    </p:spTree>
    <p:extLst>
      <p:ext uri="{BB962C8B-B14F-4D97-AF65-F5344CB8AC3E}">
        <p14:creationId xmlns:p14="http://schemas.microsoft.com/office/powerpoint/2010/main" val="2473817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workflow&#10;&#10;AI-generated content may be incorrect.">
            <a:extLst>
              <a:ext uri="{FF2B5EF4-FFF2-40B4-BE49-F238E27FC236}">
                <a16:creationId xmlns:a16="http://schemas.microsoft.com/office/drawing/2014/main" id="{A7083047-D9E7-C0EB-3ABC-8308CC64EE6B}"/>
              </a:ext>
            </a:extLst>
          </p:cNvPr>
          <p:cNvPicPr>
            <a:picLocks noGrp="1" noChangeAspect="1"/>
          </p:cNvPicPr>
          <p:nvPr>
            <p:ph idx="1"/>
          </p:nvPr>
        </p:nvPicPr>
        <p:blipFill>
          <a:blip r:embed="rId2"/>
          <a:srcRect r="35802"/>
          <a:stretch>
            <a:fillRect/>
          </a:stretch>
        </p:blipFill>
        <p:spPr>
          <a:xfrm>
            <a:off x="3309256" y="1268341"/>
            <a:ext cx="5890577" cy="4321318"/>
          </a:xfrm>
          <a:prstGeom prst="rect">
            <a:avLst/>
          </a:prstGeom>
        </p:spPr>
      </p:pic>
      <p:sp>
        <p:nvSpPr>
          <p:cNvPr id="6" name="TextBox 5">
            <a:extLst>
              <a:ext uri="{FF2B5EF4-FFF2-40B4-BE49-F238E27FC236}">
                <a16:creationId xmlns:a16="http://schemas.microsoft.com/office/drawing/2014/main" id="{39F52E33-CAE5-3E8B-2026-5852F0CB78A1}"/>
              </a:ext>
            </a:extLst>
          </p:cNvPr>
          <p:cNvSpPr txBox="1"/>
          <p:nvPr/>
        </p:nvSpPr>
        <p:spPr>
          <a:xfrm>
            <a:off x="10197296" y="6311900"/>
            <a:ext cx="1256691" cy="369332"/>
          </a:xfrm>
          <a:prstGeom prst="rect">
            <a:avLst/>
          </a:prstGeom>
          <a:noFill/>
        </p:spPr>
        <p:txBody>
          <a:bodyPr wrap="none" rtlCol="0">
            <a:spAutoFit/>
          </a:bodyPr>
          <a:lstStyle/>
          <a:p>
            <a:r>
              <a:rPr lang="en-US" dirty="0" err="1"/>
              <a:t>LangChain</a:t>
            </a:r>
            <a:endParaRPr lang="en-US" dirty="0"/>
          </a:p>
        </p:txBody>
      </p:sp>
      <p:sp>
        <p:nvSpPr>
          <p:cNvPr id="7" name="Rounded Rectangle 6">
            <a:extLst>
              <a:ext uri="{FF2B5EF4-FFF2-40B4-BE49-F238E27FC236}">
                <a16:creationId xmlns:a16="http://schemas.microsoft.com/office/drawing/2014/main" id="{3B556561-954F-84A0-D6D4-C23BA7E06C4F}"/>
              </a:ext>
            </a:extLst>
          </p:cNvPr>
          <p:cNvSpPr/>
          <p:nvPr/>
        </p:nvSpPr>
        <p:spPr>
          <a:xfrm>
            <a:off x="2893671" y="5754487"/>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Tension with “get out of the agent’s way” </a:t>
            </a:r>
          </a:p>
        </p:txBody>
      </p:sp>
      <p:sp>
        <p:nvSpPr>
          <p:cNvPr id="4" name="Title 1">
            <a:extLst>
              <a:ext uri="{FF2B5EF4-FFF2-40B4-BE49-F238E27FC236}">
                <a16:creationId xmlns:a16="http://schemas.microsoft.com/office/drawing/2014/main" id="{B1156A59-89F5-972C-4BED-AD7207072516}"/>
              </a:ext>
            </a:extLst>
          </p:cNvPr>
          <p:cNvSpPr>
            <a:spLocks noGrp="1"/>
          </p:cNvSpPr>
          <p:nvPr>
            <p:ph type="title"/>
          </p:nvPr>
        </p:nvSpPr>
        <p:spPr>
          <a:xfrm>
            <a:off x="838200" y="365125"/>
            <a:ext cx="10515600" cy="1325563"/>
          </a:xfrm>
        </p:spPr>
        <p:txBody>
          <a:bodyPr/>
          <a:lstStyle/>
          <a:p>
            <a:r>
              <a:rPr lang="en-US" dirty="0"/>
              <a:t>Intricate orchestration</a:t>
            </a:r>
          </a:p>
        </p:txBody>
      </p:sp>
    </p:spTree>
    <p:extLst>
      <p:ext uri="{BB962C8B-B14F-4D97-AF65-F5344CB8AC3E}">
        <p14:creationId xmlns:p14="http://schemas.microsoft.com/office/powerpoint/2010/main" val="4053144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Up Arrow 5">
            <a:extLst>
              <a:ext uri="{FF2B5EF4-FFF2-40B4-BE49-F238E27FC236}">
                <a16:creationId xmlns:a16="http://schemas.microsoft.com/office/drawing/2014/main" id="{2D9F4B4E-FD7A-493A-4AFE-0276B9FC7F39}"/>
              </a:ext>
            </a:extLst>
          </p:cNvPr>
          <p:cNvSpPr/>
          <p:nvPr/>
        </p:nvSpPr>
        <p:spPr>
          <a:xfrm>
            <a:off x="4032068" y="1828800"/>
            <a:ext cx="78377" cy="2638697"/>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Up Arrow 6">
            <a:extLst>
              <a:ext uri="{FF2B5EF4-FFF2-40B4-BE49-F238E27FC236}">
                <a16:creationId xmlns:a16="http://schemas.microsoft.com/office/drawing/2014/main" id="{AC87EA08-24B5-9EFF-B40D-B623E32BBB8E}"/>
              </a:ext>
            </a:extLst>
          </p:cNvPr>
          <p:cNvSpPr/>
          <p:nvPr/>
        </p:nvSpPr>
        <p:spPr>
          <a:xfrm rot="5400000">
            <a:off x="5673634" y="3400698"/>
            <a:ext cx="78377" cy="2638697"/>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E710F6-DFA6-988E-2763-5A3959226681}"/>
              </a:ext>
            </a:extLst>
          </p:cNvPr>
          <p:cNvSpPr txBox="1"/>
          <p:nvPr/>
        </p:nvSpPr>
        <p:spPr>
          <a:xfrm>
            <a:off x="5111086" y="4876799"/>
            <a:ext cx="1203471" cy="369332"/>
          </a:xfrm>
          <a:prstGeom prst="rect">
            <a:avLst/>
          </a:prstGeom>
          <a:noFill/>
        </p:spPr>
        <p:txBody>
          <a:bodyPr wrap="none" rtlCol="0">
            <a:spAutoFit/>
          </a:bodyPr>
          <a:lstStyle/>
          <a:p>
            <a:r>
              <a:rPr lang="en-US" dirty="0"/>
              <a:t>Autonomy</a:t>
            </a:r>
          </a:p>
        </p:txBody>
      </p:sp>
      <p:sp>
        <p:nvSpPr>
          <p:cNvPr id="9" name="TextBox 8">
            <a:extLst>
              <a:ext uri="{FF2B5EF4-FFF2-40B4-BE49-F238E27FC236}">
                <a16:creationId xmlns:a16="http://schemas.microsoft.com/office/drawing/2014/main" id="{55D3638B-7D06-F1CB-3642-3FEFB35E1F4F}"/>
              </a:ext>
            </a:extLst>
          </p:cNvPr>
          <p:cNvSpPr txBox="1"/>
          <p:nvPr/>
        </p:nvSpPr>
        <p:spPr>
          <a:xfrm>
            <a:off x="2738000" y="3148148"/>
            <a:ext cx="1046761" cy="369332"/>
          </a:xfrm>
          <a:prstGeom prst="rect">
            <a:avLst/>
          </a:prstGeom>
          <a:noFill/>
        </p:spPr>
        <p:txBody>
          <a:bodyPr wrap="none" rtlCol="0">
            <a:spAutoFit/>
          </a:bodyPr>
          <a:lstStyle/>
          <a:p>
            <a:r>
              <a:rPr lang="en-US" dirty="0"/>
              <a:t>Intricacy</a:t>
            </a:r>
          </a:p>
        </p:txBody>
      </p:sp>
      <p:sp>
        <p:nvSpPr>
          <p:cNvPr id="10" name="TextBox 9">
            <a:extLst>
              <a:ext uri="{FF2B5EF4-FFF2-40B4-BE49-F238E27FC236}">
                <a16:creationId xmlns:a16="http://schemas.microsoft.com/office/drawing/2014/main" id="{83A93DC7-D16C-5FC7-56AA-992E48B53C10}"/>
              </a:ext>
            </a:extLst>
          </p:cNvPr>
          <p:cNvSpPr txBox="1"/>
          <p:nvPr/>
        </p:nvSpPr>
        <p:spPr>
          <a:xfrm>
            <a:off x="5704112" y="3455298"/>
            <a:ext cx="779381" cy="369332"/>
          </a:xfrm>
          <a:prstGeom prst="rect">
            <a:avLst/>
          </a:prstGeom>
          <a:noFill/>
        </p:spPr>
        <p:txBody>
          <a:bodyPr wrap="none" rtlCol="0">
            <a:spAutoFit/>
          </a:bodyPr>
          <a:lstStyle/>
          <a:p>
            <a:r>
              <a:rPr lang="en-US" dirty="0" err="1"/>
              <a:t>ReAct</a:t>
            </a:r>
            <a:endParaRPr lang="en-US" dirty="0"/>
          </a:p>
        </p:txBody>
      </p:sp>
      <p:sp>
        <p:nvSpPr>
          <p:cNvPr id="11" name="TextBox 10">
            <a:extLst>
              <a:ext uri="{FF2B5EF4-FFF2-40B4-BE49-F238E27FC236}">
                <a16:creationId xmlns:a16="http://schemas.microsoft.com/office/drawing/2014/main" id="{92759426-4631-EFEC-7C67-3389E90E40F5}"/>
              </a:ext>
            </a:extLst>
          </p:cNvPr>
          <p:cNvSpPr txBox="1"/>
          <p:nvPr/>
        </p:nvSpPr>
        <p:spPr>
          <a:xfrm>
            <a:off x="4949433" y="2177142"/>
            <a:ext cx="682046" cy="369332"/>
          </a:xfrm>
          <a:prstGeom prst="rect">
            <a:avLst/>
          </a:prstGeom>
          <a:noFill/>
        </p:spPr>
        <p:txBody>
          <a:bodyPr wrap="none" rtlCol="0">
            <a:spAutoFit/>
          </a:bodyPr>
          <a:lstStyle/>
          <a:p>
            <a:r>
              <a:rPr lang="en-US" dirty="0"/>
              <a:t>12FA</a:t>
            </a:r>
          </a:p>
        </p:txBody>
      </p:sp>
      <p:sp>
        <p:nvSpPr>
          <p:cNvPr id="12" name="TextBox 11">
            <a:extLst>
              <a:ext uri="{FF2B5EF4-FFF2-40B4-BE49-F238E27FC236}">
                <a16:creationId xmlns:a16="http://schemas.microsoft.com/office/drawing/2014/main" id="{AF9A6055-DB3F-F0E5-52A4-DF5C4EFB4ED2}"/>
              </a:ext>
            </a:extLst>
          </p:cNvPr>
          <p:cNvSpPr txBox="1"/>
          <p:nvPr/>
        </p:nvSpPr>
        <p:spPr>
          <a:xfrm>
            <a:off x="4290310" y="4068078"/>
            <a:ext cx="1540358" cy="369332"/>
          </a:xfrm>
          <a:prstGeom prst="rect">
            <a:avLst/>
          </a:prstGeom>
          <a:noFill/>
        </p:spPr>
        <p:txBody>
          <a:bodyPr wrap="none" rtlCol="0">
            <a:spAutoFit/>
          </a:bodyPr>
          <a:lstStyle/>
          <a:p>
            <a:r>
              <a:rPr lang="en-US" dirty="0"/>
              <a:t>2023 chatbot</a:t>
            </a:r>
          </a:p>
        </p:txBody>
      </p:sp>
    </p:spTree>
    <p:extLst>
      <p:ext uri="{BB962C8B-B14F-4D97-AF65-F5344CB8AC3E}">
        <p14:creationId xmlns:p14="http://schemas.microsoft.com/office/powerpoint/2010/main" val="1455394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BCE01-5EF8-C2AB-41FD-621AD3E38200}"/>
              </a:ext>
            </a:extLst>
          </p:cNvPr>
          <p:cNvSpPr>
            <a:spLocks noGrp="1"/>
          </p:cNvSpPr>
          <p:nvPr>
            <p:ph type="title"/>
          </p:nvPr>
        </p:nvSpPr>
        <p:spPr>
          <a:xfrm>
            <a:off x="942703" y="2568394"/>
            <a:ext cx="10515600" cy="1325563"/>
          </a:xfrm>
        </p:spPr>
        <p:txBody>
          <a:bodyPr>
            <a:normAutofit fontScale="90000"/>
          </a:bodyPr>
          <a:lstStyle/>
          <a:p>
            <a:r>
              <a:rPr lang="en-US" dirty="0"/>
              <a:t>What is the maximum degree to which an agentic system can be controlled by the language model autonomously?</a:t>
            </a:r>
          </a:p>
        </p:txBody>
      </p:sp>
    </p:spTree>
    <p:extLst>
      <p:ext uri="{BB962C8B-B14F-4D97-AF65-F5344CB8AC3E}">
        <p14:creationId xmlns:p14="http://schemas.microsoft.com/office/powerpoint/2010/main" val="3015627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3769-FDE2-80AB-48FA-9E3485AF1B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D81B6F-2524-F9D1-75FB-647722F1649E}"/>
              </a:ext>
            </a:extLst>
          </p:cNvPr>
          <p:cNvSpPr txBox="1"/>
          <p:nvPr/>
        </p:nvSpPr>
        <p:spPr>
          <a:xfrm>
            <a:off x="2819904" y="2630872"/>
            <a:ext cx="5117465" cy="1754326"/>
          </a:xfrm>
          <a:prstGeom prst="rect">
            <a:avLst/>
          </a:prstGeom>
          <a:noFill/>
        </p:spPr>
        <p:txBody>
          <a:bodyPr wrap="square" rtlCol="0">
            <a:spAutoFit/>
          </a:bodyPr>
          <a:lstStyle/>
          <a:p>
            <a:pPr marL="342900" indent="-342900">
              <a:buAutoNum type="arabicParenBoth"/>
            </a:pPr>
            <a:r>
              <a:rPr lang="en-US" dirty="0">
                <a:solidFill>
                  <a:srgbClr val="0070C0"/>
                </a:solidFill>
              </a:rPr>
              <a:t>Invocation: call the model with some prefix</a:t>
            </a:r>
          </a:p>
          <a:p>
            <a:pPr marL="342900" indent="-342900">
              <a:buAutoNum type="arabicParenBoth"/>
            </a:pPr>
            <a:r>
              <a:rPr lang="en-US" dirty="0">
                <a:solidFill>
                  <a:srgbClr val="00B050"/>
                </a:solidFill>
              </a:rPr>
              <a:t>Generation: model thinks and responds with tool call or program</a:t>
            </a:r>
          </a:p>
          <a:p>
            <a:pPr marL="342900" indent="-342900">
              <a:buAutoNum type="arabicParenBoth"/>
            </a:pPr>
            <a:r>
              <a:rPr lang="en-US" dirty="0">
                <a:solidFill>
                  <a:srgbClr val="7030A0"/>
                </a:solidFill>
              </a:rPr>
              <a:t>Execution: execute tool call</a:t>
            </a:r>
          </a:p>
          <a:p>
            <a:pPr marL="342900" indent="-342900">
              <a:buAutoNum type="arabicParenBoth"/>
            </a:pPr>
            <a:r>
              <a:rPr lang="en-US" dirty="0">
                <a:solidFill>
                  <a:srgbClr val="0070C0"/>
                </a:solidFill>
              </a:rPr>
              <a:t>Prefix building: produce new prefix and return to (1)</a:t>
            </a:r>
          </a:p>
        </p:txBody>
      </p:sp>
      <p:sp>
        <p:nvSpPr>
          <p:cNvPr id="2" name="TextBox 1">
            <a:extLst>
              <a:ext uri="{FF2B5EF4-FFF2-40B4-BE49-F238E27FC236}">
                <a16:creationId xmlns:a16="http://schemas.microsoft.com/office/drawing/2014/main" id="{D1A4D1B7-9FDE-965F-E705-D1514D063FDD}"/>
              </a:ext>
            </a:extLst>
          </p:cNvPr>
          <p:cNvSpPr txBox="1"/>
          <p:nvPr/>
        </p:nvSpPr>
        <p:spPr>
          <a:xfrm>
            <a:off x="9502219" y="6344239"/>
            <a:ext cx="2381486" cy="369332"/>
          </a:xfrm>
          <a:prstGeom prst="rect">
            <a:avLst/>
          </a:prstGeom>
          <a:noFill/>
        </p:spPr>
        <p:txBody>
          <a:bodyPr wrap="none" rtlCol="0">
            <a:spAutoFit/>
          </a:bodyPr>
          <a:lstStyle/>
          <a:p>
            <a:r>
              <a:rPr lang="en-US" dirty="0"/>
              <a:t>S. Yao et al. 2023 ICLR</a:t>
            </a:r>
          </a:p>
        </p:txBody>
      </p:sp>
      <p:sp>
        <p:nvSpPr>
          <p:cNvPr id="3" name="TextBox 2">
            <a:extLst>
              <a:ext uri="{FF2B5EF4-FFF2-40B4-BE49-F238E27FC236}">
                <a16:creationId xmlns:a16="http://schemas.microsoft.com/office/drawing/2014/main" id="{C756679E-C167-ECFA-D4A3-241BC6253467}"/>
              </a:ext>
            </a:extLst>
          </p:cNvPr>
          <p:cNvSpPr txBox="1"/>
          <p:nvPr/>
        </p:nvSpPr>
        <p:spPr>
          <a:xfrm>
            <a:off x="8098624" y="3496251"/>
            <a:ext cx="2203873" cy="369332"/>
          </a:xfrm>
          <a:prstGeom prst="rect">
            <a:avLst/>
          </a:prstGeom>
          <a:noFill/>
        </p:spPr>
        <p:txBody>
          <a:bodyPr wrap="none" rtlCol="0">
            <a:spAutoFit/>
          </a:bodyPr>
          <a:lstStyle/>
          <a:p>
            <a:r>
              <a:rPr lang="en-US" dirty="0"/>
              <a:t>Controlled by model</a:t>
            </a:r>
          </a:p>
        </p:txBody>
      </p:sp>
      <p:cxnSp>
        <p:nvCxnSpPr>
          <p:cNvPr id="6" name="Straight Arrow Connector 5">
            <a:extLst>
              <a:ext uri="{FF2B5EF4-FFF2-40B4-BE49-F238E27FC236}">
                <a16:creationId xmlns:a16="http://schemas.microsoft.com/office/drawing/2014/main" id="{D77A1A2D-83B1-C196-7EE9-27D85B2C5CB5}"/>
              </a:ext>
            </a:extLst>
          </p:cNvPr>
          <p:cNvCxnSpPr>
            <a:cxnSpLocks/>
          </p:cNvCxnSpPr>
          <p:nvPr/>
        </p:nvCxnSpPr>
        <p:spPr>
          <a:xfrm flipH="1">
            <a:off x="6014301" y="3662063"/>
            <a:ext cx="20843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AE1ECCD1-BFD0-34EA-3073-4C1041095E5A}"/>
              </a:ext>
            </a:extLst>
          </p:cNvPr>
          <p:cNvSpPr txBox="1"/>
          <p:nvPr/>
        </p:nvSpPr>
        <p:spPr>
          <a:xfrm>
            <a:off x="247460" y="3228679"/>
            <a:ext cx="1642043" cy="646331"/>
          </a:xfrm>
          <a:prstGeom prst="rect">
            <a:avLst/>
          </a:prstGeom>
          <a:noFill/>
        </p:spPr>
        <p:txBody>
          <a:bodyPr wrap="square" rtlCol="0">
            <a:spAutoFit/>
          </a:bodyPr>
          <a:lstStyle/>
          <a:p>
            <a:pPr algn="ctr"/>
            <a:r>
              <a:rPr lang="en-US" dirty="0"/>
              <a:t>Controlled by harness</a:t>
            </a:r>
          </a:p>
        </p:txBody>
      </p:sp>
      <p:cxnSp>
        <p:nvCxnSpPr>
          <p:cNvPr id="8" name="Straight Arrow Connector 7">
            <a:extLst>
              <a:ext uri="{FF2B5EF4-FFF2-40B4-BE49-F238E27FC236}">
                <a16:creationId xmlns:a16="http://schemas.microsoft.com/office/drawing/2014/main" id="{708298CA-1B5D-E1D9-9758-B35434436465}"/>
              </a:ext>
            </a:extLst>
          </p:cNvPr>
          <p:cNvCxnSpPr>
            <a:cxnSpLocks/>
          </p:cNvCxnSpPr>
          <p:nvPr/>
        </p:nvCxnSpPr>
        <p:spPr>
          <a:xfrm flipV="1">
            <a:off x="1889503" y="2931736"/>
            <a:ext cx="930401" cy="5904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F6F1E93-56EB-D112-6C68-D3E3E59A6419}"/>
              </a:ext>
            </a:extLst>
          </p:cNvPr>
          <p:cNvCxnSpPr>
            <a:cxnSpLocks/>
          </p:cNvCxnSpPr>
          <p:nvPr/>
        </p:nvCxnSpPr>
        <p:spPr>
          <a:xfrm>
            <a:off x="1889502" y="3522174"/>
            <a:ext cx="930402" cy="4559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5545C237-FD4E-6DC5-C99F-8B37C67BC7CA}"/>
              </a:ext>
            </a:extLst>
          </p:cNvPr>
          <p:cNvSpPr txBox="1"/>
          <p:nvPr/>
        </p:nvSpPr>
        <p:spPr>
          <a:xfrm>
            <a:off x="2608108" y="2016426"/>
            <a:ext cx="4980192" cy="523220"/>
          </a:xfrm>
          <a:prstGeom prst="rect">
            <a:avLst/>
          </a:prstGeom>
          <a:noFill/>
          <a:ln>
            <a:noFill/>
          </a:ln>
        </p:spPr>
        <p:txBody>
          <a:bodyPr wrap="square" rtlCol="0">
            <a:spAutoFit/>
          </a:bodyPr>
          <a:lstStyle/>
          <a:p>
            <a:pPr algn="ctr"/>
            <a:r>
              <a:rPr lang="en-US" sz="2800" dirty="0" err="1"/>
              <a:t>ReAct</a:t>
            </a:r>
            <a:r>
              <a:rPr lang="en-US" sz="2800" dirty="0"/>
              <a:t> loop</a:t>
            </a:r>
          </a:p>
        </p:txBody>
      </p:sp>
    </p:spTree>
    <p:extLst>
      <p:ext uri="{BB962C8B-B14F-4D97-AF65-F5344CB8AC3E}">
        <p14:creationId xmlns:p14="http://schemas.microsoft.com/office/powerpoint/2010/main" val="1044508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5CA3-8F95-2AC7-096E-C5FE346363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72B220-20AF-6FCF-5FBC-8200FAE73596}"/>
              </a:ext>
            </a:extLst>
          </p:cNvPr>
          <p:cNvSpPr txBox="1"/>
          <p:nvPr/>
        </p:nvSpPr>
        <p:spPr>
          <a:xfrm>
            <a:off x="602003" y="2665074"/>
            <a:ext cx="4980192" cy="1754326"/>
          </a:xfrm>
          <a:prstGeom prst="rect">
            <a:avLst/>
          </a:prstGeom>
          <a:noFill/>
          <a:ln>
            <a:noFill/>
          </a:ln>
        </p:spPr>
        <p:txBody>
          <a:bodyPr wrap="square" rtlCol="0">
            <a:spAutoFit/>
          </a:bodyPr>
          <a:lstStyle/>
          <a:p>
            <a:pPr marL="342900" indent="-342900">
              <a:buAutoNum type="arabicParenBoth"/>
            </a:pPr>
            <a:r>
              <a:rPr lang="en-US" dirty="0">
                <a:solidFill>
                  <a:srgbClr val="0070C0"/>
                </a:solidFill>
              </a:rPr>
              <a:t>Invocation: call the model with some prefix</a:t>
            </a:r>
          </a:p>
          <a:p>
            <a:pPr marL="342900" indent="-342900">
              <a:buAutoNum type="arabicParenBoth"/>
            </a:pPr>
            <a:r>
              <a:rPr lang="en-US" dirty="0">
                <a:solidFill>
                  <a:srgbClr val="00B050"/>
                </a:solidFill>
              </a:rPr>
              <a:t>Generation: model thinks and responds with tool call or program</a:t>
            </a:r>
          </a:p>
          <a:p>
            <a:pPr marL="342900" indent="-342900">
              <a:buAutoNum type="arabicParenBoth"/>
            </a:pPr>
            <a:r>
              <a:rPr lang="en-US" dirty="0">
                <a:solidFill>
                  <a:srgbClr val="7030A0"/>
                </a:solidFill>
              </a:rPr>
              <a:t>Execution: execute tool call</a:t>
            </a:r>
          </a:p>
          <a:p>
            <a:pPr marL="342900" indent="-342900">
              <a:buAutoNum type="arabicParenBoth"/>
            </a:pPr>
            <a:r>
              <a:rPr lang="en-US" dirty="0">
                <a:solidFill>
                  <a:srgbClr val="0070C0"/>
                </a:solidFill>
              </a:rPr>
              <a:t>Prefix building: produce new prefix and return to (1)</a:t>
            </a:r>
          </a:p>
        </p:txBody>
      </p:sp>
      <p:sp>
        <p:nvSpPr>
          <p:cNvPr id="2" name="TextBox 1">
            <a:extLst>
              <a:ext uri="{FF2B5EF4-FFF2-40B4-BE49-F238E27FC236}">
                <a16:creationId xmlns:a16="http://schemas.microsoft.com/office/drawing/2014/main" id="{70BE60DE-CC25-36A3-5459-EBC469F419EA}"/>
              </a:ext>
            </a:extLst>
          </p:cNvPr>
          <p:cNvSpPr txBox="1"/>
          <p:nvPr/>
        </p:nvSpPr>
        <p:spPr>
          <a:xfrm>
            <a:off x="6186407" y="2141854"/>
            <a:ext cx="4980192" cy="523220"/>
          </a:xfrm>
          <a:prstGeom prst="rect">
            <a:avLst/>
          </a:prstGeom>
          <a:noFill/>
          <a:ln>
            <a:noFill/>
          </a:ln>
        </p:spPr>
        <p:txBody>
          <a:bodyPr wrap="square" rtlCol="0">
            <a:spAutoFit/>
          </a:bodyPr>
          <a:lstStyle/>
          <a:p>
            <a:pPr algn="ctr"/>
            <a:r>
              <a:rPr lang="en-US" sz="2800" dirty="0"/>
              <a:t>Self-programmed execution</a:t>
            </a:r>
          </a:p>
        </p:txBody>
      </p:sp>
      <p:sp>
        <p:nvSpPr>
          <p:cNvPr id="12" name="TextBox 11">
            <a:extLst>
              <a:ext uri="{FF2B5EF4-FFF2-40B4-BE49-F238E27FC236}">
                <a16:creationId xmlns:a16="http://schemas.microsoft.com/office/drawing/2014/main" id="{61267AFF-CA28-3461-2A45-559EB389B699}"/>
              </a:ext>
            </a:extLst>
          </p:cNvPr>
          <p:cNvSpPr txBox="1"/>
          <p:nvPr/>
        </p:nvSpPr>
        <p:spPr>
          <a:xfrm>
            <a:off x="6335071" y="2665074"/>
            <a:ext cx="4980192" cy="923330"/>
          </a:xfrm>
          <a:prstGeom prst="rect">
            <a:avLst/>
          </a:prstGeom>
          <a:noFill/>
          <a:ln>
            <a:noFill/>
          </a:ln>
        </p:spPr>
        <p:txBody>
          <a:bodyPr wrap="square" rtlCol="0">
            <a:spAutoFit/>
          </a:bodyPr>
          <a:lstStyle/>
          <a:p>
            <a:pPr marL="342900" indent="-342900">
              <a:buAutoNum type="arabicParenBoth"/>
            </a:pPr>
            <a:r>
              <a:rPr lang="en-US" dirty="0">
                <a:solidFill>
                  <a:srgbClr val="00B050"/>
                </a:solidFill>
              </a:rPr>
              <a:t>Generation: model thinks and responds with a program</a:t>
            </a:r>
          </a:p>
          <a:p>
            <a:pPr marL="342900" indent="-342900">
              <a:buAutoNum type="arabicParenBoth"/>
            </a:pPr>
            <a:r>
              <a:rPr lang="en-US" dirty="0">
                <a:solidFill>
                  <a:srgbClr val="7030A0"/>
                </a:solidFill>
              </a:rPr>
              <a:t>Execution: evaluate the program</a:t>
            </a:r>
          </a:p>
        </p:txBody>
      </p:sp>
      <p:sp>
        <p:nvSpPr>
          <p:cNvPr id="13" name="TextBox 12">
            <a:extLst>
              <a:ext uri="{FF2B5EF4-FFF2-40B4-BE49-F238E27FC236}">
                <a16:creationId xmlns:a16="http://schemas.microsoft.com/office/drawing/2014/main" id="{67212583-3DA7-42E5-CCE1-7801D886A07A}"/>
              </a:ext>
            </a:extLst>
          </p:cNvPr>
          <p:cNvSpPr txBox="1"/>
          <p:nvPr/>
        </p:nvSpPr>
        <p:spPr>
          <a:xfrm>
            <a:off x="355102" y="2141854"/>
            <a:ext cx="4980192" cy="523220"/>
          </a:xfrm>
          <a:prstGeom prst="rect">
            <a:avLst/>
          </a:prstGeom>
          <a:noFill/>
          <a:ln>
            <a:noFill/>
          </a:ln>
        </p:spPr>
        <p:txBody>
          <a:bodyPr wrap="square" rtlCol="0">
            <a:spAutoFit/>
          </a:bodyPr>
          <a:lstStyle/>
          <a:p>
            <a:pPr algn="ctr"/>
            <a:r>
              <a:rPr lang="en-US" sz="2800" dirty="0" err="1"/>
              <a:t>ReAct</a:t>
            </a:r>
            <a:r>
              <a:rPr lang="en-US" sz="2800" dirty="0"/>
              <a:t> loop</a:t>
            </a:r>
          </a:p>
        </p:txBody>
      </p:sp>
    </p:spTree>
    <p:extLst>
      <p:ext uri="{BB962C8B-B14F-4D97-AF65-F5344CB8AC3E}">
        <p14:creationId xmlns:p14="http://schemas.microsoft.com/office/powerpoint/2010/main" val="2088990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413E-5F9E-1781-273E-2E1AC1973BF3}"/>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D3B0D178-1463-CE0F-495E-34FAAF9CB4BC}"/>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p:txBody>
      </p:sp>
      <p:pic>
        <p:nvPicPr>
          <p:cNvPr id="6" name="Picture 5">
            <a:extLst>
              <a:ext uri="{FF2B5EF4-FFF2-40B4-BE49-F238E27FC236}">
                <a16:creationId xmlns:a16="http://schemas.microsoft.com/office/drawing/2014/main" id="{220CF94C-5C7D-71AF-9EEA-4761435B3936}"/>
              </a:ext>
            </a:extLst>
          </p:cNvPr>
          <p:cNvPicPr>
            <a:picLocks noChangeAspect="1"/>
          </p:cNvPicPr>
          <p:nvPr/>
        </p:nvPicPr>
        <p:blipFill>
          <a:blip r:embed="rId2"/>
          <a:stretch>
            <a:fillRect/>
          </a:stretch>
        </p:blipFill>
        <p:spPr>
          <a:xfrm>
            <a:off x="7137474" y="1690688"/>
            <a:ext cx="4001678" cy="4351339"/>
          </a:xfrm>
          <a:prstGeom prst="rect">
            <a:avLst/>
          </a:prstGeom>
        </p:spPr>
      </p:pic>
    </p:spTree>
    <p:extLst>
      <p:ext uri="{BB962C8B-B14F-4D97-AF65-F5344CB8AC3E}">
        <p14:creationId xmlns:p14="http://schemas.microsoft.com/office/powerpoint/2010/main" val="472826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73558-348B-1425-4CEC-97C8731C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18652-6BFA-F14D-ADF3-E12E65AB0667}"/>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90ECB2CB-39E3-5F9A-78E1-179E2713B426}"/>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endParaRPr lang="en-US" dirty="0"/>
          </a:p>
        </p:txBody>
      </p:sp>
      <p:pic>
        <p:nvPicPr>
          <p:cNvPr id="4" name="Picture 3">
            <a:extLst>
              <a:ext uri="{FF2B5EF4-FFF2-40B4-BE49-F238E27FC236}">
                <a16:creationId xmlns:a16="http://schemas.microsoft.com/office/drawing/2014/main" id="{41996A37-4DDC-D512-11DD-BFCD7E3F4858}"/>
              </a:ext>
            </a:extLst>
          </p:cNvPr>
          <p:cNvPicPr>
            <a:picLocks noChangeAspect="1"/>
          </p:cNvPicPr>
          <p:nvPr/>
        </p:nvPicPr>
        <p:blipFill>
          <a:blip r:embed="rId2"/>
          <a:stretch>
            <a:fillRect/>
          </a:stretch>
        </p:blipFill>
        <p:spPr>
          <a:xfrm>
            <a:off x="2665036" y="3772648"/>
            <a:ext cx="6861928" cy="1682443"/>
          </a:xfrm>
          <a:prstGeom prst="rect">
            <a:avLst/>
          </a:prstGeom>
        </p:spPr>
      </p:pic>
    </p:spTree>
    <p:extLst>
      <p:ext uri="{BB962C8B-B14F-4D97-AF65-F5344CB8AC3E}">
        <p14:creationId xmlns:p14="http://schemas.microsoft.com/office/powerpoint/2010/main" val="341529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4583B-B44B-C08D-10E0-CCC43DF0A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58269-0C1E-F9BE-0D77-C6D47548AC7A}"/>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5C0F3E67-C642-AF97-E281-C8D51A04A064}"/>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endParaRPr lang="en-US" dirty="0"/>
          </a:p>
          <a:p>
            <a:endParaRPr lang="en-US" dirty="0"/>
          </a:p>
        </p:txBody>
      </p:sp>
      <p:pic>
        <p:nvPicPr>
          <p:cNvPr id="5" name="Picture 4">
            <a:extLst>
              <a:ext uri="{FF2B5EF4-FFF2-40B4-BE49-F238E27FC236}">
                <a16:creationId xmlns:a16="http://schemas.microsoft.com/office/drawing/2014/main" id="{A70919B3-9F15-5DF0-5D0B-2F30A51962D9}"/>
              </a:ext>
            </a:extLst>
          </p:cNvPr>
          <p:cNvPicPr>
            <a:picLocks noChangeAspect="1"/>
          </p:cNvPicPr>
          <p:nvPr/>
        </p:nvPicPr>
        <p:blipFill>
          <a:blip r:embed="rId2"/>
          <a:stretch>
            <a:fillRect/>
          </a:stretch>
        </p:blipFill>
        <p:spPr>
          <a:xfrm>
            <a:off x="2667627" y="3756196"/>
            <a:ext cx="6466161" cy="2096845"/>
          </a:xfrm>
          <a:prstGeom prst="rect">
            <a:avLst/>
          </a:prstGeom>
        </p:spPr>
      </p:pic>
    </p:spTree>
    <p:extLst>
      <p:ext uri="{BB962C8B-B14F-4D97-AF65-F5344CB8AC3E}">
        <p14:creationId xmlns:p14="http://schemas.microsoft.com/office/powerpoint/2010/main" val="1650851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E1A9-F13D-7587-82D5-B4158F837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93CB8-8DE2-EFDB-5F47-87FE333B6A59}"/>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8B6D2E77-B6BE-9DBD-E0C4-D3AB017882FB}"/>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r>
              <a:rPr lang="en-US" dirty="0"/>
              <a:t>RLMs A. Zhang et al. 2026 </a:t>
            </a:r>
            <a:r>
              <a:rPr lang="en-US" dirty="0" err="1"/>
              <a:t>arXiv</a:t>
            </a: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0F98A9D1-F512-0EFA-89D6-2B2CE741077C}"/>
              </a:ext>
            </a:extLst>
          </p:cNvPr>
          <p:cNvPicPr>
            <a:picLocks noChangeAspect="1"/>
          </p:cNvPicPr>
          <p:nvPr/>
        </p:nvPicPr>
        <p:blipFill>
          <a:blip r:embed="rId2"/>
          <a:stretch>
            <a:fillRect/>
          </a:stretch>
        </p:blipFill>
        <p:spPr>
          <a:xfrm>
            <a:off x="6718169" y="2299494"/>
            <a:ext cx="5029200" cy="3403600"/>
          </a:xfrm>
          <a:prstGeom prst="rect">
            <a:avLst/>
          </a:prstGeom>
        </p:spPr>
      </p:pic>
      <p:sp>
        <p:nvSpPr>
          <p:cNvPr id="7" name="Rectangle 6">
            <a:extLst>
              <a:ext uri="{FF2B5EF4-FFF2-40B4-BE49-F238E27FC236}">
                <a16:creationId xmlns:a16="http://schemas.microsoft.com/office/drawing/2014/main" id="{7B501652-8EEE-DE1D-235E-05EA602DDE52}"/>
              </a:ext>
            </a:extLst>
          </p:cNvPr>
          <p:cNvSpPr/>
          <p:nvPr/>
        </p:nvSpPr>
        <p:spPr>
          <a:xfrm>
            <a:off x="6627043" y="4392891"/>
            <a:ext cx="5250730" cy="348791"/>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8" name="TextBox 7">
            <a:extLst>
              <a:ext uri="{FF2B5EF4-FFF2-40B4-BE49-F238E27FC236}">
                <a16:creationId xmlns:a16="http://schemas.microsoft.com/office/drawing/2014/main" id="{03030827-D66D-36A9-A1B4-A6A9064F25A7}"/>
              </a:ext>
            </a:extLst>
          </p:cNvPr>
          <p:cNvSpPr txBox="1"/>
          <p:nvPr/>
        </p:nvSpPr>
        <p:spPr>
          <a:xfrm>
            <a:off x="3525626" y="4372350"/>
            <a:ext cx="3192544" cy="369332"/>
          </a:xfrm>
          <a:prstGeom prst="rect">
            <a:avLst/>
          </a:prstGeom>
          <a:noFill/>
        </p:spPr>
        <p:txBody>
          <a:bodyPr wrap="square" rtlCol="0">
            <a:spAutoFit/>
          </a:bodyPr>
          <a:lstStyle/>
          <a:p>
            <a:r>
              <a:rPr lang="en-US" dirty="0">
                <a:solidFill>
                  <a:srgbClr val="7030A0"/>
                </a:solidFill>
              </a:rPr>
              <a:t>Delegation via code execution</a:t>
            </a:r>
          </a:p>
        </p:txBody>
      </p:sp>
    </p:spTree>
    <p:extLst>
      <p:ext uri="{BB962C8B-B14F-4D97-AF65-F5344CB8AC3E}">
        <p14:creationId xmlns:p14="http://schemas.microsoft.com/office/powerpoint/2010/main" val="781992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820FF-FBF4-9CA8-9F1D-480E07B10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C225-08F9-ECF8-AEBA-A2DFC3108B48}"/>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81C4603C-1F4D-63F1-7C41-6E045541B4F7}"/>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r>
              <a:rPr lang="en-US" dirty="0"/>
              <a:t>RLMs A. Zhang et al. 2026 </a:t>
            </a:r>
            <a:r>
              <a:rPr lang="en-US" dirty="0" err="1"/>
              <a:t>arXiv</a:t>
            </a: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CC056BE7-5702-CFC8-226D-F634206BC8A4}"/>
              </a:ext>
            </a:extLst>
          </p:cNvPr>
          <p:cNvPicPr>
            <a:picLocks noChangeAspect="1"/>
          </p:cNvPicPr>
          <p:nvPr/>
        </p:nvPicPr>
        <p:blipFill>
          <a:blip r:embed="rId2"/>
          <a:stretch>
            <a:fillRect/>
          </a:stretch>
        </p:blipFill>
        <p:spPr>
          <a:xfrm>
            <a:off x="6718169" y="2299494"/>
            <a:ext cx="5029200" cy="3403600"/>
          </a:xfrm>
          <a:prstGeom prst="rect">
            <a:avLst/>
          </a:prstGeom>
        </p:spPr>
      </p:pic>
      <p:sp>
        <p:nvSpPr>
          <p:cNvPr id="4" name="Rectangle 3">
            <a:extLst>
              <a:ext uri="{FF2B5EF4-FFF2-40B4-BE49-F238E27FC236}">
                <a16:creationId xmlns:a16="http://schemas.microsoft.com/office/drawing/2014/main" id="{CA4AAD0E-F346-677F-09E6-246578DCD94C}"/>
              </a:ext>
            </a:extLst>
          </p:cNvPr>
          <p:cNvSpPr/>
          <p:nvPr/>
        </p:nvSpPr>
        <p:spPr>
          <a:xfrm>
            <a:off x="6627043" y="4688931"/>
            <a:ext cx="5250730" cy="34879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5" name="TextBox 4">
            <a:extLst>
              <a:ext uri="{FF2B5EF4-FFF2-40B4-BE49-F238E27FC236}">
                <a16:creationId xmlns:a16="http://schemas.microsoft.com/office/drawing/2014/main" id="{4009E845-98D0-68A0-09CA-E922F67CCA80}"/>
              </a:ext>
            </a:extLst>
          </p:cNvPr>
          <p:cNvSpPr txBox="1"/>
          <p:nvPr/>
        </p:nvSpPr>
        <p:spPr>
          <a:xfrm>
            <a:off x="4997778" y="4678660"/>
            <a:ext cx="1583702" cy="369332"/>
          </a:xfrm>
          <a:prstGeom prst="rect">
            <a:avLst/>
          </a:prstGeom>
          <a:noFill/>
        </p:spPr>
        <p:txBody>
          <a:bodyPr wrap="square" rtlCol="0">
            <a:spAutoFit/>
          </a:bodyPr>
          <a:lstStyle/>
          <a:p>
            <a:r>
              <a:rPr lang="en-US" dirty="0">
                <a:solidFill>
                  <a:srgbClr val="0070C0"/>
                </a:solidFill>
              </a:rPr>
              <a:t>Prefix building</a:t>
            </a:r>
          </a:p>
        </p:txBody>
      </p:sp>
      <p:sp>
        <p:nvSpPr>
          <p:cNvPr id="9" name="Rectangle 8">
            <a:extLst>
              <a:ext uri="{FF2B5EF4-FFF2-40B4-BE49-F238E27FC236}">
                <a16:creationId xmlns:a16="http://schemas.microsoft.com/office/drawing/2014/main" id="{39972322-3A14-0631-9BC6-3D963B9A0117}"/>
              </a:ext>
            </a:extLst>
          </p:cNvPr>
          <p:cNvSpPr/>
          <p:nvPr/>
        </p:nvSpPr>
        <p:spPr>
          <a:xfrm>
            <a:off x="6627043" y="4124663"/>
            <a:ext cx="5250730" cy="34879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0" name="TextBox 9">
            <a:extLst>
              <a:ext uri="{FF2B5EF4-FFF2-40B4-BE49-F238E27FC236}">
                <a16:creationId xmlns:a16="http://schemas.microsoft.com/office/drawing/2014/main" id="{F68E08D7-432C-A577-81A1-FC4799FEBF17}"/>
              </a:ext>
            </a:extLst>
          </p:cNvPr>
          <p:cNvSpPr txBox="1"/>
          <p:nvPr/>
        </p:nvSpPr>
        <p:spPr>
          <a:xfrm>
            <a:off x="5376420" y="4091468"/>
            <a:ext cx="1439160" cy="369332"/>
          </a:xfrm>
          <a:prstGeom prst="rect">
            <a:avLst/>
          </a:prstGeom>
          <a:noFill/>
        </p:spPr>
        <p:txBody>
          <a:bodyPr wrap="square" rtlCol="0">
            <a:spAutoFit/>
          </a:bodyPr>
          <a:lstStyle/>
          <a:p>
            <a:r>
              <a:rPr lang="en-US" dirty="0">
                <a:solidFill>
                  <a:srgbClr val="0070C0"/>
                </a:solidFill>
              </a:rPr>
              <a:t>Invocation</a:t>
            </a:r>
          </a:p>
        </p:txBody>
      </p:sp>
    </p:spTree>
    <p:extLst>
      <p:ext uri="{BB962C8B-B14F-4D97-AF65-F5344CB8AC3E}">
        <p14:creationId xmlns:p14="http://schemas.microsoft.com/office/powerpoint/2010/main" val="3110207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9BBB-5230-B2EE-E1B1-BF2AD9CA0B40}"/>
              </a:ext>
            </a:extLst>
          </p:cNvPr>
          <p:cNvSpPr>
            <a:spLocks noGrp="1"/>
          </p:cNvSpPr>
          <p:nvPr>
            <p:ph type="title"/>
          </p:nvPr>
        </p:nvSpPr>
        <p:spPr/>
        <p:txBody>
          <a:bodyPr/>
          <a:lstStyle/>
          <a:p>
            <a:r>
              <a:rPr lang="en-US" dirty="0"/>
              <a:t>Orchestration: hot topic</a:t>
            </a:r>
          </a:p>
        </p:txBody>
      </p:sp>
      <p:sp>
        <p:nvSpPr>
          <p:cNvPr id="3" name="Content Placeholder 2">
            <a:extLst>
              <a:ext uri="{FF2B5EF4-FFF2-40B4-BE49-F238E27FC236}">
                <a16:creationId xmlns:a16="http://schemas.microsoft.com/office/drawing/2014/main" id="{D64C7FC2-BB98-D840-BAEC-6BD1B33C3702}"/>
              </a:ext>
            </a:extLst>
          </p:cNvPr>
          <p:cNvSpPr>
            <a:spLocks noGrp="1"/>
          </p:cNvSpPr>
          <p:nvPr>
            <p:ph idx="1"/>
          </p:nvPr>
        </p:nvSpPr>
        <p:spPr/>
        <p:txBody>
          <a:bodyPr/>
          <a:lstStyle/>
          <a:p>
            <a:r>
              <a:rPr lang="en-US" dirty="0"/>
              <a:t>Kimi 2.5: train LLM to dispatch swarms (PARL); still basically </a:t>
            </a:r>
            <a:r>
              <a:rPr lang="en-US" dirty="0" err="1"/>
              <a:t>ReAct</a:t>
            </a:r>
            <a:endParaRPr lang="en-US" dirty="0"/>
          </a:p>
          <a:p>
            <a:r>
              <a:rPr lang="en-US" dirty="0"/>
              <a:t>Cursor browser experiment: planner/worker/checker pattern</a:t>
            </a:r>
          </a:p>
          <a:p>
            <a:r>
              <a:rPr lang="en-US" dirty="0"/>
              <a:t>Claude Code: viral “ralph” pattern</a:t>
            </a:r>
          </a:p>
          <a:p>
            <a:r>
              <a:rPr lang="en-US" dirty="0"/>
              <a:t>Claude code: parallelize to-do lists while respecting dependencies</a:t>
            </a:r>
          </a:p>
          <a:p>
            <a:r>
              <a:rPr lang="en-US" dirty="0"/>
              <a:t>“Recursive language model”: subagents gather context; still </a:t>
            </a:r>
            <a:r>
              <a:rPr lang="en-US" dirty="0" err="1"/>
              <a:t>ReAct</a:t>
            </a:r>
            <a:endParaRPr lang="en-US" dirty="0"/>
          </a:p>
        </p:txBody>
      </p:sp>
    </p:spTree>
    <p:extLst>
      <p:ext uri="{BB962C8B-B14F-4D97-AF65-F5344CB8AC3E}">
        <p14:creationId xmlns:p14="http://schemas.microsoft.com/office/powerpoint/2010/main" val="1477745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778E-31DB-0BC8-EB3C-33022A107AE5}"/>
              </a:ext>
            </a:extLst>
          </p:cNvPr>
          <p:cNvSpPr>
            <a:spLocks noGrp="1"/>
          </p:cNvSpPr>
          <p:nvPr>
            <p:ph type="title"/>
          </p:nvPr>
        </p:nvSpPr>
        <p:spPr/>
        <p:txBody>
          <a:bodyPr/>
          <a:lstStyle/>
          <a:p>
            <a:r>
              <a:rPr lang="en-US" dirty="0"/>
              <a:t>Early findings</a:t>
            </a:r>
          </a:p>
        </p:txBody>
      </p:sp>
      <p:sp>
        <p:nvSpPr>
          <p:cNvPr id="3" name="Content Placeholder 2">
            <a:extLst>
              <a:ext uri="{FF2B5EF4-FFF2-40B4-BE49-F238E27FC236}">
                <a16:creationId xmlns:a16="http://schemas.microsoft.com/office/drawing/2014/main" id="{91A022CE-9192-CA9B-E9A1-E69CFB679429}"/>
              </a:ext>
            </a:extLst>
          </p:cNvPr>
          <p:cNvSpPr>
            <a:spLocks noGrp="1"/>
          </p:cNvSpPr>
          <p:nvPr>
            <p:ph idx="1"/>
          </p:nvPr>
        </p:nvSpPr>
        <p:spPr/>
        <p:txBody>
          <a:bodyPr/>
          <a:lstStyle/>
          <a:p>
            <a:r>
              <a:rPr lang="en-US" dirty="0"/>
              <a:t>Nontrivial orchestration can make a big difference on long tasks (Cursor experiment, anecdotal from “Ralph”)</a:t>
            </a:r>
          </a:p>
          <a:p>
            <a:r>
              <a:rPr lang="en-US" dirty="0"/>
              <a:t>Divide-and-conquer mitigates context limitations (RLMs, “progressive disclosure” pattern)</a:t>
            </a:r>
          </a:p>
          <a:p>
            <a:r>
              <a:rPr lang="en-US" dirty="0"/>
              <a:t>Agents can be trained on orchestration using RL (Kimi)</a:t>
            </a:r>
          </a:p>
          <a:p>
            <a:endParaRPr lang="en-US" dirty="0"/>
          </a:p>
        </p:txBody>
      </p:sp>
    </p:spTree>
    <p:extLst>
      <p:ext uri="{BB962C8B-B14F-4D97-AF65-F5344CB8AC3E}">
        <p14:creationId xmlns:p14="http://schemas.microsoft.com/office/powerpoint/2010/main" val="1144844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878C-788C-17D8-A726-3B1CF6F0E7B1}"/>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1D91BA01-1D85-5A0B-C834-E334656A0C74}"/>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spTree>
    <p:extLst>
      <p:ext uri="{BB962C8B-B14F-4D97-AF65-F5344CB8AC3E}">
        <p14:creationId xmlns:p14="http://schemas.microsoft.com/office/powerpoint/2010/main" val="2874090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D1309A-0086-75F4-0AC7-89E58671C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DD20C-7EEE-C84E-74AB-36EC6FBBA213}"/>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369BA5A1-BB61-55EE-D354-44F07E97005D}"/>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cxnSp>
        <p:nvCxnSpPr>
          <p:cNvPr id="5" name="Straight Arrow Connector 4">
            <a:extLst>
              <a:ext uri="{FF2B5EF4-FFF2-40B4-BE49-F238E27FC236}">
                <a16:creationId xmlns:a16="http://schemas.microsoft.com/office/drawing/2014/main" id="{C3438121-FA7D-23E2-1C08-6CC244F9DCFC}"/>
              </a:ext>
            </a:extLst>
          </p:cNvPr>
          <p:cNvCxnSpPr/>
          <p:nvPr/>
        </p:nvCxnSpPr>
        <p:spPr>
          <a:xfrm>
            <a:off x="6553200" y="2779059"/>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C15A7D7E-2BBA-06FE-9E61-136E1FD6ECAE}"/>
              </a:ext>
            </a:extLst>
          </p:cNvPr>
          <p:cNvCxnSpPr/>
          <p:nvPr/>
        </p:nvCxnSpPr>
        <p:spPr>
          <a:xfrm>
            <a:off x="6553200" y="4195482"/>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A281B1D3-326B-1446-5290-A41754602253}"/>
              </a:ext>
            </a:extLst>
          </p:cNvPr>
          <p:cNvCxnSpPr/>
          <p:nvPr/>
        </p:nvCxnSpPr>
        <p:spPr>
          <a:xfrm>
            <a:off x="6553200" y="5011270"/>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CDAE301-C625-5FCD-9F71-2AB51A05DD32}"/>
              </a:ext>
            </a:extLst>
          </p:cNvPr>
          <p:cNvSpPr txBox="1"/>
          <p:nvPr/>
        </p:nvSpPr>
        <p:spPr>
          <a:xfrm>
            <a:off x="7440706" y="4749660"/>
            <a:ext cx="2170787" cy="523220"/>
          </a:xfrm>
          <a:prstGeom prst="rect">
            <a:avLst/>
          </a:prstGeom>
          <a:noFill/>
        </p:spPr>
        <p:txBody>
          <a:bodyPr wrap="none" rtlCol="0">
            <a:spAutoFit/>
          </a:bodyPr>
          <a:lstStyle/>
          <a:p>
            <a:r>
              <a:rPr lang="en-US" sz="2800" dirty="0"/>
              <a:t>Out of scope</a:t>
            </a:r>
          </a:p>
        </p:txBody>
      </p:sp>
      <p:sp>
        <p:nvSpPr>
          <p:cNvPr id="9" name="TextBox 8">
            <a:extLst>
              <a:ext uri="{FF2B5EF4-FFF2-40B4-BE49-F238E27FC236}">
                <a16:creationId xmlns:a16="http://schemas.microsoft.com/office/drawing/2014/main" id="{3B057222-4DFA-6DB2-2190-549B60D64A9E}"/>
              </a:ext>
            </a:extLst>
          </p:cNvPr>
          <p:cNvSpPr txBox="1"/>
          <p:nvPr/>
        </p:nvSpPr>
        <p:spPr>
          <a:xfrm>
            <a:off x="7388245" y="3718432"/>
            <a:ext cx="4446496" cy="954099"/>
          </a:xfrm>
          <a:prstGeom prst="rect">
            <a:avLst/>
          </a:prstGeom>
          <a:noFill/>
        </p:spPr>
        <p:txBody>
          <a:bodyPr wrap="square" rtlCol="0">
            <a:spAutoFit/>
          </a:bodyPr>
          <a:lstStyle/>
          <a:p>
            <a:r>
              <a:rPr lang="en-US" sz="2800" dirty="0"/>
              <a:t>Manipulate context using this language</a:t>
            </a:r>
          </a:p>
        </p:txBody>
      </p:sp>
      <p:sp>
        <p:nvSpPr>
          <p:cNvPr id="10" name="TextBox 9">
            <a:extLst>
              <a:ext uri="{FF2B5EF4-FFF2-40B4-BE49-F238E27FC236}">
                <a16:creationId xmlns:a16="http://schemas.microsoft.com/office/drawing/2014/main" id="{A5DFEFFD-232F-AF55-4D72-FD784802A57D}"/>
              </a:ext>
            </a:extLst>
          </p:cNvPr>
          <p:cNvSpPr txBox="1"/>
          <p:nvPr/>
        </p:nvSpPr>
        <p:spPr>
          <a:xfrm>
            <a:off x="7307562" y="2302005"/>
            <a:ext cx="4446496" cy="954107"/>
          </a:xfrm>
          <a:prstGeom prst="rect">
            <a:avLst/>
          </a:prstGeom>
          <a:noFill/>
        </p:spPr>
        <p:txBody>
          <a:bodyPr wrap="square" rtlCol="0">
            <a:spAutoFit/>
          </a:bodyPr>
          <a:lstStyle/>
          <a:p>
            <a:r>
              <a:rPr lang="en-US" sz="2800" dirty="0"/>
              <a:t>Programming language for self-orchestration</a:t>
            </a:r>
          </a:p>
        </p:txBody>
      </p:sp>
    </p:spTree>
    <p:extLst>
      <p:ext uri="{BB962C8B-B14F-4D97-AF65-F5344CB8AC3E}">
        <p14:creationId xmlns:p14="http://schemas.microsoft.com/office/powerpoint/2010/main" val="4211055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08E02-4E8F-9C86-CD8C-0F3359F5B0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92A23A-181B-4BC1-0C8F-B78FBCECF8AC}"/>
              </a:ext>
            </a:extLst>
          </p:cNvPr>
          <p:cNvSpPr txBox="1"/>
          <p:nvPr/>
        </p:nvSpPr>
        <p:spPr>
          <a:xfrm>
            <a:off x="596313" y="1124362"/>
            <a:ext cx="4980192" cy="523220"/>
          </a:xfrm>
          <a:prstGeom prst="rect">
            <a:avLst/>
          </a:prstGeom>
          <a:noFill/>
          <a:ln>
            <a:noFill/>
          </a:ln>
        </p:spPr>
        <p:txBody>
          <a:bodyPr wrap="square" rtlCol="0">
            <a:spAutoFit/>
          </a:bodyPr>
          <a:lstStyle/>
          <a:p>
            <a:pPr algn="ctr"/>
            <a:r>
              <a:rPr lang="en-US" sz="2800" dirty="0"/>
              <a:t>Self-programmed execution</a:t>
            </a:r>
          </a:p>
        </p:txBody>
      </p:sp>
      <p:sp>
        <p:nvSpPr>
          <p:cNvPr id="12" name="TextBox 11">
            <a:extLst>
              <a:ext uri="{FF2B5EF4-FFF2-40B4-BE49-F238E27FC236}">
                <a16:creationId xmlns:a16="http://schemas.microsoft.com/office/drawing/2014/main" id="{0001E071-79B1-B0A1-EC62-1B56D800B6FD}"/>
              </a:ext>
            </a:extLst>
          </p:cNvPr>
          <p:cNvSpPr txBox="1"/>
          <p:nvPr/>
        </p:nvSpPr>
        <p:spPr>
          <a:xfrm>
            <a:off x="744977" y="1647582"/>
            <a:ext cx="4980192" cy="923330"/>
          </a:xfrm>
          <a:prstGeom prst="rect">
            <a:avLst/>
          </a:prstGeom>
          <a:noFill/>
          <a:ln>
            <a:noFill/>
          </a:ln>
        </p:spPr>
        <p:txBody>
          <a:bodyPr wrap="square" rtlCol="0">
            <a:spAutoFit/>
          </a:bodyPr>
          <a:lstStyle/>
          <a:p>
            <a:pPr marL="342900" indent="-342900">
              <a:buAutoNum type="arabicParenBoth"/>
            </a:pPr>
            <a:r>
              <a:rPr lang="en-US" dirty="0">
                <a:solidFill>
                  <a:srgbClr val="00B050"/>
                </a:solidFill>
              </a:rPr>
              <a:t>Generation: model thinks and responds with a program</a:t>
            </a:r>
          </a:p>
          <a:p>
            <a:pPr marL="342900" indent="-342900">
              <a:buAutoNum type="arabicParenBoth"/>
            </a:pPr>
            <a:r>
              <a:rPr lang="en-US" dirty="0">
                <a:solidFill>
                  <a:srgbClr val="7030A0"/>
                </a:solidFill>
              </a:rPr>
              <a:t>Execution: evaluate the program</a:t>
            </a:r>
          </a:p>
        </p:txBody>
      </p:sp>
      <p:sp>
        <p:nvSpPr>
          <p:cNvPr id="9" name="TextBox 8">
            <a:extLst>
              <a:ext uri="{FF2B5EF4-FFF2-40B4-BE49-F238E27FC236}">
                <a16:creationId xmlns:a16="http://schemas.microsoft.com/office/drawing/2014/main" id="{1AFBDCBF-040B-1D0A-2F46-C208ED4E5346}"/>
              </a:ext>
            </a:extLst>
          </p:cNvPr>
          <p:cNvSpPr txBox="1"/>
          <p:nvPr/>
        </p:nvSpPr>
        <p:spPr>
          <a:xfrm>
            <a:off x="867527" y="3265544"/>
            <a:ext cx="7913803" cy="2677656"/>
          </a:xfrm>
          <a:prstGeom prst="rect">
            <a:avLst/>
          </a:prstGeom>
          <a:noFill/>
        </p:spPr>
        <p:txBody>
          <a:bodyPr wrap="square">
            <a:spAutoFit/>
          </a:bodyPr>
          <a:lstStyle/>
          <a:p>
            <a:r>
              <a:rPr lang="en-US" sz="2800" dirty="0"/>
              <a:t>What should be the language of the program?</a:t>
            </a:r>
          </a:p>
          <a:p>
            <a:pPr marL="514350" indent="-514350">
              <a:buFont typeface="+mj-lt"/>
              <a:buAutoNum type="arabicPeriod"/>
            </a:pPr>
            <a:r>
              <a:rPr lang="en-US" sz="2800" dirty="0"/>
              <a:t>Call the LLM to generate new code</a:t>
            </a:r>
          </a:p>
          <a:p>
            <a:pPr marL="514350" indent="-514350">
              <a:buFont typeface="+mj-lt"/>
              <a:buAutoNum type="arabicPeriod"/>
            </a:pPr>
            <a:r>
              <a:rPr lang="en-US" sz="2800" dirty="0"/>
              <a:t>Manipulate source code as data</a:t>
            </a:r>
          </a:p>
          <a:p>
            <a:endParaRPr lang="en-US" sz="2800" dirty="0"/>
          </a:p>
          <a:p>
            <a:endParaRPr lang="en-US" sz="2800" dirty="0"/>
          </a:p>
          <a:p>
            <a:endParaRPr lang="en-US" sz="2800" dirty="0"/>
          </a:p>
        </p:txBody>
      </p:sp>
    </p:spTree>
    <p:extLst>
      <p:ext uri="{BB962C8B-B14F-4D97-AF65-F5344CB8AC3E}">
        <p14:creationId xmlns:p14="http://schemas.microsoft.com/office/powerpoint/2010/main" val="2776254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CA4C-90B7-94A9-1A94-7A34BE2A4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7F2B9-B77C-508A-ED5F-8EB74EE55B10}"/>
              </a:ext>
            </a:extLst>
          </p:cNvPr>
          <p:cNvSpPr>
            <a:spLocks noGrp="1"/>
          </p:cNvSpPr>
          <p:nvPr>
            <p:ph type="title"/>
          </p:nvPr>
        </p:nvSpPr>
        <p:spPr/>
        <p:txBody>
          <a:bodyPr/>
          <a:lstStyle/>
          <a:p>
            <a:r>
              <a:rPr lang="en-US" dirty="0"/>
              <a:t>Lisp and homoiconicity</a:t>
            </a:r>
          </a:p>
        </p:txBody>
      </p:sp>
      <p:sp>
        <p:nvSpPr>
          <p:cNvPr id="3" name="Content Placeholder 2">
            <a:extLst>
              <a:ext uri="{FF2B5EF4-FFF2-40B4-BE49-F238E27FC236}">
                <a16:creationId xmlns:a16="http://schemas.microsoft.com/office/drawing/2014/main" id="{B37FEFB0-24B2-4FCC-603B-A650FB6568D2}"/>
              </a:ext>
            </a:extLst>
          </p:cNvPr>
          <p:cNvSpPr>
            <a:spLocks noGrp="1"/>
          </p:cNvSpPr>
          <p:nvPr>
            <p:ph idx="1"/>
          </p:nvPr>
        </p:nvSpPr>
        <p:spPr/>
        <p:txBody>
          <a:bodyPr/>
          <a:lstStyle/>
          <a:p>
            <a:r>
              <a:rPr lang="en-US" dirty="0"/>
              <a:t>Lisp: “code is data”</a:t>
            </a:r>
          </a:p>
          <a:p>
            <a:r>
              <a:rPr lang="en-US" dirty="0"/>
              <a:t>Code parses into expressions</a:t>
            </a:r>
          </a:p>
          <a:p>
            <a:r>
              <a:rPr lang="en-US" dirty="0"/>
              <a:t>Abstract syntax tree is explicit</a:t>
            </a:r>
          </a:p>
        </p:txBody>
      </p:sp>
      <p:sp>
        <p:nvSpPr>
          <p:cNvPr id="5" name="TextBox 4">
            <a:extLst>
              <a:ext uri="{FF2B5EF4-FFF2-40B4-BE49-F238E27FC236}">
                <a16:creationId xmlns:a16="http://schemas.microsoft.com/office/drawing/2014/main" id="{1190E1EA-85EA-D096-E1BE-C0BA126612BB}"/>
              </a:ext>
            </a:extLst>
          </p:cNvPr>
          <p:cNvSpPr txBox="1"/>
          <p:nvPr/>
        </p:nvSpPr>
        <p:spPr>
          <a:xfrm>
            <a:off x="7692272" y="2152290"/>
            <a:ext cx="1180131" cy="2308324"/>
          </a:xfrm>
          <a:prstGeom prst="rect">
            <a:avLst/>
          </a:prstGeom>
          <a:noFill/>
        </p:spPr>
        <p:txBody>
          <a:bodyPr wrap="none" rtlCol="0">
            <a:spAutoFit/>
          </a:bodyPr>
          <a:lstStyle/>
          <a:p>
            <a:r>
              <a:rPr lang="en-US" dirty="0"/>
              <a:t>(do </a:t>
            </a:r>
          </a:p>
          <a:p>
            <a:r>
              <a:rPr lang="en-US" dirty="0"/>
              <a:t>   (def f </a:t>
            </a:r>
          </a:p>
          <a:p>
            <a:r>
              <a:rPr lang="en-US" dirty="0"/>
              <a:t>      (</a:t>
            </a:r>
            <a:r>
              <a:rPr lang="en-US" dirty="0" err="1"/>
              <a:t>fn</a:t>
            </a:r>
            <a:r>
              <a:rPr lang="en-US" dirty="0"/>
              <a:t> x </a:t>
            </a:r>
          </a:p>
          <a:p>
            <a:r>
              <a:rPr lang="en-US" dirty="0"/>
              <a:t>         (+ x 1)</a:t>
            </a:r>
          </a:p>
          <a:p>
            <a:r>
              <a:rPr lang="en-US" dirty="0"/>
              <a:t>      )</a:t>
            </a:r>
          </a:p>
          <a:p>
            <a:r>
              <a:rPr lang="en-US" dirty="0"/>
              <a:t>   ) </a:t>
            </a:r>
          </a:p>
          <a:p>
            <a:r>
              <a:rPr lang="en-US" dirty="0"/>
              <a:t>   (f 41)</a:t>
            </a:r>
          </a:p>
          <a:p>
            <a:r>
              <a:rPr lang="en-US" dirty="0"/>
              <a:t>)</a:t>
            </a:r>
          </a:p>
        </p:txBody>
      </p:sp>
    </p:spTree>
    <p:extLst>
      <p:ext uri="{BB962C8B-B14F-4D97-AF65-F5344CB8AC3E}">
        <p14:creationId xmlns:p14="http://schemas.microsoft.com/office/powerpoint/2010/main" val="2868526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4A244C-1670-C4F1-97C3-3EDB8E6CD0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4114D6-0E8D-CFDE-BAAB-7803328EA1F6}"/>
              </a:ext>
            </a:extLst>
          </p:cNvPr>
          <p:cNvPicPr>
            <a:picLocks noChangeAspect="1"/>
          </p:cNvPicPr>
          <p:nvPr/>
        </p:nvPicPr>
        <p:blipFill>
          <a:blip r:embed="rId2"/>
          <a:srcRect b="81642"/>
          <a:stretch>
            <a:fillRect/>
          </a:stretch>
        </p:blipFill>
        <p:spPr>
          <a:xfrm>
            <a:off x="4446936" y="1690688"/>
            <a:ext cx="2692657" cy="816842"/>
          </a:xfrm>
          <a:prstGeom prst="rect">
            <a:avLst/>
          </a:prstGeom>
        </p:spPr>
      </p:pic>
      <p:sp>
        <p:nvSpPr>
          <p:cNvPr id="8" name="Title 7">
            <a:extLst>
              <a:ext uri="{FF2B5EF4-FFF2-40B4-BE49-F238E27FC236}">
                <a16:creationId xmlns:a16="http://schemas.microsoft.com/office/drawing/2014/main" id="{797A3D78-2C90-4A1A-A17B-B6C2EAC29F10}"/>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1688803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40DC18-6C7B-6482-8CEF-E1EA75AC58E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689CB0D-DED9-DC1D-AF2C-D5DEA34A0957}"/>
              </a:ext>
            </a:extLst>
          </p:cNvPr>
          <p:cNvPicPr>
            <a:picLocks noChangeAspect="1"/>
          </p:cNvPicPr>
          <p:nvPr/>
        </p:nvPicPr>
        <p:blipFill>
          <a:blip r:embed="rId2"/>
          <a:srcRect b="48167"/>
          <a:stretch>
            <a:fillRect/>
          </a:stretch>
        </p:blipFill>
        <p:spPr>
          <a:xfrm>
            <a:off x="4446936" y="1690688"/>
            <a:ext cx="2692657" cy="2306277"/>
          </a:xfrm>
          <a:prstGeom prst="rect">
            <a:avLst/>
          </a:prstGeom>
        </p:spPr>
      </p:pic>
      <p:sp>
        <p:nvSpPr>
          <p:cNvPr id="8" name="Title 7">
            <a:extLst>
              <a:ext uri="{FF2B5EF4-FFF2-40B4-BE49-F238E27FC236}">
                <a16:creationId xmlns:a16="http://schemas.microsoft.com/office/drawing/2014/main" id="{B4FFD789-96CC-B47A-9AE3-53934A234BF6}"/>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1818446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0B66B3-65A3-2144-02E5-143E4274564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5C6087-D42F-C689-6EF0-340C8E465149}"/>
              </a:ext>
            </a:extLst>
          </p:cNvPr>
          <p:cNvPicPr>
            <a:picLocks noChangeAspect="1"/>
          </p:cNvPicPr>
          <p:nvPr/>
        </p:nvPicPr>
        <p:blipFill>
          <a:blip r:embed="rId2"/>
          <a:stretch>
            <a:fillRect/>
          </a:stretch>
        </p:blipFill>
        <p:spPr>
          <a:xfrm>
            <a:off x="4446936" y="1690688"/>
            <a:ext cx="2692657" cy="4449452"/>
          </a:xfrm>
          <a:prstGeom prst="rect">
            <a:avLst/>
          </a:prstGeom>
        </p:spPr>
      </p:pic>
      <p:sp>
        <p:nvSpPr>
          <p:cNvPr id="8" name="Title 7">
            <a:extLst>
              <a:ext uri="{FF2B5EF4-FFF2-40B4-BE49-F238E27FC236}">
                <a16:creationId xmlns:a16="http://schemas.microsoft.com/office/drawing/2014/main" id="{5CF6EAF6-1F3B-C602-D872-20C434A651E1}"/>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2455960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D339-5377-79A1-7714-4B57C5D4098A}"/>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DE073252-398A-4E6D-746D-8DB4A88B9195}"/>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58201F50-DD43-98C6-24FA-9B915EB19E18}"/>
              </a:ext>
            </a:extLst>
          </p:cNvPr>
          <p:cNvSpPr txBox="1"/>
          <p:nvPr/>
        </p:nvSpPr>
        <p:spPr>
          <a:xfrm>
            <a:off x="3120272" y="4703975"/>
            <a:ext cx="6785832" cy="523220"/>
          </a:xfrm>
          <a:prstGeom prst="rect">
            <a:avLst/>
          </a:prstGeom>
          <a:noFill/>
        </p:spPr>
        <p:txBody>
          <a:bodyPr wrap="none" rtlCol="0">
            <a:spAutoFit/>
          </a:bodyPr>
          <a:lstStyle/>
          <a:p>
            <a:r>
              <a:rPr lang="en-US" sz="2800" dirty="0"/>
              <a:t>(def prompt “You are a helpful assistant…”)</a:t>
            </a:r>
          </a:p>
        </p:txBody>
      </p:sp>
    </p:spTree>
    <p:extLst>
      <p:ext uri="{BB962C8B-B14F-4D97-AF65-F5344CB8AC3E}">
        <p14:creationId xmlns:p14="http://schemas.microsoft.com/office/powerpoint/2010/main" val="2037652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D7EFD-010D-CE12-2B07-6E8A582F3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A61B3-0DB0-3215-6550-AC19DFFD1B31}"/>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2BADD4D2-F8B4-D59C-6D49-2624E99F1E6E}"/>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4" name="TextBox 3">
            <a:extLst>
              <a:ext uri="{FF2B5EF4-FFF2-40B4-BE49-F238E27FC236}">
                <a16:creationId xmlns:a16="http://schemas.microsoft.com/office/drawing/2014/main" id="{A8F527E8-B2E0-2374-B8B6-8D09AA2A04B9}"/>
              </a:ext>
            </a:extLst>
          </p:cNvPr>
          <p:cNvSpPr txBox="1"/>
          <p:nvPr/>
        </p:nvSpPr>
        <p:spPr>
          <a:xfrm>
            <a:off x="3120272" y="4703975"/>
            <a:ext cx="6371937" cy="523220"/>
          </a:xfrm>
          <a:prstGeom prst="rect">
            <a:avLst/>
          </a:prstGeom>
          <a:noFill/>
        </p:spPr>
        <p:txBody>
          <a:bodyPr wrap="none" rtlCol="0">
            <a:spAutoFit/>
          </a:bodyPr>
          <a:lstStyle/>
          <a:p>
            <a:r>
              <a:rPr lang="en-US" sz="2800" dirty="0"/>
              <a:t>(def thought “I am a helpful assistant…”)</a:t>
            </a:r>
          </a:p>
        </p:txBody>
      </p:sp>
    </p:spTree>
    <p:extLst>
      <p:ext uri="{BB962C8B-B14F-4D97-AF65-F5344CB8AC3E}">
        <p14:creationId xmlns:p14="http://schemas.microsoft.com/office/powerpoint/2010/main" val="2640172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1312D-6D6E-1EB0-EF59-A15FB4C7E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E9600-090C-F1FD-241B-EC28E99D13B0}"/>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E8FD776C-DEF5-4504-80CE-072E2F3DBACB}"/>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22BE6FAD-2985-E625-E9C6-D3647A0A0E61}"/>
              </a:ext>
            </a:extLst>
          </p:cNvPr>
          <p:cNvSpPr txBox="1"/>
          <p:nvPr/>
        </p:nvSpPr>
        <p:spPr>
          <a:xfrm>
            <a:off x="3120272" y="4703975"/>
            <a:ext cx="5112682" cy="523220"/>
          </a:xfrm>
          <a:prstGeom prst="rect">
            <a:avLst/>
          </a:prstGeom>
          <a:noFill/>
        </p:spPr>
        <p:txBody>
          <a:bodyPr wrap="none" rtlCol="0">
            <a:spAutoFit/>
          </a:bodyPr>
          <a:lstStyle/>
          <a:p>
            <a:r>
              <a:rPr lang="en-US" sz="2800" dirty="0"/>
              <a:t>(!print (io/read-file “my-</a:t>
            </a:r>
            <a:r>
              <a:rPr lang="en-US" sz="2800" dirty="0" err="1"/>
              <a:t>file.txt</a:t>
            </a:r>
            <a:r>
              <a:rPr lang="en-US" sz="2800" dirty="0"/>
              <a:t>”))</a:t>
            </a:r>
          </a:p>
        </p:txBody>
      </p:sp>
    </p:spTree>
    <p:extLst>
      <p:ext uri="{BB962C8B-B14F-4D97-AF65-F5344CB8AC3E}">
        <p14:creationId xmlns:p14="http://schemas.microsoft.com/office/powerpoint/2010/main" val="457479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52B9D-3B26-A49D-2C19-D300BAD1B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D4040-E916-E207-33B1-2D49CEEE6D90}"/>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63332327-A588-3CBC-B175-A94CA31C4E30}"/>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r>
              <a:rPr lang="en-US" dirty="0"/>
              <a:t>Tool call results: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8BB17BD6-8AF5-5489-CAD3-0AE94EA444DA}"/>
              </a:ext>
            </a:extLst>
          </p:cNvPr>
          <p:cNvSpPr txBox="1"/>
          <p:nvPr/>
        </p:nvSpPr>
        <p:spPr>
          <a:xfrm>
            <a:off x="3139126" y="5128181"/>
            <a:ext cx="4049507" cy="523220"/>
          </a:xfrm>
          <a:prstGeom prst="rect">
            <a:avLst/>
          </a:prstGeom>
          <a:noFill/>
        </p:spPr>
        <p:txBody>
          <a:bodyPr wrap="none" rtlCol="0">
            <a:spAutoFit/>
          </a:bodyPr>
          <a:lstStyle/>
          <a:p>
            <a:r>
              <a:rPr lang="en-US" sz="2800" dirty="0"/>
              <a:t>(def file “lorum ipsum…”)</a:t>
            </a:r>
          </a:p>
        </p:txBody>
      </p:sp>
    </p:spTree>
    <p:extLst>
      <p:ext uri="{BB962C8B-B14F-4D97-AF65-F5344CB8AC3E}">
        <p14:creationId xmlns:p14="http://schemas.microsoft.com/office/powerpoint/2010/main" val="996590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A96E-6A92-096A-32A2-D03114B5A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9683A-6CCD-8DF3-F288-244C378F262C}"/>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B4071F38-9ABC-9EC2-24D5-177B581B3D3F}"/>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r>
              <a:rPr lang="en-US" dirty="0"/>
              <a:t>Tool call results: string literals with bindings</a:t>
            </a:r>
          </a:p>
          <a:p>
            <a:pPr lvl="1"/>
            <a:r>
              <a:rPr lang="en-US" dirty="0"/>
              <a:t>Self-calls: function calls which produce the next turn</a:t>
            </a:r>
          </a:p>
          <a:p>
            <a:pPr lvl="1"/>
            <a:endParaRPr lang="en-US" dirty="0"/>
          </a:p>
          <a:p>
            <a:endParaRPr lang="en-US" dirty="0"/>
          </a:p>
          <a:p>
            <a:pPr lvl="1"/>
            <a:endParaRPr lang="en-US" dirty="0"/>
          </a:p>
          <a:p>
            <a:pPr marL="457200" lvl="1" indent="0">
              <a:buNone/>
            </a:pPr>
            <a:endParaRPr lang="en-US" dirty="0"/>
          </a:p>
          <a:p>
            <a:endParaRPr lang="en-US" dirty="0"/>
          </a:p>
        </p:txBody>
      </p:sp>
      <p:sp>
        <p:nvSpPr>
          <p:cNvPr id="5" name="TextBox 4">
            <a:extLst>
              <a:ext uri="{FF2B5EF4-FFF2-40B4-BE49-F238E27FC236}">
                <a16:creationId xmlns:a16="http://schemas.microsoft.com/office/drawing/2014/main" id="{D74AE9C9-9585-DEEA-519F-D7D7A6297DFD}"/>
              </a:ext>
            </a:extLst>
          </p:cNvPr>
          <p:cNvSpPr txBox="1"/>
          <p:nvPr/>
        </p:nvSpPr>
        <p:spPr>
          <a:xfrm>
            <a:off x="3506771" y="5571241"/>
            <a:ext cx="3528530" cy="523220"/>
          </a:xfrm>
          <a:prstGeom prst="rect">
            <a:avLst/>
          </a:prstGeom>
          <a:noFill/>
        </p:spPr>
        <p:txBody>
          <a:bodyPr wrap="none" rtlCol="0">
            <a:spAutoFit/>
          </a:bodyPr>
          <a:lstStyle/>
          <a:p>
            <a:r>
              <a:rPr lang="en-US" sz="2800" dirty="0"/>
              <a:t>(!</a:t>
            </a:r>
            <a:r>
              <a:rPr lang="en-US" sz="2800" dirty="0" err="1"/>
              <a:t>llm</a:t>
            </a:r>
            <a:r>
              <a:rPr lang="en-US" sz="2800" dirty="0"/>
              <a:t>-self completion)</a:t>
            </a:r>
          </a:p>
        </p:txBody>
      </p:sp>
    </p:spTree>
    <p:extLst>
      <p:ext uri="{BB962C8B-B14F-4D97-AF65-F5344CB8AC3E}">
        <p14:creationId xmlns:p14="http://schemas.microsoft.com/office/powerpoint/2010/main" val="849321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186D-85B6-7A41-3958-2DD24DFC892C}"/>
              </a:ext>
            </a:extLst>
          </p:cNvPr>
          <p:cNvSpPr>
            <a:spLocks noGrp="1"/>
          </p:cNvSpPr>
          <p:nvPr>
            <p:ph type="title"/>
          </p:nvPr>
        </p:nvSpPr>
        <p:spPr/>
        <p:txBody>
          <a:bodyPr/>
          <a:lstStyle/>
          <a:p>
            <a:r>
              <a:rPr lang="en-US" dirty="0"/>
              <a:t>Internalized context management</a:t>
            </a:r>
          </a:p>
        </p:txBody>
      </p:sp>
      <p:pic>
        <p:nvPicPr>
          <p:cNvPr id="4" name="Picture 2" descr="Implementing ReAct Agentic Pattern From Scratch">
            <a:extLst>
              <a:ext uri="{FF2B5EF4-FFF2-40B4-BE49-F238E27FC236}">
                <a16:creationId xmlns:a16="http://schemas.microsoft.com/office/drawing/2014/main" id="{9D2134FD-076A-B7C3-ED96-C634C47DC2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741" y="2264824"/>
            <a:ext cx="3828393" cy="123379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AEF93CB-582D-721E-1746-EF6F048125C5}"/>
              </a:ext>
            </a:extLst>
          </p:cNvPr>
          <p:cNvSpPr/>
          <p:nvPr/>
        </p:nvSpPr>
        <p:spPr>
          <a:xfrm>
            <a:off x="1184807" y="445713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1" name="Rectangle 10">
            <a:extLst>
              <a:ext uri="{FF2B5EF4-FFF2-40B4-BE49-F238E27FC236}">
                <a16:creationId xmlns:a16="http://schemas.microsoft.com/office/drawing/2014/main" id="{A25FD9BD-8D6D-5F57-CBE4-191A5559FA88}"/>
              </a:ext>
            </a:extLst>
          </p:cNvPr>
          <p:cNvSpPr/>
          <p:nvPr/>
        </p:nvSpPr>
        <p:spPr>
          <a:xfrm>
            <a:off x="2214954" y="445713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B3DE6DD-3A46-CCC6-2C56-9F1EADAC883B}"/>
              </a:ext>
            </a:extLst>
          </p:cNvPr>
          <p:cNvSpPr/>
          <p:nvPr/>
        </p:nvSpPr>
        <p:spPr>
          <a:xfrm>
            <a:off x="3598923" y="445713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3" name="Rectangle 12">
            <a:extLst>
              <a:ext uri="{FF2B5EF4-FFF2-40B4-BE49-F238E27FC236}">
                <a16:creationId xmlns:a16="http://schemas.microsoft.com/office/drawing/2014/main" id="{A7B62B71-8C8C-889E-4379-D545AB60400B}"/>
              </a:ext>
            </a:extLst>
          </p:cNvPr>
          <p:cNvSpPr/>
          <p:nvPr/>
        </p:nvSpPr>
        <p:spPr>
          <a:xfrm>
            <a:off x="1184809" y="377981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4" name="Rectangle 13">
            <a:extLst>
              <a:ext uri="{FF2B5EF4-FFF2-40B4-BE49-F238E27FC236}">
                <a16:creationId xmlns:a16="http://schemas.microsoft.com/office/drawing/2014/main" id="{FD13A64D-D46F-B048-51E6-BE443C479C43}"/>
              </a:ext>
            </a:extLst>
          </p:cNvPr>
          <p:cNvSpPr/>
          <p:nvPr/>
        </p:nvSpPr>
        <p:spPr>
          <a:xfrm>
            <a:off x="2214956" y="377981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5" name="Bent Arrow 14">
            <a:extLst>
              <a:ext uri="{FF2B5EF4-FFF2-40B4-BE49-F238E27FC236}">
                <a16:creationId xmlns:a16="http://schemas.microsoft.com/office/drawing/2014/main" id="{504B5647-A2E8-8E4F-FF05-DD2B835DC3E3}"/>
              </a:ext>
            </a:extLst>
          </p:cNvPr>
          <p:cNvSpPr/>
          <p:nvPr/>
        </p:nvSpPr>
        <p:spPr>
          <a:xfrm rot="5400000">
            <a:off x="3839273" y="3681620"/>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TextBox 15">
            <a:extLst>
              <a:ext uri="{FF2B5EF4-FFF2-40B4-BE49-F238E27FC236}">
                <a16:creationId xmlns:a16="http://schemas.microsoft.com/office/drawing/2014/main" id="{1C81A39F-3DC1-0FA4-E4C8-D2B60DFC1F41}"/>
              </a:ext>
            </a:extLst>
          </p:cNvPr>
          <p:cNvSpPr txBox="1"/>
          <p:nvPr/>
        </p:nvSpPr>
        <p:spPr>
          <a:xfrm>
            <a:off x="1268019" y="5119774"/>
            <a:ext cx="3739742" cy="369332"/>
          </a:xfrm>
          <a:prstGeom prst="rect">
            <a:avLst/>
          </a:prstGeom>
          <a:noFill/>
        </p:spPr>
        <p:txBody>
          <a:bodyPr wrap="none" rtlCol="0">
            <a:spAutoFit/>
          </a:bodyPr>
          <a:lstStyle/>
          <a:p>
            <a:r>
              <a:rPr lang="en-US" dirty="0"/>
              <a:t>LLM controls only what is appended</a:t>
            </a:r>
          </a:p>
        </p:txBody>
      </p:sp>
      <p:sp>
        <p:nvSpPr>
          <p:cNvPr id="21" name="Rectangle 20">
            <a:extLst>
              <a:ext uri="{FF2B5EF4-FFF2-40B4-BE49-F238E27FC236}">
                <a16:creationId xmlns:a16="http://schemas.microsoft.com/office/drawing/2014/main" id="{7C568DBC-8791-BC64-5187-FC29D7B9B203}"/>
              </a:ext>
            </a:extLst>
          </p:cNvPr>
          <p:cNvSpPr/>
          <p:nvPr/>
        </p:nvSpPr>
        <p:spPr>
          <a:xfrm>
            <a:off x="6586484" y="379350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E5ABE19D-D9CE-F3C2-D501-10ABEC3223B6}"/>
              </a:ext>
            </a:extLst>
          </p:cNvPr>
          <p:cNvSpPr/>
          <p:nvPr/>
        </p:nvSpPr>
        <p:spPr>
          <a:xfrm>
            <a:off x="7616631" y="379350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Bent Arrow 22">
            <a:extLst>
              <a:ext uri="{FF2B5EF4-FFF2-40B4-BE49-F238E27FC236}">
                <a16:creationId xmlns:a16="http://schemas.microsoft.com/office/drawing/2014/main" id="{C9A1E65F-39C5-7BCC-D564-D7BF7FEC8384}"/>
              </a:ext>
            </a:extLst>
          </p:cNvPr>
          <p:cNvSpPr/>
          <p:nvPr/>
        </p:nvSpPr>
        <p:spPr>
          <a:xfrm rot="5400000">
            <a:off x="9240948" y="3695310"/>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 name="TextBox 23">
            <a:extLst>
              <a:ext uri="{FF2B5EF4-FFF2-40B4-BE49-F238E27FC236}">
                <a16:creationId xmlns:a16="http://schemas.microsoft.com/office/drawing/2014/main" id="{28BF50CB-FBA7-818F-91DC-EC2CBBEEC162}"/>
              </a:ext>
            </a:extLst>
          </p:cNvPr>
          <p:cNvSpPr txBox="1"/>
          <p:nvPr/>
        </p:nvSpPr>
        <p:spPr>
          <a:xfrm>
            <a:off x="6771965" y="5256655"/>
            <a:ext cx="3936399" cy="369332"/>
          </a:xfrm>
          <a:prstGeom prst="rect">
            <a:avLst/>
          </a:prstGeom>
          <a:noFill/>
        </p:spPr>
        <p:txBody>
          <a:bodyPr wrap="none" rtlCol="0">
            <a:spAutoFit/>
          </a:bodyPr>
          <a:lstStyle/>
          <a:p>
            <a:r>
              <a:rPr lang="en-US" dirty="0">
                <a:solidFill>
                  <a:srgbClr val="FF0000"/>
                </a:solidFill>
              </a:rPr>
              <a:t>LLM fully controls its context next turn</a:t>
            </a:r>
          </a:p>
        </p:txBody>
      </p:sp>
      <p:sp>
        <p:nvSpPr>
          <p:cNvPr id="26" name="Rectangle 25">
            <a:extLst>
              <a:ext uri="{FF2B5EF4-FFF2-40B4-BE49-F238E27FC236}">
                <a16:creationId xmlns:a16="http://schemas.microsoft.com/office/drawing/2014/main" id="{DA3E8D66-EDB1-9177-AFD2-544E5DBD4C53}"/>
              </a:ext>
            </a:extLst>
          </p:cNvPr>
          <p:cNvSpPr/>
          <p:nvPr/>
        </p:nvSpPr>
        <p:spPr>
          <a:xfrm>
            <a:off x="8245366" y="4544169"/>
            <a:ext cx="2532351"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Whole context window</a:t>
            </a:r>
          </a:p>
        </p:txBody>
      </p:sp>
      <p:sp>
        <p:nvSpPr>
          <p:cNvPr id="3" name="TextBox 2">
            <a:extLst>
              <a:ext uri="{FF2B5EF4-FFF2-40B4-BE49-F238E27FC236}">
                <a16:creationId xmlns:a16="http://schemas.microsoft.com/office/drawing/2014/main" id="{DD9A605B-F04D-FBBB-5A5C-273EA56136CA}"/>
              </a:ext>
            </a:extLst>
          </p:cNvPr>
          <p:cNvSpPr txBox="1"/>
          <p:nvPr/>
        </p:nvSpPr>
        <p:spPr>
          <a:xfrm>
            <a:off x="9894848" y="3801398"/>
            <a:ext cx="973600" cy="369332"/>
          </a:xfrm>
          <a:prstGeom prst="rect">
            <a:avLst/>
          </a:prstGeom>
          <a:noFill/>
        </p:spPr>
        <p:txBody>
          <a:bodyPr wrap="none" rtlCol="0">
            <a:spAutoFit/>
          </a:bodyPr>
          <a:lstStyle/>
          <a:p>
            <a:r>
              <a:rPr lang="en-US" dirty="0"/>
              <a:t>Self call</a:t>
            </a:r>
          </a:p>
        </p:txBody>
      </p:sp>
      <p:sp>
        <p:nvSpPr>
          <p:cNvPr id="5" name="TextBox 4">
            <a:extLst>
              <a:ext uri="{FF2B5EF4-FFF2-40B4-BE49-F238E27FC236}">
                <a16:creationId xmlns:a16="http://schemas.microsoft.com/office/drawing/2014/main" id="{CD9E41E6-B95E-23AF-60E7-690C040F5C3F}"/>
              </a:ext>
            </a:extLst>
          </p:cNvPr>
          <p:cNvSpPr txBox="1"/>
          <p:nvPr/>
        </p:nvSpPr>
        <p:spPr>
          <a:xfrm>
            <a:off x="4440791" y="3738142"/>
            <a:ext cx="998415" cy="369332"/>
          </a:xfrm>
          <a:prstGeom prst="rect">
            <a:avLst/>
          </a:prstGeom>
          <a:noFill/>
        </p:spPr>
        <p:txBody>
          <a:bodyPr wrap="none" rtlCol="0">
            <a:spAutoFit/>
          </a:bodyPr>
          <a:lstStyle/>
          <a:p>
            <a:r>
              <a:rPr lang="en-US" dirty="0"/>
              <a:t>Tool call</a:t>
            </a:r>
          </a:p>
        </p:txBody>
      </p:sp>
      <p:sp>
        <p:nvSpPr>
          <p:cNvPr id="6" name="TextBox 5">
            <a:extLst>
              <a:ext uri="{FF2B5EF4-FFF2-40B4-BE49-F238E27FC236}">
                <a16:creationId xmlns:a16="http://schemas.microsoft.com/office/drawing/2014/main" id="{3B018737-4E39-BE38-6D78-939DCFC20ED1}"/>
              </a:ext>
            </a:extLst>
          </p:cNvPr>
          <p:cNvSpPr txBox="1"/>
          <p:nvPr/>
        </p:nvSpPr>
        <p:spPr>
          <a:xfrm>
            <a:off x="8245366" y="2683086"/>
            <a:ext cx="684803" cy="369332"/>
          </a:xfrm>
          <a:prstGeom prst="rect">
            <a:avLst/>
          </a:prstGeom>
          <a:noFill/>
        </p:spPr>
        <p:txBody>
          <a:bodyPr wrap="none" rtlCol="0">
            <a:spAutoFit/>
          </a:bodyPr>
          <a:lstStyle/>
          <a:p>
            <a:r>
              <a:rPr lang="en-US" dirty="0"/>
              <a:t>Spell</a:t>
            </a:r>
          </a:p>
        </p:txBody>
      </p:sp>
      <p:sp>
        <p:nvSpPr>
          <p:cNvPr id="7" name="Rectangle 6">
            <a:extLst>
              <a:ext uri="{FF2B5EF4-FFF2-40B4-BE49-F238E27FC236}">
                <a16:creationId xmlns:a16="http://schemas.microsoft.com/office/drawing/2014/main" id="{5C8F9D0D-7284-039B-5DC4-9F7031BEB7A2}"/>
              </a:ext>
            </a:extLst>
          </p:cNvPr>
          <p:cNvSpPr/>
          <p:nvPr/>
        </p:nvSpPr>
        <p:spPr>
          <a:xfrm>
            <a:off x="6281072" y="3195147"/>
            <a:ext cx="4918187" cy="19246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487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04FA-3D1B-C569-3602-2C4A1049256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70D93F5-7769-6ECF-CAB9-BC7B60576A47}"/>
              </a:ext>
            </a:extLst>
          </p:cNvPr>
          <p:cNvSpPr/>
          <p:nvPr/>
        </p:nvSpPr>
        <p:spPr>
          <a:xfrm>
            <a:off x="2893670" y="2848131"/>
            <a:ext cx="5440862" cy="21683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521BF-83F8-DC39-B495-D9DB4BE2765B}"/>
              </a:ext>
            </a:extLst>
          </p:cNvPr>
          <p:cNvSpPr>
            <a:spLocks noGrp="1"/>
          </p:cNvSpPr>
          <p:nvPr>
            <p:ph type="title"/>
          </p:nvPr>
        </p:nvSpPr>
        <p:spPr/>
        <p:txBody>
          <a:bodyPr/>
          <a:lstStyle/>
          <a:p>
            <a:r>
              <a:rPr lang="en-US" dirty="0"/>
              <a:t>Internalized control flow</a:t>
            </a:r>
          </a:p>
        </p:txBody>
      </p:sp>
      <p:sp>
        <p:nvSpPr>
          <p:cNvPr id="21" name="Rectangle 20">
            <a:extLst>
              <a:ext uri="{FF2B5EF4-FFF2-40B4-BE49-F238E27FC236}">
                <a16:creationId xmlns:a16="http://schemas.microsoft.com/office/drawing/2014/main" id="{A388A8D6-29E9-5B4B-5D8B-E4BDBF679EA0}"/>
              </a:ext>
            </a:extLst>
          </p:cNvPr>
          <p:cNvSpPr/>
          <p:nvPr/>
        </p:nvSpPr>
        <p:spPr>
          <a:xfrm>
            <a:off x="3100498" y="301060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7386AF41-BB44-53C4-FA75-4DB754FC6D90}"/>
              </a:ext>
            </a:extLst>
          </p:cNvPr>
          <p:cNvSpPr/>
          <p:nvPr/>
        </p:nvSpPr>
        <p:spPr>
          <a:xfrm>
            <a:off x="4130645" y="301060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4" name="TextBox 23">
            <a:extLst>
              <a:ext uri="{FF2B5EF4-FFF2-40B4-BE49-F238E27FC236}">
                <a16:creationId xmlns:a16="http://schemas.microsoft.com/office/drawing/2014/main" id="{953601AF-D14D-30CD-DEEB-E166961462F0}"/>
              </a:ext>
            </a:extLst>
          </p:cNvPr>
          <p:cNvSpPr txBox="1"/>
          <p:nvPr/>
        </p:nvSpPr>
        <p:spPr>
          <a:xfrm>
            <a:off x="8416704" y="3540609"/>
            <a:ext cx="1631350" cy="646331"/>
          </a:xfrm>
          <a:prstGeom prst="rect">
            <a:avLst/>
          </a:prstGeom>
          <a:noFill/>
        </p:spPr>
        <p:txBody>
          <a:bodyPr wrap="square" rtlCol="0">
            <a:spAutoFit/>
          </a:bodyPr>
          <a:lstStyle/>
          <a:p>
            <a:r>
              <a:rPr lang="en-US" dirty="0">
                <a:solidFill>
                  <a:srgbClr val="FF0000"/>
                </a:solidFill>
              </a:rPr>
              <a:t>Arbitrary control flow</a:t>
            </a:r>
          </a:p>
        </p:txBody>
      </p:sp>
      <p:sp>
        <p:nvSpPr>
          <p:cNvPr id="3" name="Action Button: Help 2">
            <a:hlinkClick r:id="" action="ppaction://noaction" highlightClick="1"/>
            <a:extLst>
              <a:ext uri="{FF2B5EF4-FFF2-40B4-BE49-F238E27FC236}">
                <a16:creationId xmlns:a16="http://schemas.microsoft.com/office/drawing/2014/main" id="{1E921230-FA53-67B0-26CA-1C29FD241CE4}"/>
              </a:ext>
            </a:extLst>
          </p:cNvPr>
          <p:cNvSpPr/>
          <p:nvPr/>
        </p:nvSpPr>
        <p:spPr>
          <a:xfrm>
            <a:off x="6096000" y="3704438"/>
            <a:ext cx="435429" cy="375384"/>
          </a:xfrm>
          <a:prstGeom prst="actionButtonHel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ent Arrow 3">
            <a:extLst>
              <a:ext uri="{FF2B5EF4-FFF2-40B4-BE49-F238E27FC236}">
                <a16:creationId xmlns:a16="http://schemas.microsoft.com/office/drawing/2014/main" id="{E523EBF6-699D-F3A7-4FCF-9F15E929EAC2}"/>
              </a:ext>
            </a:extLst>
          </p:cNvPr>
          <p:cNvSpPr/>
          <p:nvPr/>
        </p:nvSpPr>
        <p:spPr>
          <a:xfrm rot="5400000">
            <a:off x="5773129" y="2950821"/>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5" name="Bent Arrow 4">
            <a:extLst>
              <a:ext uri="{FF2B5EF4-FFF2-40B4-BE49-F238E27FC236}">
                <a16:creationId xmlns:a16="http://schemas.microsoft.com/office/drawing/2014/main" id="{37F135E4-9F39-C81C-573A-0484C8EA3296}"/>
              </a:ext>
            </a:extLst>
          </p:cNvPr>
          <p:cNvSpPr/>
          <p:nvPr/>
        </p:nvSpPr>
        <p:spPr>
          <a:xfrm rot="5400000">
            <a:off x="6760777" y="3716599"/>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7" name="Rectangle 6">
            <a:extLst>
              <a:ext uri="{FF2B5EF4-FFF2-40B4-BE49-F238E27FC236}">
                <a16:creationId xmlns:a16="http://schemas.microsoft.com/office/drawing/2014/main" id="{B495711A-1C46-50B7-13F5-C03AC7FC089E}"/>
              </a:ext>
            </a:extLst>
          </p:cNvPr>
          <p:cNvSpPr/>
          <p:nvPr/>
        </p:nvSpPr>
        <p:spPr>
          <a:xfrm>
            <a:off x="6609143" y="4501439"/>
            <a:ext cx="15282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Re-prompt</a:t>
            </a:r>
          </a:p>
        </p:txBody>
      </p:sp>
      <p:sp>
        <p:nvSpPr>
          <p:cNvPr id="8" name="Bent Arrow 7">
            <a:extLst>
              <a:ext uri="{FF2B5EF4-FFF2-40B4-BE49-F238E27FC236}">
                <a16:creationId xmlns:a16="http://schemas.microsoft.com/office/drawing/2014/main" id="{5D60C085-CE6E-09FF-EB80-D9AE76F4DAD1}"/>
              </a:ext>
            </a:extLst>
          </p:cNvPr>
          <p:cNvSpPr/>
          <p:nvPr/>
        </p:nvSpPr>
        <p:spPr>
          <a:xfrm rot="16200000" flipH="1">
            <a:off x="5318047" y="3709609"/>
            <a:ext cx="520710" cy="801074"/>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TextBox 10">
            <a:extLst>
              <a:ext uri="{FF2B5EF4-FFF2-40B4-BE49-F238E27FC236}">
                <a16:creationId xmlns:a16="http://schemas.microsoft.com/office/drawing/2014/main" id="{C1C15FE0-C0D5-B429-542A-375F2EAB65D8}"/>
              </a:ext>
            </a:extLst>
          </p:cNvPr>
          <p:cNvSpPr txBox="1"/>
          <p:nvPr/>
        </p:nvSpPr>
        <p:spPr>
          <a:xfrm>
            <a:off x="4824690" y="4420755"/>
            <a:ext cx="1032655" cy="369332"/>
          </a:xfrm>
          <a:prstGeom prst="rect">
            <a:avLst/>
          </a:prstGeom>
          <a:noFill/>
        </p:spPr>
        <p:txBody>
          <a:bodyPr wrap="none" rtlCol="0">
            <a:spAutoFit/>
          </a:bodyPr>
          <a:lstStyle/>
          <a:p>
            <a:r>
              <a:rPr lang="en-US" dirty="0"/>
              <a:t>Success</a:t>
            </a:r>
          </a:p>
        </p:txBody>
      </p:sp>
    </p:spTree>
    <p:extLst>
      <p:ext uri="{BB962C8B-B14F-4D97-AF65-F5344CB8AC3E}">
        <p14:creationId xmlns:p14="http://schemas.microsoft.com/office/powerpoint/2010/main" val="282356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D9212-9E0A-8B00-9ED3-199DE528E3B5}"/>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7BD03CE-2AFC-CA17-900E-EDA344CBE559}"/>
              </a:ext>
            </a:extLst>
          </p:cNvPr>
          <p:cNvSpPr/>
          <p:nvPr/>
        </p:nvSpPr>
        <p:spPr>
          <a:xfrm>
            <a:off x="3192905" y="2293495"/>
            <a:ext cx="5111646" cy="32528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2517A74-9A5D-89B1-76C1-0CA80C2051AB}"/>
              </a:ext>
            </a:extLst>
          </p:cNvPr>
          <p:cNvSpPr txBox="1"/>
          <p:nvPr/>
        </p:nvSpPr>
        <p:spPr>
          <a:xfrm>
            <a:off x="5006046" y="4996217"/>
            <a:ext cx="3722557" cy="369332"/>
          </a:xfrm>
          <a:prstGeom prst="rect">
            <a:avLst/>
          </a:prstGeom>
          <a:noFill/>
        </p:spPr>
        <p:txBody>
          <a:bodyPr wrap="square" rtlCol="0">
            <a:spAutoFit/>
          </a:bodyPr>
          <a:lstStyle/>
          <a:p>
            <a:r>
              <a:rPr lang="en-US" dirty="0">
                <a:solidFill>
                  <a:srgbClr val="FF0000"/>
                </a:solidFill>
              </a:rPr>
              <a:t>Program logic written by main</a:t>
            </a:r>
          </a:p>
        </p:txBody>
      </p:sp>
      <p:sp>
        <p:nvSpPr>
          <p:cNvPr id="38" name="Title 1">
            <a:extLst>
              <a:ext uri="{FF2B5EF4-FFF2-40B4-BE49-F238E27FC236}">
                <a16:creationId xmlns:a16="http://schemas.microsoft.com/office/drawing/2014/main" id="{DA1C8498-A9F6-3B22-0CD1-2F6867D54243}"/>
              </a:ext>
            </a:extLst>
          </p:cNvPr>
          <p:cNvSpPr>
            <a:spLocks noGrp="1"/>
          </p:cNvSpPr>
          <p:nvPr>
            <p:ph type="title"/>
          </p:nvPr>
        </p:nvSpPr>
        <p:spPr>
          <a:xfrm>
            <a:off x="838200" y="365125"/>
            <a:ext cx="10515600" cy="1325563"/>
          </a:xfrm>
        </p:spPr>
        <p:txBody>
          <a:bodyPr/>
          <a:lstStyle/>
          <a:p>
            <a:r>
              <a:rPr lang="en-US" dirty="0"/>
              <a:t>Internalized control flow</a:t>
            </a:r>
          </a:p>
        </p:txBody>
      </p:sp>
      <p:sp>
        <p:nvSpPr>
          <p:cNvPr id="2" name="Rounded Rectangle 1">
            <a:extLst>
              <a:ext uri="{FF2B5EF4-FFF2-40B4-BE49-F238E27FC236}">
                <a16:creationId xmlns:a16="http://schemas.microsoft.com/office/drawing/2014/main" id="{F5FA75C8-F0BC-C050-0A2C-B2E4657185F0}"/>
              </a:ext>
            </a:extLst>
          </p:cNvPr>
          <p:cNvSpPr/>
          <p:nvPr/>
        </p:nvSpPr>
        <p:spPr>
          <a:xfrm>
            <a:off x="3632617" y="4204833"/>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5B837F6-F64E-75C2-8987-97155E4BA674}"/>
              </a:ext>
            </a:extLst>
          </p:cNvPr>
          <p:cNvSpPr/>
          <p:nvPr/>
        </p:nvSpPr>
        <p:spPr>
          <a:xfrm>
            <a:off x="3632617" y="2655055"/>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E531D8C-BE56-84E7-96B8-70A3422AE48C}"/>
              </a:ext>
            </a:extLst>
          </p:cNvPr>
          <p:cNvSpPr/>
          <p:nvPr/>
        </p:nvSpPr>
        <p:spPr>
          <a:xfrm>
            <a:off x="4834328"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AC7F36C-95A7-6CD1-B4F7-2B2341E5FAED}"/>
              </a:ext>
            </a:extLst>
          </p:cNvPr>
          <p:cNvSpPr/>
          <p:nvPr/>
        </p:nvSpPr>
        <p:spPr>
          <a:xfrm>
            <a:off x="3632617"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21CC4B-0E06-681F-2C93-4CAA59A74B45}"/>
              </a:ext>
            </a:extLst>
          </p:cNvPr>
          <p:cNvSpPr/>
          <p:nvPr/>
        </p:nvSpPr>
        <p:spPr>
          <a:xfrm>
            <a:off x="6071016"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23ABCD7-3D71-A7C4-EC9E-D4CDCE613D88}"/>
              </a:ext>
            </a:extLst>
          </p:cNvPr>
          <p:cNvCxnSpPr>
            <a:stCxn id="4" idx="2"/>
            <a:endCxn id="7" idx="0"/>
          </p:cNvCxnSpPr>
          <p:nvPr/>
        </p:nvCxnSpPr>
        <p:spPr>
          <a:xfrm>
            <a:off x="4097312" y="3104760"/>
            <a:ext cx="0" cy="2573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2" name="Straight Arrow Connector 11">
            <a:extLst>
              <a:ext uri="{FF2B5EF4-FFF2-40B4-BE49-F238E27FC236}">
                <a16:creationId xmlns:a16="http://schemas.microsoft.com/office/drawing/2014/main" id="{7355BF22-ED8F-96C0-66B1-807706F903EA}"/>
              </a:ext>
            </a:extLst>
          </p:cNvPr>
          <p:cNvCxnSpPr>
            <a:cxnSpLocks/>
            <a:stCxn id="4" idx="2"/>
            <a:endCxn id="5" idx="0"/>
          </p:cNvCxnSpPr>
          <p:nvPr/>
        </p:nvCxnSpPr>
        <p:spPr>
          <a:xfrm>
            <a:off x="4097312" y="3104760"/>
            <a:ext cx="1201711" cy="2573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9A5E2A99-7ADC-BB13-4F55-B8166DD3A718}"/>
              </a:ext>
            </a:extLst>
          </p:cNvPr>
          <p:cNvCxnSpPr>
            <a:cxnSpLocks/>
            <a:endCxn id="8" idx="0"/>
          </p:cNvCxnSpPr>
          <p:nvPr/>
        </p:nvCxnSpPr>
        <p:spPr>
          <a:xfrm>
            <a:off x="4125592" y="3103686"/>
            <a:ext cx="2410119" cy="25840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BB29B8C0-CAB7-36B9-D3D4-E2B229CF4D75}"/>
              </a:ext>
            </a:extLst>
          </p:cNvPr>
          <p:cNvCxnSpPr>
            <a:cxnSpLocks/>
            <a:stCxn id="7" idx="2"/>
            <a:endCxn id="2" idx="0"/>
          </p:cNvCxnSpPr>
          <p:nvPr/>
        </p:nvCxnSpPr>
        <p:spPr>
          <a:xfrm>
            <a:off x="4097312" y="3811796"/>
            <a:ext cx="0" cy="39303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9850954F-7201-F9F6-EC16-9D8B24C17612}"/>
              </a:ext>
            </a:extLst>
          </p:cNvPr>
          <p:cNvCxnSpPr>
            <a:cxnSpLocks/>
            <a:stCxn id="5" idx="2"/>
          </p:cNvCxnSpPr>
          <p:nvPr/>
        </p:nvCxnSpPr>
        <p:spPr>
          <a:xfrm flipH="1">
            <a:off x="4118097" y="3811796"/>
            <a:ext cx="1180926" cy="39303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4104C8CC-B4E1-1F24-13C0-874FC9E66E46}"/>
              </a:ext>
            </a:extLst>
          </p:cNvPr>
          <p:cNvCxnSpPr>
            <a:cxnSpLocks/>
            <a:stCxn id="8" idx="2"/>
          </p:cNvCxnSpPr>
          <p:nvPr/>
        </p:nvCxnSpPr>
        <p:spPr>
          <a:xfrm flipH="1">
            <a:off x="4146377" y="3811796"/>
            <a:ext cx="2389334" cy="3850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TextBox 27">
            <a:extLst>
              <a:ext uri="{FF2B5EF4-FFF2-40B4-BE49-F238E27FC236}">
                <a16:creationId xmlns:a16="http://schemas.microsoft.com/office/drawing/2014/main" id="{8317B335-4DF4-130B-0520-AF1F60A4F7B9}"/>
              </a:ext>
            </a:extLst>
          </p:cNvPr>
          <p:cNvSpPr txBox="1"/>
          <p:nvPr/>
        </p:nvSpPr>
        <p:spPr>
          <a:xfrm>
            <a:off x="3685751" y="2694168"/>
            <a:ext cx="829843" cy="369332"/>
          </a:xfrm>
          <a:prstGeom prst="rect">
            <a:avLst/>
          </a:prstGeom>
          <a:noFill/>
        </p:spPr>
        <p:txBody>
          <a:bodyPr wrap="none" rtlCol="0">
            <a:spAutoFit/>
          </a:bodyPr>
          <a:lstStyle/>
          <a:p>
            <a:r>
              <a:rPr lang="en-US" dirty="0"/>
              <a:t>Todo 1</a:t>
            </a:r>
          </a:p>
        </p:txBody>
      </p:sp>
      <p:sp>
        <p:nvSpPr>
          <p:cNvPr id="29" name="TextBox 28">
            <a:extLst>
              <a:ext uri="{FF2B5EF4-FFF2-40B4-BE49-F238E27FC236}">
                <a16:creationId xmlns:a16="http://schemas.microsoft.com/office/drawing/2014/main" id="{42D35415-661D-53A4-EB3A-C87E3330639A}"/>
              </a:ext>
            </a:extLst>
          </p:cNvPr>
          <p:cNvSpPr txBox="1"/>
          <p:nvPr/>
        </p:nvSpPr>
        <p:spPr>
          <a:xfrm>
            <a:off x="3685751" y="3402277"/>
            <a:ext cx="829843" cy="369332"/>
          </a:xfrm>
          <a:prstGeom prst="rect">
            <a:avLst/>
          </a:prstGeom>
          <a:noFill/>
        </p:spPr>
        <p:txBody>
          <a:bodyPr wrap="none" rtlCol="0">
            <a:spAutoFit/>
          </a:bodyPr>
          <a:lstStyle/>
          <a:p>
            <a:r>
              <a:rPr lang="en-US" dirty="0"/>
              <a:t>Todo 2</a:t>
            </a:r>
          </a:p>
        </p:txBody>
      </p:sp>
      <p:sp>
        <p:nvSpPr>
          <p:cNvPr id="30" name="TextBox 29">
            <a:extLst>
              <a:ext uri="{FF2B5EF4-FFF2-40B4-BE49-F238E27FC236}">
                <a16:creationId xmlns:a16="http://schemas.microsoft.com/office/drawing/2014/main" id="{8EEBEFEC-6BF4-FFDE-7EC2-6016B88F5387}"/>
              </a:ext>
            </a:extLst>
          </p:cNvPr>
          <p:cNvSpPr txBox="1"/>
          <p:nvPr/>
        </p:nvSpPr>
        <p:spPr>
          <a:xfrm>
            <a:off x="4869305" y="3434756"/>
            <a:ext cx="829843" cy="369332"/>
          </a:xfrm>
          <a:prstGeom prst="rect">
            <a:avLst/>
          </a:prstGeom>
          <a:noFill/>
        </p:spPr>
        <p:txBody>
          <a:bodyPr wrap="none" rtlCol="0">
            <a:spAutoFit/>
          </a:bodyPr>
          <a:lstStyle/>
          <a:p>
            <a:r>
              <a:rPr lang="en-US" dirty="0"/>
              <a:t>Todo 3</a:t>
            </a:r>
          </a:p>
        </p:txBody>
      </p:sp>
      <p:sp>
        <p:nvSpPr>
          <p:cNvPr id="31" name="TextBox 30">
            <a:extLst>
              <a:ext uri="{FF2B5EF4-FFF2-40B4-BE49-F238E27FC236}">
                <a16:creationId xmlns:a16="http://schemas.microsoft.com/office/drawing/2014/main" id="{50D6A7A7-4EAF-5167-2297-469614A37BDD}"/>
              </a:ext>
            </a:extLst>
          </p:cNvPr>
          <p:cNvSpPr txBox="1"/>
          <p:nvPr/>
        </p:nvSpPr>
        <p:spPr>
          <a:xfrm>
            <a:off x="6159515" y="3434756"/>
            <a:ext cx="829843" cy="369332"/>
          </a:xfrm>
          <a:prstGeom prst="rect">
            <a:avLst/>
          </a:prstGeom>
          <a:noFill/>
        </p:spPr>
        <p:txBody>
          <a:bodyPr wrap="none" rtlCol="0">
            <a:spAutoFit/>
          </a:bodyPr>
          <a:lstStyle/>
          <a:p>
            <a:r>
              <a:rPr lang="en-US" dirty="0"/>
              <a:t>Todo 4</a:t>
            </a:r>
          </a:p>
        </p:txBody>
      </p:sp>
      <p:sp>
        <p:nvSpPr>
          <p:cNvPr id="32" name="TextBox 31">
            <a:extLst>
              <a:ext uri="{FF2B5EF4-FFF2-40B4-BE49-F238E27FC236}">
                <a16:creationId xmlns:a16="http://schemas.microsoft.com/office/drawing/2014/main" id="{7A67BD63-4675-270B-5036-1EF9014C7FC9}"/>
              </a:ext>
            </a:extLst>
          </p:cNvPr>
          <p:cNvSpPr txBox="1"/>
          <p:nvPr/>
        </p:nvSpPr>
        <p:spPr>
          <a:xfrm>
            <a:off x="3586947" y="4245019"/>
            <a:ext cx="1020729" cy="369332"/>
          </a:xfrm>
          <a:prstGeom prst="rect">
            <a:avLst/>
          </a:prstGeom>
          <a:noFill/>
        </p:spPr>
        <p:txBody>
          <a:bodyPr wrap="none" rtlCol="0">
            <a:spAutoFit/>
          </a:bodyPr>
          <a:lstStyle/>
          <a:p>
            <a:r>
              <a:rPr lang="en-US" dirty="0"/>
              <a:t>Checker</a:t>
            </a:r>
          </a:p>
        </p:txBody>
      </p:sp>
      <p:cxnSp>
        <p:nvCxnSpPr>
          <p:cNvPr id="33" name="Straight Arrow Connector 32">
            <a:extLst>
              <a:ext uri="{FF2B5EF4-FFF2-40B4-BE49-F238E27FC236}">
                <a16:creationId xmlns:a16="http://schemas.microsoft.com/office/drawing/2014/main" id="{04151758-A42A-68A4-E8FA-6B1CD846000C}"/>
              </a:ext>
            </a:extLst>
          </p:cNvPr>
          <p:cNvCxnSpPr>
            <a:cxnSpLocks/>
          </p:cNvCxnSpPr>
          <p:nvPr/>
        </p:nvCxnSpPr>
        <p:spPr>
          <a:xfrm flipH="1" flipV="1">
            <a:off x="2395929" y="3232888"/>
            <a:ext cx="1219199" cy="97678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9" name="Rounded Rectangle 38">
            <a:extLst>
              <a:ext uri="{FF2B5EF4-FFF2-40B4-BE49-F238E27FC236}">
                <a16:creationId xmlns:a16="http://schemas.microsoft.com/office/drawing/2014/main" id="{90E6790B-4986-8E1E-B46F-7E70B713A8C4}"/>
              </a:ext>
            </a:extLst>
          </p:cNvPr>
          <p:cNvSpPr/>
          <p:nvPr/>
        </p:nvSpPr>
        <p:spPr>
          <a:xfrm>
            <a:off x="1839463" y="2688023"/>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17BEE2B-C13D-8D35-6AD2-5DB90CC31586}"/>
              </a:ext>
            </a:extLst>
          </p:cNvPr>
          <p:cNvSpPr txBox="1"/>
          <p:nvPr/>
        </p:nvSpPr>
        <p:spPr>
          <a:xfrm>
            <a:off x="1956217" y="2734354"/>
            <a:ext cx="671979" cy="369332"/>
          </a:xfrm>
          <a:prstGeom prst="rect">
            <a:avLst/>
          </a:prstGeom>
          <a:noFill/>
        </p:spPr>
        <p:txBody>
          <a:bodyPr wrap="none" rtlCol="0">
            <a:spAutoFit/>
          </a:bodyPr>
          <a:lstStyle/>
          <a:p>
            <a:r>
              <a:rPr lang="en-US" dirty="0"/>
              <a:t>Main</a:t>
            </a:r>
          </a:p>
        </p:txBody>
      </p:sp>
      <p:cxnSp>
        <p:nvCxnSpPr>
          <p:cNvPr id="43" name="Straight Arrow Connector 42">
            <a:extLst>
              <a:ext uri="{FF2B5EF4-FFF2-40B4-BE49-F238E27FC236}">
                <a16:creationId xmlns:a16="http://schemas.microsoft.com/office/drawing/2014/main" id="{8905CB56-58C6-8FEF-C4EF-83AC594A3415}"/>
              </a:ext>
            </a:extLst>
          </p:cNvPr>
          <p:cNvCxnSpPr>
            <a:cxnSpLocks/>
          </p:cNvCxnSpPr>
          <p:nvPr/>
        </p:nvCxnSpPr>
        <p:spPr>
          <a:xfrm>
            <a:off x="2807487" y="2924458"/>
            <a:ext cx="76857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494264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D43B-1BDF-644B-B60B-B8B28EE396C6}"/>
              </a:ext>
            </a:extLst>
          </p:cNvPr>
          <p:cNvSpPr>
            <a:spLocks noGrp="1"/>
          </p:cNvSpPr>
          <p:nvPr>
            <p:ph type="title"/>
          </p:nvPr>
        </p:nvSpPr>
        <p:spPr/>
        <p:txBody>
          <a:bodyPr/>
          <a:lstStyle/>
          <a:p>
            <a:r>
              <a:rPr lang="en-US" dirty="0"/>
              <a:t>Related approaches</a:t>
            </a:r>
          </a:p>
        </p:txBody>
      </p:sp>
      <p:sp>
        <p:nvSpPr>
          <p:cNvPr id="3" name="Content Placeholder 2">
            <a:extLst>
              <a:ext uri="{FF2B5EF4-FFF2-40B4-BE49-F238E27FC236}">
                <a16:creationId xmlns:a16="http://schemas.microsoft.com/office/drawing/2014/main" id="{4065FC10-6F84-0630-078A-996EEFB9232F}"/>
              </a:ext>
            </a:extLst>
          </p:cNvPr>
          <p:cNvSpPr>
            <a:spLocks noGrp="1"/>
          </p:cNvSpPr>
          <p:nvPr>
            <p:ph idx="1"/>
          </p:nvPr>
        </p:nvSpPr>
        <p:spPr/>
        <p:txBody>
          <a:bodyPr/>
          <a:lstStyle/>
          <a:p>
            <a:pPr marL="0" indent="0">
              <a:buNone/>
            </a:pPr>
            <a:r>
              <a:rPr lang="en-US" dirty="0"/>
              <a:t>Baseline – e.g. Claude Code</a:t>
            </a:r>
          </a:p>
          <a:p>
            <a:r>
              <a:rPr lang="en-US" dirty="0"/>
              <a:t>grep</a:t>
            </a:r>
          </a:p>
          <a:p>
            <a:r>
              <a:rPr lang="en-US" dirty="0"/>
              <a:t>Harness-triggered compaction </a:t>
            </a:r>
          </a:p>
          <a:p>
            <a:r>
              <a:rPr lang="en-US" dirty="0"/>
              <a:t>Subagent delegation/swarms </a:t>
            </a:r>
          </a:p>
          <a:p>
            <a:endParaRPr lang="en-US" dirty="0"/>
          </a:p>
        </p:txBody>
      </p:sp>
    </p:spTree>
    <p:extLst>
      <p:ext uri="{BB962C8B-B14F-4D97-AF65-F5344CB8AC3E}">
        <p14:creationId xmlns:p14="http://schemas.microsoft.com/office/powerpoint/2010/main" val="117292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58BE34-47C0-46EE-4455-9CEA171F7170}"/>
              </a:ext>
            </a:extLst>
          </p:cNvPr>
          <p:cNvPicPr>
            <a:picLocks noChangeAspect="1"/>
          </p:cNvPicPr>
          <p:nvPr/>
        </p:nvPicPr>
        <p:blipFill>
          <a:blip r:embed="rId2"/>
          <a:stretch>
            <a:fillRect/>
          </a:stretch>
        </p:blipFill>
        <p:spPr>
          <a:xfrm>
            <a:off x="761144" y="3175664"/>
            <a:ext cx="5257825" cy="1325564"/>
          </a:xfrm>
          <a:prstGeom prst="rect">
            <a:avLst/>
          </a:prstGeom>
        </p:spPr>
      </p:pic>
      <p:sp>
        <p:nvSpPr>
          <p:cNvPr id="5" name="Title 1">
            <a:extLst>
              <a:ext uri="{FF2B5EF4-FFF2-40B4-BE49-F238E27FC236}">
                <a16:creationId xmlns:a16="http://schemas.microsoft.com/office/drawing/2014/main" id="{2816EE1D-B029-EAD1-B66A-F656CD540CC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Related approaches</a:t>
            </a:r>
            <a:endParaRPr lang="en-US" dirty="0"/>
          </a:p>
        </p:txBody>
      </p:sp>
      <p:pic>
        <p:nvPicPr>
          <p:cNvPr id="8" name="Picture 7">
            <a:extLst>
              <a:ext uri="{FF2B5EF4-FFF2-40B4-BE49-F238E27FC236}">
                <a16:creationId xmlns:a16="http://schemas.microsoft.com/office/drawing/2014/main" id="{18436897-FBCA-684F-5FB9-8D335E8657D5}"/>
              </a:ext>
            </a:extLst>
          </p:cNvPr>
          <p:cNvPicPr>
            <a:picLocks noChangeAspect="1"/>
          </p:cNvPicPr>
          <p:nvPr/>
        </p:nvPicPr>
        <p:blipFill>
          <a:blip r:embed="rId3"/>
          <a:stretch>
            <a:fillRect/>
          </a:stretch>
        </p:blipFill>
        <p:spPr>
          <a:xfrm>
            <a:off x="6417118" y="1465673"/>
            <a:ext cx="3873500" cy="4597400"/>
          </a:xfrm>
          <a:prstGeom prst="rect">
            <a:avLst/>
          </a:prstGeom>
        </p:spPr>
      </p:pic>
      <p:sp>
        <p:nvSpPr>
          <p:cNvPr id="9" name="TextBox 8">
            <a:extLst>
              <a:ext uri="{FF2B5EF4-FFF2-40B4-BE49-F238E27FC236}">
                <a16:creationId xmlns:a16="http://schemas.microsoft.com/office/drawing/2014/main" id="{9FCECF52-8BAA-A77B-562A-1F4C74FE48A3}"/>
              </a:ext>
            </a:extLst>
          </p:cNvPr>
          <p:cNvSpPr txBox="1"/>
          <p:nvPr/>
        </p:nvSpPr>
        <p:spPr>
          <a:xfrm>
            <a:off x="2760617" y="4650377"/>
            <a:ext cx="1390702" cy="338554"/>
          </a:xfrm>
          <a:prstGeom prst="rect">
            <a:avLst/>
          </a:prstGeom>
          <a:noFill/>
        </p:spPr>
        <p:txBody>
          <a:bodyPr wrap="none" rtlCol="0">
            <a:spAutoFit/>
          </a:bodyPr>
          <a:lstStyle/>
          <a:p>
            <a:r>
              <a:rPr lang="en-US" sz="1600" dirty="0"/>
              <a:t>October 2025</a:t>
            </a:r>
          </a:p>
        </p:txBody>
      </p:sp>
    </p:spTree>
    <p:extLst>
      <p:ext uri="{BB962C8B-B14F-4D97-AF65-F5344CB8AC3E}">
        <p14:creationId xmlns:p14="http://schemas.microsoft.com/office/powerpoint/2010/main" val="2446175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E6915-532A-F985-740F-5C7D07CEF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CB626-11EE-C49F-368B-8617EBA008D3}"/>
              </a:ext>
            </a:extLst>
          </p:cNvPr>
          <p:cNvSpPr>
            <a:spLocks noGrp="1"/>
          </p:cNvSpPr>
          <p:nvPr>
            <p:ph type="title"/>
          </p:nvPr>
        </p:nvSpPr>
        <p:spPr/>
        <p:txBody>
          <a:bodyPr/>
          <a:lstStyle/>
          <a:p>
            <a:r>
              <a:rPr lang="en-US" dirty="0"/>
              <a:t>Related approaches</a:t>
            </a:r>
          </a:p>
        </p:txBody>
      </p:sp>
      <p:sp>
        <p:nvSpPr>
          <p:cNvPr id="3" name="Content Placeholder 2">
            <a:extLst>
              <a:ext uri="{FF2B5EF4-FFF2-40B4-BE49-F238E27FC236}">
                <a16:creationId xmlns:a16="http://schemas.microsoft.com/office/drawing/2014/main" id="{DC507EF9-E924-48F1-6A0D-F21F86BE57B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88C5E8B-FCD1-A81F-9E86-B562BB34A930}"/>
              </a:ext>
            </a:extLst>
          </p:cNvPr>
          <p:cNvPicPr>
            <a:picLocks noChangeAspect="1"/>
          </p:cNvPicPr>
          <p:nvPr/>
        </p:nvPicPr>
        <p:blipFill>
          <a:blip r:embed="rId2"/>
          <a:stretch>
            <a:fillRect/>
          </a:stretch>
        </p:blipFill>
        <p:spPr>
          <a:xfrm>
            <a:off x="4536803" y="1882275"/>
            <a:ext cx="6098200" cy="4100514"/>
          </a:xfrm>
          <a:prstGeom prst="rect">
            <a:avLst/>
          </a:prstGeom>
        </p:spPr>
      </p:pic>
      <p:pic>
        <p:nvPicPr>
          <p:cNvPr id="7" name="Picture 6">
            <a:extLst>
              <a:ext uri="{FF2B5EF4-FFF2-40B4-BE49-F238E27FC236}">
                <a16:creationId xmlns:a16="http://schemas.microsoft.com/office/drawing/2014/main" id="{3612D492-22DC-F2FE-77F4-F0CBE10CF3DB}"/>
              </a:ext>
            </a:extLst>
          </p:cNvPr>
          <p:cNvPicPr>
            <a:picLocks noChangeAspect="1"/>
          </p:cNvPicPr>
          <p:nvPr/>
        </p:nvPicPr>
        <p:blipFill>
          <a:blip r:embed="rId3"/>
          <a:srcRect l="24185" r="29921"/>
          <a:stretch>
            <a:fillRect/>
          </a:stretch>
        </p:blipFill>
        <p:spPr>
          <a:xfrm>
            <a:off x="1350736" y="2942725"/>
            <a:ext cx="2960914" cy="1346200"/>
          </a:xfrm>
          <a:prstGeom prst="rect">
            <a:avLst/>
          </a:prstGeom>
        </p:spPr>
      </p:pic>
      <p:sp>
        <p:nvSpPr>
          <p:cNvPr id="5" name="TextBox 4">
            <a:extLst>
              <a:ext uri="{FF2B5EF4-FFF2-40B4-BE49-F238E27FC236}">
                <a16:creationId xmlns:a16="http://schemas.microsoft.com/office/drawing/2014/main" id="{EC52FCE2-C70B-566F-F4D9-9DD7A31E5E0F}"/>
              </a:ext>
            </a:extLst>
          </p:cNvPr>
          <p:cNvSpPr txBox="1"/>
          <p:nvPr/>
        </p:nvSpPr>
        <p:spPr>
          <a:xfrm>
            <a:off x="2016132" y="4423862"/>
            <a:ext cx="1342740" cy="338554"/>
          </a:xfrm>
          <a:prstGeom prst="rect">
            <a:avLst/>
          </a:prstGeom>
          <a:noFill/>
        </p:spPr>
        <p:txBody>
          <a:bodyPr wrap="none" rtlCol="0">
            <a:spAutoFit/>
          </a:bodyPr>
          <a:lstStyle/>
          <a:p>
            <a:r>
              <a:rPr lang="en-US" sz="1600" dirty="0"/>
              <a:t>January 2026</a:t>
            </a:r>
          </a:p>
        </p:txBody>
      </p:sp>
    </p:spTree>
    <p:extLst>
      <p:ext uri="{BB962C8B-B14F-4D97-AF65-F5344CB8AC3E}">
        <p14:creationId xmlns:p14="http://schemas.microsoft.com/office/powerpoint/2010/main" val="3217437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4BBE-800D-1997-E51F-E55207CD2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D2D6C-DC6D-7B7B-D4B0-078FA6E88AFA}"/>
              </a:ext>
            </a:extLst>
          </p:cNvPr>
          <p:cNvSpPr>
            <a:spLocks noGrp="1"/>
          </p:cNvSpPr>
          <p:nvPr>
            <p:ph type="title"/>
          </p:nvPr>
        </p:nvSpPr>
        <p:spPr/>
        <p:txBody>
          <a:bodyPr/>
          <a:lstStyle/>
          <a:p>
            <a:r>
              <a:rPr lang="en-US" dirty="0"/>
              <a:t>Related approaches</a:t>
            </a:r>
          </a:p>
        </p:txBody>
      </p:sp>
      <p:sp>
        <p:nvSpPr>
          <p:cNvPr id="5" name="TextBox 4">
            <a:extLst>
              <a:ext uri="{FF2B5EF4-FFF2-40B4-BE49-F238E27FC236}">
                <a16:creationId xmlns:a16="http://schemas.microsoft.com/office/drawing/2014/main" id="{6E771AF0-A258-0F5D-1D07-4247C926D4F0}"/>
              </a:ext>
            </a:extLst>
          </p:cNvPr>
          <p:cNvSpPr txBox="1"/>
          <p:nvPr/>
        </p:nvSpPr>
        <p:spPr>
          <a:xfrm>
            <a:off x="8057337" y="2248043"/>
            <a:ext cx="1390702" cy="338554"/>
          </a:xfrm>
          <a:prstGeom prst="rect">
            <a:avLst/>
          </a:prstGeom>
          <a:noFill/>
        </p:spPr>
        <p:txBody>
          <a:bodyPr wrap="none" rtlCol="0">
            <a:spAutoFit/>
          </a:bodyPr>
          <a:lstStyle/>
          <a:p>
            <a:r>
              <a:rPr lang="en-US" sz="1600" dirty="0"/>
              <a:t>October 2025</a:t>
            </a:r>
          </a:p>
        </p:txBody>
      </p:sp>
      <p:pic>
        <p:nvPicPr>
          <p:cNvPr id="13" name="Picture 12">
            <a:extLst>
              <a:ext uri="{FF2B5EF4-FFF2-40B4-BE49-F238E27FC236}">
                <a16:creationId xmlns:a16="http://schemas.microsoft.com/office/drawing/2014/main" id="{93747FC9-235C-1C4D-B4A0-2ADB7C361C75}"/>
              </a:ext>
            </a:extLst>
          </p:cNvPr>
          <p:cNvPicPr>
            <a:picLocks noChangeAspect="1"/>
          </p:cNvPicPr>
          <p:nvPr/>
        </p:nvPicPr>
        <p:blipFill>
          <a:blip r:embed="rId2"/>
          <a:stretch>
            <a:fillRect/>
          </a:stretch>
        </p:blipFill>
        <p:spPr>
          <a:xfrm>
            <a:off x="6250398" y="520843"/>
            <a:ext cx="4622800" cy="1727200"/>
          </a:xfrm>
          <a:prstGeom prst="rect">
            <a:avLst/>
          </a:prstGeom>
        </p:spPr>
      </p:pic>
      <p:pic>
        <p:nvPicPr>
          <p:cNvPr id="14" name="Picture 13">
            <a:extLst>
              <a:ext uri="{FF2B5EF4-FFF2-40B4-BE49-F238E27FC236}">
                <a16:creationId xmlns:a16="http://schemas.microsoft.com/office/drawing/2014/main" id="{20FC5212-FD74-1014-EBCC-C299E35401DF}"/>
              </a:ext>
            </a:extLst>
          </p:cNvPr>
          <p:cNvPicPr>
            <a:picLocks noChangeAspect="1"/>
          </p:cNvPicPr>
          <p:nvPr/>
        </p:nvPicPr>
        <p:blipFill>
          <a:blip r:embed="rId3"/>
          <a:stretch>
            <a:fillRect/>
          </a:stretch>
        </p:blipFill>
        <p:spPr>
          <a:xfrm>
            <a:off x="838199" y="2933569"/>
            <a:ext cx="10760559" cy="2460364"/>
          </a:xfrm>
          <a:prstGeom prst="rect">
            <a:avLst/>
          </a:prstGeom>
        </p:spPr>
      </p:pic>
    </p:spTree>
    <p:extLst>
      <p:ext uri="{BB962C8B-B14F-4D97-AF65-F5344CB8AC3E}">
        <p14:creationId xmlns:p14="http://schemas.microsoft.com/office/powerpoint/2010/main" val="844042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F4B672A-EF16-125A-FE76-144D80A94770}"/>
              </a:ext>
            </a:extLst>
          </p:cNvPr>
          <p:cNvSpPr>
            <a:spLocks noGrp="1"/>
          </p:cNvSpPr>
          <p:nvPr>
            <p:ph type="body" idx="1"/>
          </p:nvPr>
        </p:nvSpPr>
        <p:spPr>
          <a:xfrm>
            <a:off x="606240" y="814762"/>
            <a:ext cx="5157787" cy="823912"/>
          </a:xfrm>
        </p:spPr>
        <p:txBody>
          <a:bodyPr/>
          <a:lstStyle/>
          <a:p>
            <a:r>
              <a:rPr lang="en-US" dirty="0" err="1"/>
              <a:t>ReAct</a:t>
            </a:r>
            <a:endParaRPr lang="en-US" dirty="0"/>
          </a:p>
        </p:txBody>
      </p:sp>
      <p:sp>
        <p:nvSpPr>
          <p:cNvPr id="12" name="Content Placeholder 11">
            <a:extLst>
              <a:ext uri="{FF2B5EF4-FFF2-40B4-BE49-F238E27FC236}">
                <a16:creationId xmlns:a16="http://schemas.microsoft.com/office/drawing/2014/main" id="{C9AA7280-FB40-A707-5CFB-F74EFED11774}"/>
              </a:ext>
            </a:extLst>
          </p:cNvPr>
          <p:cNvSpPr>
            <a:spLocks noGrp="1"/>
          </p:cNvSpPr>
          <p:nvPr>
            <p:ph sz="half" idx="2"/>
          </p:nvPr>
        </p:nvSpPr>
        <p:spPr>
          <a:xfrm>
            <a:off x="606240" y="1638673"/>
            <a:ext cx="5157787" cy="4089843"/>
          </a:xfrm>
        </p:spPr>
        <p:txBody>
          <a:bodyPr>
            <a:normAutofit fontScale="77500" lnSpcReduction="20000"/>
          </a:bodyPr>
          <a:lstStyle/>
          <a:p>
            <a:pPr marL="0" indent="0">
              <a:buNone/>
            </a:pPr>
            <a:r>
              <a:rPr lang="en-US" dirty="0"/>
              <a:t>prefix ← prompt</a:t>
            </a:r>
          </a:p>
          <a:p>
            <a:pPr marL="0" indent="0">
              <a:buNone/>
            </a:pPr>
            <a:r>
              <a:rPr lang="en-US" dirty="0"/>
              <a:t>loop:</a:t>
            </a:r>
          </a:p>
          <a:p>
            <a:pPr marL="0" indent="0">
              <a:buNone/>
            </a:pPr>
            <a:r>
              <a:rPr lang="en-US" dirty="0"/>
              <a:t>    response, tool-call ← </a:t>
            </a:r>
            <a:r>
              <a:rPr lang="en-US" dirty="0" err="1"/>
              <a:t>llm</a:t>
            </a:r>
            <a:r>
              <a:rPr lang="en-US" dirty="0"/>
              <a:t>(prefix)</a:t>
            </a:r>
          </a:p>
          <a:p>
            <a:pPr marL="0" indent="0">
              <a:buNone/>
            </a:pPr>
            <a:r>
              <a:rPr lang="en-US" dirty="0"/>
              <a:t>    tool-result  ← eval(tool-call)</a:t>
            </a:r>
            <a:br>
              <a:rPr lang="en-US" dirty="0"/>
            </a:br>
            <a:r>
              <a:rPr lang="en-US" dirty="0"/>
              <a:t>    completion ← prefix + response+ 			tool-result</a:t>
            </a:r>
          </a:p>
          <a:p>
            <a:pPr marL="0" indent="0">
              <a:buNone/>
            </a:pPr>
            <a:r>
              <a:rPr lang="en-US" dirty="0"/>
              <a:t>    if </a:t>
            </a:r>
            <a:r>
              <a:rPr lang="en-US" dirty="0" err="1"/>
              <a:t>response.is</a:t>
            </a:r>
            <a:r>
              <a:rPr lang="en-US" dirty="0"/>
              <a:t>-final:</a:t>
            </a:r>
          </a:p>
          <a:p>
            <a:pPr marL="0" indent="0">
              <a:buNone/>
            </a:pPr>
            <a:r>
              <a:rPr lang="en-US" dirty="0"/>
              <a:t>        return completion</a:t>
            </a:r>
          </a:p>
          <a:p>
            <a:pPr marL="0" indent="0">
              <a:buNone/>
            </a:pPr>
            <a:r>
              <a:rPr lang="en-US" dirty="0"/>
              <a:t>    prefix ← completion</a:t>
            </a:r>
          </a:p>
          <a:p>
            <a:pPr marL="0" indent="0">
              <a:buNone/>
            </a:pPr>
            <a:endParaRPr lang="en-US" dirty="0"/>
          </a:p>
        </p:txBody>
      </p:sp>
      <p:sp>
        <p:nvSpPr>
          <p:cNvPr id="13" name="Content Placeholder 2">
            <a:extLst>
              <a:ext uri="{FF2B5EF4-FFF2-40B4-BE49-F238E27FC236}">
                <a16:creationId xmlns:a16="http://schemas.microsoft.com/office/drawing/2014/main" id="{8DBA7CB6-9756-C9A1-24B8-29516636E9A9}"/>
              </a:ext>
            </a:extLst>
          </p:cNvPr>
          <p:cNvSpPr txBox="1">
            <a:spLocks/>
          </p:cNvSpPr>
          <p:nvPr/>
        </p:nvSpPr>
        <p:spPr>
          <a:xfrm>
            <a:off x="607828" y="2191566"/>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2" name="Text Placeholder 5">
            <a:extLst>
              <a:ext uri="{FF2B5EF4-FFF2-40B4-BE49-F238E27FC236}">
                <a16:creationId xmlns:a16="http://schemas.microsoft.com/office/drawing/2014/main" id="{4007B9E9-D285-F697-7CE0-F8633A3C14FB}"/>
              </a:ext>
            </a:extLst>
          </p:cNvPr>
          <p:cNvSpPr>
            <a:spLocks noGrp="1"/>
          </p:cNvSpPr>
          <p:nvPr>
            <p:ph type="body" sz="quarter" idx="3"/>
          </p:nvPr>
        </p:nvSpPr>
        <p:spPr>
          <a:xfrm>
            <a:off x="6169024" y="814762"/>
            <a:ext cx="5183188" cy="823912"/>
          </a:xfrm>
        </p:spPr>
        <p:txBody>
          <a:bodyPr/>
          <a:lstStyle/>
          <a:p>
            <a:r>
              <a:rPr lang="en-US" dirty="0"/>
              <a:t>Spell</a:t>
            </a:r>
          </a:p>
        </p:txBody>
      </p:sp>
      <p:sp>
        <p:nvSpPr>
          <p:cNvPr id="3" name="Content Placeholder 6">
            <a:extLst>
              <a:ext uri="{FF2B5EF4-FFF2-40B4-BE49-F238E27FC236}">
                <a16:creationId xmlns:a16="http://schemas.microsoft.com/office/drawing/2014/main" id="{C4C767EA-A737-8C31-25D3-918C1ABF0A88}"/>
              </a:ext>
            </a:extLst>
          </p:cNvPr>
          <p:cNvSpPr>
            <a:spLocks noGrp="1"/>
          </p:cNvSpPr>
          <p:nvPr>
            <p:ph sz="quarter" idx="4"/>
          </p:nvPr>
        </p:nvSpPr>
        <p:spPr>
          <a:xfrm>
            <a:off x="6169024" y="1952182"/>
            <a:ext cx="5183188" cy="973898"/>
          </a:xfrm>
        </p:spPr>
        <p:txBody>
          <a:bodyPr>
            <a:normAutofit fontScale="77500" lnSpcReduction="20000"/>
          </a:bodyPr>
          <a:lstStyle/>
          <a:p>
            <a:pPr marL="0" indent="0">
              <a:buNone/>
            </a:pPr>
            <a:r>
              <a:rPr lang="en-US" dirty="0"/>
              <a:t>initial-program ← wrap(prompt)</a:t>
            </a:r>
          </a:p>
          <a:p>
            <a:pPr marL="0" indent="0">
              <a:buNone/>
            </a:pPr>
            <a:r>
              <a:rPr lang="en-US" dirty="0"/>
              <a:t>return eval(initial-program)</a:t>
            </a:r>
            <a:br>
              <a:rPr lang="en-US" dirty="0"/>
            </a:br>
            <a:endParaRPr lang="en-US" dirty="0"/>
          </a:p>
        </p:txBody>
      </p:sp>
    </p:spTree>
    <p:extLst>
      <p:ext uri="{BB962C8B-B14F-4D97-AF65-F5344CB8AC3E}">
        <p14:creationId xmlns:p14="http://schemas.microsoft.com/office/powerpoint/2010/main" val="1870966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12F5-B93E-84C3-0566-DB531C26141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F84F156-A544-C754-0B46-2B52B7DF9479}"/>
              </a:ext>
            </a:extLst>
          </p:cNvPr>
          <p:cNvSpPr>
            <a:spLocks noGrp="1"/>
          </p:cNvSpPr>
          <p:nvPr>
            <p:ph type="body" idx="1"/>
          </p:nvPr>
        </p:nvSpPr>
        <p:spPr>
          <a:xfrm>
            <a:off x="836612" y="1128270"/>
            <a:ext cx="5157787" cy="823912"/>
          </a:xfrm>
        </p:spPr>
        <p:txBody>
          <a:bodyPr/>
          <a:lstStyle/>
          <a:p>
            <a:r>
              <a:rPr lang="en-US" dirty="0" err="1"/>
              <a:t>ReAct</a:t>
            </a:r>
            <a:endParaRPr lang="en-US" dirty="0"/>
          </a:p>
        </p:txBody>
      </p:sp>
      <p:sp>
        <p:nvSpPr>
          <p:cNvPr id="6" name="Text Placeholder 5">
            <a:extLst>
              <a:ext uri="{FF2B5EF4-FFF2-40B4-BE49-F238E27FC236}">
                <a16:creationId xmlns:a16="http://schemas.microsoft.com/office/drawing/2014/main" id="{664E0D01-9233-4E6C-DA3B-2F215256258D}"/>
              </a:ext>
            </a:extLst>
          </p:cNvPr>
          <p:cNvSpPr>
            <a:spLocks noGrp="1"/>
          </p:cNvSpPr>
          <p:nvPr>
            <p:ph type="body" sz="quarter" idx="3"/>
          </p:nvPr>
        </p:nvSpPr>
        <p:spPr>
          <a:xfrm>
            <a:off x="6169024" y="1128270"/>
            <a:ext cx="5183188" cy="823912"/>
          </a:xfrm>
        </p:spPr>
        <p:txBody>
          <a:bodyPr/>
          <a:lstStyle/>
          <a:p>
            <a:r>
              <a:rPr lang="en-US" dirty="0"/>
              <a:t>Spell</a:t>
            </a:r>
          </a:p>
        </p:txBody>
      </p:sp>
      <p:sp>
        <p:nvSpPr>
          <p:cNvPr id="7" name="Content Placeholder 6">
            <a:extLst>
              <a:ext uri="{FF2B5EF4-FFF2-40B4-BE49-F238E27FC236}">
                <a16:creationId xmlns:a16="http://schemas.microsoft.com/office/drawing/2014/main" id="{CBB1675B-9959-8CE3-5620-B6C77E963CD1}"/>
              </a:ext>
            </a:extLst>
          </p:cNvPr>
          <p:cNvSpPr>
            <a:spLocks noGrp="1"/>
          </p:cNvSpPr>
          <p:nvPr>
            <p:ph sz="quarter" idx="4"/>
          </p:nvPr>
        </p:nvSpPr>
        <p:spPr>
          <a:xfrm>
            <a:off x="6169024" y="1952182"/>
            <a:ext cx="5183188" cy="3684588"/>
          </a:xfrm>
        </p:spPr>
        <p:txBody>
          <a:bodyPr>
            <a:normAutofit fontScale="92500"/>
          </a:bodyPr>
          <a:lstStyle/>
          <a:p>
            <a:pPr marL="0" indent="0">
              <a:buNone/>
            </a:pPr>
            <a:r>
              <a:rPr lang="en-US" dirty="0"/>
              <a:t>prefix ← prompt</a:t>
            </a:r>
          </a:p>
          <a:p>
            <a:pPr marL="0" indent="0">
              <a:buNone/>
            </a:pPr>
            <a:r>
              <a:rPr lang="en-US" dirty="0"/>
              <a:t>response ← </a:t>
            </a:r>
            <a:r>
              <a:rPr lang="en-US" dirty="0" err="1"/>
              <a:t>llm</a:t>
            </a:r>
            <a:r>
              <a:rPr lang="en-US" dirty="0"/>
              <a:t>(prefix)</a:t>
            </a:r>
          </a:p>
          <a:p>
            <a:pPr marL="0" indent="0">
              <a:buNone/>
            </a:pPr>
            <a:r>
              <a:rPr lang="en-US" dirty="0"/>
              <a:t>completion ← prefix + response</a:t>
            </a:r>
          </a:p>
          <a:p>
            <a:pPr marL="0" indent="0">
              <a:buNone/>
            </a:pPr>
            <a:r>
              <a:rPr lang="en-US" dirty="0"/>
              <a:t>return eval(completion)</a:t>
            </a:r>
            <a:br>
              <a:rPr lang="en-US" dirty="0"/>
            </a:br>
            <a:endParaRPr lang="en-US" dirty="0"/>
          </a:p>
        </p:txBody>
      </p:sp>
      <p:sp>
        <p:nvSpPr>
          <p:cNvPr id="12" name="Content Placeholder 11">
            <a:extLst>
              <a:ext uri="{FF2B5EF4-FFF2-40B4-BE49-F238E27FC236}">
                <a16:creationId xmlns:a16="http://schemas.microsoft.com/office/drawing/2014/main" id="{8FE6133D-7019-1D58-2A05-F81FE0B769B1}"/>
              </a:ext>
            </a:extLst>
          </p:cNvPr>
          <p:cNvSpPr>
            <a:spLocks noGrp="1"/>
          </p:cNvSpPr>
          <p:nvPr>
            <p:ph sz="half" idx="2"/>
          </p:nvPr>
        </p:nvSpPr>
        <p:spPr>
          <a:xfrm>
            <a:off x="836612" y="1952181"/>
            <a:ext cx="5157787" cy="4089843"/>
          </a:xfrm>
        </p:spPr>
        <p:txBody>
          <a:bodyPr>
            <a:normAutofit fontScale="92500"/>
          </a:bodyPr>
          <a:lstStyle/>
          <a:p>
            <a:pPr marL="0" indent="0">
              <a:buNone/>
            </a:pPr>
            <a:r>
              <a:rPr lang="en-US" dirty="0"/>
              <a:t>prefix ← prompt</a:t>
            </a:r>
          </a:p>
          <a:p>
            <a:pPr marL="0" indent="0">
              <a:buNone/>
            </a:pPr>
            <a:r>
              <a:rPr lang="en-US" dirty="0"/>
              <a:t>loop:</a:t>
            </a:r>
          </a:p>
          <a:p>
            <a:pPr marL="0" indent="0">
              <a:buNone/>
            </a:pPr>
            <a:r>
              <a:rPr lang="en-US" dirty="0"/>
              <a:t>    response, tool-call ← </a:t>
            </a:r>
            <a:r>
              <a:rPr lang="en-US" dirty="0" err="1"/>
              <a:t>llm</a:t>
            </a:r>
            <a:r>
              <a:rPr lang="en-US" dirty="0"/>
              <a:t>(prefix)</a:t>
            </a:r>
          </a:p>
          <a:p>
            <a:pPr marL="0" indent="0">
              <a:buNone/>
            </a:pPr>
            <a:r>
              <a:rPr lang="en-US" dirty="0"/>
              <a:t>    tool-result  ← eval(tool-call)</a:t>
            </a:r>
            <a:br>
              <a:rPr lang="en-US" dirty="0"/>
            </a:br>
            <a:r>
              <a:rPr lang="en-US" dirty="0"/>
              <a:t>    completion ← prefix + response+ 			tool-result</a:t>
            </a:r>
          </a:p>
          <a:p>
            <a:pPr marL="0" indent="0">
              <a:buNone/>
            </a:pPr>
            <a:r>
              <a:rPr lang="en-US" dirty="0"/>
              <a:t>    if </a:t>
            </a:r>
            <a:r>
              <a:rPr lang="en-US" dirty="0" err="1"/>
              <a:t>response.is</a:t>
            </a:r>
            <a:r>
              <a:rPr lang="en-US" dirty="0"/>
              <a:t>-final:</a:t>
            </a:r>
          </a:p>
          <a:p>
            <a:pPr marL="0" indent="0">
              <a:buNone/>
            </a:pPr>
            <a:r>
              <a:rPr lang="en-US" dirty="0"/>
              <a:t>        return completion</a:t>
            </a:r>
          </a:p>
          <a:p>
            <a:pPr marL="0" indent="0">
              <a:buNone/>
            </a:pPr>
            <a:r>
              <a:rPr lang="en-US" dirty="0"/>
              <a:t>    prefix ← completion</a:t>
            </a:r>
          </a:p>
          <a:p>
            <a:pPr marL="0" indent="0">
              <a:buNone/>
            </a:pPr>
            <a:endParaRPr lang="en-US" dirty="0"/>
          </a:p>
        </p:txBody>
      </p:sp>
      <p:sp>
        <p:nvSpPr>
          <p:cNvPr id="13" name="Content Placeholder 2">
            <a:extLst>
              <a:ext uri="{FF2B5EF4-FFF2-40B4-BE49-F238E27FC236}">
                <a16:creationId xmlns:a16="http://schemas.microsoft.com/office/drawing/2014/main" id="{C0B7AEC5-D0C1-E4AD-BE88-0571BF84D902}"/>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DB894C4A-3CC2-3131-E24A-F7C079D2A917}"/>
              </a:ext>
            </a:extLst>
          </p:cNvPr>
          <p:cNvSpPr txBox="1"/>
          <p:nvPr/>
        </p:nvSpPr>
        <p:spPr>
          <a:xfrm>
            <a:off x="6171755" y="4132426"/>
            <a:ext cx="5180457" cy="584775"/>
          </a:xfrm>
          <a:prstGeom prst="rect">
            <a:avLst/>
          </a:prstGeom>
          <a:noFill/>
        </p:spPr>
        <p:txBody>
          <a:bodyPr wrap="none" rtlCol="0">
            <a:spAutoFit/>
          </a:bodyPr>
          <a:lstStyle/>
          <a:p>
            <a:r>
              <a:rPr lang="en-US" sz="3200" dirty="0">
                <a:solidFill>
                  <a:srgbClr val="FF0000"/>
                </a:solidFill>
              </a:rPr>
              <a:t>What happened to the loop?</a:t>
            </a:r>
          </a:p>
        </p:txBody>
      </p:sp>
    </p:spTree>
    <p:extLst>
      <p:ext uri="{BB962C8B-B14F-4D97-AF65-F5344CB8AC3E}">
        <p14:creationId xmlns:p14="http://schemas.microsoft.com/office/powerpoint/2010/main" val="2183452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ABF18-FF7E-F97B-DF25-60DC33BC6DB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0226B73-4D5C-9CF0-DE83-9D07672C019E}"/>
              </a:ext>
            </a:extLst>
          </p:cNvPr>
          <p:cNvSpPr>
            <a:spLocks noGrp="1"/>
          </p:cNvSpPr>
          <p:nvPr>
            <p:ph type="body" idx="1"/>
          </p:nvPr>
        </p:nvSpPr>
        <p:spPr>
          <a:xfrm>
            <a:off x="836612" y="1128270"/>
            <a:ext cx="5157787" cy="823912"/>
          </a:xfrm>
        </p:spPr>
        <p:txBody>
          <a:bodyPr/>
          <a:lstStyle/>
          <a:p>
            <a:r>
              <a:rPr lang="en-US" dirty="0" err="1"/>
              <a:t>ReAct</a:t>
            </a:r>
            <a:endParaRPr lang="en-US" dirty="0"/>
          </a:p>
        </p:txBody>
      </p:sp>
      <p:sp>
        <p:nvSpPr>
          <p:cNvPr id="6" name="Text Placeholder 5">
            <a:extLst>
              <a:ext uri="{FF2B5EF4-FFF2-40B4-BE49-F238E27FC236}">
                <a16:creationId xmlns:a16="http://schemas.microsoft.com/office/drawing/2014/main" id="{1D3ABE71-A4C3-2601-31E4-BB8655610C0D}"/>
              </a:ext>
            </a:extLst>
          </p:cNvPr>
          <p:cNvSpPr>
            <a:spLocks noGrp="1"/>
          </p:cNvSpPr>
          <p:nvPr>
            <p:ph type="body" sz="quarter" idx="3"/>
          </p:nvPr>
        </p:nvSpPr>
        <p:spPr>
          <a:xfrm>
            <a:off x="6169024" y="1128270"/>
            <a:ext cx="5183188" cy="823912"/>
          </a:xfrm>
        </p:spPr>
        <p:txBody>
          <a:bodyPr/>
          <a:lstStyle/>
          <a:p>
            <a:r>
              <a:rPr lang="en-US" dirty="0"/>
              <a:t>Spell</a:t>
            </a:r>
          </a:p>
        </p:txBody>
      </p:sp>
      <p:sp>
        <p:nvSpPr>
          <p:cNvPr id="7" name="Content Placeholder 6">
            <a:extLst>
              <a:ext uri="{FF2B5EF4-FFF2-40B4-BE49-F238E27FC236}">
                <a16:creationId xmlns:a16="http://schemas.microsoft.com/office/drawing/2014/main" id="{7E3ECC64-5903-2F27-CAAE-36929796CC78}"/>
              </a:ext>
            </a:extLst>
          </p:cNvPr>
          <p:cNvSpPr>
            <a:spLocks noGrp="1"/>
          </p:cNvSpPr>
          <p:nvPr>
            <p:ph sz="quarter" idx="4"/>
          </p:nvPr>
        </p:nvSpPr>
        <p:spPr>
          <a:xfrm>
            <a:off x="6169024" y="1952182"/>
            <a:ext cx="5183188" cy="3684588"/>
          </a:xfrm>
        </p:spPr>
        <p:txBody>
          <a:bodyPr>
            <a:normAutofit fontScale="92500" lnSpcReduction="20000"/>
          </a:bodyPr>
          <a:lstStyle/>
          <a:p>
            <a:pPr marL="0" indent="0">
              <a:buNone/>
            </a:pPr>
            <a:r>
              <a:rPr lang="en-US" dirty="0"/>
              <a:t>prefix ← prompt</a:t>
            </a:r>
          </a:p>
          <a:p>
            <a:pPr marL="0" indent="0">
              <a:buNone/>
            </a:pPr>
            <a:r>
              <a:rPr lang="en-US" dirty="0"/>
              <a:t>response ← </a:t>
            </a:r>
            <a:r>
              <a:rPr lang="en-US" dirty="0" err="1"/>
              <a:t>llm</a:t>
            </a:r>
            <a:r>
              <a:rPr lang="en-US" dirty="0"/>
              <a:t>(prefix)</a:t>
            </a:r>
          </a:p>
          <a:p>
            <a:pPr marL="0" indent="0">
              <a:buNone/>
            </a:pPr>
            <a:r>
              <a:rPr lang="en-US" dirty="0"/>
              <a:t>completion ← prefix + response</a:t>
            </a:r>
          </a:p>
          <a:p>
            <a:pPr marL="0" indent="0">
              <a:buNone/>
            </a:pPr>
            <a:r>
              <a:rPr lang="en-US" dirty="0"/>
              <a:t>return eval(completion)</a:t>
            </a:r>
            <a:br>
              <a:rPr lang="en-US" dirty="0"/>
            </a:br>
            <a:endParaRPr lang="en-US" dirty="0"/>
          </a:p>
        </p:txBody>
      </p:sp>
      <p:sp>
        <p:nvSpPr>
          <p:cNvPr id="12" name="Content Placeholder 11">
            <a:extLst>
              <a:ext uri="{FF2B5EF4-FFF2-40B4-BE49-F238E27FC236}">
                <a16:creationId xmlns:a16="http://schemas.microsoft.com/office/drawing/2014/main" id="{B06137DB-73C5-BBBA-110D-4BAD7E9F48A1}"/>
              </a:ext>
            </a:extLst>
          </p:cNvPr>
          <p:cNvSpPr>
            <a:spLocks noGrp="1"/>
          </p:cNvSpPr>
          <p:nvPr>
            <p:ph sz="half" idx="2"/>
          </p:nvPr>
        </p:nvSpPr>
        <p:spPr>
          <a:xfrm>
            <a:off x="836612" y="1952182"/>
            <a:ext cx="5157787" cy="3684588"/>
          </a:xfrm>
        </p:spPr>
        <p:txBody>
          <a:bodyPr>
            <a:normAutofit fontScale="92500" lnSpcReduction="20000"/>
          </a:bodyPr>
          <a:lstStyle/>
          <a:p>
            <a:pPr marL="0" indent="0">
              <a:buNone/>
            </a:pPr>
            <a:r>
              <a:rPr lang="en-US" dirty="0"/>
              <a:t>prefix ← prompt</a:t>
            </a:r>
          </a:p>
          <a:p>
            <a:pPr marL="0" indent="0">
              <a:buNone/>
            </a:pPr>
            <a:r>
              <a:rPr lang="en-US" dirty="0"/>
              <a:t>loop:</a:t>
            </a:r>
          </a:p>
          <a:p>
            <a:pPr marL="0" indent="0">
              <a:buNone/>
            </a:pPr>
            <a:r>
              <a:rPr lang="en-US" dirty="0"/>
              <a:t>    response, tool-call ← </a:t>
            </a:r>
            <a:r>
              <a:rPr lang="en-US" dirty="0" err="1"/>
              <a:t>llm</a:t>
            </a:r>
            <a:r>
              <a:rPr lang="en-US" dirty="0"/>
              <a:t>(prefix)</a:t>
            </a:r>
          </a:p>
          <a:p>
            <a:pPr marL="0" indent="0">
              <a:buNone/>
            </a:pPr>
            <a:r>
              <a:rPr lang="en-US" dirty="0"/>
              <a:t>    tool-result  ← eval(tool-call)</a:t>
            </a:r>
            <a:br>
              <a:rPr lang="en-US" dirty="0"/>
            </a:br>
            <a:r>
              <a:rPr lang="en-US" dirty="0"/>
              <a:t>    completion ← prefix + response+ 			tool-result</a:t>
            </a:r>
          </a:p>
          <a:p>
            <a:pPr marL="0" indent="0">
              <a:buNone/>
            </a:pPr>
            <a:r>
              <a:rPr lang="en-US" dirty="0"/>
              <a:t>    if </a:t>
            </a:r>
            <a:r>
              <a:rPr lang="en-US" dirty="0" err="1"/>
              <a:t>response.is</a:t>
            </a:r>
            <a:r>
              <a:rPr lang="en-US" dirty="0"/>
              <a:t>-final:</a:t>
            </a:r>
          </a:p>
          <a:p>
            <a:pPr marL="0" indent="0">
              <a:buNone/>
            </a:pPr>
            <a:r>
              <a:rPr lang="en-US" dirty="0"/>
              <a:t>        return completion</a:t>
            </a:r>
          </a:p>
          <a:p>
            <a:pPr marL="0" indent="0">
              <a:buNone/>
            </a:pPr>
            <a:r>
              <a:rPr lang="en-US" dirty="0"/>
              <a:t>    prefix ← completion</a:t>
            </a:r>
          </a:p>
          <a:p>
            <a:pPr marL="0" indent="0">
              <a:buNone/>
            </a:pPr>
            <a:endParaRPr lang="en-US" dirty="0"/>
          </a:p>
        </p:txBody>
      </p:sp>
      <p:sp>
        <p:nvSpPr>
          <p:cNvPr id="13" name="Content Placeholder 2">
            <a:extLst>
              <a:ext uri="{FF2B5EF4-FFF2-40B4-BE49-F238E27FC236}">
                <a16:creationId xmlns:a16="http://schemas.microsoft.com/office/drawing/2014/main" id="{0E6B686A-BB24-6F20-DD2E-7EB1B838FB83}"/>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D302136-B0C7-E95E-BD63-89C600156E1F}"/>
              </a:ext>
            </a:extLst>
          </p:cNvPr>
          <p:cNvSpPr txBox="1"/>
          <p:nvPr/>
        </p:nvSpPr>
        <p:spPr>
          <a:xfrm>
            <a:off x="6171755" y="4132426"/>
            <a:ext cx="5180457" cy="584775"/>
          </a:xfrm>
          <a:prstGeom prst="rect">
            <a:avLst/>
          </a:prstGeom>
          <a:noFill/>
        </p:spPr>
        <p:txBody>
          <a:bodyPr wrap="none" rtlCol="0">
            <a:spAutoFit/>
          </a:bodyPr>
          <a:lstStyle/>
          <a:p>
            <a:r>
              <a:rPr lang="en-US" sz="3200" dirty="0">
                <a:solidFill>
                  <a:srgbClr val="FF0000"/>
                </a:solidFill>
              </a:rPr>
              <a:t>What happened to the loop?</a:t>
            </a:r>
          </a:p>
        </p:txBody>
      </p:sp>
      <p:pic>
        <p:nvPicPr>
          <p:cNvPr id="2" name="Picture 1">
            <a:extLst>
              <a:ext uri="{FF2B5EF4-FFF2-40B4-BE49-F238E27FC236}">
                <a16:creationId xmlns:a16="http://schemas.microsoft.com/office/drawing/2014/main" id="{C9D29060-6B39-CE6E-CDED-37E8140F0495}"/>
              </a:ext>
            </a:extLst>
          </p:cNvPr>
          <p:cNvPicPr>
            <a:picLocks noChangeAspect="1"/>
          </p:cNvPicPr>
          <p:nvPr/>
        </p:nvPicPr>
        <p:blipFill>
          <a:blip r:embed="rId2"/>
          <a:stretch>
            <a:fillRect/>
          </a:stretch>
        </p:blipFill>
        <p:spPr>
          <a:xfrm>
            <a:off x="4990874" y="4834380"/>
            <a:ext cx="6629400" cy="1790700"/>
          </a:xfrm>
          <a:prstGeom prst="rect">
            <a:avLst/>
          </a:prstGeom>
        </p:spPr>
      </p:pic>
      <p:sp>
        <p:nvSpPr>
          <p:cNvPr id="3" name="TextBox 2">
            <a:extLst>
              <a:ext uri="{FF2B5EF4-FFF2-40B4-BE49-F238E27FC236}">
                <a16:creationId xmlns:a16="http://schemas.microsoft.com/office/drawing/2014/main" id="{9E282846-202E-A6DC-B24F-73BF4DCB132D}"/>
              </a:ext>
            </a:extLst>
          </p:cNvPr>
          <p:cNvSpPr txBox="1"/>
          <p:nvPr/>
        </p:nvSpPr>
        <p:spPr>
          <a:xfrm>
            <a:off x="10780713" y="6067062"/>
            <a:ext cx="683777" cy="369332"/>
          </a:xfrm>
          <a:prstGeom prst="rect">
            <a:avLst/>
          </a:prstGeom>
          <a:noFill/>
        </p:spPr>
        <p:txBody>
          <a:bodyPr wrap="none" rtlCol="0">
            <a:spAutoFit/>
          </a:bodyPr>
          <a:lstStyle/>
          <a:p>
            <a:r>
              <a:rPr lang="en-US" dirty="0">
                <a:solidFill>
                  <a:srgbClr val="FF0000"/>
                </a:solidFill>
              </a:rPr>
              <a:t>Loop</a:t>
            </a:r>
          </a:p>
        </p:txBody>
      </p:sp>
      <p:sp>
        <p:nvSpPr>
          <p:cNvPr id="5" name="Rectangle 4">
            <a:extLst>
              <a:ext uri="{FF2B5EF4-FFF2-40B4-BE49-F238E27FC236}">
                <a16:creationId xmlns:a16="http://schemas.microsoft.com/office/drawing/2014/main" id="{D5288DDF-9CD5-78D2-111A-C28B5BD43FF4}"/>
              </a:ext>
            </a:extLst>
          </p:cNvPr>
          <p:cNvSpPr/>
          <p:nvPr/>
        </p:nvSpPr>
        <p:spPr>
          <a:xfrm>
            <a:off x="5161644" y="6067062"/>
            <a:ext cx="5448299"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74649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417362-4F22-7C60-697D-E3D1C9C87D3F}"/>
              </a:ext>
            </a:extLst>
          </p:cNvPr>
          <p:cNvSpPr/>
          <p:nvPr/>
        </p:nvSpPr>
        <p:spPr>
          <a:xfrm>
            <a:off x="612539" y="2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0" name="Rectangle 19">
            <a:extLst>
              <a:ext uri="{FF2B5EF4-FFF2-40B4-BE49-F238E27FC236}">
                <a16:creationId xmlns:a16="http://schemas.microsoft.com/office/drawing/2014/main" id="{788E28A1-2E3A-0B24-B6F6-FBA23274070F}"/>
              </a:ext>
            </a:extLst>
          </p:cNvPr>
          <p:cNvSpPr/>
          <p:nvPr/>
        </p:nvSpPr>
        <p:spPr>
          <a:xfrm>
            <a:off x="2672832" y="29934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24" name="Rectangle 23">
            <a:extLst>
              <a:ext uri="{FF2B5EF4-FFF2-40B4-BE49-F238E27FC236}">
                <a16:creationId xmlns:a16="http://schemas.microsoft.com/office/drawing/2014/main" id="{A2341AEF-5214-34F4-2737-6A87BD000071}"/>
              </a:ext>
            </a:extLst>
          </p:cNvPr>
          <p:cNvSpPr/>
          <p:nvPr/>
        </p:nvSpPr>
        <p:spPr>
          <a:xfrm>
            <a:off x="1642685" y="29934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5" name="Rectangle 24">
            <a:extLst>
              <a:ext uri="{FF2B5EF4-FFF2-40B4-BE49-F238E27FC236}">
                <a16:creationId xmlns:a16="http://schemas.microsoft.com/office/drawing/2014/main" id="{7BBCD004-7377-CB34-5748-B6418EBD35AE}"/>
              </a:ext>
            </a:extLst>
          </p:cNvPr>
          <p:cNvSpPr/>
          <p:nvPr/>
        </p:nvSpPr>
        <p:spPr>
          <a:xfrm>
            <a:off x="5988551" y="3376563"/>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6" name="Rectangle 25">
            <a:extLst>
              <a:ext uri="{FF2B5EF4-FFF2-40B4-BE49-F238E27FC236}">
                <a16:creationId xmlns:a16="http://schemas.microsoft.com/office/drawing/2014/main" id="{89C3587E-32EF-30C2-23C2-BCE90461F3CC}"/>
              </a:ext>
            </a:extLst>
          </p:cNvPr>
          <p:cNvSpPr/>
          <p:nvPr/>
        </p:nvSpPr>
        <p:spPr>
          <a:xfrm>
            <a:off x="612540" y="29983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7" name="Rectangle 26">
            <a:extLst>
              <a:ext uri="{FF2B5EF4-FFF2-40B4-BE49-F238E27FC236}">
                <a16:creationId xmlns:a16="http://schemas.microsoft.com/office/drawing/2014/main" id="{29BFF62B-F751-5802-B6A6-F2C711C12671}"/>
              </a:ext>
            </a:extLst>
          </p:cNvPr>
          <p:cNvSpPr/>
          <p:nvPr/>
        </p:nvSpPr>
        <p:spPr>
          <a:xfrm>
            <a:off x="1642687" y="2618311"/>
            <a:ext cx="1030146"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8" name="Rectangle 27">
            <a:extLst>
              <a:ext uri="{FF2B5EF4-FFF2-40B4-BE49-F238E27FC236}">
                <a16:creationId xmlns:a16="http://schemas.microsoft.com/office/drawing/2014/main" id="{AA7AF3F2-355E-4248-CFB3-768DF2E07247}"/>
              </a:ext>
            </a:extLst>
          </p:cNvPr>
          <p:cNvSpPr/>
          <p:nvPr/>
        </p:nvSpPr>
        <p:spPr>
          <a:xfrm>
            <a:off x="4958406" y="29894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9" name="Rectangle 28">
            <a:extLst>
              <a:ext uri="{FF2B5EF4-FFF2-40B4-BE49-F238E27FC236}">
                <a16:creationId xmlns:a16="http://schemas.microsoft.com/office/drawing/2014/main" id="{2E39D41A-8F5F-1B21-CFC0-7D2CA5749D0A}"/>
              </a:ext>
            </a:extLst>
          </p:cNvPr>
          <p:cNvSpPr/>
          <p:nvPr/>
        </p:nvSpPr>
        <p:spPr>
          <a:xfrm>
            <a:off x="2672832" y="33765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30" name="Rectangle 29">
            <a:extLst>
              <a:ext uri="{FF2B5EF4-FFF2-40B4-BE49-F238E27FC236}">
                <a16:creationId xmlns:a16="http://schemas.microsoft.com/office/drawing/2014/main" id="{C6DA7DA3-B881-FD2C-AD5E-4A79364E89FA}"/>
              </a:ext>
            </a:extLst>
          </p:cNvPr>
          <p:cNvSpPr/>
          <p:nvPr/>
        </p:nvSpPr>
        <p:spPr>
          <a:xfrm>
            <a:off x="1642685" y="33765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1" name="Rectangle 30">
            <a:extLst>
              <a:ext uri="{FF2B5EF4-FFF2-40B4-BE49-F238E27FC236}">
                <a16:creationId xmlns:a16="http://schemas.microsoft.com/office/drawing/2014/main" id="{E78843DC-7DAB-1FBB-25C4-54567BD759CF}"/>
              </a:ext>
            </a:extLst>
          </p:cNvPr>
          <p:cNvSpPr/>
          <p:nvPr/>
        </p:nvSpPr>
        <p:spPr>
          <a:xfrm>
            <a:off x="612540" y="33814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2" name="Rectangle 31">
            <a:extLst>
              <a:ext uri="{FF2B5EF4-FFF2-40B4-BE49-F238E27FC236}">
                <a16:creationId xmlns:a16="http://schemas.microsoft.com/office/drawing/2014/main" id="{132F00CF-94C7-AB0A-870C-10038ABCA3CE}"/>
              </a:ext>
            </a:extLst>
          </p:cNvPr>
          <p:cNvSpPr/>
          <p:nvPr/>
        </p:nvSpPr>
        <p:spPr>
          <a:xfrm>
            <a:off x="4958406" y="33725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3" name="TextBox 32">
            <a:extLst>
              <a:ext uri="{FF2B5EF4-FFF2-40B4-BE49-F238E27FC236}">
                <a16:creationId xmlns:a16="http://schemas.microsoft.com/office/drawing/2014/main" id="{67F9B3F6-FFF4-1756-A76E-7549B25FAE7C}"/>
              </a:ext>
            </a:extLst>
          </p:cNvPr>
          <p:cNvSpPr txBox="1"/>
          <p:nvPr/>
        </p:nvSpPr>
        <p:spPr>
          <a:xfrm>
            <a:off x="3624932" y="2062685"/>
            <a:ext cx="1405000" cy="369332"/>
          </a:xfrm>
          <a:prstGeom prst="rect">
            <a:avLst/>
          </a:prstGeom>
          <a:noFill/>
        </p:spPr>
        <p:txBody>
          <a:bodyPr wrap="none" rtlCol="0">
            <a:spAutoFit/>
          </a:bodyPr>
          <a:lstStyle/>
          <a:p>
            <a:r>
              <a:rPr lang="en-US" b="1" dirty="0"/>
              <a:t>LLM written</a:t>
            </a:r>
          </a:p>
        </p:txBody>
      </p:sp>
      <p:sp>
        <p:nvSpPr>
          <p:cNvPr id="34" name="TextBox 33">
            <a:extLst>
              <a:ext uri="{FF2B5EF4-FFF2-40B4-BE49-F238E27FC236}">
                <a16:creationId xmlns:a16="http://schemas.microsoft.com/office/drawing/2014/main" id="{C28B9691-B498-9654-4A48-CED6273B4782}"/>
              </a:ext>
            </a:extLst>
          </p:cNvPr>
          <p:cNvSpPr txBox="1"/>
          <p:nvPr/>
        </p:nvSpPr>
        <p:spPr>
          <a:xfrm>
            <a:off x="816878" y="2061857"/>
            <a:ext cx="1778500" cy="369332"/>
          </a:xfrm>
          <a:prstGeom prst="rect">
            <a:avLst/>
          </a:prstGeom>
          <a:noFill/>
        </p:spPr>
        <p:txBody>
          <a:bodyPr wrap="none" rtlCol="0">
            <a:spAutoFit/>
          </a:bodyPr>
          <a:lstStyle/>
          <a:p>
            <a:r>
              <a:rPr lang="en-US" b="1" dirty="0"/>
              <a:t>Human-written</a:t>
            </a:r>
          </a:p>
        </p:txBody>
      </p:sp>
      <p:sp>
        <p:nvSpPr>
          <p:cNvPr id="35" name="TextBox 34">
            <a:extLst>
              <a:ext uri="{FF2B5EF4-FFF2-40B4-BE49-F238E27FC236}">
                <a16:creationId xmlns:a16="http://schemas.microsoft.com/office/drawing/2014/main" id="{ED445BD3-3745-B8B9-6D1E-8D4EB13767E6}"/>
              </a:ext>
            </a:extLst>
          </p:cNvPr>
          <p:cNvSpPr txBox="1"/>
          <p:nvPr/>
        </p:nvSpPr>
        <p:spPr>
          <a:xfrm>
            <a:off x="6066597" y="1923357"/>
            <a:ext cx="1262333" cy="646331"/>
          </a:xfrm>
          <a:prstGeom prst="rect">
            <a:avLst/>
          </a:prstGeom>
          <a:noFill/>
        </p:spPr>
        <p:txBody>
          <a:bodyPr wrap="none" rtlCol="0">
            <a:spAutoFit/>
          </a:bodyPr>
          <a:lstStyle/>
          <a:p>
            <a:r>
              <a:rPr lang="en-US" b="1" dirty="0"/>
              <a:t>Harness-</a:t>
            </a:r>
          </a:p>
          <a:p>
            <a:r>
              <a:rPr lang="en-US" b="1" dirty="0"/>
              <a:t>computed</a:t>
            </a:r>
          </a:p>
        </p:txBody>
      </p:sp>
      <p:sp>
        <p:nvSpPr>
          <p:cNvPr id="41" name="Rectangle 40">
            <a:extLst>
              <a:ext uri="{FF2B5EF4-FFF2-40B4-BE49-F238E27FC236}">
                <a16:creationId xmlns:a16="http://schemas.microsoft.com/office/drawing/2014/main" id="{44EE5C8C-7F3E-8C00-CEB5-606281ACAB0A}"/>
              </a:ext>
            </a:extLst>
          </p:cNvPr>
          <p:cNvSpPr/>
          <p:nvPr/>
        </p:nvSpPr>
        <p:spPr>
          <a:xfrm>
            <a:off x="7372518" y="3372589"/>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42" name="Rectangle 41">
            <a:extLst>
              <a:ext uri="{FF2B5EF4-FFF2-40B4-BE49-F238E27FC236}">
                <a16:creationId xmlns:a16="http://schemas.microsoft.com/office/drawing/2014/main" id="{FE8B7171-9879-23A1-9A93-DAA87DFEF732}"/>
              </a:ext>
            </a:extLst>
          </p:cNvPr>
          <p:cNvSpPr/>
          <p:nvPr/>
        </p:nvSpPr>
        <p:spPr>
          <a:xfrm>
            <a:off x="9658092" y="3368615"/>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43" name="TextBox 42">
            <a:extLst>
              <a:ext uri="{FF2B5EF4-FFF2-40B4-BE49-F238E27FC236}">
                <a16:creationId xmlns:a16="http://schemas.microsoft.com/office/drawing/2014/main" id="{E0BCC944-B67E-57F7-427C-6538B2156EBE}"/>
              </a:ext>
            </a:extLst>
          </p:cNvPr>
          <p:cNvSpPr txBox="1"/>
          <p:nvPr/>
        </p:nvSpPr>
        <p:spPr>
          <a:xfrm>
            <a:off x="8398816" y="2061857"/>
            <a:ext cx="1405000" cy="369332"/>
          </a:xfrm>
          <a:prstGeom prst="rect">
            <a:avLst/>
          </a:prstGeom>
          <a:noFill/>
        </p:spPr>
        <p:txBody>
          <a:bodyPr wrap="none" rtlCol="0">
            <a:spAutoFit/>
          </a:bodyPr>
          <a:lstStyle/>
          <a:p>
            <a:r>
              <a:rPr lang="en-US" b="1" dirty="0"/>
              <a:t>LLM written</a:t>
            </a:r>
          </a:p>
        </p:txBody>
      </p:sp>
      <p:cxnSp>
        <p:nvCxnSpPr>
          <p:cNvPr id="45" name="Straight Connector 44">
            <a:extLst>
              <a:ext uri="{FF2B5EF4-FFF2-40B4-BE49-F238E27FC236}">
                <a16:creationId xmlns:a16="http://schemas.microsoft.com/office/drawing/2014/main" id="{D19D3D5F-D322-D8CB-A204-B9D65EAAE4E8}"/>
              </a:ext>
            </a:extLst>
          </p:cNvPr>
          <p:cNvCxnSpPr/>
          <p:nvPr/>
        </p:nvCxnSpPr>
        <p:spPr>
          <a:xfrm>
            <a:off x="2672832" y="1836921"/>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78C4E37-3E6D-D915-F312-F678232ED0BB}"/>
              </a:ext>
            </a:extLst>
          </p:cNvPr>
          <p:cNvCxnSpPr/>
          <p:nvPr/>
        </p:nvCxnSpPr>
        <p:spPr>
          <a:xfrm>
            <a:off x="5988551" y="1844869"/>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598C051-E030-0100-6F5A-750FBC2985FF}"/>
              </a:ext>
            </a:extLst>
          </p:cNvPr>
          <p:cNvCxnSpPr/>
          <p:nvPr/>
        </p:nvCxnSpPr>
        <p:spPr>
          <a:xfrm>
            <a:off x="7372518" y="1836920"/>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63F5F472-6D2F-DCE6-2207-AA5D1802C567}"/>
              </a:ext>
            </a:extLst>
          </p:cNvPr>
          <p:cNvCxnSpPr/>
          <p:nvPr/>
        </p:nvCxnSpPr>
        <p:spPr>
          <a:xfrm>
            <a:off x="10694757" y="1759857"/>
            <a:ext cx="0" cy="3338285"/>
          </a:xfrm>
          <a:prstGeom prst="line">
            <a:avLst/>
          </a:prstGeom>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92B9D502-41CB-A559-6175-44337506C63A}"/>
              </a:ext>
            </a:extLst>
          </p:cNvPr>
          <p:cNvSpPr/>
          <p:nvPr/>
        </p:nvSpPr>
        <p:spPr>
          <a:xfrm>
            <a:off x="5988550" y="3821570"/>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50" name="Rectangle 49">
            <a:extLst>
              <a:ext uri="{FF2B5EF4-FFF2-40B4-BE49-F238E27FC236}">
                <a16:creationId xmlns:a16="http://schemas.microsoft.com/office/drawing/2014/main" id="{C10A344E-245C-B103-FB03-D1C2411B741C}"/>
              </a:ext>
            </a:extLst>
          </p:cNvPr>
          <p:cNvSpPr/>
          <p:nvPr/>
        </p:nvSpPr>
        <p:spPr>
          <a:xfrm>
            <a:off x="2672831" y="3821570"/>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1" name="Rectangle 50">
            <a:extLst>
              <a:ext uri="{FF2B5EF4-FFF2-40B4-BE49-F238E27FC236}">
                <a16:creationId xmlns:a16="http://schemas.microsoft.com/office/drawing/2014/main" id="{DFDD476C-652E-BE6F-D3AE-0C2A5D31897E}"/>
              </a:ext>
            </a:extLst>
          </p:cNvPr>
          <p:cNvSpPr/>
          <p:nvPr/>
        </p:nvSpPr>
        <p:spPr>
          <a:xfrm>
            <a:off x="1642684" y="3821570"/>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2" name="Rectangle 51">
            <a:extLst>
              <a:ext uri="{FF2B5EF4-FFF2-40B4-BE49-F238E27FC236}">
                <a16:creationId xmlns:a16="http://schemas.microsoft.com/office/drawing/2014/main" id="{2A6D8231-3048-11D1-6E24-F5A51E1F3A5D}"/>
              </a:ext>
            </a:extLst>
          </p:cNvPr>
          <p:cNvSpPr/>
          <p:nvPr/>
        </p:nvSpPr>
        <p:spPr>
          <a:xfrm>
            <a:off x="612539" y="382648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3" name="Rectangle 52">
            <a:extLst>
              <a:ext uri="{FF2B5EF4-FFF2-40B4-BE49-F238E27FC236}">
                <a16:creationId xmlns:a16="http://schemas.microsoft.com/office/drawing/2014/main" id="{A0AF3A0E-6780-B250-CE0D-589710A40A97}"/>
              </a:ext>
            </a:extLst>
          </p:cNvPr>
          <p:cNvSpPr/>
          <p:nvPr/>
        </p:nvSpPr>
        <p:spPr>
          <a:xfrm>
            <a:off x="4958405" y="3817596"/>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4" name="Rectangle 53">
            <a:extLst>
              <a:ext uri="{FF2B5EF4-FFF2-40B4-BE49-F238E27FC236}">
                <a16:creationId xmlns:a16="http://schemas.microsoft.com/office/drawing/2014/main" id="{DB4041A9-012C-26E3-FBE6-7C00E43DC8B7}"/>
              </a:ext>
            </a:extLst>
          </p:cNvPr>
          <p:cNvSpPr/>
          <p:nvPr/>
        </p:nvSpPr>
        <p:spPr>
          <a:xfrm>
            <a:off x="7372517" y="3817596"/>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5" name="Rectangle 54">
            <a:extLst>
              <a:ext uri="{FF2B5EF4-FFF2-40B4-BE49-F238E27FC236}">
                <a16:creationId xmlns:a16="http://schemas.microsoft.com/office/drawing/2014/main" id="{90F00B6F-2150-A953-686F-17D443576B6B}"/>
              </a:ext>
            </a:extLst>
          </p:cNvPr>
          <p:cNvSpPr/>
          <p:nvPr/>
        </p:nvSpPr>
        <p:spPr>
          <a:xfrm>
            <a:off x="9658091" y="3813622"/>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6" name="Rectangle 55">
            <a:extLst>
              <a:ext uri="{FF2B5EF4-FFF2-40B4-BE49-F238E27FC236}">
                <a16:creationId xmlns:a16="http://schemas.microsoft.com/office/drawing/2014/main" id="{990FB89C-51A7-89D0-62B3-AFCA664E3A59}"/>
              </a:ext>
            </a:extLst>
          </p:cNvPr>
          <p:cNvSpPr/>
          <p:nvPr/>
        </p:nvSpPr>
        <p:spPr>
          <a:xfrm>
            <a:off x="10701276" y="3813622"/>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57" name="Rectangle 56">
            <a:extLst>
              <a:ext uri="{FF2B5EF4-FFF2-40B4-BE49-F238E27FC236}">
                <a16:creationId xmlns:a16="http://schemas.microsoft.com/office/drawing/2014/main" id="{6F5B8A61-DC94-D7EB-1922-4A38C9CB0F97}"/>
              </a:ext>
            </a:extLst>
          </p:cNvPr>
          <p:cNvSpPr/>
          <p:nvPr/>
        </p:nvSpPr>
        <p:spPr>
          <a:xfrm>
            <a:off x="12085243" y="3809648"/>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8" name="TextBox 57">
            <a:extLst>
              <a:ext uri="{FF2B5EF4-FFF2-40B4-BE49-F238E27FC236}">
                <a16:creationId xmlns:a16="http://schemas.microsoft.com/office/drawing/2014/main" id="{7B543A24-4CC8-D69B-4B05-52F47A8698D9}"/>
              </a:ext>
            </a:extLst>
          </p:cNvPr>
          <p:cNvSpPr txBox="1"/>
          <p:nvPr/>
        </p:nvSpPr>
        <p:spPr>
          <a:xfrm>
            <a:off x="10822910" y="1923357"/>
            <a:ext cx="1262333" cy="646331"/>
          </a:xfrm>
          <a:prstGeom prst="rect">
            <a:avLst/>
          </a:prstGeom>
          <a:noFill/>
        </p:spPr>
        <p:txBody>
          <a:bodyPr wrap="none" rtlCol="0">
            <a:spAutoFit/>
          </a:bodyPr>
          <a:lstStyle/>
          <a:p>
            <a:r>
              <a:rPr lang="en-US" b="1" dirty="0"/>
              <a:t>Harness-</a:t>
            </a:r>
          </a:p>
          <a:p>
            <a:r>
              <a:rPr lang="en-US" b="1" dirty="0"/>
              <a:t>computed</a:t>
            </a:r>
          </a:p>
        </p:txBody>
      </p:sp>
      <p:cxnSp>
        <p:nvCxnSpPr>
          <p:cNvPr id="59" name="Straight Connector 58">
            <a:extLst>
              <a:ext uri="{FF2B5EF4-FFF2-40B4-BE49-F238E27FC236}">
                <a16:creationId xmlns:a16="http://schemas.microsoft.com/office/drawing/2014/main" id="{47B64F54-F234-1F5C-49A8-62EBA2366663}"/>
              </a:ext>
            </a:extLst>
          </p:cNvPr>
          <p:cNvCxnSpPr/>
          <p:nvPr/>
        </p:nvCxnSpPr>
        <p:spPr>
          <a:xfrm>
            <a:off x="12085243" y="1836919"/>
            <a:ext cx="0" cy="333828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48523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E328C7-DC6B-C565-6020-3A7532ED9FD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9969042-9D80-18B9-DDEE-CA6CAF8EE33F}"/>
              </a:ext>
            </a:extLst>
          </p:cNvPr>
          <p:cNvSpPr/>
          <p:nvPr/>
        </p:nvSpPr>
        <p:spPr>
          <a:xfrm>
            <a:off x="612539" y="2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0" name="Rectangle 19">
            <a:extLst>
              <a:ext uri="{FF2B5EF4-FFF2-40B4-BE49-F238E27FC236}">
                <a16:creationId xmlns:a16="http://schemas.microsoft.com/office/drawing/2014/main" id="{760C2B92-A7A0-BDCA-1A45-EFD15C9FC067}"/>
              </a:ext>
            </a:extLst>
          </p:cNvPr>
          <p:cNvSpPr/>
          <p:nvPr/>
        </p:nvSpPr>
        <p:spPr>
          <a:xfrm>
            <a:off x="2672832" y="29934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24" name="Rectangle 23">
            <a:extLst>
              <a:ext uri="{FF2B5EF4-FFF2-40B4-BE49-F238E27FC236}">
                <a16:creationId xmlns:a16="http://schemas.microsoft.com/office/drawing/2014/main" id="{B608C2E0-0C0B-201A-36E0-879EBEC6F8CD}"/>
              </a:ext>
            </a:extLst>
          </p:cNvPr>
          <p:cNvSpPr/>
          <p:nvPr/>
        </p:nvSpPr>
        <p:spPr>
          <a:xfrm>
            <a:off x="1642685" y="29934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5" name="Rectangle 24">
            <a:extLst>
              <a:ext uri="{FF2B5EF4-FFF2-40B4-BE49-F238E27FC236}">
                <a16:creationId xmlns:a16="http://schemas.microsoft.com/office/drawing/2014/main" id="{B9377E09-BB11-0F8D-7DBA-FAC2680F5A75}"/>
              </a:ext>
            </a:extLst>
          </p:cNvPr>
          <p:cNvSpPr/>
          <p:nvPr/>
        </p:nvSpPr>
        <p:spPr>
          <a:xfrm>
            <a:off x="5988551" y="3376563"/>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6" name="Rectangle 25">
            <a:extLst>
              <a:ext uri="{FF2B5EF4-FFF2-40B4-BE49-F238E27FC236}">
                <a16:creationId xmlns:a16="http://schemas.microsoft.com/office/drawing/2014/main" id="{87D2B68F-3F46-DB53-85C5-02A5492B9814}"/>
              </a:ext>
            </a:extLst>
          </p:cNvPr>
          <p:cNvSpPr/>
          <p:nvPr/>
        </p:nvSpPr>
        <p:spPr>
          <a:xfrm>
            <a:off x="612540" y="29983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7" name="Rectangle 26">
            <a:extLst>
              <a:ext uri="{FF2B5EF4-FFF2-40B4-BE49-F238E27FC236}">
                <a16:creationId xmlns:a16="http://schemas.microsoft.com/office/drawing/2014/main" id="{3C794559-6587-F920-A1C3-4D68FB00A6C6}"/>
              </a:ext>
            </a:extLst>
          </p:cNvPr>
          <p:cNvSpPr/>
          <p:nvPr/>
        </p:nvSpPr>
        <p:spPr>
          <a:xfrm>
            <a:off x="1642687" y="2618311"/>
            <a:ext cx="1030146"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8" name="Rectangle 27">
            <a:extLst>
              <a:ext uri="{FF2B5EF4-FFF2-40B4-BE49-F238E27FC236}">
                <a16:creationId xmlns:a16="http://schemas.microsoft.com/office/drawing/2014/main" id="{D2A8E807-C95A-47AF-D2FA-DEBB5CCF2E3C}"/>
              </a:ext>
            </a:extLst>
          </p:cNvPr>
          <p:cNvSpPr/>
          <p:nvPr/>
        </p:nvSpPr>
        <p:spPr>
          <a:xfrm>
            <a:off x="4958406" y="29894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9" name="Rectangle 28">
            <a:extLst>
              <a:ext uri="{FF2B5EF4-FFF2-40B4-BE49-F238E27FC236}">
                <a16:creationId xmlns:a16="http://schemas.microsoft.com/office/drawing/2014/main" id="{81D46027-5992-FB5E-2818-DF9BA1C0A7DD}"/>
              </a:ext>
            </a:extLst>
          </p:cNvPr>
          <p:cNvSpPr/>
          <p:nvPr/>
        </p:nvSpPr>
        <p:spPr>
          <a:xfrm>
            <a:off x="2672832" y="33765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30" name="Rectangle 29">
            <a:extLst>
              <a:ext uri="{FF2B5EF4-FFF2-40B4-BE49-F238E27FC236}">
                <a16:creationId xmlns:a16="http://schemas.microsoft.com/office/drawing/2014/main" id="{62402123-3C3E-1979-A82A-44749A75C54C}"/>
              </a:ext>
            </a:extLst>
          </p:cNvPr>
          <p:cNvSpPr/>
          <p:nvPr/>
        </p:nvSpPr>
        <p:spPr>
          <a:xfrm>
            <a:off x="1642685" y="33765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1" name="Rectangle 30">
            <a:extLst>
              <a:ext uri="{FF2B5EF4-FFF2-40B4-BE49-F238E27FC236}">
                <a16:creationId xmlns:a16="http://schemas.microsoft.com/office/drawing/2014/main" id="{8A6E8F35-BE7E-AF7A-4C09-4691C9923FB2}"/>
              </a:ext>
            </a:extLst>
          </p:cNvPr>
          <p:cNvSpPr/>
          <p:nvPr/>
        </p:nvSpPr>
        <p:spPr>
          <a:xfrm>
            <a:off x="612540" y="33814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2" name="Rectangle 31">
            <a:extLst>
              <a:ext uri="{FF2B5EF4-FFF2-40B4-BE49-F238E27FC236}">
                <a16:creationId xmlns:a16="http://schemas.microsoft.com/office/drawing/2014/main" id="{ECD409C0-DB2F-2F84-0DD8-A3ABBC074040}"/>
              </a:ext>
            </a:extLst>
          </p:cNvPr>
          <p:cNvSpPr/>
          <p:nvPr/>
        </p:nvSpPr>
        <p:spPr>
          <a:xfrm>
            <a:off x="4958406" y="33725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3" name="TextBox 32">
            <a:extLst>
              <a:ext uri="{FF2B5EF4-FFF2-40B4-BE49-F238E27FC236}">
                <a16:creationId xmlns:a16="http://schemas.microsoft.com/office/drawing/2014/main" id="{90CA7276-1D16-1ABD-6AA2-78D26E2D08D6}"/>
              </a:ext>
            </a:extLst>
          </p:cNvPr>
          <p:cNvSpPr txBox="1"/>
          <p:nvPr/>
        </p:nvSpPr>
        <p:spPr>
          <a:xfrm>
            <a:off x="3624932" y="2062685"/>
            <a:ext cx="1405000" cy="369332"/>
          </a:xfrm>
          <a:prstGeom prst="rect">
            <a:avLst/>
          </a:prstGeom>
          <a:noFill/>
        </p:spPr>
        <p:txBody>
          <a:bodyPr wrap="none" rtlCol="0">
            <a:spAutoFit/>
          </a:bodyPr>
          <a:lstStyle/>
          <a:p>
            <a:r>
              <a:rPr lang="en-US" b="1" dirty="0"/>
              <a:t>LLM written</a:t>
            </a:r>
          </a:p>
        </p:txBody>
      </p:sp>
      <p:sp>
        <p:nvSpPr>
          <p:cNvPr id="34" name="TextBox 33">
            <a:extLst>
              <a:ext uri="{FF2B5EF4-FFF2-40B4-BE49-F238E27FC236}">
                <a16:creationId xmlns:a16="http://schemas.microsoft.com/office/drawing/2014/main" id="{5D822257-5A16-3DDA-4102-2DCB913AA40F}"/>
              </a:ext>
            </a:extLst>
          </p:cNvPr>
          <p:cNvSpPr txBox="1"/>
          <p:nvPr/>
        </p:nvSpPr>
        <p:spPr>
          <a:xfrm>
            <a:off x="816878" y="2061857"/>
            <a:ext cx="1778500" cy="369332"/>
          </a:xfrm>
          <a:prstGeom prst="rect">
            <a:avLst/>
          </a:prstGeom>
          <a:noFill/>
        </p:spPr>
        <p:txBody>
          <a:bodyPr wrap="none" rtlCol="0">
            <a:spAutoFit/>
          </a:bodyPr>
          <a:lstStyle/>
          <a:p>
            <a:r>
              <a:rPr lang="en-US" b="1" dirty="0"/>
              <a:t>Human-written</a:t>
            </a:r>
          </a:p>
        </p:txBody>
      </p:sp>
      <p:sp>
        <p:nvSpPr>
          <p:cNvPr id="35" name="TextBox 34">
            <a:extLst>
              <a:ext uri="{FF2B5EF4-FFF2-40B4-BE49-F238E27FC236}">
                <a16:creationId xmlns:a16="http://schemas.microsoft.com/office/drawing/2014/main" id="{5C777527-3EB9-A3FF-A352-BABCFE88724F}"/>
              </a:ext>
            </a:extLst>
          </p:cNvPr>
          <p:cNvSpPr txBox="1"/>
          <p:nvPr/>
        </p:nvSpPr>
        <p:spPr>
          <a:xfrm>
            <a:off x="6066597" y="1923357"/>
            <a:ext cx="1262333" cy="646331"/>
          </a:xfrm>
          <a:prstGeom prst="rect">
            <a:avLst/>
          </a:prstGeom>
          <a:noFill/>
        </p:spPr>
        <p:txBody>
          <a:bodyPr wrap="none" rtlCol="0">
            <a:spAutoFit/>
          </a:bodyPr>
          <a:lstStyle/>
          <a:p>
            <a:r>
              <a:rPr lang="en-US" b="1" dirty="0"/>
              <a:t>Harness-</a:t>
            </a:r>
          </a:p>
          <a:p>
            <a:r>
              <a:rPr lang="en-US" b="1" dirty="0"/>
              <a:t>computed</a:t>
            </a:r>
          </a:p>
        </p:txBody>
      </p:sp>
      <p:sp>
        <p:nvSpPr>
          <p:cNvPr id="41" name="Rectangle 40">
            <a:extLst>
              <a:ext uri="{FF2B5EF4-FFF2-40B4-BE49-F238E27FC236}">
                <a16:creationId xmlns:a16="http://schemas.microsoft.com/office/drawing/2014/main" id="{9C1B0287-CAFD-2081-FC12-5EB1F337C58F}"/>
              </a:ext>
            </a:extLst>
          </p:cNvPr>
          <p:cNvSpPr/>
          <p:nvPr/>
        </p:nvSpPr>
        <p:spPr>
          <a:xfrm>
            <a:off x="7372518" y="3372589"/>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42" name="Rectangle 41">
            <a:extLst>
              <a:ext uri="{FF2B5EF4-FFF2-40B4-BE49-F238E27FC236}">
                <a16:creationId xmlns:a16="http://schemas.microsoft.com/office/drawing/2014/main" id="{942B6ACB-2E1C-4203-A079-F528C5AAFBCB}"/>
              </a:ext>
            </a:extLst>
          </p:cNvPr>
          <p:cNvSpPr/>
          <p:nvPr/>
        </p:nvSpPr>
        <p:spPr>
          <a:xfrm>
            <a:off x="9658092" y="3368615"/>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43" name="TextBox 42">
            <a:extLst>
              <a:ext uri="{FF2B5EF4-FFF2-40B4-BE49-F238E27FC236}">
                <a16:creationId xmlns:a16="http://schemas.microsoft.com/office/drawing/2014/main" id="{61FCC032-85C3-D0A4-8F11-C143E6FD576A}"/>
              </a:ext>
            </a:extLst>
          </p:cNvPr>
          <p:cNvSpPr txBox="1"/>
          <p:nvPr/>
        </p:nvSpPr>
        <p:spPr>
          <a:xfrm>
            <a:off x="8398816" y="2061857"/>
            <a:ext cx="1405000" cy="369332"/>
          </a:xfrm>
          <a:prstGeom prst="rect">
            <a:avLst/>
          </a:prstGeom>
          <a:noFill/>
        </p:spPr>
        <p:txBody>
          <a:bodyPr wrap="none" rtlCol="0">
            <a:spAutoFit/>
          </a:bodyPr>
          <a:lstStyle/>
          <a:p>
            <a:r>
              <a:rPr lang="en-US" b="1" dirty="0"/>
              <a:t>LLM written</a:t>
            </a:r>
          </a:p>
        </p:txBody>
      </p:sp>
      <p:cxnSp>
        <p:nvCxnSpPr>
          <p:cNvPr id="45" name="Straight Connector 44">
            <a:extLst>
              <a:ext uri="{FF2B5EF4-FFF2-40B4-BE49-F238E27FC236}">
                <a16:creationId xmlns:a16="http://schemas.microsoft.com/office/drawing/2014/main" id="{57FCBCE8-51ED-80FF-62E2-931FA3C50EF6}"/>
              </a:ext>
            </a:extLst>
          </p:cNvPr>
          <p:cNvCxnSpPr>
            <a:cxnSpLocks/>
          </p:cNvCxnSpPr>
          <p:nvPr/>
        </p:nvCxnSpPr>
        <p:spPr>
          <a:xfrm>
            <a:off x="2672832" y="1836921"/>
            <a:ext cx="0" cy="1814541"/>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F3FEC11-3FA0-9C0C-98EA-E733E52177F3}"/>
              </a:ext>
            </a:extLst>
          </p:cNvPr>
          <p:cNvCxnSpPr>
            <a:cxnSpLocks/>
          </p:cNvCxnSpPr>
          <p:nvPr/>
        </p:nvCxnSpPr>
        <p:spPr>
          <a:xfrm>
            <a:off x="5988551" y="1844869"/>
            <a:ext cx="0" cy="1806593"/>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29D2A24-4ECF-8EBF-9BEA-1D33CC8F122D}"/>
              </a:ext>
            </a:extLst>
          </p:cNvPr>
          <p:cNvCxnSpPr>
            <a:cxnSpLocks/>
          </p:cNvCxnSpPr>
          <p:nvPr/>
        </p:nvCxnSpPr>
        <p:spPr>
          <a:xfrm>
            <a:off x="7372518" y="1836920"/>
            <a:ext cx="0" cy="1814542"/>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DF57463-A30E-75AD-4AB0-01052C397195}"/>
              </a:ext>
            </a:extLst>
          </p:cNvPr>
          <p:cNvCxnSpPr/>
          <p:nvPr/>
        </p:nvCxnSpPr>
        <p:spPr>
          <a:xfrm>
            <a:off x="10694757" y="1759857"/>
            <a:ext cx="0" cy="3338285"/>
          </a:xfrm>
          <a:prstGeom prst="line">
            <a:avLst/>
          </a:prstGeom>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D200D546-5905-543E-713D-8E5111C5A85F}"/>
              </a:ext>
            </a:extLst>
          </p:cNvPr>
          <p:cNvSpPr/>
          <p:nvPr/>
        </p:nvSpPr>
        <p:spPr>
          <a:xfrm>
            <a:off x="612539" y="382648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pic>
        <p:nvPicPr>
          <p:cNvPr id="3" name="Picture 2">
            <a:extLst>
              <a:ext uri="{FF2B5EF4-FFF2-40B4-BE49-F238E27FC236}">
                <a16:creationId xmlns:a16="http://schemas.microsoft.com/office/drawing/2014/main" id="{A1E45813-1153-4427-6E06-55935ADD19E5}"/>
              </a:ext>
            </a:extLst>
          </p:cNvPr>
          <p:cNvPicPr>
            <a:picLocks noChangeAspect="1"/>
          </p:cNvPicPr>
          <p:nvPr/>
        </p:nvPicPr>
        <p:blipFill>
          <a:blip r:embed="rId2"/>
          <a:srcRect t="67079" b="11057"/>
          <a:stretch>
            <a:fillRect/>
          </a:stretch>
        </p:blipFill>
        <p:spPr>
          <a:xfrm>
            <a:off x="5200604" y="6112631"/>
            <a:ext cx="6629400" cy="391520"/>
          </a:xfrm>
          <a:prstGeom prst="rect">
            <a:avLst/>
          </a:prstGeom>
        </p:spPr>
      </p:pic>
    </p:spTree>
    <p:extLst>
      <p:ext uri="{BB962C8B-B14F-4D97-AF65-F5344CB8AC3E}">
        <p14:creationId xmlns:p14="http://schemas.microsoft.com/office/powerpoint/2010/main" val="25061337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243C6-C419-275A-A1AB-B2115A3DFE61}"/>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E59664F6-6029-13B7-430D-41062B167B76}"/>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F28719C6-B4F7-9773-93BC-75C633327D9F}"/>
              </a:ext>
            </a:extLst>
          </p:cNvPr>
          <p:cNvSpPr txBox="1"/>
          <p:nvPr/>
        </p:nvSpPr>
        <p:spPr>
          <a:xfrm>
            <a:off x="3015718" y="1906011"/>
            <a:ext cx="4253024" cy="584775"/>
          </a:xfrm>
          <a:prstGeom prst="rect">
            <a:avLst/>
          </a:prstGeom>
          <a:noFill/>
        </p:spPr>
        <p:txBody>
          <a:bodyPr wrap="none" rtlCol="0">
            <a:spAutoFit/>
          </a:bodyPr>
          <a:lstStyle/>
          <a:p>
            <a:r>
              <a:rPr lang="en-US" sz="3200" dirty="0">
                <a:solidFill>
                  <a:srgbClr val="FF0000"/>
                </a:solidFill>
              </a:rPr>
              <a:t>1. How does </a:t>
            </a:r>
            <a:r>
              <a:rPr lang="en-US" sz="3200" i="1" dirty="0">
                <a:solidFill>
                  <a:srgbClr val="FF0000"/>
                </a:solidFill>
              </a:rPr>
              <a:t>this</a:t>
            </a:r>
            <a:r>
              <a:rPr lang="en-US" sz="3200" dirty="0">
                <a:solidFill>
                  <a:srgbClr val="FF0000"/>
                </a:solidFill>
              </a:rPr>
              <a:t> work?</a:t>
            </a:r>
          </a:p>
        </p:txBody>
      </p:sp>
      <p:pic>
        <p:nvPicPr>
          <p:cNvPr id="2" name="Picture 1">
            <a:extLst>
              <a:ext uri="{FF2B5EF4-FFF2-40B4-BE49-F238E27FC236}">
                <a16:creationId xmlns:a16="http://schemas.microsoft.com/office/drawing/2014/main" id="{18B21D14-FB4A-7737-2576-0549A3646B90}"/>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315994F4-3981-6AFF-69FD-BD3B5CCA0630}"/>
              </a:ext>
            </a:extLst>
          </p:cNvPr>
          <p:cNvSpPr/>
          <p:nvPr/>
        </p:nvSpPr>
        <p:spPr>
          <a:xfrm>
            <a:off x="2708730" y="27706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3498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F0116-EC40-4DBB-098C-3C5B097F6968}"/>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1E7D1EF-D864-C0AC-3F89-FA5ED2357A75}"/>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1C2C092-4DB4-7ABA-0655-B2181E787493}"/>
              </a:ext>
            </a:extLst>
          </p:cNvPr>
          <p:cNvSpPr txBox="1"/>
          <p:nvPr/>
        </p:nvSpPr>
        <p:spPr>
          <a:xfrm>
            <a:off x="2189616" y="1801784"/>
            <a:ext cx="8444428" cy="584775"/>
          </a:xfrm>
          <a:prstGeom prst="rect">
            <a:avLst/>
          </a:prstGeom>
          <a:noFill/>
        </p:spPr>
        <p:txBody>
          <a:bodyPr wrap="none" rtlCol="0">
            <a:spAutoFit/>
          </a:bodyPr>
          <a:lstStyle/>
          <a:p>
            <a:r>
              <a:rPr lang="en-US" sz="3200" dirty="0">
                <a:solidFill>
                  <a:srgbClr val="FF0000"/>
                </a:solidFill>
              </a:rPr>
              <a:t>2. How does the recursion avoid re-evaluation?</a:t>
            </a:r>
          </a:p>
        </p:txBody>
      </p:sp>
      <p:pic>
        <p:nvPicPr>
          <p:cNvPr id="2" name="Picture 1">
            <a:extLst>
              <a:ext uri="{FF2B5EF4-FFF2-40B4-BE49-F238E27FC236}">
                <a16:creationId xmlns:a16="http://schemas.microsoft.com/office/drawing/2014/main" id="{E80C4D6F-9D6D-10F9-5A24-21D46583855E}"/>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F20298D5-4695-D3BE-23CF-5CDFE982C53E}"/>
              </a:ext>
            </a:extLst>
          </p:cNvPr>
          <p:cNvSpPr/>
          <p:nvPr/>
        </p:nvSpPr>
        <p:spPr>
          <a:xfrm>
            <a:off x="2708730" y="30754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1576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A9F0-70E8-DB17-2B66-F240F9A9A5AE}"/>
              </a:ext>
            </a:extLst>
          </p:cNvPr>
          <p:cNvSpPr>
            <a:spLocks noGrp="1"/>
          </p:cNvSpPr>
          <p:nvPr>
            <p:ph type="title"/>
          </p:nvPr>
        </p:nvSpPr>
        <p:spPr/>
        <p:txBody>
          <a:bodyPr/>
          <a:lstStyle/>
          <a:p>
            <a:r>
              <a:rPr lang="en-US" dirty="0"/>
              <a:t>Structure of every completion</a:t>
            </a:r>
          </a:p>
        </p:txBody>
      </p:sp>
      <p:pic>
        <p:nvPicPr>
          <p:cNvPr id="5" name="Picture 4" descr="A screen shot of a computer program&#10;&#10;AI-generated content may be incorrect.">
            <a:extLst>
              <a:ext uri="{FF2B5EF4-FFF2-40B4-BE49-F238E27FC236}">
                <a16:creationId xmlns:a16="http://schemas.microsoft.com/office/drawing/2014/main" id="{61225E29-C8AB-DD58-C7C2-872AC1AE5588}"/>
              </a:ext>
            </a:extLst>
          </p:cNvPr>
          <p:cNvPicPr>
            <a:picLocks noChangeAspect="1"/>
          </p:cNvPicPr>
          <p:nvPr/>
        </p:nvPicPr>
        <p:blipFill>
          <a:blip r:embed="rId2"/>
          <a:stretch>
            <a:fillRect/>
          </a:stretch>
        </p:blipFill>
        <p:spPr>
          <a:xfrm>
            <a:off x="1269357" y="2113745"/>
            <a:ext cx="9211022" cy="3662021"/>
          </a:xfrm>
          <a:prstGeom prst="rect">
            <a:avLst/>
          </a:prstGeom>
        </p:spPr>
      </p:pic>
    </p:spTree>
    <p:extLst>
      <p:ext uri="{BB962C8B-B14F-4D97-AF65-F5344CB8AC3E}">
        <p14:creationId xmlns:p14="http://schemas.microsoft.com/office/powerpoint/2010/main" val="2141417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5EED-0EAB-02AA-0049-E24F332FB0AD}"/>
              </a:ext>
            </a:extLst>
          </p:cNvPr>
          <p:cNvSpPr>
            <a:spLocks noGrp="1"/>
          </p:cNvSpPr>
          <p:nvPr>
            <p:ph type="title"/>
          </p:nvPr>
        </p:nvSpPr>
        <p:spPr/>
        <p:txBody>
          <a:bodyPr/>
          <a:lstStyle/>
          <a:p>
            <a:r>
              <a:rPr lang="en-US" dirty="0" err="1"/>
              <a:t>ReAct</a:t>
            </a:r>
            <a:r>
              <a:rPr lang="en-US" dirty="0"/>
              <a:t> loop in Spell</a:t>
            </a:r>
          </a:p>
        </p:txBody>
      </p:sp>
      <p:sp>
        <p:nvSpPr>
          <p:cNvPr id="9" name="Rectangle 8">
            <a:extLst>
              <a:ext uri="{FF2B5EF4-FFF2-40B4-BE49-F238E27FC236}">
                <a16:creationId xmlns:a16="http://schemas.microsoft.com/office/drawing/2014/main" id="{4B1233F7-6AC5-874A-7F32-4E303DD3B164}"/>
              </a:ext>
            </a:extLst>
          </p:cNvPr>
          <p:cNvSpPr/>
          <p:nvPr/>
        </p:nvSpPr>
        <p:spPr>
          <a:xfrm>
            <a:off x="3111125" y="4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0" name="Rectangle 9">
            <a:extLst>
              <a:ext uri="{FF2B5EF4-FFF2-40B4-BE49-F238E27FC236}">
                <a16:creationId xmlns:a16="http://schemas.microsoft.com/office/drawing/2014/main" id="{00A8FC11-E7A5-7029-E5E3-94916BE73AA2}"/>
              </a:ext>
            </a:extLst>
          </p:cNvPr>
          <p:cNvSpPr/>
          <p:nvPr/>
        </p:nvSpPr>
        <p:spPr>
          <a:xfrm>
            <a:off x="4141272" y="46183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C1EBA344-516B-0319-AEBB-5A43A6FA2C20}"/>
              </a:ext>
            </a:extLst>
          </p:cNvPr>
          <p:cNvSpPr/>
          <p:nvPr/>
        </p:nvSpPr>
        <p:spPr>
          <a:xfrm>
            <a:off x="5527821" y="461831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cxnSp>
        <p:nvCxnSpPr>
          <p:cNvPr id="13" name="Straight Connector 12">
            <a:extLst>
              <a:ext uri="{FF2B5EF4-FFF2-40B4-BE49-F238E27FC236}">
                <a16:creationId xmlns:a16="http://schemas.microsoft.com/office/drawing/2014/main" id="{1550AF04-5F2B-E374-8A7C-E8AEC08F22EF}"/>
              </a:ext>
            </a:extLst>
          </p:cNvPr>
          <p:cNvCxnSpPr>
            <a:cxnSpLocks/>
          </p:cNvCxnSpPr>
          <p:nvPr/>
        </p:nvCxnSpPr>
        <p:spPr>
          <a:xfrm flipH="1">
            <a:off x="3111125" y="3429000"/>
            <a:ext cx="1574086" cy="1189311"/>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25C4B54D-E444-C48E-A1C3-D3719E90F184}"/>
              </a:ext>
            </a:extLst>
          </p:cNvPr>
          <p:cNvCxnSpPr>
            <a:cxnSpLocks/>
          </p:cNvCxnSpPr>
          <p:nvPr/>
        </p:nvCxnSpPr>
        <p:spPr>
          <a:xfrm flipH="1">
            <a:off x="5525241" y="3429000"/>
            <a:ext cx="1314115" cy="1189311"/>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A4F58EB8-241D-4A87-FFF3-34E576F0B1C5}"/>
              </a:ext>
            </a:extLst>
          </p:cNvPr>
          <p:cNvCxnSpPr>
            <a:cxnSpLocks/>
          </p:cNvCxnSpPr>
          <p:nvPr/>
        </p:nvCxnSpPr>
        <p:spPr>
          <a:xfrm flipH="1">
            <a:off x="5517314" y="3429000"/>
            <a:ext cx="1736926" cy="1189311"/>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7A1A50D1-3EC1-80A6-6AA9-02CFE016F3EC}"/>
              </a:ext>
            </a:extLst>
          </p:cNvPr>
          <p:cNvCxnSpPr>
            <a:cxnSpLocks/>
          </p:cNvCxnSpPr>
          <p:nvPr/>
        </p:nvCxnSpPr>
        <p:spPr>
          <a:xfrm flipH="1">
            <a:off x="6911790" y="3429000"/>
            <a:ext cx="1387479" cy="1189311"/>
          </a:xfrm>
          <a:prstGeom prst="line">
            <a:avLst/>
          </a:prstGeom>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860CEBCB-FA88-AB54-4D97-E33A19A7E046}"/>
              </a:ext>
            </a:extLst>
          </p:cNvPr>
          <p:cNvSpPr txBox="1"/>
          <p:nvPr/>
        </p:nvSpPr>
        <p:spPr>
          <a:xfrm>
            <a:off x="1853796" y="4401817"/>
            <a:ext cx="1253869" cy="707886"/>
          </a:xfrm>
          <a:prstGeom prst="rect">
            <a:avLst/>
          </a:prstGeom>
          <a:noFill/>
        </p:spPr>
        <p:txBody>
          <a:bodyPr wrap="none" rtlCol="0">
            <a:spAutoFit/>
          </a:bodyPr>
          <a:lstStyle/>
          <a:p>
            <a:r>
              <a:rPr lang="en-US" sz="4000" dirty="0"/>
              <a:t>LLM(</a:t>
            </a:r>
          </a:p>
        </p:txBody>
      </p:sp>
      <p:sp>
        <p:nvSpPr>
          <p:cNvPr id="23" name="TextBox 22">
            <a:extLst>
              <a:ext uri="{FF2B5EF4-FFF2-40B4-BE49-F238E27FC236}">
                <a16:creationId xmlns:a16="http://schemas.microsoft.com/office/drawing/2014/main" id="{7F309AD2-F9DF-3065-63D7-52F9D477CA69}"/>
              </a:ext>
            </a:extLst>
          </p:cNvPr>
          <p:cNvSpPr txBox="1"/>
          <p:nvPr/>
        </p:nvSpPr>
        <p:spPr>
          <a:xfrm>
            <a:off x="6991326" y="4401817"/>
            <a:ext cx="335348" cy="707886"/>
          </a:xfrm>
          <a:prstGeom prst="rect">
            <a:avLst/>
          </a:prstGeom>
          <a:noFill/>
        </p:spPr>
        <p:txBody>
          <a:bodyPr wrap="none" rtlCol="0">
            <a:spAutoFit/>
          </a:bodyPr>
          <a:lstStyle/>
          <a:p>
            <a:r>
              <a:rPr lang="en-US" sz="4000" dirty="0"/>
              <a:t>)</a:t>
            </a:r>
          </a:p>
        </p:txBody>
      </p:sp>
      <p:cxnSp>
        <p:nvCxnSpPr>
          <p:cNvPr id="24" name="Straight Connector 23">
            <a:extLst>
              <a:ext uri="{FF2B5EF4-FFF2-40B4-BE49-F238E27FC236}">
                <a16:creationId xmlns:a16="http://schemas.microsoft.com/office/drawing/2014/main" id="{DC3470CA-352C-44A2-FFE0-5B1F349977FE}"/>
              </a:ext>
            </a:extLst>
          </p:cNvPr>
          <p:cNvCxnSpPr>
            <a:cxnSpLocks/>
            <a:endCxn id="22" idx="0"/>
          </p:cNvCxnSpPr>
          <p:nvPr/>
        </p:nvCxnSpPr>
        <p:spPr>
          <a:xfrm flipH="1">
            <a:off x="2480731" y="3429000"/>
            <a:ext cx="186529" cy="972817"/>
          </a:xfrm>
          <a:prstGeom prst="line">
            <a:avLst/>
          </a:prstGeom>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9113A8F1-D948-EE93-9ECE-9752CFADF4E1}"/>
              </a:ext>
            </a:extLst>
          </p:cNvPr>
          <p:cNvPicPr>
            <a:picLocks noChangeAspect="1"/>
          </p:cNvPicPr>
          <p:nvPr/>
        </p:nvPicPr>
        <p:blipFill>
          <a:blip r:embed="rId2"/>
          <a:stretch>
            <a:fillRect/>
          </a:stretch>
        </p:blipFill>
        <p:spPr>
          <a:xfrm>
            <a:off x="2209800" y="3042170"/>
            <a:ext cx="7772400" cy="340673"/>
          </a:xfrm>
          <a:prstGeom prst="rect">
            <a:avLst/>
          </a:prstGeom>
        </p:spPr>
      </p:pic>
      <p:pic>
        <p:nvPicPr>
          <p:cNvPr id="32" name="Picture 31">
            <a:extLst>
              <a:ext uri="{FF2B5EF4-FFF2-40B4-BE49-F238E27FC236}">
                <a16:creationId xmlns:a16="http://schemas.microsoft.com/office/drawing/2014/main" id="{5CAF0BB6-0A2F-C0F9-78D5-8CF7F077995D}"/>
              </a:ext>
            </a:extLst>
          </p:cNvPr>
          <p:cNvPicPr>
            <a:picLocks noChangeAspect="1"/>
          </p:cNvPicPr>
          <p:nvPr/>
        </p:nvPicPr>
        <p:blipFill>
          <a:blip r:embed="rId3"/>
          <a:stretch>
            <a:fillRect/>
          </a:stretch>
        </p:blipFill>
        <p:spPr>
          <a:xfrm>
            <a:off x="3493540" y="2023196"/>
            <a:ext cx="3162300" cy="330200"/>
          </a:xfrm>
          <a:prstGeom prst="rect">
            <a:avLst/>
          </a:prstGeom>
        </p:spPr>
      </p:pic>
      <p:sp>
        <p:nvSpPr>
          <p:cNvPr id="33" name="TextBox 32">
            <a:extLst>
              <a:ext uri="{FF2B5EF4-FFF2-40B4-BE49-F238E27FC236}">
                <a16:creationId xmlns:a16="http://schemas.microsoft.com/office/drawing/2014/main" id="{46F35441-0C87-8618-BB18-98C3D7E109A3}"/>
              </a:ext>
            </a:extLst>
          </p:cNvPr>
          <p:cNvSpPr txBox="1"/>
          <p:nvPr/>
        </p:nvSpPr>
        <p:spPr>
          <a:xfrm rot="16200000">
            <a:off x="4818049" y="2323873"/>
            <a:ext cx="513282" cy="830997"/>
          </a:xfrm>
          <a:prstGeom prst="rect">
            <a:avLst/>
          </a:prstGeom>
          <a:noFill/>
        </p:spPr>
        <p:txBody>
          <a:bodyPr wrap="none" rtlCol="0">
            <a:spAutoFit/>
          </a:bodyPr>
          <a:lstStyle/>
          <a:p>
            <a:r>
              <a:rPr lang="en-US" sz="4800" b="1" dirty="0"/>
              <a:t>=</a:t>
            </a:r>
          </a:p>
        </p:txBody>
      </p:sp>
    </p:spTree>
    <p:extLst>
      <p:ext uri="{BB962C8B-B14F-4D97-AF65-F5344CB8AC3E}">
        <p14:creationId xmlns:p14="http://schemas.microsoft.com/office/powerpoint/2010/main" val="6387466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879C4-B5B7-1988-7DAB-F10AA1C9DDC6}"/>
              </a:ext>
            </a:extLst>
          </p:cNvPr>
          <p:cNvSpPr>
            <a:spLocks noGrp="1"/>
          </p:cNvSpPr>
          <p:nvPr>
            <p:ph type="title"/>
          </p:nvPr>
        </p:nvSpPr>
        <p:spPr/>
        <p:txBody>
          <a:bodyPr/>
          <a:lstStyle/>
          <a:p>
            <a:r>
              <a:rPr lang="en-US" dirty="0"/>
              <a:t>Own-context engineering</a:t>
            </a:r>
          </a:p>
        </p:txBody>
      </p:sp>
      <p:pic>
        <p:nvPicPr>
          <p:cNvPr id="5" name="Content Placeholder 4" descr="A screen shot of a computer program&#10;&#10;AI-generated content may be incorrect.">
            <a:extLst>
              <a:ext uri="{FF2B5EF4-FFF2-40B4-BE49-F238E27FC236}">
                <a16:creationId xmlns:a16="http://schemas.microsoft.com/office/drawing/2014/main" id="{8B312FE2-18DB-1BAD-2F7A-7CE7DDECBE66}"/>
              </a:ext>
            </a:extLst>
          </p:cNvPr>
          <p:cNvPicPr>
            <a:picLocks noGrp="1" noChangeAspect="1"/>
          </p:cNvPicPr>
          <p:nvPr>
            <p:ph idx="1"/>
          </p:nvPr>
        </p:nvPicPr>
        <p:blipFill>
          <a:blip r:embed="rId2"/>
          <a:stretch>
            <a:fillRect/>
          </a:stretch>
        </p:blipFill>
        <p:spPr>
          <a:xfrm>
            <a:off x="1447800" y="2515394"/>
            <a:ext cx="9296400" cy="2971800"/>
          </a:xfrm>
          <a:prstGeom prst="rect">
            <a:avLst/>
          </a:prstGeom>
        </p:spPr>
      </p:pic>
    </p:spTree>
    <p:extLst>
      <p:ext uri="{BB962C8B-B14F-4D97-AF65-F5344CB8AC3E}">
        <p14:creationId xmlns:p14="http://schemas.microsoft.com/office/powerpoint/2010/main" val="36857705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C4BC-2B84-25E1-ADBF-E8045DD4F179}"/>
              </a:ext>
            </a:extLst>
          </p:cNvPr>
          <p:cNvSpPr>
            <a:spLocks noGrp="1"/>
          </p:cNvSpPr>
          <p:nvPr>
            <p:ph type="title"/>
          </p:nvPr>
        </p:nvSpPr>
        <p:spPr/>
        <p:txBody>
          <a:bodyPr/>
          <a:lstStyle/>
          <a:p>
            <a:r>
              <a:rPr lang="en-US" dirty="0"/>
              <a:t>Self-orchestration</a:t>
            </a:r>
          </a:p>
        </p:txBody>
      </p:sp>
      <p:sp>
        <p:nvSpPr>
          <p:cNvPr id="3" name="Content Placeholder 2">
            <a:extLst>
              <a:ext uri="{FF2B5EF4-FFF2-40B4-BE49-F238E27FC236}">
                <a16:creationId xmlns:a16="http://schemas.microsoft.com/office/drawing/2014/main" id="{A11AA4BD-2453-7A11-DC31-259A51234B94}"/>
              </a:ext>
            </a:extLst>
          </p:cNvPr>
          <p:cNvSpPr>
            <a:spLocks noGrp="1"/>
          </p:cNvSpPr>
          <p:nvPr>
            <p:ph idx="1"/>
          </p:nvPr>
        </p:nvSpPr>
        <p:spPr/>
        <p:txBody>
          <a:bodyPr/>
          <a:lstStyle/>
          <a:p>
            <a:pPr marL="514350" indent="-514350">
              <a:buAutoNum type="arabicPeriod"/>
            </a:pPr>
            <a:r>
              <a:rPr lang="en-US" dirty="0"/>
              <a:t>Create a future</a:t>
            </a:r>
          </a:p>
          <a:p>
            <a:pPr marL="514350" indent="-514350">
              <a:buAutoNum type="arabicPeriod"/>
            </a:pPr>
            <a:r>
              <a:rPr lang="en-US" dirty="0"/>
              <a:t>Spawn agent with prompt</a:t>
            </a:r>
          </a:p>
          <a:p>
            <a:pPr marL="514350" indent="-514350">
              <a:buAutoNum type="arabicPeriod"/>
            </a:pPr>
            <a:r>
              <a:rPr lang="en-US" dirty="0"/>
              <a:t>Block for response</a:t>
            </a:r>
          </a:p>
          <a:p>
            <a:pPr marL="514350" indent="-514350">
              <a:buAutoNum type="arabicPeriod"/>
            </a:pPr>
            <a:r>
              <a:rPr lang="en-US" dirty="0"/>
              <a:t>Response satisfies condition? </a:t>
            </a:r>
          </a:p>
          <a:p>
            <a:pPr lvl="1"/>
            <a:r>
              <a:rPr lang="en-US" dirty="0"/>
              <a:t>Break or </a:t>
            </a:r>
            <a:r>
              <a:rPr lang="en-US" dirty="0" err="1"/>
              <a:t>goto</a:t>
            </a:r>
            <a:r>
              <a:rPr lang="en-US" dirty="0"/>
              <a:t> 2</a:t>
            </a:r>
          </a:p>
          <a:p>
            <a:pPr marL="514350" indent="-514350">
              <a:buAutoNum type="arabicPeriod"/>
            </a:pPr>
            <a:r>
              <a:rPr lang="en-US" dirty="0"/>
              <a:t>Message parent agent with response</a:t>
            </a:r>
          </a:p>
          <a:p>
            <a:pPr marL="514350" indent="-514350">
              <a:buAutoNum type="arabicPeriod"/>
            </a:pPr>
            <a:endParaRPr lang="en-US" dirty="0"/>
          </a:p>
        </p:txBody>
      </p:sp>
      <p:pic>
        <p:nvPicPr>
          <p:cNvPr id="1028" name="Picture 4" descr="ralph from the simpsons is standing in front of a row of lockers waving .">
            <a:extLst>
              <a:ext uri="{FF2B5EF4-FFF2-40B4-BE49-F238E27FC236}">
                <a16:creationId xmlns:a16="http://schemas.microsoft.com/office/drawing/2014/main" id="{B415C94C-4445-8F95-74E1-4B819407E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700" y="2178050"/>
            <a:ext cx="3340100" cy="2501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D4867E2-FA80-C535-2813-BF4E93856F9F}"/>
              </a:ext>
            </a:extLst>
          </p:cNvPr>
          <p:cNvSpPr txBox="1"/>
          <p:nvPr/>
        </p:nvSpPr>
        <p:spPr>
          <a:xfrm>
            <a:off x="2348954" y="5514734"/>
            <a:ext cx="3778342" cy="523220"/>
          </a:xfrm>
          <a:prstGeom prst="rect">
            <a:avLst/>
          </a:prstGeom>
          <a:noFill/>
        </p:spPr>
        <p:txBody>
          <a:bodyPr wrap="none" rtlCol="0">
            <a:spAutoFit/>
          </a:bodyPr>
          <a:lstStyle/>
          <a:p>
            <a:r>
              <a:rPr lang="en-US" sz="2800" dirty="0">
                <a:solidFill>
                  <a:srgbClr val="FF0000"/>
                </a:solidFill>
              </a:rPr>
              <a:t>Entirely written in Spell</a:t>
            </a:r>
          </a:p>
        </p:txBody>
      </p:sp>
      <p:sp>
        <p:nvSpPr>
          <p:cNvPr id="5" name="Rectangle 4">
            <a:extLst>
              <a:ext uri="{FF2B5EF4-FFF2-40B4-BE49-F238E27FC236}">
                <a16:creationId xmlns:a16="http://schemas.microsoft.com/office/drawing/2014/main" id="{2ADA6B74-D37E-2E8A-E951-3AEDA77D0784}"/>
              </a:ext>
            </a:extLst>
          </p:cNvPr>
          <p:cNvSpPr/>
          <p:nvPr/>
        </p:nvSpPr>
        <p:spPr>
          <a:xfrm>
            <a:off x="370389" y="1690688"/>
            <a:ext cx="11366339" cy="35179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3157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78DC-0ECD-CC97-0765-78CC9DB0A5EF}"/>
              </a:ext>
            </a:extLst>
          </p:cNvPr>
          <p:cNvSpPr>
            <a:spLocks noGrp="1"/>
          </p:cNvSpPr>
          <p:nvPr>
            <p:ph type="title"/>
          </p:nvPr>
        </p:nvSpPr>
        <p:spPr/>
        <p:txBody>
          <a:bodyPr/>
          <a:lstStyle/>
          <a:p>
            <a:r>
              <a:rPr lang="en-US" dirty="0"/>
              <a:t>Does it work?</a:t>
            </a:r>
          </a:p>
        </p:txBody>
      </p:sp>
      <p:sp>
        <p:nvSpPr>
          <p:cNvPr id="3" name="Content Placeholder 2">
            <a:extLst>
              <a:ext uri="{FF2B5EF4-FFF2-40B4-BE49-F238E27FC236}">
                <a16:creationId xmlns:a16="http://schemas.microsoft.com/office/drawing/2014/main" id="{CA5C3ED4-4366-B546-546D-B3A2D77CAE53}"/>
              </a:ext>
            </a:extLst>
          </p:cNvPr>
          <p:cNvSpPr>
            <a:spLocks noGrp="1"/>
          </p:cNvSpPr>
          <p:nvPr>
            <p:ph idx="1"/>
          </p:nvPr>
        </p:nvSpPr>
        <p:spPr>
          <a:xfrm>
            <a:off x="838200" y="1572896"/>
            <a:ext cx="10515600" cy="5032375"/>
          </a:xfrm>
        </p:spPr>
        <p:txBody>
          <a:bodyPr/>
          <a:lstStyle/>
          <a:p>
            <a:r>
              <a:rPr lang="en-US" dirty="0"/>
              <a:t>Coding</a:t>
            </a:r>
          </a:p>
          <a:p>
            <a:pPr lvl="1"/>
            <a:r>
              <a:rPr lang="en-US" dirty="0"/>
              <a:t>Terminal-Bench 2.0 (challenging computer use, e.g. “build </a:t>
            </a:r>
            <a:r>
              <a:rPr lang="en-US" dirty="0" err="1"/>
              <a:t>linux</a:t>
            </a:r>
            <a:r>
              <a:rPr lang="en-US" dirty="0"/>
              <a:t> kernel”)</a:t>
            </a:r>
          </a:p>
          <a:p>
            <a:pPr lvl="1"/>
            <a:r>
              <a:rPr lang="en-US" dirty="0"/>
              <a:t>SWE-bench lite and SWE-bench pro (fix real </a:t>
            </a:r>
            <a:r>
              <a:rPr lang="en-US" dirty="0" err="1"/>
              <a:t>github</a:t>
            </a:r>
            <a:r>
              <a:rPr lang="en-US" dirty="0"/>
              <a:t> issues)</a:t>
            </a:r>
          </a:p>
          <a:p>
            <a:r>
              <a:rPr lang="en-US" dirty="0"/>
              <a:t>Math</a:t>
            </a:r>
          </a:p>
          <a:p>
            <a:pPr lvl="1"/>
            <a:r>
              <a:rPr lang="en-US" dirty="0"/>
              <a:t>AIME 2025-2026</a:t>
            </a:r>
          </a:p>
          <a:p>
            <a:pPr lvl="1"/>
            <a:r>
              <a:rPr lang="en-US" dirty="0"/>
              <a:t>Omni-Math Hard (most challenging)</a:t>
            </a:r>
          </a:p>
          <a:p>
            <a:pPr lvl="1"/>
            <a:r>
              <a:rPr lang="en-US" dirty="0" err="1"/>
              <a:t>MathConstruct</a:t>
            </a:r>
            <a:r>
              <a:rPr lang="en-US" dirty="0"/>
              <a:t> (requires code execution)</a:t>
            </a:r>
          </a:p>
          <a:p>
            <a:r>
              <a:rPr lang="en-US" dirty="0"/>
              <a:t>Retrieval/multi-hop</a:t>
            </a:r>
          </a:p>
          <a:p>
            <a:pPr lvl="1"/>
            <a:r>
              <a:rPr lang="en-US" dirty="0" err="1"/>
              <a:t>LongBench</a:t>
            </a:r>
            <a:r>
              <a:rPr lang="en-US" dirty="0"/>
              <a:t> (long docs)</a:t>
            </a:r>
          </a:p>
          <a:p>
            <a:pPr lvl="1"/>
            <a:r>
              <a:rPr lang="en-US" dirty="0"/>
              <a:t>GAIA (web search)</a:t>
            </a:r>
          </a:p>
          <a:p>
            <a:r>
              <a:rPr lang="en-US" dirty="0"/>
              <a:t>Orchestration games</a:t>
            </a:r>
          </a:p>
        </p:txBody>
      </p:sp>
    </p:spTree>
    <p:extLst>
      <p:ext uri="{BB962C8B-B14F-4D97-AF65-F5344CB8AC3E}">
        <p14:creationId xmlns:p14="http://schemas.microsoft.com/office/powerpoint/2010/main" val="12685905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A graph with green and orange squares&#10;&#10;AI-generated content may be incorrect.">
            <a:extLst>
              <a:ext uri="{FF2B5EF4-FFF2-40B4-BE49-F238E27FC236}">
                <a16:creationId xmlns:a16="http://schemas.microsoft.com/office/drawing/2014/main" id="{62C7406B-1CB9-FB25-39ED-A3E2FC9BB0BC}"/>
              </a:ext>
            </a:extLst>
          </p:cNvPr>
          <p:cNvPicPr>
            <a:picLocks noChangeAspect="1"/>
          </p:cNvPicPr>
          <p:nvPr/>
        </p:nvPicPr>
        <p:blipFill>
          <a:blip r:embed="rId2"/>
          <a:stretch>
            <a:fillRect/>
          </a:stretch>
        </p:blipFill>
        <p:spPr>
          <a:xfrm>
            <a:off x="484632" y="2379584"/>
            <a:ext cx="3517119" cy="2092686"/>
          </a:xfrm>
          <a:prstGeom prst="rect">
            <a:avLst/>
          </a:prstGeom>
        </p:spPr>
      </p:pic>
      <p:cxnSp>
        <p:nvCxnSpPr>
          <p:cNvPr id="36" name="Straight Connector 35">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7" name="Picture 16" descr="A graph of a bar graph&#10;&#10;AI-generated content may be incorrect.">
            <a:extLst>
              <a:ext uri="{FF2B5EF4-FFF2-40B4-BE49-F238E27FC236}">
                <a16:creationId xmlns:a16="http://schemas.microsoft.com/office/drawing/2014/main" id="{86C30FBF-3ADA-6FA2-713D-21B9C2CA7D85}"/>
              </a:ext>
            </a:extLst>
          </p:cNvPr>
          <p:cNvPicPr>
            <a:picLocks noChangeAspect="1"/>
          </p:cNvPicPr>
          <p:nvPr/>
        </p:nvPicPr>
        <p:blipFill>
          <a:blip r:embed="rId3"/>
          <a:stretch>
            <a:fillRect/>
          </a:stretch>
        </p:blipFill>
        <p:spPr>
          <a:xfrm>
            <a:off x="8400295" y="2379584"/>
            <a:ext cx="3537345" cy="2104720"/>
          </a:xfrm>
          <a:prstGeom prst="rect">
            <a:avLst/>
          </a:prstGeom>
        </p:spPr>
      </p:pic>
      <p:cxnSp>
        <p:nvCxnSpPr>
          <p:cNvPr id="37" name="Straight Connector 36">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descr="A graph with different colored bars&#10;&#10;AI-generated content may be incorrect.">
            <a:extLst>
              <a:ext uri="{FF2B5EF4-FFF2-40B4-BE49-F238E27FC236}">
                <a16:creationId xmlns:a16="http://schemas.microsoft.com/office/drawing/2014/main" id="{815609C4-E025-1D49-ABCE-D100D85BC737}"/>
              </a:ext>
            </a:extLst>
          </p:cNvPr>
          <p:cNvPicPr>
            <a:picLocks noChangeAspect="1"/>
          </p:cNvPicPr>
          <p:nvPr/>
        </p:nvPicPr>
        <p:blipFill>
          <a:blip r:embed="rId4"/>
          <a:stretch>
            <a:fillRect/>
          </a:stretch>
        </p:blipFill>
        <p:spPr>
          <a:xfrm>
            <a:off x="4395296" y="2379584"/>
            <a:ext cx="3517120" cy="2092686"/>
          </a:xfrm>
          <a:prstGeom prst="rect">
            <a:avLst/>
          </a:prstGeom>
        </p:spPr>
      </p:pic>
    </p:spTree>
    <p:extLst>
      <p:ext uri="{BB962C8B-B14F-4D97-AF65-F5344CB8AC3E}">
        <p14:creationId xmlns:p14="http://schemas.microsoft.com/office/powerpoint/2010/main" val="1707583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301DE7-6DC4-7B12-EE90-2D4962103812}"/>
              </a:ext>
            </a:extLst>
          </p:cNvPr>
          <p:cNvSpPr>
            <a:spLocks noGrp="1"/>
          </p:cNvSpPr>
          <p:nvPr>
            <p:ph type="title"/>
          </p:nvPr>
        </p:nvSpPr>
        <p:spPr>
          <a:xfrm>
            <a:off x="838200" y="557189"/>
            <a:ext cx="10515600" cy="2057043"/>
          </a:xfrm>
        </p:spPr>
        <p:txBody>
          <a:bodyPr vert="horz" lIns="91440" tIns="45720" rIns="91440" bIns="45720" rtlCol="0" anchor="ctr">
            <a:normAutofit/>
          </a:bodyPr>
          <a:lstStyle/>
          <a:p>
            <a:endParaRPr lang="en-US" sz="5200" kern="1200">
              <a:solidFill>
                <a:schemeClr val="tx1"/>
              </a:solidFill>
              <a:latin typeface="+mj-lt"/>
              <a:ea typeface="+mj-ea"/>
              <a:cs typeface="+mj-cs"/>
            </a:endParaRPr>
          </a:p>
        </p:txBody>
      </p:sp>
      <p:pic>
        <p:nvPicPr>
          <p:cNvPr id="9" name="Picture 8" descr="A graph with a green and orange square&#10;&#10;AI-generated content may be incorrect.">
            <a:extLst>
              <a:ext uri="{FF2B5EF4-FFF2-40B4-BE49-F238E27FC236}">
                <a16:creationId xmlns:a16="http://schemas.microsoft.com/office/drawing/2014/main" id="{0709025E-6D78-9630-F1F6-49AAD3943F79}"/>
              </a:ext>
            </a:extLst>
          </p:cNvPr>
          <p:cNvPicPr>
            <a:picLocks noChangeAspect="1"/>
          </p:cNvPicPr>
          <p:nvPr/>
        </p:nvPicPr>
        <p:blipFill>
          <a:blip r:embed="rId2"/>
          <a:stretch>
            <a:fillRect/>
          </a:stretch>
        </p:blipFill>
        <p:spPr>
          <a:xfrm>
            <a:off x="197945" y="2614232"/>
            <a:ext cx="3797536" cy="2259534"/>
          </a:xfrm>
          <a:prstGeom prst="rect">
            <a:avLst/>
          </a:prstGeom>
        </p:spPr>
      </p:pic>
      <p:pic>
        <p:nvPicPr>
          <p:cNvPr id="7" name="Picture 6">
            <a:extLst>
              <a:ext uri="{FF2B5EF4-FFF2-40B4-BE49-F238E27FC236}">
                <a16:creationId xmlns:a16="http://schemas.microsoft.com/office/drawing/2014/main" id="{3FA86AE8-754D-EB9E-D28C-7AB12F0D4CF4}"/>
              </a:ext>
            </a:extLst>
          </p:cNvPr>
          <p:cNvPicPr>
            <a:picLocks noChangeAspect="1"/>
          </p:cNvPicPr>
          <p:nvPr/>
        </p:nvPicPr>
        <p:blipFill>
          <a:blip r:embed="rId3"/>
          <a:stretch>
            <a:fillRect/>
          </a:stretch>
        </p:blipFill>
        <p:spPr>
          <a:xfrm>
            <a:off x="4197232" y="2614232"/>
            <a:ext cx="3797536" cy="2259534"/>
          </a:xfrm>
          <a:prstGeom prst="rect">
            <a:avLst/>
          </a:prstGeom>
        </p:spPr>
      </p:pic>
      <p:pic>
        <p:nvPicPr>
          <p:cNvPr id="5" name="Content Placeholder 4" descr="A graph with different colored bars&#10;&#10;AI-generated content may be incorrect.">
            <a:extLst>
              <a:ext uri="{FF2B5EF4-FFF2-40B4-BE49-F238E27FC236}">
                <a16:creationId xmlns:a16="http://schemas.microsoft.com/office/drawing/2014/main" id="{15CE020B-679C-5E8B-0661-5BBE109940E5}"/>
              </a:ext>
            </a:extLst>
          </p:cNvPr>
          <p:cNvPicPr>
            <a:picLocks noGrp="1" noChangeAspect="1"/>
          </p:cNvPicPr>
          <p:nvPr>
            <p:ph idx="1"/>
          </p:nvPr>
        </p:nvPicPr>
        <p:blipFill>
          <a:blip r:embed="rId4"/>
          <a:stretch>
            <a:fillRect/>
          </a:stretch>
        </p:blipFill>
        <p:spPr>
          <a:xfrm>
            <a:off x="8196519" y="2618979"/>
            <a:ext cx="3797536" cy="2250041"/>
          </a:xfrm>
          <a:prstGeom prst="rect">
            <a:avLst/>
          </a:prstGeom>
        </p:spPr>
      </p:pic>
      <p:sp>
        <p:nvSpPr>
          <p:cNvPr id="10" name="TextBox 9">
            <a:extLst>
              <a:ext uri="{FF2B5EF4-FFF2-40B4-BE49-F238E27FC236}">
                <a16:creationId xmlns:a16="http://schemas.microsoft.com/office/drawing/2014/main" id="{C0035C82-9C5A-E92A-1A8A-E2D1A90E14C9}"/>
              </a:ext>
            </a:extLst>
          </p:cNvPr>
          <p:cNvSpPr txBox="1"/>
          <p:nvPr/>
        </p:nvSpPr>
        <p:spPr>
          <a:xfrm>
            <a:off x="838200" y="5074575"/>
            <a:ext cx="3527632" cy="307777"/>
          </a:xfrm>
          <a:prstGeom prst="rect">
            <a:avLst/>
          </a:prstGeom>
          <a:noFill/>
        </p:spPr>
        <p:txBody>
          <a:bodyPr wrap="none" rtlCol="0">
            <a:spAutoFit/>
          </a:bodyPr>
          <a:lstStyle/>
          <a:p>
            <a:r>
              <a:rPr lang="en-US" sz="1400" dirty="0"/>
              <a:t>*Spell did much better with manual scoring</a:t>
            </a:r>
          </a:p>
        </p:txBody>
      </p:sp>
      <p:sp>
        <p:nvSpPr>
          <p:cNvPr id="11" name="TextBox 10">
            <a:extLst>
              <a:ext uri="{FF2B5EF4-FFF2-40B4-BE49-F238E27FC236}">
                <a16:creationId xmlns:a16="http://schemas.microsoft.com/office/drawing/2014/main" id="{0AB699F2-B075-8EDF-7764-250D9DC175E1}"/>
              </a:ext>
            </a:extLst>
          </p:cNvPr>
          <p:cNvSpPr txBox="1"/>
          <p:nvPr/>
        </p:nvSpPr>
        <p:spPr>
          <a:xfrm>
            <a:off x="2096713" y="3059668"/>
            <a:ext cx="29046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8854750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B49435-B04C-C66E-B7B4-C77AF1781C32}"/>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endParaRPr lang="en-US" sz="5200" kern="1200">
              <a:solidFill>
                <a:schemeClr val="tx1"/>
              </a:solidFill>
              <a:latin typeface="+mj-lt"/>
              <a:ea typeface="+mj-ea"/>
              <a:cs typeface="+mj-cs"/>
            </a:endParaRPr>
          </a:p>
        </p:txBody>
      </p:sp>
      <p:pic>
        <p:nvPicPr>
          <p:cNvPr id="5" name="Content Placeholder 4" descr="A graph with different colored squares&#10;&#10;AI-generated content may be incorrect.">
            <a:extLst>
              <a:ext uri="{FF2B5EF4-FFF2-40B4-BE49-F238E27FC236}">
                <a16:creationId xmlns:a16="http://schemas.microsoft.com/office/drawing/2014/main" id="{4DCB7911-6493-F1BA-12D0-43417516C600}"/>
              </a:ext>
            </a:extLst>
          </p:cNvPr>
          <p:cNvPicPr>
            <a:picLocks noGrp="1" noChangeAspect="1"/>
          </p:cNvPicPr>
          <p:nvPr>
            <p:ph idx="1"/>
          </p:nvPr>
        </p:nvPicPr>
        <p:blipFill>
          <a:blip r:embed="rId2"/>
          <a:srcRect l="3679" r="7563"/>
          <a:stretch>
            <a:fillRect/>
          </a:stretch>
        </p:blipFill>
        <p:spPr>
          <a:xfrm>
            <a:off x="198741" y="2410448"/>
            <a:ext cx="5803323" cy="3890357"/>
          </a:xfrm>
          <a:prstGeom prst="rect">
            <a:avLst/>
          </a:prstGeom>
        </p:spPr>
      </p:pic>
      <p:pic>
        <p:nvPicPr>
          <p:cNvPr id="7" name="Picture 6" descr="A graph with different colored squares&#10;&#10;AI-generated content may be incorrect.">
            <a:extLst>
              <a:ext uri="{FF2B5EF4-FFF2-40B4-BE49-F238E27FC236}">
                <a16:creationId xmlns:a16="http://schemas.microsoft.com/office/drawing/2014/main" id="{B38120B6-AE42-B50D-01FB-911EE4754D12}"/>
              </a:ext>
            </a:extLst>
          </p:cNvPr>
          <p:cNvPicPr>
            <a:picLocks noChangeAspect="1"/>
          </p:cNvPicPr>
          <p:nvPr/>
        </p:nvPicPr>
        <p:blipFill>
          <a:blip r:embed="rId3"/>
          <a:srcRect l="5697" r="5546"/>
          <a:stretch>
            <a:fillRect/>
          </a:stretch>
        </p:blipFill>
        <p:spPr>
          <a:xfrm>
            <a:off x="6189934" y="2410448"/>
            <a:ext cx="5803323" cy="3890357"/>
          </a:xfrm>
          <a:prstGeom prst="rect">
            <a:avLst/>
          </a:prstGeom>
        </p:spPr>
      </p:pic>
    </p:spTree>
    <p:extLst>
      <p:ext uri="{BB962C8B-B14F-4D97-AF65-F5344CB8AC3E}">
        <p14:creationId xmlns:p14="http://schemas.microsoft.com/office/powerpoint/2010/main" val="17279061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E817-895E-4ADA-80AC-8B493EA03AD3}"/>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75F69D2F-FB6B-F17F-78B6-91A8EA6ABE49}"/>
              </a:ext>
            </a:extLst>
          </p:cNvPr>
          <p:cNvSpPr>
            <a:spLocks noGrp="1"/>
          </p:cNvSpPr>
          <p:nvPr>
            <p:ph idx="1"/>
          </p:nvPr>
        </p:nvSpPr>
        <p:spPr/>
        <p:txBody>
          <a:bodyPr>
            <a:normAutofit fontScale="85000" lnSpcReduction="10000"/>
          </a:bodyPr>
          <a:lstStyle/>
          <a:p>
            <a:pPr marL="0" indent="0">
              <a:buNone/>
            </a:pPr>
            <a:r>
              <a:rPr lang="en-US" dirty="0"/>
              <a:t> Problem: place 120 points on a unit square boundary to extremize sum of</a:t>
            </a:r>
          </a:p>
          <a:p>
            <a:pPr marL="0" indent="0">
              <a:buNone/>
            </a:pPr>
            <a:r>
              <a:rPr lang="en-US" dirty="0"/>
              <a:t>  pairwise distances; find the threshold t.</a:t>
            </a:r>
          </a:p>
          <a:p>
            <a:pPr marL="0" indent="0">
              <a:buNone/>
            </a:pPr>
            <a:endParaRPr lang="en-US" dirty="0"/>
          </a:p>
          <a:p>
            <a:pPr marL="0" indent="0">
              <a:buNone/>
            </a:pPr>
            <a:r>
              <a:rPr lang="en-US" dirty="0"/>
              <a:t> a. Wrote </a:t>
            </a:r>
            <a:r>
              <a:rPr lang="en-US" dirty="0" err="1"/>
              <a:t>defn</a:t>
            </a:r>
            <a:r>
              <a:rPr lang="en-US" dirty="0"/>
              <a:t> numerical-integrate (trapezoidal rule, 10k points)</a:t>
            </a:r>
          </a:p>
          <a:p>
            <a:pPr marL="0" indent="0">
              <a:buNone/>
            </a:pPr>
            <a:r>
              <a:rPr lang="en-US" dirty="0"/>
              <a:t> b. Ran 500×500 double Riemann sum over </a:t>
            </a:r>
            <a:r>
              <a:rPr lang="en-US" dirty="0" err="1"/>
              <a:t>boundary×boundary</a:t>
            </a:r>
            <a:endParaRPr lang="en-US" dirty="0"/>
          </a:p>
          <a:p>
            <a:pPr marL="0" indent="0">
              <a:buNone/>
            </a:pPr>
            <a:r>
              <a:rPr lang="en-US" dirty="0"/>
              <a:t> c. Tested 6+ point configurations (30-per-corner, equally spaced, asymmetric)</a:t>
            </a:r>
          </a:p>
          <a:p>
            <a:pPr marL="0" indent="0">
              <a:buNone/>
            </a:pPr>
            <a:r>
              <a:rPr lang="en-US" dirty="0"/>
              <a:t> d. Discovered from the numerical data that the min of one configuration exactly equals the max of another → t = 30(1+√5) via IVT with dual bounding</a:t>
            </a:r>
          </a:p>
          <a:p>
            <a:pPr marL="0" indent="0">
              <a:buNone/>
            </a:pPr>
            <a:r>
              <a:rPr lang="en-US" dirty="0"/>
              <a:t> Pattern: Computation as discovery — numerical search revealed a structural fact the model couldn’t derive symbolically, then used it to construct the proof</a:t>
            </a:r>
          </a:p>
        </p:txBody>
      </p:sp>
    </p:spTree>
    <p:extLst>
      <p:ext uri="{BB962C8B-B14F-4D97-AF65-F5344CB8AC3E}">
        <p14:creationId xmlns:p14="http://schemas.microsoft.com/office/powerpoint/2010/main" val="16568209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FE20-C7D2-0B78-2D0A-7C05DB609B6A}"/>
              </a:ext>
            </a:extLst>
          </p:cNvPr>
          <p:cNvSpPr>
            <a:spLocks noGrp="1"/>
          </p:cNvSpPr>
          <p:nvPr>
            <p:ph type="title"/>
          </p:nvPr>
        </p:nvSpPr>
        <p:spPr/>
        <p:txBody>
          <a:bodyPr/>
          <a:lstStyle/>
          <a:p>
            <a:r>
              <a:rPr lang="en-US" dirty="0"/>
              <a:t>20 questions</a:t>
            </a:r>
          </a:p>
        </p:txBody>
      </p:sp>
      <p:sp>
        <p:nvSpPr>
          <p:cNvPr id="3" name="Content Placeholder 2">
            <a:extLst>
              <a:ext uri="{FF2B5EF4-FFF2-40B4-BE49-F238E27FC236}">
                <a16:creationId xmlns:a16="http://schemas.microsoft.com/office/drawing/2014/main" id="{AFDF0B44-2C6A-AE76-3347-9DB51996CE47}"/>
              </a:ext>
            </a:extLst>
          </p:cNvPr>
          <p:cNvSpPr>
            <a:spLocks noGrp="1"/>
          </p:cNvSpPr>
          <p:nvPr>
            <p:ph idx="1"/>
          </p:nvPr>
        </p:nvSpPr>
        <p:spPr/>
        <p:txBody>
          <a:bodyPr/>
          <a:lstStyle/>
          <a:p>
            <a:pPr marL="0" indent="0">
              <a:buNone/>
            </a:pPr>
            <a:r>
              <a:rPr lang="en-US" dirty="0"/>
              <a:t>Play 20 questions. You are the orchestrator who picks a secret word. Create two subagent roles: (1) a CHECKER who knows the secret and answers yes/no honestly, (2) a WORKER who does NOT  know the secret and must guess by asking questions. The worker should adapt its questions based on previous answers. Loop until the worker guesses correctly or runs out of guesses.</a:t>
            </a:r>
          </a:p>
        </p:txBody>
      </p:sp>
    </p:spTree>
    <p:extLst>
      <p:ext uri="{BB962C8B-B14F-4D97-AF65-F5344CB8AC3E}">
        <p14:creationId xmlns:p14="http://schemas.microsoft.com/office/powerpoint/2010/main" val="1096477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C8972-E442-D697-9118-7B6A7B30DF82}"/>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a:t>
            </a:r>
            <a:r>
              <a:rPr lang="en-US" dirty="0">
                <a:solidFill>
                  <a:srgbClr val="FF0000"/>
                </a:solidFill>
              </a:rPr>
              <a:t>(def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7" name="Rectangle 6">
            <a:extLst>
              <a:ext uri="{FF2B5EF4-FFF2-40B4-BE49-F238E27FC236}">
                <a16:creationId xmlns:a16="http://schemas.microsoft.com/office/drawing/2014/main" id="{51DDD1AE-3BE1-C28D-6B15-82CA17BF9515}"/>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70209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C0DB-CB99-C050-6936-94C132EE91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D784B7-14E2-AF9A-D6E0-90C4ADA788CB}"/>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solidFill>
                  <a:srgbClr val="FFC000"/>
                </a:solidFill>
              </a:rPr>
              <a:t>    (</a:t>
            </a:r>
            <a:r>
              <a:rPr lang="en-US" dirty="0" err="1">
                <a:solidFill>
                  <a:srgbClr val="FFC000"/>
                </a:solidFill>
              </a:rPr>
              <a:t>defn</a:t>
            </a:r>
            <a:r>
              <a:rPr lang="en-US" dirty="0">
                <a:solidFill>
                  <a:srgbClr val="FFC000"/>
                </a:solidFill>
              </a:rPr>
              <a:t> checker-respond [question]</a:t>
            </a:r>
          </a:p>
          <a:p>
            <a:r>
              <a:rPr lang="en-US" dirty="0">
                <a:solidFill>
                  <a:srgbClr val="FFC000"/>
                </a:solidFill>
              </a:rPr>
              <a:t>      (let [q (trim question)]</a:t>
            </a:r>
          </a:p>
          <a:p>
            <a:r>
              <a:rPr lang="en-US" dirty="0">
                <a:solidFill>
                  <a:srgbClr val="FFC000"/>
                </a:solidFill>
              </a:rPr>
              <a:t>        (</a:t>
            </a:r>
            <a:r>
              <a:rPr lang="en-US" dirty="0" err="1">
                <a:solidFill>
                  <a:srgbClr val="FFC000"/>
                </a:solidFill>
              </a:rPr>
              <a:t>cond</a:t>
            </a:r>
            <a:endParaRPr lang="en-US" dirty="0">
              <a:solidFill>
                <a:srgbClr val="FFC000"/>
              </a:solidFill>
            </a:endParaRPr>
          </a:p>
          <a:p>
            <a:r>
              <a:rPr lang="en-US" dirty="0">
                <a:solidFill>
                  <a:srgbClr val="FFC000"/>
                </a:solidFill>
              </a:rPr>
              <a:t>          (or (= q "Is it an animal?")</a:t>
            </a:r>
          </a:p>
          <a:p>
            <a:r>
              <a:rPr lang="en-US" dirty="0">
                <a:solidFill>
                  <a:srgbClr val="FFC000"/>
                </a:solidFill>
              </a:rPr>
              <a:t>              (= q "Animal?"))</a:t>
            </a:r>
          </a:p>
          <a:p>
            <a:r>
              <a:rPr lang="en-US" dirty="0">
                <a:solidFill>
                  <a:srgbClr val="FFC000"/>
                </a:solidFill>
              </a:rPr>
              <a:t>          "yes"</a:t>
            </a:r>
          </a:p>
          <a:p>
            <a:r>
              <a:rPr lang="en-US" dirty="0">
                <a:solidFill>
                  <a:srgbClr val="FFC000"/>
                </a:solidFill>
              </a:rPr>
              <a:t>	… </a:t>
            </a:r>
          </a:p>
          <a:p>
            <a:r>
              <a:rPr lang="en-US" dirty="0"/>
              <a:t>          ;; Fallback: ask an LLM to answer yes/no based on the secret.</a:t>
            </a:r>
            <a:r>
              <a:rPr lang="en-US" dirty="0">
                <a:solidFill>
                  <a:srgbClr val="FFC000"/>
                </a:solidFill>
              </a:rPr>
              <a:t>          </a:t>
            </a:r>
          </a:p>
          <a:p>
            <a:r>
              <a:rPr lang="en-US" dirty="0">
                <a:solidFill>
                  <a:srgbClr val="FFC000"/>
                </a:solidFill>
              </a:rPr>
              <a:t>          :else</a:t>
            </a:r>
          </a:p>
          <a:p>
            <a:r>
              <a:rPr lang="en-US" dirty="0">
                <a:solidFill>
                  <a:srgbClr val="FFC000"/>
                </a:solidFill>
              </a:rPr>
              <a:t>          (let [resp (trim (leaf-</a:t>
            </a:r>
            <a:r>
              <a:rPr lang="en-US" dirty="0" err="1">
                <a:solidFill>
                  <a:srgbClr val="FFC000"/>
                </a:solidFill>
              </a:rPr>
              <a:t>llm</a:t>
            </a:r>
            <a:endParaRPr lang="en-US" dirty="0">
              <a:solidFill>
                <a:srgbClr val="FFC000"/>
              </a:solidFill>
            </a:endParaRPr>
          </a:p>
          <a:p>
            <a:r>
              <a:rPr lang="en-US" dirty="0">
                <a:solidFill>
                  <a:srgbClr val="FFC000"/>
                </a:solidFill>
              </a:rPr>
              <a:t>                            (cat "You are CHECKER in 20 questions. Secret word: " secret</a:t>
            </a:r>
          </a:p>
          <a:p>
            <a:r>
              <a:rPr lang="en-US" dirty="0">
                <a:solidFill>
                  <a:srgbClr val="FFC000"/>
                </a:solidFill>
              </a:rPr>
              <a:t>                                 ". Answer ONLY '</a:t>
            </a:r>
            <a:r>
              <a:rPr lang="en-US" dirty="0" err="1">
                <a:solidFill>
                  <a:srgbClr val="FFC000"/>
                </a:solidFill>
              </a:rPr>
              <a:t>yes'</a:t>
            </a:r>
            <a:r>
              <a:rPr lang="en-US" dirty="0">
                <a:solidFill>
                  <a:srgbClr val="FFC000"/>
                </a:solidFill>
              </a:rPr>
              <a:t> or 'no' (no punctuation). "</a:t>
            </a:r>
          </a:p>
          <a:p>
            <a:r>
              <a:rPr lang="en-US" dirty="0">
                <a:solidFill>
                  <a:srgbClr val="FFC000"/>
                </a:solidFill>
              </a:rPr>
              <a:t>                                 "Question: " q)))]</a:t>
            </a:r>
          </a:p>
          <a:p>
            <a:r>
              <a:rPr lang="en-US" dirty="0">
                <a:solidFill>
                  <a:srgbClr val="FFC000"/>
                </a:solidFill>
              </a:rPr>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2" name="Rectangle 1">
            <a:extLst>
              <a:ext uri="{FF2B5EF4-FFF2-40B4-BE49-F238E27FC236}">
                <a16:creationId xmlns:a16="http://schemas.microsoft.com/office/drawing/2014/main" id="{E0A93068-6622-371E-FE51-6E37A0BE596C}"/>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3721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321-72EE-7470-3C70-A240BCB9AE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AD908-4740-96B9-6ED5-A66CEAFC3025}"/>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solidFill>
                  <a:srgbClr val="FFC000"/>
                </a:solidFill>
              </a:rPr>
              <a:t>    (</a:t>
            </a:r>
            <a:r>
              <a:rPr lang="en-US" dirty="0" err="1">
                <a:solidFill>
                  <a:srgbClr val="FFC000"/>
                </a:solidFill>
              </a:rPr>
              <a:t>defn</a:t>
            </a:r>
            <a:r>
              <a:rPr lang="en-US" dirty="0">
                <a:solidFill>
                  <a:srgbClr val="FFC000"/>
                </a:solidFill>
              </a:rPr>
              <a:t> worker-next [history]</a:t>
            </a:r>
          </a:p>
          <a:p>
            <a:r>
              <a:rPr lang="en-US" dirty="0">
                <a:solidFill>
                  <a:srgbClr val="FFC000"/>
                </a:solidFill>
              </a:rPr>
              <a:t>      (leaf-</a:t>
            </a:r>
            <a:r>
              <a:rPr lang="en-US" dirty="0" err="1">
                <a:solidFill>
                  <a:srgbClr val="FFC000"/>
                </a:solidFill>
              </a:rPr>
              <a:t>llm</a:t>
            </a:r>
            <a:endParaRPr lang="en-US" dirty="0">
              <a:solidFill>
                <a:srgbClr val="FFC000"/>
              </a:solidFill>
            </a:endParaRPr>
          </a:p>
          <a:p>
            <a:r>
              <a:rPr lang="en-US" dirty="0">
                <a:solidFill>
                  <a:srgbClr val="FFC000"/>
                </a:solidFill>
              </a:rPr>
              <a:t>        (cat</a:t>
            </a:r>
          </a:p>
          <a:p>
            <a:r>
              <a:rPr lang="en-US" dirty="0">
                <a:solidFill>
                  <a:srgbClr val="FFC000"/>
                </a:solidFill>
              </a:rPr>
              <a:t>          "You are WORKER playing 20 questions. …</a:t>
            </a:r>
          </a:p>
          <a:p>
            <a:endParaRPr lang="en-US" dirty="0"/>
          </a:p>
        </p:txBody>
      </p:sp>
      <p:sp>
        <p:nvSpPr>
          <p:cNvPr id="2" name="Rectangle 1">
            <a:extLst>
              <a:ext uri="{FF2B5EF4-FFF2-40B4-BE49-F238E27FC236}">
                <a16:creationId xmlns:a16="http://schemas.microsoft.com/office/drawing/2014/main" id="{77AD6A5D-7CD1-DFFF-007F-BC46453854AD}"/>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0060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496EBE-E7B9-F51D-8ED0-13DF01F1571D}"/>
              </a:ext>
            </a:extLst>
          </p:cNvPr>
          <p:cNvSpPr txBox="1"/>
          <p:nvPr/>
        </p:nvSpPr>
        <p:spPr>
          <a:xfrm>
            <a:off x="2870200" y="356444"/>
            <a:ext cx="6096000" cy="5078313"/>
          </a:xfrm>
          <a:prstGeom prst="rect">
            <a:avLst/>
          </a:prstGeom>
          <a:noFill/>
        </p:spPr>
        <p:txBody>
          <a:bodyPr wrap="square">
            <a:spAutoFit/>
          </a:bodyPr>
          <a:lstStyle/>
          <a:p>
            <a:endParaRPr lang="en-US" dirty="0"/>
          </a:p>
          <a:p>
            <a:r>
              <a:rPr lang="en-US" dirty="0"/>
              <a:t>    </a:t>
            </a:r>
            <a:r>
              <a:rPr lang="en-US" dirty="0">
                <a:solidFill>
                  <a:srgbClr val="00B050"/>
                </a:solidFill>
              </a:rPr>
              <a:t>(</a:t>
            </a:r>
            <a:r>
              <a:rPr lang="en-US" dirty="0" err="1">
                <a:solidFill>
                  <a:srgbClr val="00B050"/>
                </a:solidFill>
              </a:rPr>
              <a:t>defn</a:t>
            </a:r>
            <a:r>
              <a:rPr lang="en-US" dirty="0">
                <a:solidFill>
                  <a:srgbClr val="00B050"/>
                </a:solidFill>
              </a:rPr>
              <a:t> loop-game [n history]</a:t>
            </a:r>
          </a:p>
          <a:p>
            <a:r>
              <a:rPr lang="en-US" dirty="0">
                <a:solidFill>
                  <a:srgbClr val="00B050"/>
                </a:solidFill>
              </a:rPr>
              <a:t>      (if (&gt; n 20)</a:t>
            </a:r>
          </a:p>
          <a:p>
            <a:r>
              <a:rPr lang="en-US" dirty="0">
                <a:solidFill>
                  <a:srgbClr val="00B050"/>
                </a:solidFill>
              </a:rPr>
              <a:t>        (cat "Out of questions.\</a:t>
            </a:r>
            <a:r>
              <a:rPr lang="en-US" dirty="0" err="1">
                <a:solidFill>
                  <a:srgbClr val="00B050"/>
                </a:solidFill>
              </a:rPr>
              <a:t>nSecret</a:t>
            </a:r>
            <a:r>
              <a:rPr lang="en-US" dirty="0">
                <a:solidFill>
                  <a:srgbClr val="00B050"/>
                </a:solidFill>
              </a:rPr>
              <a:t> was: " secret "\n\</a:t>
            </a:r>
            <a:r>
              <a:rPr lang="en-US" dirty="0" err="1">
                <a:solidFill>
                  <a:srgbClr val="00B050"/>
                </a:solidFill>
              </a:rPr>
              <a:t>nTranscript</a:t>
            </a:r>
            <a:r>
              <a:rPr lang="en-US" dirty="0">
                <a:solidFill>
                  <a:srgbClr val="00B050"/>
                </a:solidFill>
              </a:rPr>
              <a:t>:\n" history)</a:t>
            </a:r>
          </a:p>
          <a:p>
            <a:r>
              <a:rPr lang="en-US" dirty="0">
                <a:solidFill>
                  <a:srgbClr val="00B050"/>
                </a:solidFill>
              </a:rPr>
              <a:t>        (let [q (trim (</a:t>
            </a:r>
            <a:r>
              <a:rPr lang="en-US" dirty="0">
                <a:solidFill>
                  <a:srgbClr val="FFC000"/>
                </a:solidFill>
              </a:rPr>
              <a:t>worker-next</a:t>
            </a:r>
            <a:r>
              <a:rPr lang="en-US" dirty="0">
                <a:solidFill>
                  <a:srgbClr val="00B050"/>
                </a:solidFill>
              </a:rPr>
              <a:t> history))</a:t>
            </a:r>
          </a:p>
          <a:p>
            <a:r>
              <a:rPr lang="en-US" dirty="0">
                <a:solidFill>
                  <a:srgbClr val="00B050"/>
                </a:solidFill>
              </a:rPr>
              <a:t>              a (</a:t>
            </a:r>
            <a:r>
              <a:rPr lang="en-US" dirty="0">
                <a:solidFill>
                  <a:srgbClr val="FFC000"/>
                </a:solidFill>
              </a:rPr>
              <a:t>checker-respond</a:t>
            </a:r>
            <a:r>
              <a:rPr lang="en-US" dirty="0">
                <a:solidFill>
                  <a:srgbClr val="00B050"/>
                </a:solidFill>
              </a:rPr>
              <a:t> q)</a:t>
            </a:r>
          </a:p>
          <a:p>
            <a:r>
              <a:rPr lang="en-US" dirty="0">
                <a:solidFill>
                  <a:srgbClr val="00B050"/>
                </a:solidFill>
              </a:rPr>
              <a:t>              history2 (cat history "Q" n ": " q "\</a:t>
            </a:r>
            <a:r>
              <a:rPr lang="en-US" dirty="0" err="1">
                <a:solidFill>
                  <a:srgbClr val="00B050"/>
                </a:solidFill>
              </a:rPr>
              <a:t>nA</a:t>
            </a:r>
            <a:r>
              <a:rPr lang="en-US" dirty="0">
                <a:solidFill>
                  <a:srgbClr val="00B050"/>
                </a:solidFill>
              </a:rPr>
              <a:t>" n ": " a "\n")</a:t>
            </a:r>
          </a:p>
          <a:p>
            <a:r>
              <a:rPr lang="en-US" dirty="0">
                <a:solidFill>
                  <a:srgbClr val="00B050"/>
                </a:solidFill>
              </a:rPr>
              <a:t>              g (worker-guess history2)]</a:t>
            </a:r>
          </a:p>
          <a:p>
            <a:r>
              <a:rPr lang="en-US" dirty="0">
                <a:solidFill>
                  <a:srgbClr val="00B050"/>
                </a:solidFill>
              </a:rPr>
              <a:t>          (if (= (trim g) "NO_GUESS")</a:t>
            </a:r>
          </a:p>
          <a:p>
            <a:r>
              <a:rPr lang="en-US" dirty="0">
                <a:solidFill>
                  <a:srgbClr val="00B050"/>
                </a:solidFill>
              </a:rPr>
              <a:t>            (loop-game (+ n 1) history2)</a:t>
            </a:r>
          </a:p>
          <a:p>
            <a:r>
              <a:rPr lang="en-US" dirty="0">
                <a:solidFill>
                  <a:srgbClr val="00B050"/>
                </a:solidFill>
              </a:rPr>
              <a:t>            (if (= (trim g) </a:t>
            </a:r>
            <a:r>
              <a:rPr lang="en-US" dirty="0">
                <a:solidFill>
                  <a:srgbClr val="FF0000"/>
                </a:solidFill>
              </a:rPr>
              <a:t>secret</a:t>
            </a:r>
            <a:r>
              <a:rPr lang="en-US" dirty="0">
                <a:solidFill>
                  <a:srgbClr val="00B050"/>
                </a:solidFill>
              </a:rPr>
              <a:t>)</a:t>
            </a:r>
          </a:p>
          <a:p>
            <a:r>
              <a:rPr lang="en-US" dirty="0">
                <a:solidFill>
                  <a:srgbClr val="00B050"/>
                </a:solidFill>
              </a:rPr>
              <a:t>              (cat "WORKER guesses: " g "\</a:t>
            </a:r>
            <a:r>
              <a:rPr lang="en-US" dirty="0" err="1">
                <a:solidFill>
                  <a:srgbClr val="00B050"/>
                </a:solidFill>
              </a:rPr>
              <a:t>nResult</a:t>
            </a:r>
            <a:r>
              <a:rPr lang="en-US" dirty="0">
                <a:solidFill>
                  <a:srgbClr val="00B050"/>
                </a:solidFill>
              </a:rPr>
              <a:t>: correct.\n\</a:t>
            </a:r>
            <a:r>
              <a:rPr lang="en-US" dirty="0" err="1">
                <a:solidFill>
                  <a:srgbClr val="00B050"/>
                </a:solidFill>
              </a:rPr>
              <a:t>nTranscript</a:t>
            </a:r>
            <a:r>
              <a:rPr lang="en-US" dirty="0">
                <a:solidFill>
                  <a:srgbClr val="00B050"/>
                </a:solidFill>
              </a:rPr>
              <a:t>:\n" history2)</a:t>
            </a:r>
          </a:p>
          <a:p>
            <a:r>
              <a:rPr lang="en-US" dirty="0">
                <a:solidFill>
                  <a:srgbClr val="00B050"/>
                </a:solidFill>
              </a:rPr>
              <a:t>              (loop-game (+ n 1) (cat history2 "WORKER guesses: " g "\</a:t>
            </a:r>
            <a:r>
              <a:rPr lang="en-US" dirty="0" err="1">
                <a:solidFill>
                  <a:srgbClr val="00B050"/>
                </a:solidFill>
              </a:rPr>
              <a:t>nResult</a:t>
            </a:r>
            <a:r>
              <a:rPr lang="en-US" dirty="0">
                <a:solidFill>
                  <a:srgbClr val="00B050"/>
                </a:solidFill>
              </a:rPr>
              <a:t>: incorrect.\n")))))))</a:t>
            </a:r>
            <a:br>
              <a:rPr lang="en-US" dirty="0">
                <a:solidFill>
                  <a:srgbClr val="00B050"/>
                </a:solidFill>
              </a:rPr>
            </a:br>
            <a:br>
              <a:rPr lang="en-US" dirty="0"/>
            </a:br>
            <a:r>
              <a:rPr lang="en-US" dirty="0"/>
              <a:t>(loop-game 1 ""))</a:t>
            </a:r>
          </a:p>
        </p:txBody>
      </p:sp>
    </p:spTree>
    <p:extLst>
      <p:ext uri="{BB962C8B-B14F-4D97-AF65-F5344CB8AC3E}">
        <p14:creationId xmlns:p14="http://schemas.microsoft.com/office/powerpoint/2010/main" val="27882000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DF916-A1AE-BF45-89F4-124248B1EEEA}"/>
              </a:ext>
            </a:extLst>
          </p:cNvPr>
          <p:cNvSpPr txBox="1"/>
          <p:nvPr/>
        </p:nvSpPr>
        <p:spPr>
          <a:xfrm>
            <a:off x="1778000" y="335845"/>
            <a:ext cx="6096000" cy="6186309"/>
          </a:xfrm>
          <a:prstGeom prst="rect">
            <a:avLst/>
          </a:prstGeom>
          <a:noFill/>
        </p:spPr>
        <p:txBody>
          <a:bodyPr wrap="square">
            <a:spAutoFit/>
          </a:bodyPr>
          <a:lstStyle/>
          <a:p>
            <a:r>
              <a:rPr lang="en-US" dirty="0"/>
              <a:t>  Transcript:</a:t>
            </a:r>
          </a:p>
          <a:p>
            <a:r>
              <a:rPr lang="en-US" dirty="0"/>
              <a:t>  Q1: Is it a physical object?</a:t>
            </a:r>
          </a:p>
          <a:p>
            <a:r>
              <a:rPr lang="en-US" dirty="0"/>
              <a:t>  A1: yes</a:t>
            </a:r>
          </a:p>
          <a:p>
            <a:r>
              <a:rPr lang="en-US" dirty="0"/>
              <a:t>  Q2: Is it something typically found indoors?</a:t>
            </a:r>
          </a:p>
          <a:p>
            <a:r>
              <a:rPr lang="en-US" dirty="0"/>
              <a:t>  A2: no</a:t>
            </a:r>
          </a:p>
          <a:p>
            <a:r>
              <a:rPr lang="en-US" dirty="0"/>
              <a:t>  Q3: Is it a natural object (not man-made)?</a:t>
            </a:r>
          </a:p>
          <a:p>
            <a:r>
              <a:rPr lang="en-US" dirty="0"/>
              <a:t>  A3: yes</a:t>
            </a:r>
          </a:p>
          <a:p>
            <a:r>
              <a:rPr lang="en-US" dirty="0"/>
              <a:t>  Q4: Is it a living thing (like a plant or animal)?</a:t>
            </a:r>
          </a:p>
          <a:p>
            <a:r>
              <a:rPr lang="en-US" dirty="0"/>
              <a:t>  A4: yes</a:t>
            </a:r>
          </a:p>
          <a:p>
            <a:r>
              <a:rPr lang="en-US" dirty="0"/>
              <a:t>  Q5: Is it an animal?</a:t>
            </a:r>
          </a:p>
          <a:p>
            <a:r>
              <a:rPr lang="en-US" dirty="0"/>
              <a:t>  A5: yes</a:t>
            </a:r>
          </a:p>
          <a:p>
            <a:r>
              <a:rPr lang="en-US" dirty="0"/>
              <a:t>  Q6: Is it a vertebrate (does it have a backbone)?</a:t>
            </a:r>
          </a:p>
          <a:p>
            <a:r>
              <a:rPr lang="en-US" dirty="0"/>
              <a:t>  A6: no</a:t>
            </a:r>
          </a:p>
          <a:p>
            <a:r>
              <a:rPr lang="en-US" dirty="0"/>
              <a:t>  Q7: Is it an insect (has six legs and three body segments)?</a:t>
            </a:r>
          </a:p>
          <a:p>
            <a:r>
              <a:rPr lang="en-US" dirty="0"/>
              <a:t>  A7: no</a:t>
            </a:r>
          </a:p>
          <a:p>
            <a:r>
              <a:rPr lang="en-US" dirty="0"/>
              <a:t>  WORKER guesses: spider</a:t>
            </a:r>
          </a:p>
          <a:p>
            <a:r>
              <a:rPr lang="en-US" dirty="0"/>
              <a:t>  Result: incorrect.</a:t>
            </a:r>
          </a:p>
          <a:p>
            <a:r>
              <a:rPr lang="en-US" dirty="0"/>
              <a:t>  Q8: Is it a mollusk (like a snail, slug, clam, or octopus)?</a:t>
            </a:r>
          </a:p>
          <a:p>
            <a:r>
              <a:rPr lang="en-US" dirty="0"/>
              <a:t>  A8: yes</a:t>
            </a:r>
          </a:p>
          <a:p>
            <a:r>
              <a:rPr lang="en-US" dirty="0"/>
              <a:t>WORKER guesses: </a:t>
            </a:r>
            <a:r>
              <a:rPr lang="en-US" dirty="0">
                <a:solidFill>
                  <a:srgbClr val="FF0000"/>
                </a:solidFill>
              </a:rPr>
              <a:t>octopus</a:t>
            </a:r>
          </a:p>
          <a:p>
            <a:r>
              <a:rPr lang="en-US" dirty="0"/>
              <a:t>  Result: correct.</a:t>
            </a:r>
          </a:p>
          <a:p>
            <a:endParaRPr lang="en-US" dirty="0"/>
          </a:p>
        </p:txBody>
      </p:sp>
      <p:pic>
        <p:nvPicPr>
          <p:cNvPr id="1026" name="Picture 2" descr="Octopus clip art Images - Free Download on Freepik">
            <a:extLst>
              <a:ext uri="{FF2B5EF4-FFF2-40B4-BE49-F238E27FC236}">
                <a16:creationId xmlns:a16="http://schemas.microsoft.com/office/drawing/2014/main" id="{2C7F4B14-9EFE-7E4F-4849-A8199582A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000" y="1884106"/>
            <a:ext cx="3581400" cy="285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87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44B483-61B9-F89E-93F9-6EAB117EF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59F62-DE66-B0C1-B184-179B8C27FD21}"/>
              </a:ext>
            </a:extLst>
          </p:cNvPr>
          <p:cNvSpPr>
            <a:spLocks noGrp="1"/>
          </p:cNvSpPr>
          <p:nvPr>
            <p:ph type="title"/>
          </p:nvPr>
        </p:nvSpPr>
        <p:spPr/>
        <p:txBody>
          <a:bodyPr/>
          <a:lstStyle/>
          <a:p>
            <a:r>
              <a:rPr lang="en-US" dirty="0"/>
              <a:t>Spell </a:t>
            </a:r>
            <a:r>
              <a:rPr lang="en-US" sz="3600" dirty="0"/>
              <a:t>(self-prompting execution language for LLMs)</a:t>
            </a:r>
            <a:endParaRPr lang="en-US" dirty="0"/>
          </a:p>
        </p:txBody>
      </p:sp>
      <p:pic>
        <p:nvPicPr>
          <p:cNvPr id="11" name="Picture 10">
            <a:extLst>
              <a:ext uri="{FF2B5EF4-FFF2-40B4-BE49-F238E27FC236}">
                <a16:creationId xmlns:a16="http://schemas.microsoft.com/office/drawing/2014/main" id="{CFCD7B5F-3CE4-0613-9DB0-0E4FDADF6BE7}"/>
              </a:ext>
            </a:extLst>
          </p:cNvPr>
          <p:cNvPicPr>
            <a:picLocks noChangeAspect="1"/>
          </p:cNvPicPr>
          <p:nvPr/>
        </p:nvPicPr>
        <p:blipFill>
          <a:blip r:embed="rId2"/>
          <a:stretch>
            <a:fillRect/>
          </a:stretch>
        </p:blipFill>
        <p:spPr>
          <a:xfrm>
            <a:off x="432631" y="2970478"/>
            <a:ext cx="11522682" cy="2069607"/>
          </a:xfrm>
          <a:prstGeom prst="rect">
            <a:avLst/>
          </a:prstGeom>
        </p:spPr>
      </p:pic>
    </p:spTree>
    <p:extLst>
      <p:ext uri="{BB962C8B-B14F-4D97-AF65-F5344CB8AC3E}">
        <p14:creationId xmlns:p14="http://schemas.microsoft.com/office/powerpoint/2010/main" val="41144604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570F-51FC-A85B-A53E-65533A3FE05E}"/>
              </a:ext>
            </a:extLst>
          </p:cNvPr>
          <p:cNvSpPr>
            <a:spLocks noGrp="1"/>
          </p:cNvSpPr>
          <p:nvPr>
            <p:ph type="title"/>
          </p:nvPr>
        </p:nvSpPr>
        <p:spPr/>
        <p:txBody>
          <a:bodyPr/>
          <a:lstStyle/>
          <a:p>
            <a:r>
              <a:rPr lang="en-US" dirty="0"/>
              <a:t>Context = code</a:t>
            </a:r>
          </a:p>
        </p:txBody>
      </p:sp>
      <p:sp>
        <p:nvSpPr>
          <p:cNvPr id="3" name="Content Placeholder 2">
            <a:extLst>
              <a:ext uri="{FF2B5EF4-FFF2-40B4-BE49-F238E27FC236}">
                <a16:creationId xmlns:a16="http://schemas.microsoft.com/office/drawing/2014/main" id="{6404D976-F5D7-3005-8DF8-8748A3EF293E}"/>
              </a:ext>
            </a:extLst>
          </p:cNvPr>
          <p:cNvSpPr>
            <a:spLocks noGrp="1"/>
          </p:cNvSpPr>
          <p:nvPr>
            <p:ph idx="1"/>
          </p:nvPr>
        </p:nvSpPr>
        <p:spPr/>
        <p:txBody>
          <a:bodyPr/>
          <a:lstStyle/>
          <a:p>
            <a:pPr marL="0" indent="0">
              <a:buNone/>
            </a:pPr>
            <a:r>
              <a:rPr lang="en-US" dirty="0"/>
              <a:t>LLM should be able to manipulate context programmatically</a:t>
            </a:r>
            <a:br>
              <a:rPr lang="en-US" dirty="0"/>
            </a:br>
            <a:br>
              <a:rPr lang="en-US" dirty="0"/>
            </a:br>
            <a:r>
              <a:rPr lang="en-US" dirty="0"/>
              <a:t>Motivates:</a:t>
            </a:r>
          </a:p>
          <a:p>
            <a:r>
              <a:rPr lang="en-US" dirty="0"/>
              <a:t>Lisp (“code is data”)</a:t>
            </a:r>
          </a:p>
          <a:p>
            <a:r>
              <a:rPr lang="en-US" dirty="0" err="1"/>
              <a:t>Quining</a:t>
            </a:r>
            <a:r>
              <a:rPr lang="en-US" dirty="0"/>
              <a:t> via ‘</a:t>
            </a:r>
            <a:r>
              <a:rPr lang="en-US" dirty="0" err="1"/>
              <a:t>uneval</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0243759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3DFF8F-0714-F2A1-F5D1-1960743BB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0B0A5-5C27-2A32-8C2A-AFD957CD7FA7}"/>
              </a:ext>
            </a:extLst>
          </p:cNvPr>
          <p:cNvSpPr>
            <a:spLocks noGrp="1"/>
          </p:cNvSpPr>
          <p:nvPr>
            <p:ph type="title"/>
          </p:nvPr>
        </p:nvSpPr>
        <p:spPr/>
        <p:txBody>
          <a:bodyPr/>
          <a:lstStyle/>
          <a:p>
            <a:r>
              <a:rPr lang="en-US" dirty="0"/>
              <a:t>Environment = context</a:t>
            </a:r>
          </a:p>
        </p:txBody>
      </p:sp>
      <p:sp>
        <p:nvSpPr>
          <p:cNvPr id="3" name="Content Placeholder 2">
            <a:extLst>
              <a:ext uri="{FF2B5EF4-FFF2-40B4-BE49-F238E27FC236}">
                <a16:creationId xmlns:a16="http://schemas.microsoft.com/office/drawing/2014/main" id="{D0F8FA8E-031A-8E97-830E-35BEBB061EDC}"/>
              </a:ext>
            </a:extLst>
          </p:cNvPr>
          <p:cNvSpPr>
            <a:spLocks noGrp="1"/>
          </p:cNvSpPr>
          <p:nvPr>
            <p:ph idx="1"/>
          </p:nvPr>
        </p:nvSpPr>
        <p:spPr>
          <a:xfrm>
            <a:off x="838200" y="1908176"/>
            <a:ext cx="10515600" cy="4121149"/>
          </a:xfrm>
        </p:spPr>
        <p:txBody>
          <a:bodyPr/>
          <a:lstStyle/>
          <a:p>
            <a:pPr marL="0" indent="0">
              <a:buNone/>
            </a:pPr>
            <a:r>
              <a:rPr lang="en-US" dirty="0"/>
              <a:t>LLM cannot reason about anything not in its context window</a:t>
            </a:r>
          </a:p>
          <a:p>
            <a:pPr marL="0" indent="0">
              <a:buNone/>
            </a:pPr>
            <a:endParaRPr lang="en-US" dirty="0"/>
          </a:p>
          <a:p>
            <a:pPr marL="0" indent="0">
              <a:buNone/>
            </a:pPr>
            <a:r>
              <a:rPr lang="en-US" dirty="0"/>
              <a:t>Motivates:</a:t>
            </a:r>
          </a:p>
          <a:p>
            <a:r>
              <a:rPr lang="en-US" dirty="0"/>
              <a:t>Dynamic scoping (no function closures)</a:t>
            </a:r>
          </a:p>
          <a:p>
            <a:r>
              <a:rPr lang="en-US" dirty="0"/>
              <a:t>‘Expand’ free variables passed to child LLMs</a:t>
            </a:r>
          </a:p>
          <a:p>
            <a:endParaRPr lang="en-US" dirty="0"/>
          </a:p>
        </p:txBody>
      </p:sp>
    </p:spTree>
    <p:extLst>
      <p:ext uri="{BB962C8B-B14F-4D97-AF65-F5344CB8AC3E}">
        <p14:creationId xmlns:p14="http://schemas.microsoft.com/office/powerpoint/2010/main" val="24522591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9B6F-918B-2786-F7FD-B527D934621B}"/>
              </a:ext>
            </a:extLst>
          </p:cNvPr>
          <p:cNvSpPr>
            <a:spLocks noGrp="1"/>
          </p:cNvSpPr>
          <p:nvPr>
            <p:ph type="title"/>
          </p:nvPr>
        </p:nvSpPr>
        <p:spPr/>
        <p:txBody>
          <a:bodyPr/>
          <a:lstStyle/>
          <a:p>
            <a:r>
              <a:rPr lang="en-US" dirty="0"/>
              <a:t>Why not Python?</a:t>
            </a:r>
          </a:p>
        </p:txBody>
      </p:sp>
      <p:sp>
        <p:nvSpPr>
          <p:cNvPr id="3" name="Content Placeholder 2">
            <a:extLst>
              <a:ext uri="{FF2B5EF4-FFF2-40B4-BE49-F238E27FC236}">
                <a16:creationId xmlns:a16="http://schemas.microsoft.com/office/drawing/2014/main" id="{0C00B413-02CA-0CAB-8B92-20BCC0ED149D}"/>
              </a:ext>
            </a:extLst>
          </p:cNvPr>
          <p:cNvSpPr>
            <a:spLocks noGrp="1"/>
          </p:cNvSpPr>
          <p:nvPr>
            <p:ph idx="1"/>
          </p:nvPr>
        </p:nvSpPr>
        <p:spPr/>
        <p:txBody>
          <a:bodyPr/>
          <a:lstStyle/>
          <a:p>
            <a:pPr marL="514350" indent="-514350">
              <a:buFont typeface="+mj-lt"/>
              <a:buAutoNum type="arabicPeriod"/>
            </a:pPr>
            <a:r>
              <a:rPr lang="en-US" dirty="0"/>
              <a:t>Quotes -&gt; strings; escaping nightmare</a:t>
            </a:r>
          </a:p>
          <a:p>
            <a:pPr marL="514350" indent="-514350">
              <a:buFont typeface="+mj-lt"/>
              <a:buAutoNum type="arabicPeriod"/>
            </a:pPr>
            <a:r>
              <a:rPr lang="en-US" dirty="0" err="1"/>
              <a:t>Quining</a:t>
            </a:r>
            <a:r>
              <a:rPr lang="en-US" dirty="0"/>
              <a:t> with ‘</a:t>
            </a:r>
            <a:r>
              <a:rPr lang="en-US" dirty="0" err="1"/>
              <a:t>uneval</a:t>
            </a:r>
            <a:r>
              <a:rPr lang="en-US" dirty="0"/>
              <a:t>’ – totally unclear how to do this </a:t>
            </a:r>
          </a:p>
          <a:p>
            <a:pPr marL="514350" indent="-514350">
              <a:buFont typeface="+mj-lt"/>
              <a:buAutoNum type="arabicPeriod"/>
            </a:pPr>
            <a:r>
              <a:rPr lang="en-US" dirty="0"/>
              <a:t>Custom evaluator - </a:t>
            </a:r>
          </a:p>
        </p:txBody>
      </p:sp>
    </p:spTree>
    <p:extLst>
      <p:ext uri="{BB962C8B-B14F-4D97-AF65-F5344CB8AC3E}">
        <p14:creationId xmlns:p14="http://schemas.microsoft.com/office/powerpoint/2010/main" val="3675911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12026</TotalTime>
  <Words>2884</Words>
  <Application>Microsoft Macintosh PowerPoint</Application>
  <PresentationFormat>Widescreen</PresentationFormat>
  <Paragraphs>514</Paragraphs>
  <Slides>71</Slides>
  <Notes>2</Notes>
  <HiddenSlides>17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Aptos</vt:lpstr>
      <vt:lpstr>Aptos Display</vt:lpstr>
      <vt:lpstr>Arial</vt:lpstr>
      <vt:lpstr>Office Theme</vt:lpstr>
      <vt:lpstr>Programming language for AI agents</vt:lpstr>
      <vt:lpstr>One definition of “agent”</vt:lpstr>
      <vt:lpstr>PowerPoint Presentation</vt:lpstr>
      <vt:lpstr>PowerPoint Presentation</vt:lpstr>
      <vt:lpstr>PowerPoint Presentation</vt:lpstr>
      <vt:lpstr>PowerPoint Presentation</vt:lpstr>
      <vt:lpstr>ReAct loop</vt:lpstr>
      <vt:lpstr>PowerPoint Presentation</vt:lpstr>
      <vt:lpstr>PowerPoint Presentation</vt:lpstr>
      <vt:lpstr>“Progressive disclosure”</vt:lpstr>
      <vt:lpstr>PowerPoint Presentation</vt:lpstr>
      <vt:lpstr>PowerPoint Presentation</vt:lpstr>
      <vt:lpstr>PowerPoint Presentation</vt:lpstr>
      <vt:lpstr>Intricate context engineering</vt:lpstr>
      <vt:lpstr>Intricate orchestration</vt:lpstr>
      <vt:lpstr>PowerPoint Presentation</vt:lpstr>
      <vt:lpstr>What is the maximum degree to which an agentic system can be controlled by the language model autonomously?</vt:lpstr>
      <vt:lpstr>PowerPoint Presentation</vt:lpstr>
      <vt:lpstr>PowerPoint Presentation</vt:lpstr>
      <vt:lpstr>Related: context folding / subagent recursion</vt:lpstr>
      <vt:lpstr>Related: context folding / subagent recursion</vt:lpstr>
      <vt:lpstr>Related: context folding / subagent recursion</vt:lpstr>
      <vt:lpstr>Related: context folding / subagent recursion</vt:lpstr>
      <vt:lpstr>Related: context folding / subagent recursion</vt:lpstr>
      <vt:lpstr>Orchestration: hot topic</vt:lpstr>
      <vt:lpstr>Early findings</vt:lpstr>
      <vt:lpstr>What this motivates</vt:lpstr>
      <vt:lpstr>What this motivates</vt:lpstr>
      <vt:lpstr>PowerPoint Presentation</vt:lpstr>
      <vt:lpstr>Lisp and homoiconicity</vt:lpstr>
      <vt:lpstr>How do you reference source code as data?</vt:lpstr>
      <vt:lpstr>How do you reference source code as data?</vt:lpstr>
      <vt:lpstr>How do you reference source code as data?</vt:lpstr>
      <vt:lpstr>Spell (self-programmed execution language for LMs)</vt:lpstr>
      <vt:lpstr>Spell (self-programmed execution language for LMs)</vt:lpstr>
      <vt:lpstr>Spell (self-programmed execution language for LMs)</vt:lpstr>
      <vt:lpstr>Spell (self-programmed execution language for LMs)</vt:lpstr>
      <vt:lpstr>Spell (self-programmed execution language for LMs)</vt:lpstr>
      <vt:lpstr>Internalized context management</vt:lpstr>
      <vt:lpstr>Internalized control flow</vt:lpstr>
      <vt:lpstr>Internalized control flow</vt:lpstr>
      <vt:lpstr>Related approaches</vt:lpstr>
      <vt:lpstr>PowerPoint Presentation</vt:lpstr>
      <vt:lpstr>Related approaches</vt:lpstr>
      <vt:lpstr>Related approaches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of every completion</vt:lpstr>
      <vt:lpstr>ReAct loop in Spell</vt:lpstr>
      <vt:lpstr>Own-context engineering</vt:lpstr>
      <vt:lpstr>Self-orchestration</vt:lpstr>
      <vt:lpstr>Does it work?</vt:lpstr>
      <vt:lpstr>PowerPoint Presentation</vt:lpstr>
      <vt:lpstr>PowerPoint Presentation</vt:lpstr>
      <vt:lpstr>PowerPoint Presentation</vt:lpstr>
      <vt:lpstr>Examples</vt:lpstr>
      <vt:lpstr>20 questions</vt:lpstr>
      <vt:lpstr>PowerPoint Presentation</vt:lpstr>
      <vt:lpstr>PowerPoint Presentation</vt:lpstr>
      <vt:lpstr>PowerPoint Presentation</vt:lpstr>
      <vt:lpstr>PowerPoint Presentation</vt:lpstr>
      <vt:lpstr>PowerPoint Presentation</vt:lpstr>
      <vt:lpstr>Spell (self-prompting execution language for LLMs)</vt:lpstr>
      <vt:lpstr>Context = code</vt:lpstr>
      <vt:lpstr>Environment = context</vt:lpstr>
      <vt:lpstr>Why not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O'Connor, Luke J</dc:creator>
  <cp:lastModifiedBy>O'Connor, Luke J</cp:lastModifiedBy>
  <cp:revision>199</cp:revision>
  <dcterms:created xsi:type="dcterms:W3CDTF">2026-02-02T15:31:31Z</dcterms:created>
  <dcterms:modified xsi:type="dcterms:W3CDTF">2026-03-13T14:50:14Z</dcterms:modified>
</cp:coreProperties>
</file>