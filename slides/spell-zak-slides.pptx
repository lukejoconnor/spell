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1" r:id="rId4"/>
    <p:sldId id="268" r:id="rId5"/>
    <p:sldId id="258" r:id="rId6"/>
    <p:sldId id="259" r:id="rId7"/>
    <p:sldId id="260" r:id="rId8"/>
    <p:sldId id="263" r:id="rId9"/>
    <p:sldId id="262" r:id="rId10"/>
    <p:sldId id="264" r:id="rId11"/>
    <p:sldId id="284" r:id="rId12"/>
    <p:sldId id="283" r:id="rId13"/>
    <p:sldId id="269" r:id="rId14"/>
    <p:sldId id="266" r:id="rId15"/>
    <p:sldId id="267" r:id="rId16"/>
    <p:sldId id="274" r:id="rId17"/>
    <p:sldId id="270" r:id="rId18"/>
    <p:sldId id="271" r:id="rId19"/>
    <p:sldId id="273" r:id="rId20"/>
    <p:sldId id="272" r:id="rId21"/>
    <p:sldId id="275" r:id="rId22"/>
    <p:sldId id="276" r:id="rId23"/>
    <p:sldId id="279" r:id="rId24"/>
    <p:sldId id="280" r:id="rId25"/>
    <p:sldId id="278" r:id="rId26"/>
    <p:sldId id="27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994"/>
    <p:restoredTop sz="94639"/>
  </p:normalViewPr>
  <p:slideViewPr>
    <p:cSldViewPr snapToGrid="0">
      <p:cViewPr varScale="1">
        <p:scale>
          <a:sx n="117" d="100"/>
          <a:sy n="117" d="100"/>
        </p:scale>
        <p:origin x="184" y="9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7D37F-5E93-DE6F-3CF0-F8F827F289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EF5160-F6A9-65FD-BF37-5998AD9AE4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0B959CA-8C74-3E12-F9A1-07CB0A499E8D}"/>
              </a:ext>
            </a:extLst>
          </p:cNvPr>
          <p:cNvSpPr>
            <a:spLocks noGrp="1"/>
          </p:cNvSpPr>
          <p:nvPr>
            <p:ph type="dt" sz="half" idx="10"/>
          </p:nvPr>
        </p:nvSpPr>
        <p:spPr/>
        <p:txBody>
          <a:bodyPr/>
          <a:lstStyle/>
          <a:p>
            <a:fld id="{613B060C-E44F-2A46-BC3C-1233D286DD85}" type="datetimeFigureOut">
              <a:rPr lang="en-US" smtClean="0"/>
              <a:t>2/2/26</a:t>
            </a:fld>
            <a:endParaRPr lang="en-US"/>
          </a:p>
        </p:txBody>
      </p:sp>
      <p:sp>
        <p:nvSpPr>
          <p:cNvPr id="5" name="Footer Placeholder 4">
            <a:extLst>
              <a:ext uri="{FF2B5EF4-FFF2-40B4-BE49-F238E27FC236}">
                <a16:creationId xmlns:a16="http://schemas.microsoft.com/office/drawing/2014/main" id="{A0DBEE68-0504-D47B-D275-0B0CDC63F9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3696FE-9F7B-DA08-BA09-A8AECC99986E}"/>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1556406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3C1A0-DEB3-812D-9F01-D2CCEE153C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357BC2-B3DA-02EF-7985-84B511CB84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2A63DA-2C85-5F0C-CCD8-7F9454BDA9D3}"/>
              </a:ext>
            </a:extLst>
          </p:cNvPr>
          <p:cNvSpPr>
            <a:spLocks noGrp="1"/>
          </p:cNvSpPr>
          <p:nvPr>
            <p:ph type="dt" sz="half" idx="10"/>
          </p:nvPr>
        </p:nvSpPr>
        <p:spPr/>
        <p:txBody>
          <a:bodyPr/>
          <a:lstStyle/>
          <a:p>
            <a:fld id="{613B060C-E44F-2A46-BC3C-1233D286DD85}" type="datetimeFigureOut">
              <a:rPr lang="en-US" smtClean="0"/>
              <a:t>2/2/26</a:t>
            </a:fld>
            <a:endParaRPr lang="en-US"/>
          </a:p>
        </p:txBody>
      </p:sp>
      <p:sp>
        <p:nvSpPr>
          <p:cNvPr id="5" name="Footer Placeholder 4">
            <a:extLst>
              <a:ext uri="{FF2B5EF4-FFF2-40B4-BE49-F238E27FC236}">
                <a16:creationId xmlns:a16="http://schemas.microsoft.com/office/drawing/2014/main" id="{B5C302FD-0E0D-6B27-C816-C373D4A9AC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9407FD-FA8F-4B4E-3D7F-E29DD5E9F6D9}"/>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4207976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BA34C-1E95-1925-4BC2-DFA61C18EC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E9A4ECA-5813-4196-4F1D-31F9B6ED62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9C698C-9648-B9A2-321B-88CE6722AC29}"/>
              </a:ext>
            </a:extLst>
          </p:cNvPr>
          <p:cNvSpPr>
            <a:spLocks noGrp="1"/>
          </p:cNvSpPr>
          <p:nvPr>
            <p:ph type="dt" sz="half" idx="10"/>
          </p:nvPr>
        </p:nvSpPr>
        <p:spPr/>
        <p:txBody>
          <a:bodyPr/>
          <a:lstStyle/>
          <a:p>
            <a:fld id="{613B060C-E44F-2A46-BC3C-1233D286DD85}" type="datetimeFigureOut">
              <a:rPr lang="en-US" smtClean="0"/>
              <a:t>2/2/26</a:t>
            </a:fld>
            <a:endParaRPr lang="en-US"/>
          </a:p>
        </p:txBody>
      </p:sp>
      <p:sp>
        <p:nvSpPr>
          <p:cNvPr id="5" name="Footer Placeholder 4">
            <a:extLst>
              <a:ext uri="{FF2B5EF4-FFF2-40B4-BE49-F238E27FC236}">
                <a16:creationId xmlns:a16="http://schemas.microsoft.com/office/drawing/2014/main" id="{2AD2AF4A-81F6-55EA-F070-BC15496174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E2B60B-5409-AB86-9CEB-C8DA09932BA7}"/>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632269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17D7F-C9C3-27E4-28D8-29A01C127A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089596-3216-833F-87ED-45E00A5A47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B73883-3F3F-6D2E-9427-60AE9BAA9F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8364FD-D128-39CE-0467-FFAEA0F3B07B}"/>
              </a:ext>
            </a:extLst>
          </p:cNvPr>
          <p:cNvSpPr>
            <a:spLocks noGrp="1"/>
          </p:cNvSpPr>
          <p:nvPr>
            <p:ph type="dt" sz="half" idx="10"/>
          </p:nvPr>
        </p:nvSpPr>
        <p:spPr/>
        <p:txBody>
          <a:bodyPr/>
          <a:lstStyle/>
          <a:p>
            <a:fld id="{613B060C-E44F-2A46-BC3C-1233D286DD85}" type="datetimeFigureOut">
              <a:rPr lang="en-US" smtClean="0"/>
              <a:t>2/2/26</a:t>
            </a:fld>
            <a:endParaRPr lang="en-US"/>
          </a:p>
        </p:txBody>
      </p:sp>
      <p:sp>
        <p:nvSpPr>
          <p:cNvPr id="6" name="Footer Placeholder 5">
            <a:extLst>
              <a:ext uri="{FF2B5EF4-FFF2-40B4-BE49-F238E27FC236}">
                <a16:creationId xmlns:a16="http://schemas.microsoft.com/office/drawing/2014/main" id="{9F3567CE-42C3-33E7-7985-C65AE5B105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9893AF-6D89-FAA8-6A8D-142998087250}"/>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4228378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CC758-5E22-4710-FB2E-3D9F21CD75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86CAC7-9A91-9805-759E-E9603EA985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F66FA1-F6E5-CFD1-6906-D2EF599245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BC7408-181F-01EB-C2DA-74E1CE7D63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735773-FC68-51C9-D19A-4B120F2863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63CD2D-062F-EA23-228E-5F66310CAB85}"/>
              </a:ext>
            </a:extLst>
          </p:cNvPr>
          <p:cNvSpPr>
            <a:spLocks noGrp="1"/>
          </p:cNvSpPr>
          <p:nvPr>
            <p:ph type="dt" sz="half" idx="10"/>
          </p:nvPr>
        </p:nvSpPr>
        <p:spPr/>
        <p:txBody>
          <a:bodyPr/>
          <a:lstStyle/>
          <a:p>
            <a:fld id="{613B060C-E44F-2A46-BC3C-1233D286DD85}" type="datetimeFigureOut">
              <a:rPr lang="en-US" smtClean="0"/>
              <a:t>2/2/26</a:t>
            </a:fld>
            <a:endParaRPr lang="en-US"/>
          </a:p>
        </p:txBody>
      </p:sp>
      <p:sp>
        <p:nvSpPr>
          <p:cNvPr id="8" name="Footer Placeholder 7">
            <a:extLst>
              <a:ext uri="{FF2B5EF4-FFF2-40B4-BE49-F238E27FC236}">
                <a16:creationId xmlns:a16="http://schemas.microsoft.com/office/drawing/2014/main" id="{75C03F9C-8777-D137-3CA8-8102B7791C3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B1227CD-5AAF-5FA1-9888-2E0C13C6963E}"/>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142353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C12C0-5913-116A-ABDA-ED5ECF1D2B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A4ABB1-797C-F7C2-607C-BBCD79BEF379}"/>
              </a:ext>
            </a:extLst>
          </p:cNvPr>
          <p:cNvSpPr>
            <a:spLocks noGrp="1"/>
          </p:cNvSpPr>
          <p:nvPr>
            <p:ph type="dt" sz="half" idx="10"/>
          </p:nvPr>
        </p:nvSpPr>
        <p:spPr/>
        <p:txBody>
          <a:bodyPr/>
          <a:lstStyle/>
          <a:p>
            <a:fld id="{613B060C-E44F-2A46-BC3C-1233D286DD85}" type="datetimeFigureOut">
              <a:rPr lang="en-US" smtClean="0"/>
              <a:t>2/2/26</a:t>
            </a:fld>
            <a:endParaRPr lang="en-US"/>
          </a:p>
        </p:txBody>
      </p:sp>
      <p:sp>
        <p:nvSpPr>
          <p:cNvPr id="4" name="Footer Placeholder 3">
            <a:extLst>
              <a:ext uri="{FF2B5EF4-FFF2-40B4-BE49-F238E27FC236}">
                <a16:creationId xmlns:a16="http://schemas.microsoft.com/office/drawing/2014/main" id="{C1146DD4-9BB6-18BF-B543-A2DC8B5A7D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DBD41A-8AED-27DC-8037-693538DF58B0}"/>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2109558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5B9AC2-A3D6-A0B5-7EAC-AF55C43454BD}"/>
              </a:ext>
            </a:extLst>
          </p:cNvPr>
          <p:cNvSpPr>
            <a:spLocks noGrp="1"/>
          </p:cNvSpPr>
          <p:nvPr>
            <p:ph type="dt" sz="half" idx="10"/>
          </p:nvPr>
        </p:nvSpPr>
        <p:spPr/>
        <p:txBody>
          <a:bodyPr/>
          <a:lstStyle/>
          <a:p>
            <a:fld id="{613B060C-E44F-2A46-BC3C-1233D286DD85}" type="datetimeFigureOut">
              <a:rPr lang="en-US" smtClean="0"/>
              <a:t>2/2/26</a:t>
            </a:fld>
            <a:endParaRPr lang="en-US"/>
          </a:p>
        </p:txBody>
      </p:sp>
      <p:sp>
        <p:nvSpPr>
          <p:cNvPr id="3" name="Footer Placeholder 2">
            <a:extLst>
              <a:ext uri="{FF2B5EF4-FFF2-40B4-BE49-F238E27FC236}">
                <a16:creationId xmlns:a16="http://schemas.microsoft.com/office/drawing/2014/main" id="{5A1D7D08-5B8D-2143-BE71-DD60F3D8FC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3ADD2D-65FC-71C9-780A-791EA824E08B}"/>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2211089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7FB16-6C21-8DF3-C3AD-D2829F9EC5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E87F28F-81CC-DA86-DC10-A8FC013A05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30AD75-1AD2-17A7-7D2D-BA90DF73C7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A7E133-F6CE-2644-A0FD-78956E9F7BD9}"/>
              </a:ext>
            </a:extLst>
          </p:cNvPr>
          <p:cNvSpPr>
            <a:spLocks noGrp="1"/>
          </p:cNvSpPr>
          <p:nvPr>
            <p:ph type="dt" sz="half" idx="10"/>
          </p:nvPr>
        </p:nvSpPr>
        <p:spPr/>
        <p:txBody>
          <a:bodyPr/>
          <a:lstStyle/>
          <a:p>
            <a:fld id="{613B060C-E44F-2A46-BC3C-1233D286DD85}" type="datetimeFigureOut">
              <a:rPr lang="en-US" smtClean="0"/>
              <a:t>2/2/26</a:t>
            </a:fld>
            <a:endParaRPr lang="en-US"/>
          </a:p>
        </p:txBody>
      </p:sp>
      <p:sp>
        <p:nvSpPr>
          <p:cNvPr id="6" name="Footer Placeholder 5">
            <a:extLst>
              <a:ext uri="{FF2B5EF4-FFF2-40B4-BE49-F238E27FC236}">
                <a16:creationId xmlns:a16="http://schemas.microsoft.com/office/drawing/2014/main" id="{CBD6E168-3C06-61A3-A7EA-27D22ADE2E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0B3E44-BBFC-77B2-AA17-51DEFC0C1742}"/>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260932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D1639-D687-C3D9-7B90-FBF5ECADA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E1EF093-F5A4-927F-3691-E8FEF93395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4DD80B-5CDB-1B89-1705-1ABDAC6070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B9223D-F9D1-F332-6392-F993D0993B0B}"/>
              </a:ext>
            </a:extLst>
          </p:cNvPr>
          <p:cNvSpPr>
            <a:spLocks noGrp="1"/>
          </p:cNvSpPr>
          <p:nvPr>
            <p:ph type="dt" sz="half" idx="10"/>
          </p:nvPr>
        </p:nvSpPr>
        <p:spPr/>
        <p:txBody>
          <a:bodyPr/>
          <a:lstStyle/>
          <a:p>
            <a:fld id="{613B060C-E44F-2A46-BC3C-1233D286DD85}" type="datetimeFigureOut">
              <a:rPr lang="en-US" smtClean="0"/>
              <a:t>2/2/26</a:t>
            </a:fld>
            <a:endParaRPr lang="en-US"/>
          </a:p>
        </p:txBody>
      </p:sp>
      <p:sp>
        <p:nvSpPr>
          <p:cNvPr id="6" name="Footer Placeholder 5">
            <a:extLst>
              <a:ext uri="{FF2B5EF4-FFF2-40B4-BE49-F238E27FC236}">
                <a16:creationId xmlns:a16="http://schemas.microsoft.com/office/drawing/2014/main" id="{AC2B1480-84D6-759E-498E-66A1EC8847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3D1EB7-7B67-B624-9BB8-88E56F675706}"/>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576195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AE547-3714-0DFE-93C9-7C25C0ACB9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3295A6-0177-55F7-51B3-71F655CB47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BF6997-4D6C-C52D-8F87-9B16AF71841C}"/>
              </a:ext>
            </a:extLst>
          </p:cNvPr>
          <p:cNvSpPr>
            <a:spLocks noGrp="1"/>
          </p:cNvSpPr>
          <p:nvPr>
            <p:ph type="dt" sz="half" idx="10"/>
          </p:nvPr>
        </p:nvSpPr>
        <p:spPr/>
        <p:txBody>
          <a:bodyPr/>
          <a:lstStyle/>
          <a:p>
            <a:fld id="{613B060C-E44F-2A46-BC3C-1233D286DD85}" type="datetimeFigureOut">
              <a:rPr lang="en-US" smtClean="0"/>
              <a:t>2/2/26</a:t>
            </a:fld>
            <a:endParaRPr lang="en-US"/>
          </a:p>
        </p:txBody>
      </p:sp>
      <p:sp>
        <p:nvSpPr>
          <p:cNvPr id="5" name="Footer Placeholder 4">
            <a:extLst>
              <a:ext uri="{FF2B5EF4-FFF2-40B4-BE49-F238E27FC236}">
                <a16:creationId xmlns:a16="http://schemas.microsoft.com/office/drawing/2014/main" id="{5CC282D9-8A12-C333-FC52-7F90B8174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B191F6-4238-1062-F37C-FCEE9906D31B}"/>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993694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69D08E-A793-D8C8-A235-B36DA0286E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31DE7F-0BF5-1B15-2C46-8CE47972F2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D9E5BE-71A9-A123-A4C7-62C298708AC5}"/>
              </a:ext>
            </a:extLst>
          </p:cNvPr>
          <p:cNvSpPr>
            <a:spLocks noGrp="1"/>
          </p:cNvSpPr>
          <p:nvPr>
            <p:ph type="dt" sz="half" idx="10"/>
          </p:nvPr>
        </p:nvSpPr>
        <p:spPr/>
        <p:txBody>
          <a:bodyPr/>
          <a:lstStyle/>
          <a:p>
            <a:fld id="{613B060C-E44F-2A46-BC3C-1233D286DD85}" type="datetimeFigureOut">
              <a:rPr lang="en-US" smtClean="0"/>
              <a:t>2/2/26</a:t>
            </a:fld>
            <a:endParaRPr lang="en-US"/>
          </a:p>
        </p:txBody>
      </p:sp>
      <p:sp>
        <p:nvSpPr>
          <p:cNvPr id="5" name="Footer Placeholder 4">
            <a:extLst>
              <a:ext uri="{FF2B5EF4-FFF2-40B4-BE49-F238E27FC236}">
                <a16:creationId xmlns:a16="http://schemas.microsoft.com/office/drawing/2014/main" id="{12A132F3-F31B-A579-D988-63337C49B8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04B06A-1473-3083-A674-48C7B79C3CB0}"/>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2915065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4AA27D-E5D2-FAFC-4265-FE2BCF36F1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4F5719-AC88-6F4B-EECB-DD41ED0235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D5D6AD-D7FB-7ACC-CD24-D284B0ED6A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3B060C-E44F-2A46-BC3C-1233D286DD85}" type="datetimeFigureOut">
              <a:rPr lang="en-US" smtClean="0"/>
              <a:t>2/2/26</a:t>
            </a:fld>
            <a:endParaRPr lang="en-US"/>
          </a:p>
        </p:txBody>
      </p:sp>
      <p:sp>
        <p:nvSpPr>
          <p:cNvPr id="5" name="Footer Placeholder 4">
            <a:extLst>
              <a:ext uri="{FF2B5EF4-FFF2-40B4-BE49-F238E27FC236}">
                <a16:creationId xmlns:a16="http://schemas.microsoft.com/office/drawing/2014/main" id="{F6BCD0BA-265B-02F9-5091-26C6D5380E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16F7076-55AC-A02F-8E01-2D7E615DC9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F02B05-3B47-5E43-ACC0-66286D1A7179}" type="slidenum">
              <a:rPr lang="en-US" smtClean="0"/>
              <a:t>‹#›</a:t>
            </a:fld>
            <a:endParaRPr lang="en-US"/>
          </a:p>
        </p:txBody>
      </p:sp>
    </p:spTree>
    <p:extLst>
      <p:ext uri="{BB962C8B-B14F-4D97-AF65-F5344CB8AC3E}">
        <p14:creationId xmlns:p14="http://schemas.microsoft.com/office/powerpoint/2010/main" val="3815907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AB17C-F214-AB2B-F65A-79DC06F7C398}"/>
              </a:ext>
            </a:extLst>
          </p:cNvPr>
          <p:cNvSpPr>
            <a:spLocks noGrp="1"/>
          </p:cNvSpPr>
          <p:nvPr>
            <p:ph type="ctrTitle"/>
          </p:nvPr>
        </p:nvSpPr>
        <p:spPr/>
        <p:txBody>
          <a:bodyPr/>
          <a:lstStyle/>
          <a:p>
            <a:r>
              <a:rPr lang="en-US" dirty="0"/>
              <a:t>Agent self-orchestration with Spell</a:t>
            </a:r>
          </a:p>
        </p:txBody>
      </p:sp>
      <p:sp>
        <p:nvSpPr>
          <p:cNvPr id="3" name="Subtitle 2">
            <a:extLst>
              <a:ext uri="{FF2B5EF4-FFF2-40B4-BE49-F238E27FC236}">
                <a16:creationId xmlns:a16="http://schemas.microsoft.com/office/drawing/2014/main" id="{116DB8E3-C7EE-1014-8E58-C303FD0BD3A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991845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plementing ReAct Agentic Pattern From Scratch">
            <a:extLst>
              <a:ext uri="{FF2B5EF4-FFF2-40B4-BE49-F238E27FC236}">
                <a16:creationId xmlns:a16="http://schemas.microsoft.com/office/drawing/2014/main" id="{0E6C5746-3BCD-FC15-9197-AE50CDF40A6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86382" y="952600"/>
            <a:ext cx="5655197" cy="182252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FF2B2EA-8743-EC3F-E017-0B98699211D2}"/>
              </a:ext>
            </a:extLst>
          </p:cNvPr>
          <p:cNvSpPr/>
          <p:nvPr/>
        </p:nvSpPr>
        <p:spPr>
          <a:xfrm>
            <a:off x="1817224" y="3314998"/>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7" name="Rectangle 6">
            <a:extLst>
              <a:ext uri="{FF2B5EF4-FFF2-40B4-BE49-F238E27FC236}">
                <a16:creationId xmlns:a16="http://schemas.microsoft.com/office/drawing/2014/main" id="{304D26FB-14D4-523A-0449-373173FB3766}"/>
              </a:ext>
            </a:extLst>
          </p:cNvPr>
          <p:cNvSpPr/>
          <p:nvPr/>
        </p:nvSpPr>
        <p:spPr>
          <a:xfrm>
            <a:off x="1817225" y="5275730"/>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8" name="Rectangle 7">
            <a:extLst>
              <a:ext uri="{FF2B5EF4-FFF2-40B4-BE49-F238E27FC236}">
                <a16:creationId xmlns:a16="http://schemas.microsoft.com/office/drawing/2014/main" id="{61EFAD1D-ECBA-E7B2-3A3E-F3392E649901}"/>
              </a:ext>
            </a:extLst>
          </p:cNvPr>
          <p:cNvSpPr/>
          <p:nvPr/>
        </p:nvSpPr>
        <p:spPr>
          <a:xfrm>
            <a:off x="2847372" y="5275730"/>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9" name="Rectangle 8">
            <a:extLst>
              <a:ext uri="{FF2B5EF4-FFF2-40B4-BE49-F238E27FC236}">
                <a16:creationId xmlns:a16="http://schemas.microsoft.com/office/drawing/2014/main" id="{5CCD7409-2354-65D5-703B-C5FABA0F64CA}"/>
              </a:ext>
            </a:extLst>
          </p:cNvPr>
          <p:cNvSpPr/>
          <p:nvPr/>
        </p:nvSpPr>
        <p:spPr>
          <a:xfrm>
            <a:off x="4231341" y="5275729"/>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10" name="Rectangle 9">
            <a:extLst>
              <a:ext uri="{FF2B5EF4-FFF2-40B4-BE49-F238E27FC236}">
                <a16:creationId xmlns:a16="http://schemas.microsoft.com/office/drawing/2014/main" id="{093250EC-4A37-A97C-8801-41F2AC70B8C6}"/>
              </a:ext>
            </a:extLst>
          </p:cNvPr>
          <p:cNvSpPr/>
          <p:nvPr/>
        </p:nvSpPr>
        <p:spPr>
          <a:xfrm>
            <a:off x="5615310" y="5275730"/>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1" name="Rectangle 10">
            <a:extLst>
              <a:ext uri="{FF2B5EF4-FFF2-40B4-BE49-F238E27FC236}">
                <a16:creationId xmlns:a16="http://schemas.microsoft.com/office/drawing/2014/main" id="{A7CE154F-4759-AFA6-32D0-78B5686BBD64}"/>
              </a:ext>
            </a:extLst>
          </p:cNvPr>
          <p:cNvSpPr/>
          <p:nvPr/>
        </p:nvSpPr>
        <p:spPr>
          <a:xfrm>
            <a:off x="6999279" y="5275729"/>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12" name="Rectangle 11">
            <a:extLst>
              <a:ext uri="{FF2B5EF4-FFF2-40B4-BE49-F238E27FC236}">
                <a16:creationId xmlns:a16="http://schemas.microsoft.com/office/drawing/2014/main" id="{E511E3D2-AD69-4366-A33E-77A4770B297F}"/>
              </a:ext>
            </a:extLst>
          </p:cNvPr>
          <p:cNvSpPr/>
          <p:nvPr/>
        </p:nvSpPr>
        <p:spPr>
          <a:xfrm>
            <a:off x="8383248" y="52757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4" name="Rectangle 13">
            <a:extLst>
              <a:ext uri="{FF2B5EF4-FFF2-40B4-BE49-F238E27FC236}">
                <a16:creationId xmlns:a16="http://schemas.microsoft.com/office/drawing/2014/main" id="{819FBA50-8BFF-4592-FA51-68A4DD16077B}"/>
              </a:ext>
            </a:extLst>
          </p:cNvPr>
          <p:cNvSpPr/>
          <p:nvPr/>
        </p:nvSpPr>
        <p:spPr>
          <a:xfrm>
            <a:off x="1817225" y="4863378"/>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15" name="Rectangle 14">
            <a:extLst>
              <a:ext uri="{FF2B5EF4-FFF2-40B4-BE49-F238E27FC236}">
                <a16:creationId xmlns:a16="http://schemas.microsoft.com/office/drawing/2014/main" id="{F228B26A-0502-0288-993A-8CEDF0F36190}"/>
              </a:ext>
            </a:extLst>
          </p:cNvPr>
          <p:cNvSpPr/>
          <p:nvPr/>
        </p:nvSpPr>
        <p:spPr>
          <a:xfrm>
            <a:off x="2847372" y="486337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6" name="Rectangle 15">
            <a:extLst>
              <a:ext uri="{FF2B5EF4-FFF2-40B4-BE49-F238E27FC236}">
                <a16:creationId xmlns:a16="http://schemas.microsoft.com/office/drawing/2014/main" id="{675068AF-A7F8-A152-5FC9-F0CFA46D4AB1}"/>
              </a:ext>
            </a:extLst>
          </p:cNvPr>
          <p:cNvSpPr/>
          <p:nvPr/>
        </p:nvSpPr>
        <p:spPr>
          <a:xfrm>
            <a:off x="4231341" y="4863377"/>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17" name="Rectangle 16">
            <a:extLst>
              <a:ext uri="{FF2B5EF4-FFF2-40B4-BE49-F238E27FC236}">
                <a16:creationId xmlns:a16="http://schemas.microsoft.com/office/drawing/2014/main" id="{F748ED0D-4CBC-442B-E66A-D04B01611E50}"/>
              </a:ext>
            </a:extLst>
          </p:cNvPr>
          <p:cNvSpPr/>
          <p:nvPr/>
        </p:nvSpPr>
        <p:spPr>
          <a:xfrm>
            <a:off x="5615310" y="486337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8" name="Rectangle 17">
            <a:extLst>
              <a:ext uri="{FF2B5EF4-FFF2-40B4-BE49-F238E27FC236}">
                <a16:creationId xmlns:a16="http://schemas.microsoft.com/office/drawing/2014/main" id="{2D7F6562-D5F1-40CD-EE14-9EB13C44D57C}"/>
              </a:ext>
            </a:extLst>
          </p:cNvPr>
          <p:cNvSpPr/>
          <p:nvPr/>
        </p:nvSpPr>
        <p:spPr>
          <a:xfrm>
            <a:off x="6999279" y="4863377"/>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21" name="Rectangle 20">
            <a:extLst>
              <a:ext uri="{FF2B5EF4-FFF2-40B4-BE49-F238E27FC236}">
                <a16:creationId xmlns:a16="http://schemas.microsoft.com/office/drawing/2014/main" id="{CFFF3F7C-14F0-F3BE-6589-75FF5A9A414E}"/>
              </a:ext>
            </a:extLst>
          </p:cNvPr>
          <p:cNvSpPr/>
          <p:nvPr/>
        </p:nvSpPr>
        <p:spPr>
          <a:xfrm>
            <a:off x="1817225" y="4428611"/>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2" name="Rectangle 21">
            <a:extLst>
              <a:ext uri="{FF2B5EF4-FFF2-40B4-BE49-F238E27FC236}">
                <a16:creationId xmlns:a16="http://schemas.microsoft.com/office/drawing/2014/main" id="{1D7EDF62-1BF3-699C-6EE9-5086C1604B8B}"/>
              </a:ext>
            </a:extLst>
          </p:cNvPr>
          <p:cNvSpPr/>
          <p:nvPr/>
        </p:nvSpPr>
        <p:spPr>
          <a:xfrm>
            <a:off x="2847372" y="4428611"/>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23" name="Rectangle 22">
            <a:extLst>
              <a:ext uri="{FF2B5EF4-FFF2-40B4-BE49-F238E27FC236}">
                <a16:creationId xmlns:a16="http://schemas.microsoft.com/office/drawing/2014/main" id="{E670D562-B4A4-0ABE-D8B4-6532E561ADE0}"/>
              </a:ext>
            </a:extLst>
          </p:cNvPr>
          <p:cNvSpPr/>
          <p:nvPr/>
        </p:nvSpPr>
        <p:spPr>
          <a:xfrm>
            <a:off x="4231341" y="4428610"/>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24" name="Rectangle 23">
            <a:extLst>
              <a:ext uri="{FF2B5EF4-FFF2-40B4-BE49-F238E27FC236}">
                <a16:creationId xmlns:a16="http://schemas.microsoft.com/office/drawing/2014/main" id="{140D3CBA-AB5E-AC53-2FCB-1FBFB567583D}"/>
              </a:ext>
            </a:extLst>
          </p:cNvPr>
          <p:cNvSpPr/>
          <p:nvPr/>
        </p:nvSpPr>
        <p:spPr>
          <a:xfrm>
            <a:off x="5615310" y="4428611"/>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28" name="Rectangle 27">
            <a:extLst>
              <a:ext uri="{FF2B5EF4-FFF2-40B4-BE49-F238E27FC236}">
                <a16:creationId xmlns:a16="http://schemas.microsoft.com/office/drawing/2014/main" id="{0A31EDF1-0A30-AD46-6F10-C1072E9F96C4}"/>
              </a:ext>
            </a:extLst>
          </p:cNvPr>
          <p:cNvSpPr/>
          <p:nvPr/>
        </p:nvSpPr>
        <p:spPr>
          <a:xfrm>
            <a:off x="1817225" y="4038692"/>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9" name="Rectangle 28">
            <a:extLst>
              <a:ext uri="{FF2B5EF4-FFF2-40B4-BE49-F238E27FC236}">
                <a16:creationId xmlns:a16="http://schemas.microsoft.com/office/drawing/2014/main" id="{E96A2019-40DE-D02E-D8C0-BCB85C28A0D4}"/>
              </a:ext>
            </a:extLst>
          </p:cNvPr>
          <p:cNvSpPr/>
          <p:nvPr/>
        </p:nvSpPr>
        <p:spPr>
          <a:xfrm>
            <a:off x="2847372" y="4038692"/>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30" name="Rectangle 29">
            <a:extLst>
              <a:ext uri="{FF2B5EF4-FFF2-40B4-BE49-F238E27FC236}">
                <a16:creationId xmlns:a16="http://schemas.microsoft.com/office/drawing/2014/main" id="{77805500-D018-DDCF-AAA6-9E7EC4AF0179}"/>
              </a:ext>
            </a:extLst>
          </p:cNvPr>
          <p:cNvSpPr/>
          <p:nvPr/>
        </p:nvSpPr>
        <p:spPr>
          <a:xfrm>
            <a:off x="4231341" y="4038691"/>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35" name="Rectangle 34">
            <a:extLst>
              <a:ext uri="{FF2B5EF4-FFF2-40B4-BE49-F238E27FC236}">
                <a16:creationId xmlns:a16="http://schemas.microsoft.com/office/drawing/2014/main" id="{321B081F-E2E5-F1F5-C8B6-5AC83F655CA4}"/>
              </a:ext>
            </a:extLst>
          </p:cNvPr>
          <p:cNvSpPr/>
          <p:nvPr/>
        </p:nvSpPr>
        <p:spPr>
          <a:xfrm>
            <a:off x="1817225" y="3695063"/>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36" name="Rectangle 35">
            <a:extLst>
              <a:ext uri="{FF2B5EF4-FFF2-40B4-BE49-F238E27FC236}">
                <a16:creationId xmlns:a16="http://schemas.microsoft.com/office/drawing/2014/main" id="{B2EE0699-BBEF-8BF1-4557-F23B87E02E54}"/>
              </a:ext>
            </a:extLst>
          </p:cNvPr>
          <p:cNvSpPr/>
          <p:nvPr/>
        </p:nvSpPr>
        <p:spPr>
          <a:xfrm>
            <a:off x="2847372" y="3695063"/>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Tree>
    <p:extLst>
      <p:ext uri="{BB962C8B-B14F-4D97-AF65-F5344CB8AC3E}">
        <p14:creationId xmlns:p14="http://schemas.microsoft.com/office/powerpoint/2010/main" val="1118348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EE662-AA60-1823-9489-1F68262DADC2}"/>
            </a:ext>
          </a:extLst>
        </p:cNvPr>
        <p:cNvGrpSpPr/>
        <p:nvPr/>
      </p:nvGrpSpPr>
      <p:grpSpPr>
        <a:xfrm>
          <a:off x="0" y="0"/>
          <a:ext cx="0" cy="0"/>
          <a:chOff x="0" y="0"/>
          <a:chExt cx="0" cy="0"/>
        </a:xfrm>
      </p:grpSpPr>
      <p:pic>
        <p:nvPicPr>
          <p:cNvPr id="1026" name="Picture 2" descr="Implementing ReAct Agentic Pattern From Scratch">
            <a:extLst>
              <a:ext uri="{FF2B5EF4-FFF2-40B4-BE49-F238E27FC236}">
                <a16:creationId xmlns:a16="http://schemas.microsoft.com/office/drawing/2014/main" id="{4A81AC02-3712-7B77-8D40-C299BB5EE36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86382" y="952600"/>
            <a:ext cx="5655197" cy="182252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11F6BEEB-4520-C471-52AA-1367D617FDD2}"/>
              </a:ext>
            </a:extLst>
          </p:cNvPr>
          <p:cNvSpPr/>
          <p:nvPr/>
        </p:nvSpPr>
        <p:spPr>
          <a:xfrm>
            <a:off x="1817224" y="3314998"/>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7" name="Rectangle 6">
            <a:extLst>
              <a:ext uri="{FF2B5EF4-FFF2-40B4-BE49-F238E27FC236}">
                <a16:creationId xmlns:a16="http://schemas.microsoft.com/office/drawing/2014/main" id="{E3B4FD29-FF4E-3C5C-7907-87289A2F791B}"/>
              </a:ext>
            </a:extLst>
          </p:cNvPr>
          <p:cNvSpPr/>
          <p:nvPr/>
        </p:nvSpPr>
        <p:spPr>
          <a:xfrm>
            <a:off x="1817225" y="5275730"/>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8" name="Rectangle 7">
            <a:extLst>
              <a:ext uri="{FF2B5EF4-FFF2-40B4-BE49-F238E27FC236}">
                <a16:creationId xmlns:a16="http://schemas.microsoft.com/office/drawing/2014/main" id="{4357E13E-CF47-589A-3137-1FBCF159C5CE}"/>
              </a:ext>
            </a:extLst>
          </p:cNvPr>
          <p:cNvSpPr/>
          <p:nvPr/>
        </p:nvSpPr>
        <p:spPr>
          <a:xfrm>
            <a:off x="2847372" y="5275730"/>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9" name="Rectangle 8">
            <a:extLst>
              <a:ext uri="{FF2B5EF4-FFF2-40B4-BE49-F238E27FC236}">
                <a16:creationId xmlns:a16="http://schemas.microsoft.com/office/drawing/2014/main" id="{A566ECC8-2FEB-B24A-48F0-8CC28AFCF34A}"/>
              </a:ext>
            </a:extLst>
          </p:cNvPr>
          <p:cNvSpPr/>
          <p:nvPr/>
        </p:nvSpPr>
        <p:spPr>
          <a:xfrm>
            <a:off x="4231341" y="5275729"/>
            <a:ext cx="1383969" cy="27489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Subagent</a:t>
            </a:r>
          </a:p>
        </p:txBody>
      </p:sp>
      <p:sp>
        <p:nvSpPr>
          <p:cNvPr id="10" name="Rectangle 9">
            <a:extLst>
              <a:ext uri="{FF2B5EF4-FFF2-40B4-BE49-F238E27FC236}">
                <a16:creationId xmlns:a16="http://schemas.microsoft.com/office/drawing/2014/main" id="{6F5D43AD-3D8F-033F-1612-47AC7C2EAC7F}"/>
              </a:ext>
            </a:extLst>
          </p:cNvPr>
          <p:cNvSpPr/>
          <p:nvPr/>
        </p:nvSpPr>
        <p:spPr>
          <a:xfrm>
            <a:off x="5615310" y="5275730"/>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1" name="Rectangle 10">
            <a:extLst>
              <a:ext uri="{FF2B5EF4-FFF2-40B4-BE49-F238E27FC236}">
                <a16:creationId xmlns:a16="http://schemas.microsoft.com/office/drawing/2014/main" id="{5D0D75E8-2D12-AF4A-5AAE-4DEC2E7821B3}"/>
              </a:ext>
            </a:extLst>
          </p:cNvPr>
          <p:cNvSpPr/>
          <p:nvPr/>
        </p:nvSpPr>
        <p:spPr>
          <a:xfrm>
            <a:off x="6999279" y="5275729"/>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12" name="Rectangle 11">
            <a:extLst>
              <a:ext uri="{FF2B5EF4-FFF2-40B4-BE49-F238E27FC236}">
                <a16:creationId xmlns:a16="http://schemas.microsoft.com/office/drawing/2014/main" id="{506D7E07-3DA8-0763-1AD9-8270BF170B4F}"/>
              </a:ext>
            </a:extLst>
          </p:cNvPr>
          <p:cNvSpPr/>
          <p:nvPr/>
        </p:nvSpPr>
        <p:spPr>
          <a:xfrm>
            <a:off x="8383248" y="52757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4" name="Rectangle 13">
            <a:extLst>
              <a:ext uri="{FF2B5EF4-FFF2-40B4-BE49-F238E27FC236}">
                <a16:creationId xmlns:a16="http://schemas.microsoft.com/office/drawing/2014/main" id="{7DC07852-9371-EBE3-D908-42616B9A3B91}"/>
              </a:ext>
            </a:extLst>
          </p:cNvPr>
          <p:cNvSpPr/>
          <p:nvPr/>
        </p:nvSpPr>
        <p:spPr>
          <a:xfrm>
            <a:off x="1817225" y="4863378"/>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15" name="Rectangle 14">
            <a:extLst>
              <a:ext uri="{FF2B5EF4-FFF2-40B4-BE49-F238E27FC236}">
                <a16:creationId xmlns:a16="http://schemas.microsoft.com/office/drawing/2014/main" id="{9A07525D-2426-0257-EDE4-2AF6E5ED808C}"/>
              </a:ext>
            </a:extLst>
          </p:cNvPr>
          <p:cNvSpPr/>
          <p:nvPr/>
        </p:nvSpPr>
        <p:spPr>
          <a:xfrm>
            <a:off x="2847372" y="486337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6" name="Rectangle 15">
            <a:extLst>
              <a:ext uri="{FF2B5EF4-FFF2-40B4-BE49-F238E27FC236}">
                <a16:creationId xmlns:a16="http://schemas.microsoft.com/office/drawing/2014/main" id="{3BF4E115-83DC-11F9-CE48-4FE20E3CC5EE}"/>
              </a:ext>
            </a:extLst>
          </p:cNvPr>
          <p:cNvSpPr/>
          <p:nvPr/>
        </p:nvSpPr>
        <p:spPr>
          <a:xfrm>
            <a:off x="4231341" y="4863377"/>
            <a:ext cx="1383969" cy="27489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Subagent</a:t>
            </a:r>
          </a:p>
        </p:txBody>
      </p:sp>
      <p:sp>
        <p:nvSpPr>
          <p:cNvPr id="17" name="Rectangle 16">
            <a:extLst>
              <a:ext uri="{FF2B5EF4-FFF2-40B4-BE49-F238E27FC236}">
                <a16:creationId xmlns:a16="http://schemas.microsoft.com/office/drawing/2014/main" id="{3FA09CCF-6F6D-9D9C-321B-930A4681A1BA}"/>
              </a:ext>
            </a:extLst>
          </p:cNvPr>
          <p:cNvSpPr/>
          <p:nvPr/>
        </p:nvSpPr>
        <p:spPr>
          <a:xfrm>
            <a:off x="5615310" y="486337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8" name="Rectangle 17">
            <a:extLst>
              <a:ext uri="{FF2B5EF4-FFF2-40B4-BE49-F238E27FC236}">
                <a16:creationId xmlns:a16="http://schemas.microsoft.com/office/drawing/2014/main" id="{2037F5AE-FFB9-1619-9998-1F331E91420F}"/>
              </a:ext>
            </a:extLst>
          </p:cNvPr>
          <p:cNvSpPr/>
          <p:nvPr/>
        </p:nvSpPr>
        <p:spPr>
          <a:xfrm>
            <a:off x="6999279" y="4863377"/>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21" name="Rectangle 20">
            <a:extLst>
              <a:ext uri="{FF2B5EF4-FFF2-40B4-BE49-F238E27FC236}">
                <a16:creationId xmlns:a16="http://schemas.microsoft.com/office/drawing/2014/main" id="{DAE6B263-F731-5C02-2A0E-03E7F0D0CB9F}"/>
              </a:ext>
            </a:extLst>
          </p:cNvPr>
          <p:cNvSpPr/>
          <p:nvPr/>
        </p:nvSpPr>
        <p:spPr>
          <a:xfrm>
            <a:off x="1817225" y="4428611"/>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2" name="Rectangle 21">
            <a:extLst>
              <a:ext uri="{FF2B5EF4-FFF2-40B4-BE49-F238E27FC236}">
                <a16:creationId xmlns:a16="http://schemas.microsoft.com/office/drawing/2014/main" id="{E9BCE122-7BA6-65F1-DCD0-8E0CB1184477}"/>
              </a:ext>
            </a:extLst>
          </p:cNvPr>
          <p:cNvSpPr/>
          <p:nvPr/>
        </p:nvSpPr>
        <p:spPr>
          <a:xfrm>
            <a:off x="2847372" y="4428611"/>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23" name="Rectangle 22">
            <a:extLst>
              <a:ext uri="{FF2B5EF4-FFF2-40B4-BE49-F238E27FC236}">
                <a16:creationId xmlns:a16="http://schemas.microsoft.com/office/drawing/2014/main" id="{5007B6DE-1CCE-345C-4525-1EC7DB34524C}"/>
              </a:ext>
            </a:extLst>
          </p:cNvPr>
          <p:cNvSpPr/>
          <p:nvPr/>
        </p:nvSpPr>
        <p:spPr>
          <a:xfrm>
            <a:off x="4231341" y="4428610"/>
            <a:ext cx="1383969" cy="27489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Subagent</a:t>
            </a:r>
          </a:p>
        </p:txBody>
      </p:sp>
      <p:sp>
        <p:nvSpPr>
          <p:cNvPr id="24" name="Rectangle 23">
            <a:extLst>
              <a:ext uri="{FF2B5EF4-FFF2-40B4-BE49-F238E27FC236}">
                <a16:creationId xmlns:a16="http://schemas.microsoft.com/office/drawing/2014/main" id="{E9BB03FF-B4FD-3291-1984-FA432827CC42}"/>
              </a:ext>
            </a:extLst>
          </p:cNvPr>
          <p:cNvSpPr/>
          <p:nvPr/>
        </p:nvSpPr>
        <p:spPr>
          <a:xfrm>
            <a:off x="5615310" y="4428611"/>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28" name="Rectangle 27">
            <a:extLst>
              <a:ext uri="{FF2B5EF4-FFF2-40B4-BE49-F238E27FC236}">
                <a16:creationId xmlns:a16="http://schemas.microsoft.com/office/drawing/2014/main" id="{AC32D9BE-599D-F622-860A-FDF4A81396AF}"/>
              </a:ext>
            </a:extLst>
          </p:cNvPr>
          <p:cNvSpPr/>
          <p:nvPr/>
        </p:nvSpPr>
        <p:spPr>
          <a:xfrm>
            <a:off x="1817225" y="4038692"/>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9" name="Rectangle 28">
            <a:extLst>
              <a:ext uri="{FF2B5EF4-FFF2-40B4-BE49-F238E27FC236}">
                <a16:creationId xmlns:a16="http://schemas.microsoft.com/office/drawing/2014/main" id="{D8A2D5E1-2C10-620D-EB83-29C9CAA79EF0}"/>
              </a:ext>
            </a:extLst>
          </p:cNvPr>
          <p:cNvSpPr/>
          <p:nvPr/>
        </p:nvSpPr>
        <p:spPr>
          <a:xfrm>
            <a:off x="2847372" y="4038692"/>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30" name="Rectangle 29">
            <a:extLst>
              <a:ext uri="{FF2B5EF4-FFF2-40B4-BE49-F238E27FC236}">
                <a16:creationId xmlns:a16="http://schemas.microsoft.com/office/drawing/2014/main" id="{92D7D6EA-8A71-151C-D77D-F2E63A752B22}"/>
              </a:ext>
            </a:extLst>
          </p:cNvPr>
          <p:cNvSpPr/>
          <p:nvPr/>
        </p:nvSpPr>
        <p:spPr>
          <a:xfrm>
            <a:off x="4231341" y="4038691"/>
            <a:ext cx="1383969" cy="27489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Subagent</a:t>
            </a:r>
          </a:p>
        </p:txBody>
      </p:sp>
      <p:sp>
        <p:nvSpPr>
          <p:cNvPr id="35" name="Rectangle 34">
            <a:extLst>
              <a:ext uri="{FF2B5EF4-FFF2-40B4-BE49-F238E27FC236}">
                <a16:creationId xmlns:a16="http://schemas.microsoft.com/office/drawing/2014/main" id="{29C60E32-83F7-721D-19EA-EF67CA35B41C}"/>
              </a:ext>
            </a:extLst>
          </p:cNvPr>
          <p:cNvSpPr/>
          <p:nvPr/>
        </p:nvSpPr>
        <p:spPr>
          <a:xfrm>
            <a:off x="1817225" y="3695063"/>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36" name="Rectangle 35">
            <a:extLst>
              <a:ext uri="{FF2B5EF4-FFF2-40B4-BE49-F238E27FC236}">
                <a16:creationId xmlns:a16="http://schemas.microsoft.com/office/drawing/2014/main" id="{0E004DB7-F084-F559-EAD7-B0E866A97B5C}"/>
              </a:ext>
            </a:extLst>
          </p:cNvPr>
          <p:cNvSpPr/>
          <p:nvPr/>
        </p:nvSpPr>
        <p:spPr>
          <a:xfrm>
            <a:off x="2847372" y="3695063"/>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Tree>
    <p:extLst>
      <p:ext uri="{BB962C8B-B14F-4D97-AF65-F5344CB8AC3E}">
        <p14:creationId xmlns:p14="http://schemas.microsoft.com/office/powerpoint/2010/main" val="2883793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68E28-F566-5E2A-5315-AB97ED448CE7}"/>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C9D5BD52-3681-7A46-85E3-840E825D99AC}"/>
              </a:ext>
            </a:extLst>
          </p:cNvPr>
          <p:cNvSpPr>
            <a:spLocks noGrp="1"/>
          </p:cNvSpPr>
          <p:nvPr>
            <p:ph idx="1"/>
          </p:nvPr>
        </p:nvSpPr>
        <p:spPr/>
        <p:txBody>
          <a:bodyPr/>
          <a:lstStyle/>
          <a:p>
            <a:r>
              <a:rPr lang="en-US" dirty="0"/>
              <a:t>Context grows forever</a:t>
            </a:r>
          </a:p>
          <a:p>
            <a:r>
              <a:rPr lang="en-US" dirty="0"/>
              <a:t>No parallelism</a:t>
            </a:r>
          </a:p>
          <a:p>
            <a:endParaRPr lang="en-US" dirty="0"/>
          </a:p>
          <a:p>
            <a:pPr marL="0" indent="0">
              <a:buNone/>
            </a:pPr>
            <a:r>
              <a:rPr lang="en-US" dirty="0"/>
              <a:t>Fine for short tasks, bad for long ones</a:t>
            </a:r>
          </a:p>
        </p:txBody>
      </p:sp>
    </p:spTree>
    <p:extLst>
      <p:ext uri="{BB962C8B-B14F-4D97-AF65-F5344CB8AC3E}">
        <p14:creationId xmlns:p14="http://schemas.microsoft.com/office/powerpoint/2010/main" val="845508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99BBB-5230-B2EE-E1B1-BF2AD9CA0B40}"/>
              </a:ext>
            </a:extLst>
          </p:cNvPr>
          <p:cNvSpPr>
            <a:spLocks noGrp="1"/>
          </p:cNvSpPr>
          <p:nvPr>
            <p:ph type="title"/>
          </p:nvPr>
        </p:nvSpPr>
        <p:spPr/>
        <p:txBody>
          <a:bodyPr/>
          <a:lstStyle/>
          <a:p>
            <a:r>
              <a:rPr lang="en-US" dirty="0"/>
              <a:t>Orchestration: hot topic</a:t>
            </a:r>
          </a:p>
        </p:txBody>
      </p:sp>
      <p:sp>
        <p:nvSpPr>
          <p:cNvPr id="3" name="Content Placeholder 2">
            <a:extLst>
              <a:ext uri="{FF2B5EF4-FFF2-40B4-BE49-F238E27FC236}">
                <a16:creationId xmlns:a16="http://schemas.microsoft.com/office/drawing/2014/main" id="{D64C7FC2-BB98-D840-BAEC-6BD1B33C3702}"/>
              </a:ext>
            </a:extLst>
          </p:cNvPr>
          <p:cNvSpPr>
            <a:spLocks noGrp="1"/>
          </p:cNvSpPr>
          <p:nvPr>
            <p:ph idx="1"/>
          </p:nvPr>
        </p:nvSpPr>
        <p:spPr/>
        <p:txBody>
          <a:bodyPr/>
          <a:lstStyle/>
          <a:p>
            <a:r>
              <a:rPr lang="en-US" dirty="0"/>
              <a:t>Kimi 2.5: train LLM to dispatch swarms (PARL); still basically </a:t>
            </a:r>
            <a:r>
              <a:rPr lang="en-US" dirty="0" err="1"/>
              <a:t>ReAct</a:t>
            </a:r>
            <a:endParaRPr lang="en-US" dirty="0"/>
          </a:p>
          <a:p>
            <a:r>
              <a:rPr lang="en-US" dirty="0"/>
              <a:t>Cursor browser experiment: planner/worker/checker pattern</a:t>
            </a:r>
          </a:p>
          <a:p>
            <a:r>
              <a:rPr lang="en-US" dirty="0"/>
              <a:t>Claude Code: viral “ralph” pattern</a:t>
            </a:r>
          </a:p>
          <a:p>
            <a:r>
              <a:rPr lang="en-US" dirty="0"/>
              <a:t>Claude code: parallelize to-do lists while respecting dependencies</a:t>
            </a:r>
          </a:p>
          <a:p>
            <a:r>
              <a:rPr lang="en-US" dirty="0"/>
              <a:t>“Recursive language model”: subagents gather context; still </a:t>
            </a:r>
            <a:r>
              <a:rPr lang="en-US" dirty="0" err="1"/>
              <a:t>ReAct</a:t>
            </a:r>
            <a:endParaRPr lang="en-US" dirty="0"/>
          </a:p>
        </p:txBody>
      </p:sp>
    </p:spTree>
    <p:extLst>
      <p:ext uri="{BB962C8B-B14F-4D97-AF65-F5344CB8AC3E}">
        <p14:creationId xmlns:p14="http://schemas.microsoft.com/office/powerpoint/2010/main" val="1477745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0778E-31DB-0BC8-EB3C-33022A107AE5}"/>
              </a:ext>
            </a:extLst>
          </p:cNvPr>
          <p:cNvSpPr>
            <a:spLocks noGrp="1"/>
          </p:cNvSpPr>
          <p:nvPr>
            <p:ph type="title"/>
          </p:nvPr>
        </p:nvSpPr>
        <p:spPr/>
        <p:txBody>
          <a:bodyPr/>
          <a:lstStyle/>
          <a:p>
            <a:r>
              <a:rPr lang="en-US" dirty="0"/>
              <a:t>Early findings</a:t>
            </a:r>
          </a:p>
        </p:txBody>
      </p:sp>
      <p:sp>
        <p:nvSpPr>
          <p:cNvPr id="3" name="Content Placeholder 2">
            <a:extLst>
              <a:ext uri="{FF2B5EF4-FFF2-40B4-BE49-F238E27FC236}">
                <a16:creationId xmlns:a16="http://schemas.microsoft.com/office/drawing/2014/main" id="{91A022CE-9192-CA9B-E9A1-E69CFB679429}"/>
              </a:ext>
            </a:extLst>
          </p:cNvPr>
          <p:cNvSpPr>
            <a:spLocks noGrp="1"/>
          </p:cNvSpPr>
          <p:nvPr>
            <p:ph idx="1"/>
          </p:nvPr>
        </p:nvSpPr>
        <p:spPr/>
        <p:txBody>
          <a:bodyPr/>
          <a:lstStyle/>
          <a:p>
            <a:r>
              <a:rPr lang="en-US" dirty="0"/>
              <a:t>Nontrivial orchestration can make a big difference on long tasks (Cursor experiment, anecdotal from “Ralph”)</a:t>
            </a:r>
          </a:p>
          <a:p>
            <a:r>
              <a:rPr lang="en-US" dirty="0"/>
              <a:t>Divide-and-conquer mitigates context limitations (RLMs, “progressive disclosure” pattern)</a:t>
            </a:r>
          </a:p>
          <a:p>
            <a:r>
              <a:rPr lang="en-US" dirty="0"/>
              <a:t>Agents can be trained on orchestration using RL (Kimi)</a:t>
            </a:r>
          </a:p>
          <a:p>
            <a:endParaRPr lang="en-US" dirty="0"/>
          </a:p>
        </p:txBody>
      </p:sp>
    </p:spTree>
    <p:extLst>
      <p:ext uri="{BB962C8B-B14F-4D97-AF65-F5344CB8AC3E}">
        <p14:creationId xmlns:p14="http://schemas.microsoft.com/office/powerpoint/2010/main" val="1144844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D878C-788C-17D8-A726-3B1CF6F0E7B1}"/>
              </a:ext>
            </a:extLst>
          </p:cNvPr>
          <p:cNvSpPr>
            <a:spLocks noGrp="1"/>
          </p:cNvSpPr>
          <p:nvPr>
            <p:ph type="title"/>
          </p:nvPr>
        </p:nvSpPr>
        <p:spPr/>
        <p:txBody>
          <a:bodyPr/>
          <a:lstStyle/>
          <a:p>
            <a:r>
              <a:rPr lang="en-US" dirty="0"/>
              <a:t>What this motivates</a:t>
            </a:r>
          </a:p>
        </p:txBody>
      </p:sp>
      <p:sp>
        <p:nvSpPr>
          <p:cNvPr id="3" name="Content Placeholder 2">
            <a:extLst>
              <a:ext uri="{FF2B5EF4-FFF2-40B4-BE49-F238E27FC236}">
                <a16:creationId xmlns:a16="http://schemas.microsoft.com/office/drawing/2014/main" id="{1D91BA01-1D85-5A0B-C834-E334656A0C74}"/>
              </a:ext>
            </a:extLst>
          </p:cNvPr>
          <p:cNvSpPr>
            <a:spLocks noGrp="1"/>
          </p:cNvSpPr>
          <p:nvPr>
            <p:ph idx="1"/>
          </p:nvPr>
        </p:nvSpPr>
        <p:spPr>
          <a:xfrm>
            <a:off x="838200" y="1825625"/>
            <a:ext cx="5715000" cy="4351338"/>
          </a:xfrm>
        </p:spPr>
        <p:txBody>
          <a:bodyPr/>
          <a:lstStyle/>
          <a:p>
            <a:pPr marL="0" indent="0">
              <a:buNone/>
            </a:pPr>
            <a:r>
              <a:rPr lang="en-US" dirty="0"/>
              <a:t>A self-orchestrating agent should:</a:t>
            </a:r>
          </a:p>
          <a:p>
            <a:pPr marL="514350" indent="-514350">
              <a:buFont typeface="+mj-lt"/>
              <a:buAutoNum type="arabicPeriod"/>
            </a:pPr>
            <a:r>
              <a:rPr lang="en-US" dirty="0"/>
              <a:t>Have access to complex control flow – more complex than Kimi and RLMs</a:t>
            </a:r>
          </a:p>
          <a:p>
            <a:pPr marL="514350" indent="-514350">
              <a:buFont typeface="+mj-lt"/>
              <a:buAutoNum type="arabicPeriod"/>
            </a:pPr>
            <a:r>
              <a:rPr lang="en-US" dirty="0"/>
              <a:t>Tightly control context for itself and its subagents</a:t>
            </a:r>
          </a:p>
          <a:p>
            <a:pPr marL="514350" indent="-514350">
              <a:buFont typeface="+mj-lt"/>
              <a:buAutoNum type="arabicPeriod"/>
            </a:pPr>
            <a:r>
              <a:rPr lang="en-US" dirty="0"/>
              <a:t>Be trained at self-orchestration using RL</a:t>
            </a:r>
          </a:p>
        </p:txBody>
      </p:sp>
    </p:spTree>
    <p:extLst>
      <p:ext uri="{BB962C8B-B14F-4D97-AF65-F5344CB8AC3E}">
        <p14:creationId xmlns:p14="http://schemas.microsoft.com/office/powerpoint/2010/main" val="2874090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1309A-0086-75F4-0AC7-89E58671C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6DD20C-7EEE-C84E-74AB-36EC6FBBA213}"/>
              </a:ext>
            </a:extLst>
          </p:cNvPr>
          <p:cNvSpPr>
            <a:spLocks noGrp="1"/>
          </p:cNvSpPr>
          <p:nvPr>
            <p:ph type="title"/>
          </p:nvPr>
        </p:nvSpPr>
        <p:spPr/>
        <p:txBody>
          <a:bodyPr/>
          <a:lstStyle/>
          <a:p>
            <a:r>
              <a:rPr lang="en-US" dirty="0"/>
              <a:t>What this motivates</a:t>
            </a:r>
          </a:p>
        </p:txBody>
      </p:sp>
      <p:sp>
        <p:nvSpPr>
          <p:cNvPr id="3" name="Content Placeholder 2">
            <a:extLst>
              <a:ext uri="{FF2B5EF4-FFF2-40B4-BE49-F238E27FC236}">
                <a16:creationId xmlns:a16="http://schemas.microsoft.com/office/drawing/2014/main" id="{369BA5A1-BB61-55EE-D354-44F07E97005D}"/>
              </a:ext>
            </a:extLst>
          </p:cNvPr>
          <p:cNvSpPr>
            <a:spLocks noGrp="1"/>
          </p:cNvSpPr>
          <p:nvPr>
            <p:ph idx="1"/>
          </p:nvPr>
        </p:nvSpPr>
        <p:spPr>
          <a:xfrm>
            <a:off x="838200" y="1825625"/>
            <a:ext cx="5715000" cy="4351338"/>
          </a:xfrm>
        </p:spPr>
        <p:txBody>
          <a:bodyPr/>
          <a:lstStyle/>
          <a:p>
            <a:pPr marL="0" indent="0">
              <a:buNone/>
            </a:pPr>
            <a:r>
              <a:rPr lang="en-US" dirty="0"/>
              <a:t>A self-orchestrating agent should:</a:t>
            </a:r>
          </a:p>
          <a:p>
            <a:pPr marL="514350" indent="-514350">
              <a:buFont typeface="+mj-lt"/>
              <a:buAutoNum type="arabicPeriod"/>
            </a:pPr>
            <a:r>
              <a:rPr lang="en-US" dirty="0"/>
              <a:t>Have access to complex control flow – more complex than Kimi and RLMs</a:t>
            </a:r>
          </a:p>
          <a:p>
            <a:pPr marL="514350" indent="-514350">
              <a:buFont typeface="+mj-lt"/>
              <a:buAutoNum type="arabicPeriod"/>
            </a:pPr>
            <a:r>
              <a:rPr lang="en-US" dirty="0"/>
              <a:t>Tightly control context for itself and its subagents</a:t>
            </a:r>
          </a:p>
          <a:p>
            <a:pPr marL="514350" indent="-514350">
              <a:buFont typeface="+mj-lt"/>
              <a:buAutoNum type="arabicPeriod"/>
            </a:pPr>
            <a:r>
              <a:rPr lang="en-US" dirty="0"/>
              <a:t>Be trained at self-orchestration using RL</a:t>
            </a:r>
          </a:p>
        </p:txBody>
      </p:sp>
      <p:cxnSp>
        <p:nvCxnSpPr>
          <p:cNvPr id="5" name="Straight Arrow Connector 4">
            <a:extLst>
              <a:ext uri="{FF2B5EF4-FFF2-40B4-BE49-F238E27FC236}">
                <a16:creationId xmlns:a16="http://schemas.microsoft.com/office/drawing/2014/main" id="{C3438121-FA7D-23E2-1C08-6CC244F9DCFC}"/>
              </a:ext>
            </a:extLst>
          </p:cNvPr>
          <p:cNvCxnSpPr/>
          <p:nvPr/>
        </p:nvCxnSpPr>
        <p:spPr>
          <a:xfrm>
            <a:off x="6553200" y="2779059"/>
            <a:ext cx="39444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C15A7D7E-2BBA-06FE-9E61-136E1FD6ECAE}"/>
              </a:ext>
            </a:extLst>
          </p:cNvPr>
          <p:cNvCxnSpPr/>
          <p:nvPr/>
        </p:nvCxnSpPr>
        <p:spPr>
          <a:xfrm>
            <a:off x="6553200" y="4195482"/>
            <a:ext cx="39444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A281B1D3-326B-1446-5290-A41754602253}"/>
              </a:ext>
            </a:extLst>
          </p:cNvPr>
          <p:cNvCxnSpPr/>
          <p:nvPr/>
        </p:nvCxnSpPr>
        <p:spPr>
          <a:xfrm>
            <a:off x="6553200" y="5011270"/>
            <a:ext cx="39444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CCDAE301-C625-5FCD-9F71-2AB51A05DD32}"/>
              </a:ext>
            </a:extLst>
          </p:cNvPr>
          <p:cNvSpPr txBox="1"/>
          <p:nvPr/>
        </p:nvSpPr>
        <p:spPr>
          <a:xfrm>
            <a:off x="7440706" y="4749660"/>
            <a:ext cx="2170787" cy="523220"/>
          </a:xfrm>
          <a:prstGeom prst="rect">
            <a:avLst/>
          </a:prstGeom>
          <a:noFill/>
        </p:spPr>
        <p:txBody>
          <a:bodyPr wrap="none" rtlCol="0">
            <a:spAutoFit/>
          </a:bodyPr>
          <a:lstStyle/>
          <a:p>
            <a:r>
              <a:rPr lang="en-US" sz="2800" dirty="0"/>
              <a:t>Out of scope</a:t>
            </a:r>
          </a:p>
        </p:txBody>
      </p:sp>
      <p:sp>
        <p:nvSpPr>
          <p:cNvPr id="9" name="TextBox 8">
            <a:extLst>
              <a:ext uri="{FF2B5EF4-FFF2-40B4-BE49-F238E27FC236}">
                <a16:creationId xmlns:a16="http://schemas.microsoft.com/office/drawing/2014/main" id="{3B057222-4DFA-6DB2-2190-549B60D64A9E}"/>
              </a:ext>
            </a:extLst>
          </p:cNvPr>
          <p:cNvSpPr txBox="1"/>
          <p:nvPr/>
        </p:nvSpPr>
        <p:spPr>
          <a:xfrm>
            <a:off x="7388245" y="3718432"/>
            <a:ext cx="4446496" cy="954099"/>
          </a:xfrm>
          <a:prstGeom prst="rect">
            <a:avLst/>
          </a:prstGeom>
          <a:noFill/>
        </p:spPr>
        <p:txBody>
          <a:bodyPr wrap="square" rtlCol="0">
            <a:spAutoFit/>
          </a:bodyPr>
          <a:lstStyle/>
          <a:p>
            <a:r>
              <a:rPr lang="en-US" sz="2800" dirty="0"/>
              <a:t>Manipulate context using this language</a:t>
            </a:r>
          </a:p>
        </p:txBody>
      </p:sp>
      <p:sp>
        <p:nvSpPr>
          <p:cNvPr id="10" name="TextBox 9">
            <a:extLst>
              <a:ext uri="{FF2B5EF4-FFF2-40B4-BE49-F238E27FC236}">
                <a16:creationId xmlns:a16="http://schemas.microsoft.com/office/drawing/2014/main" id="{A5DFEFFD-232F-AF55-4D72-FD784802A57D}"/>
              </a:ext>
            </a:extLst>
          </p:cNvPr>
          <p:cNvSpPr txBox="1"/>
          <p:nvPr/>
        </p:nvSpPr>
        <p:spPr>
          <a:xfrm>
            <a:off x="7307562" y="2302005"/>
            <a:ext cx="4446496" cy="954107"/>
          </a:xfrm>
          <a:prstGeom prst="rect">
            <a:avLst/>
          </a:prstGeom>
          <a:noFill/>
        </p:spPr>
        <p:txBody>
          <a:bodyPr wrap="square" rtlCol="0">
            <a:spAutoFit/>
          </a:bodyPr>
          <a:lstStyle/>
          <a:p>
            <a:r>
              <a:rPr lang="en-US" sz="2800" dirty="0"/>
              <a:t>Programming language for self-orchestration</a:t>
            </a:r>
          </a:p>
        </p:txBody>
      </p:sp>
    </p:spTree>
    <p:extLst>
      <p:ext uri="{BB962C8B-B14F-4D97-AF65-F5344CB8AC3E}">
        <p14:creationId xmlns:p14="http://schemas.microsoft.com/office/powerpoint/2010/main" val="4211055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3D339-5377-79A1-7714-4B57C5D4098A}"/>
              </a:ext>
            </a:extLst>
          </p:cNvPr>
          <p:cNvSpPr>
            <a:spLocks noGrp="1"/>
          </p:cNvSpPr>
          <p:nvPr>
            <p:ph type="title"/>
          </p:nvPr>
        </p:nvSpPr>
        <p:spPr/>
        <p:txBody>
          <a:bodyPr/>
          <a:lstStyle/>
          <a:p>
            <a:r>
              <a:rPr lang="en-US" dirty="0"/>
              <a:t>Spell </a:t>
            </a:r>
            <a:r>
              <a:rPr lang="en-US" sz="3600" dirty="0"/>
              <a:t>(self-prompting execution language for LLMs)</a:t>
            </a:r>
            <a:endParaRPr lang="en-US" dirty="0"/>
          </a:p>
        </p:txBody>
      </p:sp>
      <p:sp>
        <p:nvSpPr>
          <p:cNvPr id="6" name="Content Placeholder 2">
            <a:extLst>
              <a:ext uri="{FF2B5EF4-FFF2-40B4-BE49-F238E27FC236}">
                <a16:creationId xmlns:a16="http://schemas.microsoft.com/office/drawing/2014/main" id="{DE073252-398A-4E6D-746D-8DB4A88B9195}"/>
              </a:ext>
            </a:extLst>
          </p:cNvPr>
          <p:cNvSpPr>
            <a:spLocks noGrp="1"/>
          </p:cNvSpPr>
          <p:nvPr>
            <p:ph idx="1"/>
          </p:nvPr>
        </p:nvSpPr>
        <p:spPr>
          <a:xfrm>
            <a:off x="838199" y="1825625"/>
            <a:ext cx="9040091" cy="4351338"/>
          </a:xfrm>
        </p:spPr>
        <p:txBody>
          <a:bodyPr/>
          <a:lstStyle/>
          <a:p>
            <a:r>
              <a:rPr lang="en-US" dirty="0"/>
              <a:t>Embedded within Clojure</a:t>
            </a:r>
          </a:p>
          <a:p>
            <a:r>
              <a:rPr lang="en-US" dirty="0"/>
              <a:t>Lisp: “Code is data”</a:t>
            </a:r>
          </a:p>
          <a:p>
            <a:r>
              <a:rPr lang="en-US" dirty="0"/>
              <a:t>Spell: “Data [prompt, response, context] is code”</a:t>
            </a:r>
          </a:p>
          <a:p>
            <a:pPr lvl="1"/>
            <a:r>
              <a:rPr lang="en-US" dirty="0"/>
              <a:t>LLM receives incomplete program and completes it</a:t>
            </a:r>
          </a:p>
          <a:p>
            <a:pPr lvl="1"/>
            <a:r>
              <a:rPr lang="en-US" dirty="0"/>
              <a:t>The program is evaluated</a:t>
            </a:r>
          </a:p>
          <a:p>
            <a:pPr lvl="1"/>
            <a:r>
              <a:rPr lang="en-US" dirty="0"/>
              <a:t>Program can include long text strings, tool calls, and LLM calls</a:t>
            </a:r>
          </a:p>
          <a:p>
            <a:pPr marL="457200" lvl="1" indent="0">
              <a:buNone/>
            </a:pPr>
            <a:endParaRPr lang="en-US" dirty="0"/>
          </a:p>
          <a:p>
            <a:endParaRPr lang="en-US" dirty="0"/>
          </a:p>
        </p:txBody>
      </p:sp>
    </p:spTree>
    <p:extLst>
      <p:ext uri="{BB962C8B-B14F-4D97-AF65-F5344CB8AC3E}">
        <p14:creationId xmlns:p14="http://schemas.microsoft.com/office/powerpoint/2010/main" val="2037652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4B483-61B9-F89E-93F9-6EAB117EF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59F62-DE66-B0C1-B184-179B8C27FD21}"/>
              </a:ext>
            </a:extLst>
          </p:cNvPr>
          <p:cNvSpPr>
            <a:spLocks noGrp="1"/>
          </p:cNvSpPr>
          <p:nvPr>
            <p:ph type="title"/>
          </p:nvPr>
        </p:nvSpPr>
        <p:spPr/>
        <p:txBody>
          <a:bodyPr/>
          <a:lstStyle/>
          <a:p>
            <a:r>
              <a:rPr lang="en-US" dirty="0"/>
              <a:t>Spell </a:t>
            </a:r>
            <a:r>
              <a:rPr lang="en-US" sz="3600" dirty="0"/>
              <a:t>(self-prompting execution language for LLMs)</a:t>
            </a:r>
            <a:endParaRPr lang="en-US" dirty="0"/>
          </a:p>
        </p:txBody>
      </p:sp>
      <p:pic>
        <p:nvPicPr>
          <p:cNvPr id="11" name="Picture 10">
            <a:extLst>
              <a:ext uri="{FF2B5EF4-FFF2-40B4-BE49-F238E27FC236}">
                <a16:creationId xmlns:a16="http://schemas.microsoft.com/office/drawing/2014/main" id="{CFCD7B5F-3CE4-0613-9DB0-0E4FDADF6BE7}"/>
              </a:ext>
            </a:extLst>
          </p:cNvPr>
          <p:cNvPicPr>
            <a:picLocks noChangeAspect="1"/>
          </p:cNvPicPr>
          <p:nvPr/>
        </p:nvPicPr>
        <p:blipFill>
          <a:blip r:embed="rId2"/>
          <a:stretch>
            <a:fillRect/>
          </a:stretch>
        </p:blipFill>
        <p:spPr>
          <a:xfrm>
            <a:off x="432631" y="2970478"/>
            <a:ext cx="11522682" cy="2069607"/>
          </a:xfrm>
          <a:prstGeom prst="rect">
            <a:avLst/>
          </a:prstGeom>
        </p:spPr>
      </p:pic>
    </p:spTree>
    <p:extLst>
      <p:ext uri="{BB962C8B-B14F-4D97-AF65-F5344CB8AC3E}">
        <p14:creationId xmlns:p14="http://schemas.microsoft.com/office/powerpoint/2010/main" val="4114460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A570F-51FC-A85B-A53E-65533A3FE05E}"/>
              </a:ext>
            </a:extLst>
          </p:cNvPr>
          <p:cNvSpPr>
            <a:spLocks noGrp="1"/>
          </p:cNvSpPr>
          <p:nvPr>
            <p:ph type="title"/>
          </p:nvPr>
        </p:nvSpPr>
        <p:spPr/>
        <p:txBody>
          <a:bodyPr/>
          <a:lstStyle/>
          <a:p>
            <a:r>
              <a:rPr lang="en-US" dirty="0"/>
              <a:t>Context = code</a:t>
            </a:r>
          </a:p>
        </p:txBody>
      </p:sp>
      <p:sp>
        <p:nvSpPr>
          <p:cNvPr id="3" name="Content Placeholder 2">
            <a:extLst>
              <a:ext uri="{FF2B5EF4-FFF2-40B4-BE49-F238E27FC236}">
                <a16:creationId xmlns:a16="http://schemas.microsoft.com/office/drawing/2014/main" id="{6404D976-F5D7-3005-8DF8-8748A3EF293E}"/>
              </a:ext>
            </a:extLst>
          </p:cNvPr>
          <p:cNvSpPr>
            <a:spLocks noGrp="1"/>
          </p:cNvSpPr>
          <p:nvPr>
            <p:ph idx="1"/>
          </p:nvPr>
        </p:nvSpPr>
        <p:spPr/>
        <p:txBody>
          <a:bodyPr/>
          <a:lstStyle/>
          <a:p>
            <a:pPr marL="0" indent="0">
              <a:buNone/>
            </a:pPr>
            <a:r>
              <a:rPr lang="en-US" dirty="0"/>
              <a:t>LLM should be able to manipulate context programmatically</a:t>
            </a:r>
            <a:br>
              <a:rPr lang="en-US" dirty="0"/>
            </a:br>
            <a:br>
              <a:rPr lang="en-US" dirty="0"/>
            </a:br>
            <a:r>
              <a:rPr lang="en-US" dirty="0"/>
              <a:t>Motivates:</a:t>
            </a:r>
          </a:p>
          <a:p>
            <a:r>
              <a:rPr lang="en-US" dirty="0"/>
              <a:t>Lisp (“code is data”)</a:t>
            </a:r>
          </a:p>
          <a:p>
            <a:r>
              <a:rPr lang="en-US" dirty="0" err="1"/>
              <a:t>Quining</a:t>
            </a:r>
            <a:r>
              <a:rPr lang="en-US" dirty="0"/>
              <a:t> via ‘</a:t>
            </a:r>
            <a:r>
              <a:rPr lang="en-US" dirty="0" err="1"/>
              <a:t>uneval</a:t>
            </a:r>
            <a:r>
              <a:rPr lang="en-US" dirty="0"/>
              <a:t>’</a:t>
            </a:r>
          </a:p>
          <a:p>
            <a:pPr marL="0" indent="0">
              <a:buNone/>
            </a:pPr>
            <a:endParaRPr lang="en-US" dirty="0"/>
          </a:p>
          <a:p>
            <a:endParaRPr lang="en-US" dirty="0"/>
          </a:p>
        </p:txBody>
      </p:sp>
    </p:spTree>
    <p:extLst>
      <p:ext uri="{BB962C8B-B14F-4D97-AF65-F5344CB8AC3E}">
        <p14:creationId xmlns:p14="http://schemas.microsoft.com/office/powerpoint/2010/main" val="2024375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DFF8F-0714-F2A1-F5D1-1960743BB2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0B0A5-5C27-2A32-8C2A-AFD957CD7FA7}"/>
              </a:ext>
            </a:extLst>
          </p:cNvPr>
          <p:cNvSpPr>
            <a:spLocks noGrp="1"/>
          </p:cNvSpPr>
          <p:nvPr>
            <p:ph type="title"/>
          </p:nvPr>
        </p:nvSpPr>
        <p:spPr/>
        <p:txBody>
          <a:bodyPr/>
          <a:lstStyle/>
          <a:p>
            <a:r>
              <a:rPr lang="en-US" dirty="0"/>
              <a:t>Environment = context</a:t>
            </a:r>
          </a:p>
        </p:txBody>
      </p:sp>
      <p:sp>
        <p:nvSpPr>
          <p:cNvPr id="3" name="Content Placeholder 2">
            <a:extLst>
              <a:ext uri="{FF2B5EF4-FFF2-40B4-BE49-F238E27FC236}">
                <a16:creationId xmlns:a16="http://schemas.microsoft.com/office/drawing/2014/main" id="{D0F8FA8E-031A-8E97-830E-35BEBB061EDC}"/>
              </a:ext>
            </a:extLst>
          </p:cNvPr>
          <p:cNvSpPr>
            <a:spLocks noGrp="1"/>
          </p:cNvSpPr>
          <p:nvPr>
            <p:ph idx="1"/>
          </p:nvPr>
        </p:nvSpPr>
        <p:spPr>
          <a:xfrm>
            <a:off x="838200" y="1908176"/>
            <a:ext cx="10515600" cy="4121149"/>
          </a:xfrm>
        </p:spPr>
        <p:txBody>
          <a:bodyPr/>
          <a:lstStyle/>
          <a:p>
            <a:pPr marL="0" indent="0">
              <a:buNone/>
            </a:pPr>
            <a:r>
              <a:rPr lang="en-US" dirty="0"/>
              <a:t>LLM cannot reason about anything not in its context window</a:t>
            </a:r>
          </a:p>
          <a:p>
            <a:pPr marL="0" indent="0">
              <a:buNone/>
            </a:pPr>
            <a:endParaRPr lang="en-US" dirty="0"/>
          </a:p>
          <a:p>
            <a:pPr marL="0" indent="0">
              <a:buNone/>
            </a:pPr>
            <a:r>
              <a:rPr lang="en-US" dirty="0"/>
              <a:t>Motivates:</a:t>
            </a:r>
          </a:p>
          <a:p>
            <a:r>
              <a:rPr lang="en-US" dirty="0"/>
              <a:t>Dynamic scoping (no function closures)</a:t>
            </a:r>
          </a:p>
          <a:p>
            <a:r>
              <a:rPr lang="en-US" dirty="0"/>
              <a:t>‘Expand’ free variables passed to child LLMs</a:t>
            </a:r>
          </a:p>
          <a:p>
            <a:endParaRPr lang="en-US" dirty="0"/>
          </a:p>
        </p:txBody>
      </p:sp>
    </p:spTree>
    <p:extLst>
      <p:ext uri="{BB962C8B-B14F-4D97-AF65-F5344CB8AC3E}">
        <p14:creationId xmlns:p14="http://schemas.microsoft.com/office/powerpoint/2010/main" val="2452259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F9B6F-918B-2786-F7FD-B527D934621B}"/>
              </a:ext>
            </a:extLst>
          </p:cNvPr>
          <p:cNvSpPr>
            <a:spLocks noGrp="1"/>
          </p:cNvSpPr>
          <p:nvPr>
            <p:ph type="title"/>
          </p:nvPr>
        </p:nvSpPr>
        <p:spPr/>
        <p:txBody>
          <a:bodyPr/>
          <a:lstStyle/>
          <a:p>
            <a:r>
              <a:rPr lang="en-US" dirty="0"/>
              <a:t>Why not Python?</a:t>
            </a:r>
          </a:p>
        </p:txBody>
      </p:sp>
      <p:sp>
        <p:nvSpPr>
          <p:cNvPr id="3" name="Content Placeholder 2">
            <a:extLst>
              <a:ext uri="{FF2B5EF4-FFF2-40B4-BE49-F238E27FC236}">
                <a16:creationId xmlns:a16="http://schemas.microsoft.com/office/drawing/2014/main" id="{0C00B413-02CA-0CAB-8B92-20BCC0ED149D}"/>
              </a:ext>
            </a:extLst>
          </p:cNvPr>
          <p:cNvSpPr>
            <a:spLocks noGrp="1"/>
          </p:cNvSpPr>
          <p:nvPr>
            <p:ph idx="1"/>
          </p:nvPr>
        </p:nvSpPr>
        <p:spPr/>
        <p:txBody>
          <a:bodyPr/>
          <a:lstStyle/>
          <a:p>
            <a:pPr marL="514350" indent="-514350">
              <a:buFont typeface="+mj-lt"/>
              <a:buAutoNum type="arabicPeriod"/>
            </a:pPr>
            <a:r>
              <a:rPr lang="en-US" dirty="0"/>
              <a:t>Quotes -&gt; strings; escaping nightmare</a:t>
            </a:r>
          </a:p>
          <a:p>
            <a:pPr marL="514350" indent="-514350">
              <a:buFont typeface="+mj-lt"/>
              <a:buAutoNum type="arabicPeriod"/>
            </a:pPr>
            <a:r>
              <a:rPr lang="en-US" dirty="0" err="1"/>
              <a:t>Quining</a:t>
            </a:r>
            <a:r>
              <a:rPr lang="en-US" dirty="0"/>
              <a:t> with ‘</a:t>
            </a:r>
            <a:r>
              <a:rPr lang="en-US" dirty="0" err="1"/>
              <a:t>uneval</a:t>
            </a:r>
            <a:r>
              <a:rPr lang="en-US" dirty="0"/>
              <a:t>’ – totally unclear how to do this </a:t>
            </a:r>
          </a:p>
          <a:p>
            <a:pPr marL="514350" indent="-514350">
              <a:buFont typeface="+mj-lt"/>
              <a:buAutoNum type="arabicPeriod"/>
            </a:pPr>
            <a:r>
              <a:rPr lang="en-US" dirty="0"/>
              <a:t>Custom evaluator - </a:t>
            </a:r>
          </a:p>
        </p:txBody>
      </p:sp>
    </p:spTree>
    <p:extLst>
      <p:ext uri="{BB962C8B-B14F-4D97-AF65-F5344CB8AC3E}">
        <p14:creationId xmlns:p14="http://schemas.microsoft.com/office/powerpoint/2010/main" val="3675911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BA9F0-70E8-DB17-2B66-F240F9A9A5AE}"/>
              </a:ext>
            </a:extLst>
          </p:cNvPr>
          <p:cNvSpPr>
            <a:spLocks noGrp="1"/>
          </p:cNvSpPr>
          <p:nvPr>
            <p:ph type="title"/>
          </p:nvPr>
        </p:nvSpPr>
        <p:spPr/>
        <p:txBody>
          <a:bodyPr/>
          <a:lstStyle/>
          <a:p>
            <a:r>
              <a:rPr lang="en-US" dirty="0"/>
              <a:t>Structure of every completion</a:t>
            </a:r>
          </a:p>
        </p:txBody>
      </p:sp>
      <p:pic>
        <p:nvPicPr>
          <p:cNvPr id="7" name="Picture 6">
            <a:extLst>
              <a:ext uri="{FF2B5EF4-FFF2-40B4-BE49-F238E27FC236}">
                <a16:creationId xmlns:a16="http://schemas.microsoft.com/office/drawing/2014/main" id="{E9DD7DF5-ABBA-725F-5C26-D7D36267AE06}"/>
              </a:ext>
            </a:extLst>
          </p:cNvPr>
          <p:cNvPicPr>
            <a:picLocks noChangeAspect="1"/>
          </p:cNvPicPr>
          <p:nvPr/>
        </p:nvPicPr>
        <p:blipFill>
          <a:blip r:embed="rId2"/>
          <a:stretch>
            <a:fillRect/>
          </a:stretch>
        </p:blipFill>
        <p:spPr>
          <a:xfrm>
            <a:off x="1705234" y="2349070"/>
            <a:ext cx="7721600" cy="2717800"/>
          </a:xfrm>
          <a:prstGeom prst="rect">
            <a:avLst/>
          </a:prstGeom>
        </p:spPr>
      </p:pic>
    </p:spTree>
    <p:extLst>
      <p:ext uri="{BB962C8B-B14F-4D97-AF65-F5344CB8AC3E}">
        <p14:creationId xmlns:p14="http://schemas.microsoft.com/office/powerpoint/2010/main" val="21414178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5EED-0EAB-02AA-0049-E24F332FB0AD}"/>
              </a:ext>
            </a:extLst>
          </p:cNvPr>
          <p:cNvSpPr>
            <a:spLocks noGrp="1"/>
          </p:cNvSpPr>
          <p:nvPr>
            <p:ph type="title"/>
          </p:nvPr>
        </p:nvSpPr>
        <p:spPr/>
        <p:txBody>
          <a:bodyPr/>
          <a:lstStyle/>
          <a:p>
            <a:r>
              <a:rPr lang="en-US" dirty="0" err="1"/>
              <a:t>ReAct</a:t>
            </a:r>
            <a:r>
              <a:rPr lang="en-US" dirty="0"/>
              <a:t> loop in Spell</a:t>
            </a:r>
          </a:p>
        </p:txBody>
      </p:sp>
      <p:sp>
        <p:nvSpPr>
          <p:cNvPr id="9" name="Rectangle 8">
            <a:extLst>
              <a:ext uri="{FF2B5EF4-FFF2-40B4-BE49-F238E27FC236}">
                <a16:creationId xmlns:a16="http://schemas.microsoft.com/office/drawing/2014/main" id="{4B1233F7-6AC5-874A-7F32-4E303DD3B164}"/>
              </a:ext>
            </a:extLst>
          </p:cNvPr>
          <p:cNvSpPr/>
          <p:nvPr/>
        </p:nvSpPr>
        <p:spPr>
          <a:xfrm>
            <a:off x="3111125" y="4618311"/>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10" name="Rectangle 9">
            <a:extLst>
              <a:ext uri="{FF2B5EF4-FFF2-40B4-BE49-F238E27FC236}">
                <a16:creationId xmlns:a16="http://schemas.microsoft.com/office/drawing/2014/main" id="{00A8FC11-E7A5-7029-E5E3-94916BE73AA2}"/>
              </a:ext>
            </a:extLst>
          </p:cNvPr>
          <p:cNvSpPr/>
          <p:nvPr/>
        </p:nvSpPr>
        <p:spPr>
          <a:xfrm>
            <a:off x="4141272" y="4618311"/>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1" name="Rectangle 10">
            <a:extLst>
              <a:ext uri="{FF2B5EF4-FFF2-40B4-BE49-F238E27FC236}">
                <a16:creationId xmlns:a16="http://schemas.microsoft.com/office/drawing/2014/main" id="{C1EBA344-516B-0319-AEBB-5A43A6FA2C20}"/>
              </a:ext>
            </a:extLst>
          </p:cNvPr>
          <p:cNvSpPr/>
          <p:nvPr/>
        </p:nvSpPr>
        <p:spPr>
          <a:xfrm>
            <a:off x="5527821" y="4618311"/>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cxnSp>
        <p:nvCxnSpPr>
          <p:cNvPr id="13" name="Straight Connector 12">
            <a:extLst>
              <a:ext uri="{FF2B5EF4-FFF2-40B4-BE49-F238E27FC236}">
                <a16:creationId xmlns:a16="http://schemas.microsoft.com/office/drawing/2014/main" id="{1550AF04-5F2B-E374-8A7C-E8AEC08F22EF}"/>
              </a:ext>
            </a:extLst>
          </p:cNvPr>
          <p:cNvCxnSpPr>
            <a:cxnSpLocks/>
          </p:cNvCxnSpPr>
          <p:nvPr/>
        </p:nvCxnSpPr>
        <p:spPr>
          <a:xfrm flipH="1">
            <a:off x="3111125" y="3429000"/>
            <a:ext cx="1574086" cy="1189311"/>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25C4B54D-E444-C48E-A1C3-D3719E90F184}"/>
              </a:ext>
            </a:extLst>
          </p:cNvPr>
          <p:cNvCxnSpPr>
            <a:cxnSpLocks/>
          </p:cNvCxnSpPr>
          <p:nvPr/>
        </p:nvCxnSpPr>
        <p:spPr>
          <a:xfrm flipH="1">
            <a:off x="5525241" y="3429000"/>
            <a:ext cx="341520" cy="1189311"/>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A4F58EB8-241D-4A87-FFF3-34E576F0B1C5}"/>
              </a:ext>
            </a:extLst>
          </p:cNvPr>
          <p:cNvCxnSpPr>
            <a:cxnSpLocks/>
          </p:cNvCxnSpPr>
          <p:nvPr/>
        </p:nvCxnSpPr>
        <p:spPr>
          <a:xfrm flipH="1">
            <a:off x="5518322" y="3429000"/>
            <a:ext cx="1735918" cy="1189311"/>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7A1A50D1-3EC1-80A6-6AA9-02CFE016F3EC}"/>
              </a:ext>
            </a:extLst>
          </p:cNvPr>
          <p:cNvCxnSpPr>
            <a:cxnSpLocks/>
          </p:cNvCxnSpPr>
          <p:nvPr/>
        </p:nvCxnSpPr>
        <p:spPr>
          <a:xfrm flipH="1">
            <a:off x="6911790" y="3429000"/>
            <a:ext cx="1387479" cy="1189311"/>
          </a:xfrm>
          <a:prstGeom prst="line">
            <a:avLst/>
          </a:prstGeom>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860CEBCB-FA88-AB54-4D97-E33A19A7E046}"/>
              </a:ext>
            </a:extLst>
          </p:cNvPr>
          <p:cNvSpPr txBox="1"/>
          <p:nvPr/>
        </p:nvSpPr>
        <p:spPr>
          <a:xfrm>
            <a:off x="1853796" y="4401817"/>
            <a:ext cx="1253869" cy="707886"/>
          </a:xfrm>
          <a:prstGeom prst="rect">
            <a:avLst/>
          </a:prstGeom>
          <a:noFill/>
        </p:spPr>
        <p:txBody>
          <a:bodyPr wrap="none" rtlCol="0">
            <a:spAutoFit/>
          </a:bodyPr>
          <a:lstStyle/>
          <a:p>
            <a:r>
              <a:rPr lang="en-US" sz="4000" dirty="0"/>
              <a:t>LLM(</a:t>
            </a:r>
          </a:p>
        </p:txBody>
      </p:sp>
      <p:sp>
        <p:nvSpPr>
          <p:cNvPr id="23" name="TextBox 22">
            <a:extLst>
              <a:ext uri="{FF2B5EF4-FFF2-40B4-BE49-F238E27FC236}">
                <a16:creationId xmlns:a16="http://schemas.microsoft.com/office/drawing/2014/main" id="{7F309AD2-F9DF-3065-63D7-52F9D477CA69}"/>
              </a:ext>
            </a:extLst>
          </p:cNvPr>
          <p:cNvSpPr txBox="1"/>
          <p:nvPr/>
        </p:nvSpPr>
        <p:spPr>
          <a:xfrm>
            <a:off x="6991326" y="4401817"/>
            <a:ext cx="335348" cy="707886"/>
          </a:xfrm>
          <a:prstGeom prst="rect">
            <a:avLst/>
          </a:prstGeom>
          <a:noFill/>
        </p:spPr>
        <p:txBody>
          <a:bodyPr wrap="none" rtlCol="0">
            <a:spAutoFit/>
          </a:bodyPr>
          <a:lstStyle/>
          <a:p>
            <a:r>
              <a:rPr lang="en-US" sz="4000" dirty="0"/>
              <a:t>)</a:t>
            </a:r>
          </a:p>
        </p:txBody>
      </p:sp>
      <p:cxnSp>
        <p:nvCxnSpPr>
          <p:cNvPr id="24" name="Straight Connector 23">
            <a:extLst>
              <a:ext uri="{FF2B5EF4-FFF2-40B4-BE49-F238E27FC236}">
                <a16:creationId xmlns:a16="http://schemas.microsoft.com/office/drawing/2014/main" id="{DC3470CA-352C-44A2-FFE0-5B1F349977FE}"/>
              </a:ext>
            </a:extLst>
          </p:cNvPr>
          <p:cNvCxnSpPr>
            <a:cxnSpLocks/>
            <a:endCxn id="22" idx="0"/>
          </p:cNvCxnSpPr>
          <p:nvPr/>
        </p:nvCxnSpPr>
        <p:spPr>
          <a:xfrm flipH="1">
            <a:off x="2480731" y="3429000"/>
            <a:ext cx="186529" cy="972817"/>
          </a:xfrm>
          <a:prstGeom prst="line">
            <a:avLst/>
          </a:prstGeom>
        </p:spPr>
        <p:style>
          <a:lnRef idx="2">
            <a:schemeClr val="dk1"/>
          </a:lnRef>
          <a:fillRef idx="0">
            <a:schemeClr val="dk1"/>
          </a:fillRef>
          <a:effectRef idx="1">
            <a:schemeClr val="dk1"/>
          </a:effectRef>
          <a:fontRef idx="minor">
            <a:schemeClr val="tx1"/>
          </a:fontRef>
        </p:style>
      </p:cxnSp>
      <p:pic>
        <p:nvPicPr>
          <p:cNvPr id="31" name="Picture 30">
            <a:extLst>
              <a:ext uri="{FF2B5EF4-FFF2-40B4-BE49-F238E27FC236}">
                <a16:creationId xmlns:a16="http://schemas.microsoft.com/office/drawing/2014/main" id="{9113A8F1-D948-EE93-9ECE-9752CFADF4E1}"/>
              </a:ext>
            </a:extLst>
          </p:cNvPr>
          <p:cNvPicPr>
            <a:picLocks noChangeAspect="1"/>
          </p:cNvPicPr>
          <p:nvPr/>
        </p:nvPicPr>
        <p:blipFill>
          <a:blip r:embed="rId2"/>
          <a:stretch>
            <a:fillRect/>
          </a:stretch>
        </p:blipFill>
        <p:spPr>
          <a:xfrm>
            <a:off x="2209800" y="3042170"/>
            <a:ext cx="7772400" cy="340673"/>
          </a:xfrm>
          <a:prstGeom prst="rect">
            <a:avLst/>
          </a:prstGeom>
        </p:spPr>
      </p:pic>
      <p:pic>
        <p:nvPicPr>
          <p:cNvPr id="32" name="Picture 31">
            <a:extLst>
              <a:ext uri="{FF2B5EF4-FFF2-40B4-BE49-F238E27FC236}">
                <a16:creationId xmlns:a16="http://schemas.microsoft.com/office/drawing/2014/main" id="{5CAF0BB6-0A2F-C0F9-78D5-8CF7F077995D}"/>
              </a:ext>
            </a:extLst>
          </p:cNvPr>
          <p:cNvPicPr>
            <a:picLocks noChangeAspect="1"/>
          </p:cNvPicPr>
          <p:nvPr/>
        </p:nvPicPr>
        <p:blipFill>
          <a:blip r:embed="rId3"/>
          <a:stretch>
            <a:fillRect/>
          </a:stretch>
        </p:blipFill>
        <p:spPr>
          <a:xfrm>
            <a:off x="3493540" y="2023196"/>
            <a:ext cx="3162300" cy="330200"/>
          </a:xfrm>
          <a:prstGeom prst="rect">
            <a:avLst/>
          </a:prstGeom>
        </p:spPr>
      </p:pic>
      <p:sp>
        <p:nvSpPr>
          <p:cNvPr id="33" name="TextBox 32">
            <a:extLst>
              <a:ext uri="{FF2B5EF4-FFF2-40B4-BE49-F238E27FC236}">
                <a16:creationId xmlns:a16="http://schemas.microsoft.com/office/drawing/2014/main" id="{46F35441-0C87-8618-BB18-98C3D7E109A3}"/>
              </a:ext>
            </a:extLst>
          </p:cNvPr>
          <p:cNvSpPr txBox="1"/>
          <p:nvPr/>
        </p:nvSpPr>
        <p:spPr>
          <a:xfrm rot="16200000">
            <a:off x="4818049" y="2323873"/>
            <a:ext cx="513282" cy="830997"/>
          </a:xfrm>
          <a:prstGeom prst="rect">
            <a:avLst/>
          </a:prstGeom>
          <a:noFill/>
        </p:spPr>
        <p:txBody>
          <a:bodyPr wrap="none" rtlCol="0">
            <a:spAutoFit/>
          </a:bodyPr>
          <a:lstStyle/>
          <a:p>
            <a:r>
              <a:rPr lang="en-US" sz="4800" b="1" dirty="0"/>
              <a:t>=</a:t>
            </a:r>
          </a:p>
        </p:txBody>
      </p:sp>
    </p:spTree>
    <p:extLst>
      <p:ext uri="{BB962C8B-B14F-4D97-AF65-F5344CB8AC3E}">
        <p14:creationId xmlns:p14="http://schemas.microsoft.com/office/powerpoint/2010/main" val="6387466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A1E3E-9DE1-0D68-3145-C7BBEF1480FA}"/>
              </a:ext>
            </a:extLst>
          </p:cNvPr>
          <p:cNvSpPr>
            <a:spLocks noGrp="1"/>
          </p:cNvSpPr>
          <p:nvPr>
            <p:ph type="title"/>
          </p:nvPr>
        </p:nvSpPr>
        <p:spPr>
          <a:xfrm>
            <a:off x="838200" y="2867025"/>
            <a:ext cx="10515600" cy="1325563"/>
          </a:xfrm>
        </p:spPr>
        <p:txBody>
          <a:bodyPr/>
          <a:lstStyle/>
          <a:p>
            <a:r>
              <a:rPr lang="en-US" dirty="0"/>
              <a:t>Games impossible with </a:t>
            </a:r>
            <a:r>
              <a:rPr lang="en-US" dirty="0" err="1"/>
              <a:t>ReAct</a:t>
            </a:r>
            <a:endParaRPr lang="en-US" dirty="0"/>
          </a:p>
        </p:txBody>
      </p:sp>
    </p:spTree>
    <p:extLst>
      <p:ext uri="{BB962C8B-B14F-4D97-AF65-F5344CB8AC3E}">
        <p14:creationId xmlns:p14="http://schemas.microsoft.com/office/powerpoint/2010/main" val="526168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AE82F-1E8B-007B-C9E2-4A253CCB9923}"/>
              </a:ext>
            </a:extLst>
          </p:cNvPr>
          <p:cNvSpPr>
            <a:spLocks noGrp="1"/>
          </p:cNvSpPr>
          <p:nvPr>
            <p:ph type="title"/>
          </p:nvPr>
        </p:nvSpPr>
        <p:spPr/>
        <p:txBody>
          <a:bodyPr/>
          <a:lstStyle/>
          <a:p>
            <a:r>
              <a:rPr lang="en-US" dirty="0"/>
              <a:t>Coin flip game</a:t>
            </a:r>
          </a:p>
        </p:txBody>
      </p:sp>
      <p:sp>
        <p:nvSpPr>
          <p:cNvPr id="3" name="Content Placeholder 2">
            <a:extLst>
              <a:ext uri="{FF2B5EF4-FFF2-40B4-BE49-F238E27FC236}">
                <a16:creationId xmlns:a16="http://schemas.microsoft.com/office/drawing/2014/main" id="{6E37843B-D703-119E-4791-7D4A83E23742}"/>
              </a:ext>
            </a:extLst>
          </p:cNvPr>
          <p:cNvSpPr>
            <a:spLocks noGrp="1"/>
          </p:cNvSpPr>
          <p:nvPr>
            <p:ph idx="1"/>
          </p:nvPr>
        </p:nvSpPr>
        <p:spPr/>
        <p:txBody>
          <a:bodyPr/>
          <a:lstStyle/>
          <a:p>
            <a:pPr marL="0" indent="0">
              <a:buNone/>
            </a:pPr>
            <a:r>
              <a:rPr lang="en-US" dirty="0"/>
              <a:t>Flip a coin programmatically. If it lands heads, print an h and pass this exact prompt onto a child LLM, using its binding, so that they can do the same thing. If it lands tails, print a t. Think about your solution before you write it; plan it, check its correctness in your head before implementing it.</a:t>
            </a:r>
          </a:p>
        </p:txBody>
      </p:sp>
    </p:spTree>
    <p:extLst>
      <p:ext uri="{BB962C8B-B14F-4D97-AF65-F5344CB8AC3E}">
        <p14:creationId xmlns:p14="http://schemas.microsoft.com/office/powerpoint/2010/main" val="2454532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924B73-C724-864D-70B0-A544AB721234}"/>
              </a:ext>
            </a:extLst>
          </p:cNvPr>
          <p:cNvSpPr txBox="1"/>
          <p:nvPr/>
        </p:nvSpPr>
        <p:spPr>
          <a:xfrm>
            <a:off x="2895600" y="474345"/>
            <a:ext cx="6096000" cy="369332"/>
          </a:xfrm>
          <a:prstGeom prst="rect">
            <a:avLst/>
          </a:prstGeom>
          <a:noFill/>
        </p:spPr>
        <p:txBody>
          <a:bodyPr wrap="square">
            <a:spAutoFit/>
          </a:bodyPr>
          <a:lstStyle/>
          <a:p>
            <a:endParaRPr lang="en-US" dirty="0"/>
          </a:p>
        </p:txBody>
      </p:sp>
      <p:sp>
        <p:nvSpPr>
          <p:cNvPr id="6" name="TextBox 5">
            <a:extLst>
              <a:ext uri="{FF2B5EF4-FFF2-40B4-BE49-F238E27FC236}">
                <a16:creationId xmlns:a16="http://schemas.microsoft.com/office/drawing/2014/main" id="{AAFB6766-ACCE-3758-EFD8-73123BBBA8D2}"/>
              </a:ext>
            </a:extLst>
          </p:cNvPr>
          <p:cNvSpPr txBox="1"/>
          <p:nvPr/>
        </p:nvSpPr>
        <p:spPr>
          <a:xfrm>
            <a:off x="2895600" y="440690"/>
            <a:ext cx="6096000" cy="5909310"/>
          </a:xfrm>
          <a:prstGeom prst="rect">
            <a:avLst/>
          </a:prstGeom>
          <a:noFill/>
        </p:spPr>
        <p:txBody>
          <a:bodyPr wrap="square">
            <a:spAutoFit/>
          </a:bodyPr>
          <a:lstStyle/>
          <a:p>
            <a:r>
              <a:rPr lang="en-US" dirty="0">
                <a:solidFill>
                  <a:schemeClr val="bg1">
                    <a:lumMod val="50000"/>
                  </a:schemeClr>
                </a:solidFill>
              </a:rPr>
              <a:t>(def interior (do (def completion (cat \"(def interior \" (pr-str (</a:t>
            </a:r>
            <a:r>
              <a:rPr lang="en-US" dirty="0" err="1">
                <a:solidFill>
                  <a:schemeClr val="bg1">
                    <a:lumMod val="50000"/>
                  </a:schemeClr>
                </a:solidFill>
              </a:rPr>
              <a:t>uneval</a:t>
            </a:r>
            <a:r>
              <a:rPr lang="en-US" dirty="0">
                <a:solidFill>
                  <a:schemeClr val="bg1">
                    <a:lumMod val="50000"/>
                  </a:schemeClr>
                </a:solidFill>
              </a:rPr>
              <a:t> 'interior)) \")\")) </a:t>
            </a:r>
            <a:r>
              <a:rPr lang="en-US" dirty="0">
                <a:solidFill>
                  <a:srgbClr val="FF0000"/>
                </a:solidFill>
              </a:rPr>
              <a:t>(def prompt \"Flip a coin programmatically. If it lands heads, print an h and pass this exact prompt onto a child LLM, using its binding, so that they can do the same thing. If it lands tails, print a t. Think about your solution before you write it; plan it, check its correctness in your head before implementing it.\")</a:t>
            </a:r>
          </a:p>
          <a:p>
            <a:r>
              <a:rPr lang="en-US" dirty="0">
                <a:solidFill>
                  <a:schemeClr val="bg1">
                    <a:lumMod val="50000"/>
                  </a:schemeClr>
                </a:solidFill>
              </a:rPr>
              <a:t> (do</a:t>
            </a:r>
          </a:p>
          <a:p>
            <a:r>
              <a:rPr lang="en-US" dirty="0">
                <a:solidFill>
                  <a:schemeClr val="bg1">
                    <a:lumMod val="50000"/>
                  </a:schemeClr>
                </a:solidFill>
              </a:rPr>
              <a:t>  (def thought</a:t>
            </a:r>
          </a:p>
          <a:p>
            <a:r>
              <a:rPr lang="en-US" dirty="0">
                <a:solidFill>
                  <a:schemeClr val="bg1">
                    <a:lumMod val="50000"/>
                  </a:schemeClr>
                </a:solidFill>
              </a:rPr>
              <a:t>    (str</a:t>
            </a:r>
          </a:p>
          <a:p>
            <a:r>
              <a:rPr lang="en-US" dirty="0">
                <a:solidFill>
                  <a:schemeClr val="bg1">
                    <a:lumMod val="50000"/>
                  </a:schemeClr>
                </a:solidFill>
              </a:rPr>
              <a:t>      "Plan: generate a fair coin with (rand). If &lt;0.5 =&gt; heads.\n"</a:t>
            </a:r>
          </a:p>
          <a:p>
            <a:r>
              <a:rPr lang="en-US" dirty="0">
                <a:solidFill>
                  <a:schemeClr val="bg1">
                    <a:lumMod val="50000"/>
                  </a:schemeClr>
                </a:solidFill>
              </a:rPr>
              <a:t>      "If heads: return (cat \"h\" (</a:t>
            </a:r>
            <a:r>
              <a:rPr lang="en-US" dirty="0" err="1">
                <a:solidFill>
                  <a:schemeClr val="bg1">
                    <a:lumMod val="50000"/>
                  </a:schemeClr>
                </a:solidFill>
              </a:rPr>
              <a:t>llm</a:t>
            </a:r>
            <a:r>
              <a:rPr lang="en-US" dirty="0">
                <a:solidFill>
                  <a:schemeClr val="bg1">
                    <a:lumMod val="50000"/>
                  </a:schemeClr>
                </a:solidFill>
              </a:rPr>
              <a:t> prompt)) so we both emit 'h' and delegate the same prompt via the prompt binding.\n"</a:t>
            </a:r>
          </a:p>
          <a:p>
            <a:r>
              <a:rPr lang="en-US" dirty="0">
                <a:solidFill>
                  <a:schemeClr val="bg1">
                    <a:lumMod val="50000"/>
                  </a:schemeClr>
                </a:solidFill>
              </a:rPr>
              <a:t>      "If tails: return \"t\".\n"</a:t>
            </a:r>
          </a:p>
          <a:p>
            <a:r>
              <a:rPr lang="en-US" dirty="0">
                <a:solidFill>
                  <a:schemeClr val="bg1">
                    <a:lumMod val="50000"/>
                  </a:schemeClr>
                </a:solidFill>
              </a:rPr>
              <a:t>      "Correctness: rand ∈ [0,1); threshold 0.5 gives 50/50. Child receives same prompt string; it has its own prompt binding from its preamble, so we pass the exact prompt value explicitly."))</a:t>
            </a:r>
          </a:p>
          <a:p>
            <a:r>
              <a:rPr lang="en-US" dirty="0">
                <a:solidFill>
                  <a:schemeClr val="bg1">
                    <a:lumMod val="50000"/>
                  </a:schemeClr>
                </a:solidFill>
              </a:rPr>
              <a:t>  (if (&lt; (rand) 0.5)</a:t>
            </a:r>
          </a:p>
          <a:p>
            <a:r>
              <a:rPr lang="en-US" dirty="0">
                <a:solidFill>
                  <a:schemeClr val="bg1">
                    <a:lumMod val="50000"/>
                  </a:schemeClr>
                </a:solidFill>
              </a:rPr>
              <a:t>    (cat "h" (</a:t>
            </a:r>
            <a:r>
              <a:rPr lang="en-US" dirty="0" err="1">
                <a:solidFill>
                  <a:schemeClr val="bg1">
                    <a:lumMod val="50000"/>
                  </a:schemeClr>
                </a:solidFill>
              </a:rPr>
              <a:t>llm</a:t>
            </a:r>
            <a:r>
              <a:rPr lang="en-US" dirty="0">
                <a:solidFill>
                  <a:schemeClr val="bg1">
                    <a:lumMod val="50000"/>
                  </a:schemeClr>
                </a:solidFill>
              </a:rPr>
              <a:t> prompt))</a:t>
            </a:r>
          </a:p>
          <a:p>
            <a:r>
              <a:rPr lang="en-US" dirty="0">
                <a:solidFill>
                  <a:schemeClr val="bg1">
                    <a:lumMod val="50000"/>
                  </a:schemeClr>
                </a:solidFill>
              </a:rPr>
              <a:t>    "t")))))</a:t>
            </a:r>
          </a:p>
        </p:txBody>
      </p:sp>
      <p:sp>
        <p:nvSpPr>
          <p:cNvPr id="7" name="TextBox 6">
            <a:extLst>
              <a:ext uri="{FF2B5EF4-FFF2-40B4-BE49-F238E27FC236}">
                <a16:creationId xmlns:a16="http://schemas.microsoft.com/office/drawing/2014/main" id="{5A7BCBA0-769C-3A62-F32A-4CAB3F0A2A29}"/>
              </a:ext>
            </a:extLst>
          </p:cNvPr>
          <p:cNvSpPr txBox="1"/>
          <p:nvPr/>
        </p:nvSpPr>
        <p:spPr>
          <a:xfrm>
            <a:off x="10121900" y="6350000"/>
            <a:ext cx="1430713" cy="369332"/>
          </a:xfrm>
          <a:prstGeom prst="rect">
            <a:avLst/>
          </a:prstGeom>
          <a:noFill/>
        </p:spPr>
        <p:txBody>
          <a:bodyPr wrap="none" rtlCol="0">
            <a:spAutoFit/>
          </a:bodyPr>
          <a:lstStyle/>
          <a:p>
            <a:r>
              <a:rPr lang="en-US" dirty="0"/>
              <a:t>ChatGPT 5.2</a:t>
            </a:r>
          </a:p>
        </p:txBody>
      </p:sp>
    </p:spTree>
    <p:extLst>
      <p:ext uri="{BB962C8B-B14F-4D97-AF65-F5344CB8AC3E}">
        <p14:creationId xmlns:p14="http://schemas.microsoft.com/office/powerpoint/2010/main" val="673123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F23D0-BEE9-E272-B0ED-61EB28FC965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C691616-1691-96A0-BD8A-09E6E0B1CCF7}"/>
              </a:ext>
            </a:extLst>
          </p:cNvPr>
          <p:cNvSpPr txBox="1"/>
          <p:nvPr/>
        </p:nvSpPr>
        <p:spPr>
          <a:xfrm>
            <a:off x="2895600" y="474345"/>
            <a:ext cx="6096000" cy="369332"/>
          </a:xfrm>
          <a:prstGeom prst="rect">
            <a:avLst/>
          </a:prstGeom>
          <a:noFill/>
        </p:spPr>
        <p:txBody>
          <a:bodyPr wrap="square">
            <a:spAutoFit/>
          </a:bodyPr>
          <a:lstStyle/>
          <a:p>
            <a:endParaRPr lang="en-US" dirty="0"/>
          </a:p>
        </p:txBody>
      </p:sp>
      <p:sp>
        <p:nvSpPr>
          <p:cNvPr id="6" name="TextBox 5">
            <a:extLst>
              <a:ext uri="{FF2B5EF4-FFF2-40B4-BE49-F238E27FC236}">
                <a16:creationId xmlns:a16="http://schemas.microsoft.com/office/drawing/2014/main" id="{AF142744-A209-6A44-6EF9-0E9D89CF4F7E}"/>
              </a:ext>
            </a:extLst>
          </p:cNvPr>
          <p:cNvSpPr txBox="1"/>
          <p:nvPr/>
        </p:nvSpPr>
        <p:spPr>
          <a:xfrm>
            <a:off x="2895600" y="440690"/>
            <a:ext cx="6096000" cy="5909310"/>
          </a:xfrm>
          <a:prstGeom prst="rect">
            <a:avLst/>
          </a:prstGeom>
          <a:noFill/>
        </p:spPr>
        <p:txBody>
          <a:bodyPr wrap="square">
            <a:spAutoFit/>
          </a:bodyPr>
          <a:lstStyle/>
          <a:p>
            <a:r>
              <a:rPr lang="en-US" dirty="0">
                <a:solidFill>
                  <a:schemeClr val="bg1">
                    <a:lumMod val="50000"/>
                  </a:schemeClr>
                </a:solidFill>
              </a:rPr>
              <a:t>(def interior (do (def completion (cat \"(def interior \" (pr-str (</a:t>
            </a:r>
            <a:r>
              <a:rPr lang="en-US" dirty="0" err="1">
                <a:solidFill>
                  <a:schemeClr val="bg1">
                    <a:lumMod val="50000"/>
                  </a:schemeClr>
                </a:solidFill>
              </a:rPr>
              <a:t>uneval</a:t>
            </a:r>
            <a:r>
              <a:rPr lang="en-US" dirty="0">
                <a:solidFill>
                  <a:schemeClr val="bg1">
                    <a:lumMod val="50000"/>
                  </a:schemeClr>
                </a:solidFill>
              </a:rPr>
              <a:t> 'interior)) \")\")) (def prompt \"Flip a coin programmatically. If it lands heads, print an h and pass this exact prompt onto a child LLM, using its binding, so that they can do the same thing. If it lands tails, print a t. Think about your solution before you write it; plan it, check its correctness in your head before implementing it.\")</a:t>
            </a:r>
          </a:p>
          <a:p>
            <a:r>
              <a:rPr lang="en-US" dirty="0">
                <a:solidFill>
                  <a:schemeClr val="bg1">
                    <a:lumMod val="50000"/>
                  </a:schemeClr>
                </a:solidFill>
              </a:rPr>
              <a:t> (do</a:t>
            </a:r>
          </a:p>
          <a:p>
            <a:r>
              <a:rPr lang="en-US" dirty="0">
                <a:solidFill>
                  <a:srgbClr val="FFC000"/>
                </a:solidFill>
              </a:rPr>
              <a:t>  (def thought</a:t>
            </a:r>
          </a:p>
          <a:p>
            <a:r>
              <a:rPr lang="en-US" dirty="0">
                <a:solidFill>
                  <a:srgbClr val="FFC000"/>
                </a:solidFill>
              </a:rPr>
              <a:t>    (str</a:t>
            </a:r>
          </a:p>
          <a:p>
            <a:r>
              <a:rPr lang="en-US" dirty="0">
                <a:solidFill>
                  <a:srgbClr val="FFC000"/>
                </a:solidFill>
              </a:rPr>
              <a:t>      "Plan: generate a fair coin with (rand). If &lt;0.5 =&gt; heads.\n"</a:t>
            </a:r>
          </a:p>
          <a:p>
            <a:r>
              <a:rPr lang="en-US" dirty="0">
                <a:solidFill>
                  <a:srgbClr val="FFC000"/>
                </a:solidFill>
              </a:rPr>
              <a:t>      "If heads: return (cat \"h\" (</a:t>
            </a:r>
            <a:r>
              <a:rPr lang="en-US" dirty="0" err="1">
                <a:solidFill>
                  <a:srgbClr val="FFC000"/>
                </a:solidFill>
              </a:rPr>
              <a:t>llm</a:t>
            </a:r>
            <a:r>
              <a:rPr lang="en-US" dirty="0">
                <a:solidFill>
                  <a:srgbClr val="FFC000"/>
                </a:solidFill>
              </a:rPr>
              <a:t> prompt)) so we both emit 'h' and delegate the same prompt via the prompt binding.\n"</a:t>
            </a:r>
          </a:p>
          <a:p>
            <a:r>
              <a:rPr lang="en-US" dirty="0">
                <a:solidFill>
                  <a:srgbClr val="FFC000"/>
                </a:solidFill>
              </a:rPr>
              <a:t>      "If tails: return \"t\".\n"</a:t>
            </a:r>
          </a:p>
          <a:p>
            <a:r>
              <a:rPr lang="en-US" dirty="0">
                <a:solidFill>
                  <a:srgbClr val="FFC000"/>
                </a:solidFill>
              </a:rPr>
              <a:t>      "Correctness: rand ∈ [0,1); threshold 0.5 gives 50/50. Child receives same prompt string; it has its own prompt binding from its preamble, so we pass the exact prompt value explicitly."))</a:t>
            </a:r>
          </a:p>
          <a:p>
            <a:r>
              <a:rPr lang="en-US" dirty="0">
                <a:solidFill>
                  <a:schemeClr val="bg1">
                    <a:lumMod val="50000"/>
                  </a:schemeClr>
                </a:solidFill>
              </a:rPr>
              <a:t>  (if (&lt; (rand) 0.5)</a:t>
            </a:r>
          </a:p>
          <a:p>
            <a:r>
              <a:rPr lang="en-US" dirty="0">
                <a:solidFill>
                  <a:schemeClr val="bg1">
                    <a:lumMod val="50000"/>
                  </a:schemeClr>
                </a:solidFill>
              </a:rPr>
              <a:t>    (cat "h" (</a:t>
            </a:r>
            <a:r>
              <a:rPr lang="en-US" dirty="0" err="1">
                <a:solidFill>
                  <a:schemeClr val="bg1">
                    <a:lumMod val="50000"/>
                  </a:schemeClr>
                </a:solidFill>
              </a:rPr>
              <a:t>llm</a:t>
            </a:r>
            <a:r>
              <a:rPr lang="en-US" dirty="0">
                <a:solidFill>
                  <a:schemeClr val="bg1">
                    <a:lumMod val="50000"/>
                  </a:schemeClr>
                </a:solidFill>
              </a:rPr>
              <a:t> prompt))</a:t>
            </a:r>
          </a:p>
          <a:p>
            <a:r>
              <a:rPr lang="en-US" dirty="0">
                <a:solidFill>
                  <a:schemeClr val="bg1">
                    <a:lumMod val="50000"/>
                  </a:schemeClr>
                </a:solidFill>
              </a:rPr>
              <a:t>    "t")))))</a:t>
            </a:r>
          </a:p>
        </p:txBody>
      </p:sp>
      <p:sp>
        <p:nvSpPr>
          <p:cNvPr id="2" name="TextBox 1">
            <a:extLst>
              <a:ext uri="{FF2B5EF4-FFF2-40B4-BE49-F238E27FC236}">
                <a16:creationId xmlns:a16="http://schemas.microsoft.com/office/drawing/2014/main" id="{2C367AE5-8A92-72CD-787C-B5F27F8DEA1B}"/>
              </a:ext>
            </a:extLst>
          </p:cNvPr>
          <p:cNvSpPr txBox="1"/>
          <p:nvPr/>
        </p:nvSpPr>
        <p:spPr>
          <a:xfrm>
            <a:off x="10121900" y="6350000"/>
            <a:ext cx="1430713" cy="369332"/>
          </a:xfrm>
          <a:prstGeom prst="rect">
            <a:avLst/>
          </a:prstGeom>
          <a:noFill/>
        </p:spPr>
        <p:txBody>
          <a:bodyPr wrap="none" rtlCol="0">
            <a:spAutoFit/>
          </a:bodyPr>
          <a:lstStyle/>
          <a:p>
            <a:r>
              <a:rPr lang="en-US" dirty="0"/>
              <a:t>ChatGPT 5.2</a:t>
            </a:r>
          </a:p>
        </p:txBody>
      </p:sp>
    </p:spTree>
    <p:extLst>
      <p:ext uri="{BB962C8B-B14F-4D97-AF65-F5344CB8AC3E}">
        <p14:creationId xmlns:p14="http://schemas.microsoft.com/office/powerpoint/2010/main" val="574107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56B9C-C537-1594-36C2-4ECDF1470BA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AAC5B03-6413-2BE1-E563-2EA40E3393F1}"/>
              </a:ext>
            </a:extLst>
          </p:cNvPr>
          <p:cNvSpPr txBox="1"/>
          <p:nvPr/>
        </p:nvSpPr>
        <p:spPr>
          <a:xfrm>
            <a:off x="2895600" y="474345"/>
            <a:ext cx="6096000" cy="369332"/>
          </a:xfrm>
          <a:prstGeom prst="rect">
            <a:avLst/>
          </a:prstGeom>
          <a:noFill/>
        </p:spPr>
        <p:txBody>
          <a:bodyPr wrap="square">
            <a:spAutoFit/>
          </a:bodyPr>
          <a:lstStyle/>
          <a:p>
            <a:endParaRPr lang="en-US" dirty="0"/>
          </a:p>
        </p:txBody>
      </p:sp>
      <p:sp>
        <p:nvSpPr>
          <p:cNvPr id="6" name="TextBox 5">
            <a:extLst>
              <a:ext uri="{FF2B5EF4-FFF2-40B4-BE49-F238E27FC236}">
                <a16:creationId xmlns:a16="http://schemas.microsoft.com/office/drawing/2014/main" id="{CBB26BCC-3971-AC7A-834E-0ABF7938483A}"/>
              </a:ext>
            </a:extLst>
          </p:cNvPr>
          <p:cNvSpPr txBox="1"/>
          <p:nvPr/>
        </p:nvSpPr>
        <p:spPr>
          <a:xfrm>
            <a:off x="2895600" y="440690"/>
            <a:ext cx="6096000" cy="5909310"/>
          </a:xfrm>
          <a:prstGeom prst="rect">
            <a:avLst/>
          </a:prstGeom>
          <a:noFill/>
        </p:spPr>
        <p:txBody>
          <a:bodyPr wrap="square">
            <a:spAutoFit/>
          </a:bodyPr>
          <a:lstStyle/>
          <a:p>
            <a:r>
              <a:rPr lang="en-US" dirty="0">
                <a:solidFill>
                  <a:schemeClr val="bg1">
                    <a:lumMod val="50000"/>
                  </a:schemeClr>
                </a:solidFill>
              </a:rPr>
              <a:t>(def interior (do (def completion (cat \"(def interior \" (pr-str (</a:t>
            </a:r>
            <a:r>
              <a:rPr lang="en-US" dirty="0" err="1">
                <a:solidFill>
                  <a:schemeClr val="bg1">
                    <a:lumMod val="50000"/>
                  </a:schemeClr>
                </a:solidFill>
              </a:rPr>
              <a:t>uneval</a:t>
            </a:r>
            <a:r>
              <a:rPr lang="en-US" dirty="0">
                <a:solidFill>
                  <a:schemeClr val="bg1">
                    <a:lumMod val="50000"/>
                  </a:schemeClr>
                </a:solidFill>
              </a:rPr>
              <a:t> 'interior)) \")\")) (def prompt \"Flip a coin programmatically. If it lands heads, print an h and pass this exact prompt onto a child LLM, using its binding, so that they can do the same thing. If it lands tails, print a t. Think about your solution before you write it; plan it, check its correctness in your head before implementing it.\")</a:t>
            </a:r>
          </a:p>
          <a:p>
            <a:r>
              <a:rPr lang="en-US" dirty="0">
                <a:solidFill>
                  <a:schemeClr val="bg1">
                    <a:lumMod val="50000"/>
                  </a:schemeClr>
                </a:solidFill>
              </a:rPr>
              <a:t> (do</a:t>
            </a:r>
          </a:p>
          <a:p>
            <a:r>
              <a:rPr lang="en-US" dirty="0">
                <a:solidFill>
                  <a:schemeClr val="bg1">
                    <a:lumMod val="50000"/>
                  </a:schemeClr>
                </a:solidFill>
              </a:rPr>
              <a:t>  (def thought</a:t>
            </a:r>
          </a:p>
          <a:p>
            <a:r>
              <a:rPr lang="en-US" dirty="0">
                <a:solidFill>
                  <a:schemeClr val="bg1">
                    <a:lumMod val="50000"/>
                  </a:schemeClr>
                </a:solidFill>
              </a:rPr>
              <a:t>    (str</a:t>
            </a:r>
          </a:p>
          <a:p>
            <a:r>
              <a:rPr lang="en-US" dirty="0">
                <a:solidFill>
                  <a:schemeClr val="bg1">
                    <a:lumMod val="50000"/>
                  </a:schemeClr>
                </a:solidFill>
              </a:rPr>
              <a:t>      "Plan: generate a fair coin with (rand). If &lt;0.5 =&gt; heads.\n"</a:t>
            </a:r>
          </a:p>
          <a:p>
            <a:r>
              <a:rPr lang="en-US" dirty="0">
                <a:solidFill>
                  <a:schemeClr val="bg1">
                    <a:lumMod val="50000"/>
                  </a:schemeClr>
                </a:solidFill>
              </a:rPr>
              <a:t>      "If heads: return (cat \"h\" (</a:t>
            </a:r>
            <a:r>
              <a:rPr lang="en-US" dirty="0" err="1">
                <a:solidFill>
                  <a:schemeClr val="bg1">
                    <a:lumMod val="50000"/>
                  </a:schemeClr>
                </a:solidFill>
              </a:rPr>
              <a:t>llm</a:t>
            </a:r>
            <a:r>
              <a:rPr lang="en-US" dirty="0">
                <a:solidFill>
                  <a:schemeClr val="bg1">
                    <a:lumMod val="50000"/>
                  </a:schemeClr>
                </a:solidFill>
              </a:rPr>
              <a:t> prompt)) so we both emit 'h' and delegate the same prompt via the prompt binding.\n"</a:t>
            </a:r>
          </a:p>
          <a:p>
            <a:r>
              <a:rPr lang="en-US" dirty="0">
                <a:solidFill>
                  <a:schemeClr val="bg1">
                    <a:lumMod val="50000"/>
                  </a:schemeClr>
                </a:solidFill>
              </a:rPr>
              <a:t>      "If tails: return \"t\".\n"</a:t>
            </a:r>
          </a:p>
          <a:p>
            <a:r>
              <a:rPr lang="en-US" dirty="0">
                <a:solidFill>
                  <a:schemeClr val="bg1">
                    <a:lumMod val="50000"/>
                  </a:schemeClr>
                </a:solidFill>
              </a:rPr>
              <a:t>      "Correctness: rand ∈ [0,1); threshold 0.5 gives 50/50. Child receives same prompt string; it has its own prompt binding from its preamble, so we pass the exact prompt value explicitly."))</a:t>
            </a:r>
          </a:p>
          <a:p>
            <a:r>
              <a:rPr lang="en-US" dirty="0">
                <a:solidFill>
                  <a:schemeClr val="bg1">
                    <a:lumMod val="50000"/>
                  </a:schemeClr>
                </a:solidFill>
              </a:rPr>
              <a:t>  </a:t>
            </a:r>
            <a:r>
              <a:rPr lang="en-US" dirty="0">
                <a:solidFill>
                  <a:srgbClr val="0070C0"/>
                </a:solidFill>
              </a:rPr>
              <a:t>(if (&lt; (rand) 0.5)</a:t>
            </a:r>
          </a:p>
          <a:p>
            <a:r>
              <a:rPr lang="en-US" dirty="0">
                <a:solidFill>
                  <a:srgbClr val="0070C0"/>
                </a:solidFill>
              </a:rPr>
              <a:t>    (cat "h" (</a:t>
            </a:r>
            <a:r>
              <a:rPr lang="en-US" dirty="0" err="1">
                <a:solidFill>
                  <a:srgbClr val="0070C0"/>
                </a:solidFill>
              </a:rPr>
              <a:t>llm</a:t>
            </a:r>
            <a:r>
              <a:rPr lang="en-US" dirty="0">
                <a:solidFill>
                  <a:srgbClr val="0070C0"/>
                </a:solidFill>
              </a:rPr>
              <a:t> prompt))</a:t>
            </a:r>
          </a:p>
          <a:p>
            <a:r>
              <a:rPr lang="en-US" dirty="0">
                <a:solidFill>
                  <a:srgbClr val="0070C0"/>
                </a:solidFill>
              </a:rPr>
              <a:t>    "t")))</a:t>
            </a:r>
            <a:r>
              <a:rPr lang="en-US" dirty="0">
                <a:solidFill>
                  <a:schemeClr val="bg1">
                    <a:lumMod val="50000"/>
                  </a:schemeClr>
                </a:solidFill>
              </a:rPr>
              <a:t>))</a:t>
            </a:r>
          </a:p>
        </p:txBody>
      </p:sp>
      <p:sp>
        <p:nvSpPr>
          <p:cNvPr id="2" name="TextBox 1">
            <a:extLst>
              <a:ext uri="{FF2B5EF4-FFF2-40B4-BE49-F238E27FC236}">
                <a16:creationId xmlns:a16="http://schemas.microsoft.com/office/drawing/2014/main" id="{5153D8EA-1555-58DC-6320-945568FB94BD}"/>
              </a:ext>
            </a:extLst>
          </p:cNvPr>
          <p:cNvSpPr txBox="1"/>
          <p:nvPr/>
        </p:nvSpPr>
        <p:spPr>
          <a:xfrm>
            <a:off x="10121900" y="6350000"/>
            <a:ext cx="1430713" cy="369332"/>
          </a:xfrm>
          <a:prstGeom prst="rect">
            <a:avLst/>
          </a:prstGeom>
          <a:noFill/>
        </p:spPr>
        <p:txBody>
          <a:bodyPr wrap="none" rtlCol="0">
            <a:spAutoFit/>
          </a:bodyPr>
          <a:lstStyle/>
          <a:p>
            <a:r>
              <a:rPr lang="en-US" dirty="0"/>
              <a:t>ChatGPT 5.2</a:t>
            </a:r>
          </a:p>
        </p:txBody>
      </p:sp>
    </p:spTree>
    <p:extLst>
      <p:ext uri="{BB962C8B-B14F-4D97-AF65-F5344CB8AC3E}">
        <p14:creationId xmlns:p14="http://schemas.microsoft.com/office/powerpoint/2010/main" val="36595828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EFE20-C7D2-0B78-2D0A-7C05DB609B6A}"/>
              </a:ext>
            </a:extLst>
          </p:cNvPr>
          <p:cNvSpPr>
            <a:spLocks noGrp="1"/>
          </p:cNvSpPr>
          <p:nvPr>
            <p:ph type="title"/>
          </p:nvPr>
        </p:nvSpPr>
        <p:spPr/>
        <p:txBody>
          <a:bodyPr/>
          <a:lstStyle/>
          <a:p>
            <a:r>
              <a:rPr lang="en-US" dirty="0"/>
              <a:t>20 questions</a:t>
            </a:r>
          </a:p>
        </p:txBody>
      </p:sp>
      <p:sp>
        <p:nvSpPr>
          <p:cNvPr id="3" name="Content Placeholder 2">
            <a:extLst>
              <a:ext uri="{FF2B5EF4-FFF2-40B4-BE49-F238E27FC236}">
                <a16:creationId xmlns:a16="http://schemas.microsoft.com/office/drawing/2014/main" id="{AFDF0B44-2C6A-AE76-3347-9DB51996CE47}"/>
              </a:ext>
            </a:extLst>
          </p:cNvPr>
          <p:cNvSpPr>
            <a:spLocks noGrp="1"/>
          </p:cNvSpPr>
          <p:nvPr>
            <p:ph idx="1"/>
          </p:nvPr>
        </p:nvSpPr>
        <p:spPr/>
        <p:txBody>
          <a:bodyPr/>
          <a:lstStyle/>
          <a:p>
            <a:pPr marL="0" indent="0">
              <a:buNone/>
            </a:pPr>
            <a:r>
              <a:rPr lang="en-US" dirty="0"/>
              <a:t>Play 20 questions. You are the orchestrator who picks a secret word. Create two subagent roles: (1) a CHECKER who knows the secret and answers yes/no honestly, (2) a WORKER who does NOT  know the secret and must guess by asking questions. The worker should adapt its questions based on previous answers. Loop until the worker guesses correctly or runs out of guesses.</a:t>
            </a:r>
          </a:p>
        </p:txBody>
      </p:sp>
    </p:spTree>
    <p:extLst>
      <p:ext uri="{BB962C8B-B14F-4D97-AF65-F5344CB8AC3E}">
        <p14:creationId xmlns:p14="http://schemas.microsoft.com/office/powerpoint/2010/main" val="10964779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65C8972-E442-D697-9118-7B6A7B30DF82}"/>
              </a:ext>
            </a:extLst>
          </p:cNvPr>
          <p:cNvSpPr txBox="1"/>
          <p:nvPr/>
        </p:nvSpPr>
        <p:spPr>
          <a:xfrm>
            <a:off x="698500" y="165954"/>
            <a:ext cx="11036300" cy="6463308"/>
          </a:xfrm>
          <a:prstGeom prst="rect">
            <a:avLst/>
          </a:prstGeom>
          <a:noFill/>
        </p:spPr>
        <p:txBody>
          <a:bodyPr wrap="square">
            <a:spAutoFit/>
          </a:bodyPr>
          <a:lstStyle/>
          <a:p>
            <a:r>
              <a:rPr lang="en-US" dirty="0"/>
              <a:t>(def interior (do (def completion (cat \"(def interior \" (pr-str (</a:t>
            </a:r>
            <a:r>
              <a:rPr lang="en-US" dirty="0" err="1"/>
              <a:t>uneval</a:t>
            </a:r>
            <a:r>
              <a:rPr lang="en-US" dirty="0"/>
              <a:t> 'interior)) \")\")) (def prompt \"Play 20 questions...\") </a:t>
            </a:r>
          </a:p>
          <a:p>
            <a:r>
              <a:rPr lang="en-US" dirty="0"/>
              <a:t>  (do</a:t>
            </a:r>
          </a:p>
          <a:p>
            <a:r>
              <a:rPr lang="en-US" dirty="0"/>
              <a:t>    </a:t>
            </a:r>
            <a:r>
              <a:rPr lang="en-US" dirty="0">
                <a:solidFill>
                  <a:srgbClr val="FF0000"/>
                </a:solidFill>
              </a:rPr>
              <a:t>(def secret "octopus")</a:t>
            </a:r>
          </a:p>
          <a:p>
            <a:r>
              <a:rPr lang="en-US" dirty="0"/>
              <a:t>    (</a:t>
            </a:r>
            <a:r>
              <a:rPr lang="en-US" dirty="0" err="1"/>
              <a:t>defn</a:t>
            </a:r>
            <a:r>
              <a:rPr lang="en-US" dirty="0"/>
              <a:t> checker-respond [question]</a:t>
            </a:r>
          </a:p>
          <a:p>
            <a:r>
              <a:rPr lang="en-US" dirty="0"/>
              <a:t>      (let [q (trim question)]</a:t>
            </a:r>
          </a:p>
          <a:p>
            <a:r>
              <a:rPr lang="en-US" dirty="0"/>
              <a:t>        (</a:t>
            </a:r>
            <a:r>
              <a:rPr lang="en-US" dirty="0" err="1"/>
              <a:t>cond</a:t>
            </a:r>
            <a:endParaRPr lang="en-US" dirty="0"/>
          </a:p>
          <a:p>
            <a:r>
              <a:rPr lang="en-US" dirty="0"/>
              <a:t>          (or (= q "Is it an animal?")</a:t>
            </a:r>
          </a:p>
          <a:p>
            <a:r>
              <a:rPr lang="en-US" dirty="0"/>
              <a:t>              (= q "Animal?"))</a:t>
            </a:r>
          </a:p>
          <a:p>
            <a:r>
              <a:rPr lang="en-US" dirty="0"/>
              <a:t>          "yes"</a:t>
            </a:r>
          </a:p>
          <a:p>
            <a:r>
              <a:rPr lang="en-US" dirty="0"/>
              <a:t>	…</a:t>
            </a:r>
          </a:p>
          <a:p>
            <a:r>
              <a:rPr lang="en-US" dirty="0"/>
              <a:t>          ;; Fallback: ask an LLM to answer yes/no based on the secret.</a:t>
            </a:r>
          </a:p>
          <a:p>
            <a:r>
              <a:rPr lang="en-US" dirty="0"/>
              <a:t>          :else</a:t>
            </a:r>
          </a:p>
          <a:p>
            <a:r>
              <a:rPr lang="en-US" dirty="0"/>
              <a:t>          (let [resp (trim (leaf-</a:t>
            </a:r>
            <a:r>
              <a:rPr lang="en-US" dirty="0" err="1"/>
              <a:t>llm</a:t>
            </a:r>
            <a:endParaRPr lang="en-US" dirty="0"/>
          </a:p>
          <a:p>
            <a:r>
              <a:rPr lang="en-US" dirty="0"/>
              <a:t>                            (cat "You are CHECKER in 20 questions. Secret word: " secret</a:t>
            </a:r>
          </a:p>
          <a:p>
            <a:r>
              <a:rPr lang="en-US" dirty="0"/>
              <a:t>                                 ". Answer ONLY '</a:t>
            </a:r>
            <a:r>
              <a:rPr lang="en-US" dirty="0" err="1"/>
              <a:t>yes'</a:t>
            </a:r>
            <a:r>
              <a:rPr lang="en-US" dirty="0"/>
              <a:t> or 'no' (no punctuation). "</a:t>
            </a:r>
          </a:p>
          <a:p>
            <a:r>
              <a:rPr lang="en-US" dirty="0"/>
              <a:t>                                 "Question: " q)))]</a:t>
            </a:r>
          </a:p>
          <a:p>
            <a:r>
              <a:rPr lang="en-US" dirty="0"/>
              <a:t>            (if (or (= resp "yes") (= resp "no")) resp "no")))))</a:t>
            </a:r>
          </a:p>
          <a:p>
            <a:r>
              <a:rPr lang="en-US" dirty="0"/>
              <a:t>    (</a:t>
            </a:r>
            <a:r>
              <a:rPr lang="en-US" dirty="0" err="1"/>
              <a:t>defn</a:t>
            </a:r>
            <a:r>
              <a:rPr lang="en-US" dirty="0"/>
              <a:t> worker-next [history]</a:t>
            </a:r>
          </a:p>
          <a:p>
            <a:r>
              <a:rPr lang="en-US" dirty="0"/>
              <a:t>      (leaf-</a:t>
            </a:r>
            <a:r>
              <a:rPr lang="en-US" dirty="0" err="1"/>
              <a:t>llm</a:t>
            </a:r>
            <a:endParaRPr lang="en-US" dirty="0"/>
          </a:p>
          <a:p>
            <a:r>
              <a:rPr lang="en-US" dirty="0"/>
              <a:t>        (cat</a:t>
            </a:r>
          </a:p>
          <a:p>
            <a:r>
              <a:rPr lang="en-US" dirty="0"/>
              <a:t>          "You are WORKER playing 20 questions. …</a:t>
            </a:r>
          </a:p>
          <a:p>
            <a:endParaRPr lang="en-US" dirty="0"/>
          </a:p>
        </p:txBody>
      </p:sp>
      <p:sp>
        <p:nvSpPr>
          <p:cNvPr id="7" name="Rectangle 6">
            <a:extLst>
              <a:ext uri="{FF2B5EF4-FFF2-40B4-BE49-F238E27FC236}">
                <a16:creationId xmlns:a16="http://schemas.microsoft.com/office/drawing/2014/main" id="{51DDD1AE-3BE1-C28D-6B15-82CA17BF9515}"/>
              </a:ext>
            </a:extLst>
          </p:cNvPr>
          <p:cNvSpPr/>
          <p:nvPr/>
        </p:nvSpPr>
        <p:spPr>
          <a:xfrm>
            <a:off x="2044700" y="1003300"/>
            <a:ext cx="990600" cy="3302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7020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0C0DB-CB99-C050-6936-94C132EE912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3D784B7-14E2-AF9A-D6E0-90C4ADA788CB}"/>
              </a:ext>
            </a:extLst>
          </p:cNvPr>
          <p:cNvSpPr txBox="1"/>
          <p:nvPr/>
        </p:nvSpPr>
        <p:spPr>
          <a:xfrm>
            <a:off x="698500" y="165954"/>
            <a:ext cx="11036300" cy="6463308"/>
          </a:xfrm>
          <a:prstGeom prst="rect">
            <a:avLst/>
          </a:prstGeom>
          <a:noFill/>
        </p:spPr>
        <p:txBody>
          <a:bodyPr wrap="square">
            <a:spAutoFit/>
          </a:bodyPr>
          <a:lstStyle/>
          <a:p>
            <a:r>
              <a:rPr lang="en-US" dirty="0"/>
              <a:t>(def interior (do (def completion (cat \"(def interior \" (pr-str (</a:t>
            </a:r>
            <a:r>
              <a:rPr lang="en-US" dirty="0" err="1"/>
              <a:t>uneval</a:t>
            </a:r>
            <a:r>
              <a:rPr lang="en-US" dirty="0"/>
              <a:t> 'interior)) \")\")) (def prompt \"Play 20 questions...\") </a:t>
            </a:r>
          </a:p>
          <a:p>
            <a:r>
              <a:rPr lang="en-US" dirty="0"/>
              <a:t>  (do</a:t>
            </a:r>
          </a:p>
          <a:p>
            <a:r>
              <a:rPr lang="en-US" dirty="0"/>
              <a:t>    (def secret "octopus")</a:t>
            </a:r>
          </a:p>
          <a:p>
            <a:r>
              <a:rPr lang="en-US" dirty="0">
                <a:solidFill>
                  <a:srgbClr val="FFC000"/>
                </a:solidFill>
              </a:rPr>
              <a:t>    (</a:t>
            </a:r>
            <a:r>
              <a:rPr lang="en-US" dirty="0" err="1">
                <a:solidFill>
                  <a:srgbClr val="FFC000"/>
                </a:solidFill>
              </a:rPr>
              <a:t>defn</a:t>
            </a:r>
            <a:r>
              <a:rPr lang="en-US" dirty="0">
                <a:solidFill>
                  <a:srgbClr val="FFC000"/>
                </a:solidFill>
              </a:rPr>
              <a:t> checker-respond [question]</a:t>
            </a:r>
          </a:p>
          <a:p>
            <a:r>
              <a:rPr lang="en-US" dirty="0">
                <a:solidFill>
                  <a:srgbClr val="FFC000"/>
                </a:solidFill>
              </a:rPr>
              <a:t>      (let [q (trim question)]</a:t>
            </a:r>
          </a:p>
          <a:p>
            <a:r>
              <a:rPr lang="en-US" dirty="0">
                <a:solidFill>
                  <a:srgbClr val="FFC000"/>
                </a:solidFill>
              </a:rPr>
              <a:t>        (</a:t>
            </a:r>
            <a:r>
              <a:rPr lang="en-US" dirty="0" err="1">
                <a:solidFill>
                  <a:srgbClr val="FFC000"/>
                </a:solidFill>
              </a:rPr>
              <a:t>cond</a:t>
            </a:r>
            <a:endParaRPr lang="en-US" dirty="0">
              <a:solidFill>
                <a:srgbClr val="FFC000"/>
              </a:solidFill>
            </a:endParaRPr>
          </a:p>
          <a:p>
            <a:r>
              <a:rPr lang="en-US" dirty="0">
                <a:solidFill>
                  <a:srgbClr val="FFC000"/>
                </a:solidFill>
              </a:rPr>
              <a:t>          (or (= q "Is it an animal?")</a:t>
            </a:r>
          </a:p>
          <a:p>
            <a:r>
              <a:rPr lang="en-US" dirty="0">
                <a:solidFill>
                  <a:srgbClr val="FFC000"/>
                </a:solidFill>
              </a:rPr>
              <a:t>              (= q "Animal?"))</a:t>
            </a:r>
          </a:p>
          <a:p>
            <a:r>
              <a:rPr lang="en-US" dirty="0">
                <a:solidFill>
                  <a:srgbClr val="FFC000"/>
                </a:solidFill>
              </a:rPr>
              <a:t>          "yes"</a:t>
            </a:r>
          </a:p>
          <a:p>
            <a:r>
              <a:rPr lang="en-US" dirty="0">
                <a:solidFill>
                  <a:srgbClr val="FFC000"/>
                </a:solidFill>
              </a:rPr>
              <a:t>	… </a:t>
            </a:r>
          </a:p>
          <a:p>
            <a:r>
              <a:rPr lang="en-US" dirty="0"/>
              <a:t>          ;; Fallback: ask an LLM to answer yes/no based on the secret.</a:t>
            </a:r>
            <a:r>
              <a:rPr lang="en-US" dirty="0">
                <a:solidFill>
                  <a:srgbClr val="FFC000"/>
                </a:solidFill>
              </a:rPr>
              <a:t>          </a:t>
            </a:r>
          </a:p>
          <a:p>
            <a:r>
              <a:rPr lang="en-US" dirty="0">
                <a:solidFill>
                  <a:srgbClr val="FFC000"/>
                </a:solidFill>
              </a:rPr>
              <a:t>          :else</a:t>
            </a:r>
          </a:p>
          <a:p>
            <a:r>
              <a:rPr lang="en-US" dirty="0">
                <a:solidFill>
                  <a:srgbClr val="FFC000"/>
                </a:solidFill>
              </a:rPr>
              <a:t>          (let [resp (trim (leaf-</a:t>
            </a:r>
            <a:r>
              <a:rPr lang="en-US" dirty="0" err="1">
                <a:solidFill>
                  <a:srgbClr val="FFC000"/>
                </a:solidFill>
              </a:rPr>
              <a:t>llm</a:t>
            </a:r>
            <a:endParaRPr lang="en-US" dirty="0">
              <a:solidFill>
                <a:srgbClr val="FFC000"/>
              </a:solidFill>
            </a:endParaRPr>
          </a:p>
          <a:p>
            <a:r>
              <a:rPr lang="en-US" dirty="0">
                <a:solidFill>
                  <a:srgbClr val="FFC000"/>
                </a:solidFill>
              </a:rPr>
              <a:t>                            (cat "You are CHECKER in 20 questions. Secret word: " secret</a:t>
            </a:r>
          </a:p>
          <a:p>
            <a:r>
              <a:rPr lang="en-US" dirty="0">
                <a:solidFill>
                  <a:srgbClr val="FFC000"/>
                </a:solidFill>
              </a:rPr>
              <a:t>                                 ". Answer ONLY '</a:t>
            </a:r>
            <a:r>
              <a:rPr lang="en-US" dirty="0" err="1">
                <a:solidFill>
                  <a:srgbClr val="FFC000"/>
                </a:solidFill>
              </a:rPr>
              <a:t>yes'</a:t>
            </a:r>
            <a:r>
              <a:rPr lang="en-US" dirty="0">
                <a:solidFill>
                  <a:srgbClr val="FFC000"/>
                </a:solidFill>
              </a:rPr>
              <a:t> or 'no' (no punctuation). "</a:t>
            </a:r>
          </a:p>
          <a:p>
            <a:r>
              <a:rPr lang="en-US" dirty="0">
                <a:solidFill>
                  <a:srgbClr val="FFC000"/>
                </a:solidFill>
              </a:rPr>
              <a:t>                                 "Question: " q)))]</a:t>
            </a:r>
          </a:p>
          <a:p>
            <a:r>
              <a:rPr lang="en-US" dirty="0">
                <a:solidFill>
                  <a:srgbClr val="FFC000"/>
                </a:solidFill>
              </a:rPr>
              <a:t>            (if (or (= resp "yes") (= resp "no")) resp "no")))))</a:t>
            </a:r>
          </a:p>
          <a:p>
            <a:r>
              <a:rPr lang="en-US" dirty="0"/>
              <a:t>    (</a:t>
            </a:r>
            <a:r>
              <a:rPr lang="en-US" dirty="0" err="1"/>
              <a:t>defn</a:t>
            </a:r>
            <a:r>
              <a:rPr lang="en-US" dirty="0"/>
              <a:t> worker-next [history]</a:t>
            </a:r>
          </a:p>
          <a:p>
            <a:r>
              <a:rPr lang="en-US" dirty="0"/>
              <a:t>      (leaf-</a:t>
            </a:r>
            <a:r>
              <a:rPr lang="en-US" dirty="0" err="1"/>
              <a:t>llm</a:t>
            </a:r>
            <a:endParaRPr lang="en-US" dirty="0"/>
          </a:p>
          <a:p>
            <a:r>
              <a:rPr lang="en-US" dirty="0"/>
              <a:t>        (cat</a:t>
            </a:r>
          </a:p>
          <a:p>
            <a:r>
              <a:rPr lang="en-US" dirty="0"/>
              <a:t>          "You are WORKER playing 20 questions. …</a:t>
            </a:r>
          </a:p>
          <a:p>
            <a:endParaRPr lang="en-US" dirty="0"/>
          </a:p>
        </p:txBody>
      </p:sp>
      <p:sp>
        <p:nvSpPr>
          <p:cNvPr id="2" name="Rectangle 1">
            <a:extLst>
              <a:ext uri="{FF2B5EF4-FFF2-40B4-BE49-F238E27FC236}">
                <a16:creationId xmlns:a16="http://schemas.microsoft.com/office/drawing/2014/main" id="{E0A93068-6622-371E-FE51-6E37A0BE596C}"/>
              </a:ext>
            </a:extLst>
          </p:cNvPr>
          <p:cNvSpPr/>
          <p:nvPr/>
        </p:nvSpPr>
        <p:spPr>
          <a:xfrm>
            <a:off x="2044700" y="1003300"/>
            <a:ext cx="990600" cy="3302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2372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76321-72EE-7470-3C70-A240BCB9AE2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0AAD908-4740-96B9-6ED5-A66CEAFC3025}"/>
              </a:ext>
            </a:extLst>
          </p:cNvPr>
          <p:cNvSpPr txBox="1"/>
          <p:nvPr/>
        </p:nvSpPr>
        <p:spPr>
          <a:xfrm>
            <a:off x="698500" y="165954"/>
            <a:ext cx="11036300" cy="6463308"/>
          </a:xfrm>
          <a:prstGeom prst="rect">
            <a:avLst/>
          </a:prstGeom>
          <a:noFill/>
        </p:spPr>
        <p:txBody>
          <a:bodyPr wrap="square">
            <a:spAutoFit/>
          </a:bodyPr>
          <a:lstStyle/>
          <a:p>
            <a:r>
              <a:rPr lang="en-US" dirty="0"/>
              <a:t>(def interior (do (def completion (cat \"(def interior \" (pr-str (</a:t>
            </a:r>
            <a:r>
              <a:rPr lang="en-US" dirty="0" err="1"/>
              <a:t>uneval</a:t>
            </a:r>
            <a:r>
              <a:rPr lang="en-US" dirty="0"/>
              <a:t> 'interior)) \")\")) (def prompt \"Play 20 questions...\") </a:t>
            </a:r>
          </a:p>
          <a:p>
            <a:r>
              <a:rPr lang="en-US" dirty="0"/>
              <a:t>  (do</a:t>
            </a:r>
          </a:p>
          <a:p>
            <a:r>
              <a:rPr lang="en-US" dirty="0"/>
              <a:t>    (def secret "octopus")</a:t>
            </a:r>
          </a:p>
          <a:p>
            <a:r>
              <a:rPr lang="en-US" dirty="0"/>
              <a:t>    (</a:t>
            </a:r>
            <a:r>
              <a:rPr lang="en-US" dirty="0" err="1"/>
              <a:t>defn</a:t>
            </a:r>
            <a:r>
              <a:rPr lang="en-US" dirty="0"/>
              <a:t> checker-respond [question]</a:t>
            </a:r>
          </a:p>
          <a:p>
            <a:r>
              <a:rPr lang="en-US" dirty="0"/>
              <a:t>      (let [q (trim question)]</a:t>
            </a:r>
          </a:p>
          <a:p>
            <a:r>
              <a:rPr lang="en-US" dirty="0"/>
              <a:t>        (</a:t>
            </a:r>
            <a:r>
              <a:rPr lang="en-US" dirty="0" err="1"/>
              <a:t>cond</a:t>
            </a:r>
            <a:endParaRPr lang="en-US" dirty="0"/>
          </a:p>
          <a:p>
            <a:r>
              <a:rPr lang="en-US" dirty="0"/>
              <a:t>          (or (= q "Is it an animal?")</a:t>
            </a:r>
          </a:p>
          <a:p>
            <a:r>
              <a:rPr lang="en-US" dirty="0"/>
              <a:t>              (= q "Animal?"))</a:t>
            </a:r>
          </a:p>
          <a:p>
            <a:r>
              <a:rPr lang="en-US" dirty="0"/>
              <a:t>          "yes"</a:t>
            </a:r>
          </a:p>
          <a:p>
            <a:r>
              <a:rPr lang="en-US" dirty="0"/>
              <a:t>	…</a:t>
            </a:r>
          </a:p>
          <a:p>
            <a:r>
              <a:rPr lang="en-US" dirty="0"/>
              <a:t>          ;; Fallback: ask an LLM to answer yes/no based on the secret.</a:t>
            </a:r>
          </a:p>
          <a:p>
            <a:r>
              <a:rPr lang="en-US" dirty="0"/>
              <a:t>          :else</a:t>
            </a:r>
          </a:p>
          <a:p>
            <a:r>
              <a:rPr lang="en-US" dirty="0"/>
              <a:t>          (let [resp (trim (leaf-</a:t>
            </a:r>
            <a:r>
              <a:rPr lang="en-US" dirty="0" err="1"/>
              <a:t>llm</a:t>
            </a:r>
            <a:endParaRPr lang="en-US" dirty="0"/>
          </a:p>
          <a:p>
            <a:r>
              <a:rPr lang="en-US" dirty="0"/>
              <a:t>                            (cat "You are CHECKER in 20 questions. Secret word: " secret</a:t>
            </a:r>
          </a:p>
          <a:p>
            <a:r>
              <a:rPr lang="en-US" dirty="0"/>
              <a:t>                                 ". Answer ONLY '</a:t>
            </a:r>
            <a:r>
              <a:rPr lang="en-US" dirty="0" err="1"/>
              <a:t>yes'</a:t>
            </a:r>
            <a:r>
              <a:rPr lang="en-US" dirty="0"/>
              <a:t> or 'no' (no punctuation). "</a:t>
            </a:r>
          </a:p>
          <a:p>
            <a:r>
              <a:rPr lang="en-US" dirty="0"/>
              <a:t>                                 "Question: " q)))]</a:t>
            </a:r>
          </a:p>
          <a:p>
            <a:r>
              <a:rPr lang="en-US" dirty="0"/>
              <a:t>            (if (or (= resp "yes") (= resp "no")) resp "no")))))</a:t>
            </a:r>
          </a:p>
          <a:p>
            <a:r>
              <a:rPr lang="en-US" dirty="0">
                <a:solidFill>
                  <a:srgbClr val="FFC000"/>
                </a:solidFill>
              </a:rPr>
              <a:t>    (</a:t>
            </a:r>
            <a:r>
              <a:rPr lang="en-US" dirty="0" err="1">
                <a:solidFill>
                  <a:srgbClr val="FFC000"/>
                </a:solidFill>
              </a:rPr>
              <a:t>defn</a:t>
            </a:r>
            <a:r>
              <a:rPr lang="en-US" dirty="0">
                <a:solidFill>
                  <a:srgbClr val="FFC000"/>
                </a:solidFill>
              </a:rPr>
              <a:t> worker-next [history]</a:t>
            </a:r>
          </a:p>
          <a:p>
            <a:r>
              <a:rPr lang="en-US" dirty="0">
                <a:solidFill>
                  <a:srgbClr val="FFC000"/>
                </a:solidFill>
              </a:rPr>
              <a:t>      (leaf-</a:t>
            </a:r>
            <a:r>
              <a:rPr lang="en-US" dirty="0" err="1">
                <a:solidFill>
                  <a:srgbClr val="FFC000"/>
                </a:solidFill>
              </a:rPr>
              <a:t>llm</a:t>
            </a:r>
            <a:endParaRPr lang="en-US" dirty="0">
              <a:solidFill>
                <a:srgbClr val="FFC000"/>
              </a:solidFill>
            </a:endParaRPr>
          </a:p>
          <a:p>
            <a:r>
              <a:rPr lang="en-US" dirty="0">
                <a:solidFill>
                  <a:srgbClr val="FFC000"/>
                </a:solidFill>
              </a:rPr>
              <a:t>        (cat</a:t>
            </a:r>
          </a:p>
          <a:p>
            <a:r>
              <a:rPr lang="en-US" dirty="0">
                <a:solidFill>
                  <a:srgbClr val="FFC000"/>
                </a:solidFill>
              </a:rPr>
              <a:t>          "You are WORKER playing 20 questions. …</a:t>
            </a:r>
          </a:p>
          <a:p>
            <a:endParaRPr lang="en-US" dirty="0"/>
          </a:p>
        </p:txBody>
      </p:sp>
      <p:sp>
        <p:nvSpPr>
          <p:cNvPr id="2" name="Rectangle 1">
            <a:extLst>
              <a:ext uri="{FF2B5EF4-FFF2-40B4-BE49-F238E27FC236}">
                <a16:creationId xmlns:a16="http://schemas.microsoft.com/office/drawing/2014/main" id="{77AD6A5D-7CD1-DFFF-007F-BC46453854AD}"/>
              </a:ext>
            </a:extLst>
          </p:cNvPr>
          <p:cNvSpPr/>
          <p:nvPr/>
        </p:nvSpPr>
        <p:spPr>
          <a:xfrm>
            <a:off x="2044700" y="1003300"/>
            <a:ext cx="990600" cy="3302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00060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496EBE-E7B9-F51D-8ED0-13DF01F1571D}"/>
              </a:ext>
            </a:extLst>
          </p:cNvPr>
          <p:cNvSpPr txBox="1"/>
          <p:nvPr/>
        </p:nvSpPr>
        <p:spPr>
          <a:xfrm>
            <a:off x="2870200" y="356444"/>
            <a:ext cx="6096000" cy="5078313"/>
          </a:xfrm>
          <a:prstGeom prst="rect">
            <a:avLst/>
          </a:prstGeom>
          <a:noFill/>
        </p:spPr>
        <p:txBody>
          <a:bodyPr wrap="square">
            <a:spAutoFit/>
          </a:bodyPr>
          <a:lstStyle/>
          <a:p>
            <a:endParaRPr lang="en-US" dirty="0"/>
          </a:p>
          <a:p>
            <a:r>
              <a:rPr lang="en-US" dirty="0"/>
              <a:t>    </a:t>
            </a:r>
            <a:r>
              <a:rPr lang="en-US" dirty="0">
                <a:solidFill>
                  <a:srgbClr val="00B050"/>
                </a:solidFill>
              </a:rPr>
              <a:t>(</a:t>
            </a:r>
            <a:r>
              <a:rPr lang="en-US" dirty="0" err="1">
                <a:solidFill>
                  <a:srgbClr val="00B050"/>
                </a:solidFill>
              </a:rPr>
              <a:t>defn</a:t>
            </a:r>
            <a:r>
              <a:rPr lang="en-US" dirty="0">
                <a:solidFill>
                  <a:srgbClr val="00B050"/>
                </a:solidFill>
              </a:rPr>
              <a:t> loop-game [n history]</a:t>
            </a:r>
          </a:p>
          <a:p>
            <a:r>
              <a:rPr lang="en-US" dirty="0">
                <a:solidFill>
                  <a:srgbClr val="00B050"/>
                </a:solidFill>
              </a:rPr>
              <a:t>      (if (&gt; n 20)</a:t>
            </a:r>
          </a:p>
          <a:p>
            <a:r>
              <a:rPr lang="en-US" dirty="0">
                <a:solidFill>
                  <a:srgbClr val="00B050"/>
                </a:solidFill>
              </a:rPr>
              <a:t>        (cat "Out of questions.\</a:t>
            </a:r>
            <a:r>
              <a:rPr lang="en-US" dirty="0" err="1">
                <a:solidFill>
                  <a:srgbClr val="00B050"/>
                </a:solidFill>
              </a:rPr>
              <a:t>nSecret</a:t>
            </a:r>
            <a:r>
              <a:rPr lang="en-US" dirty="0">
                <a:solidFill>
                  <a:srgbClr val="00B050"/>
                </a:solidFill>
              </a:rPr>
              <a:t> was: " secret "\n\</a:t>
            </a:r>
            <a:r>
              <a:rPr lang="en-US" dirty="0" err="1">
                <a:solidFill>
                  <a:srgbClr val="00B050"/>
                </a:solidFill>
              </a:rPr>
              <a:t>nTranscript</a:t>
            </a:r>
            <a:r>
              <a:rPr lang="en-US" dirty="0">
                <a:solidFill>
                  <a:srgbClr val="00B050"/>
                </a:solidFill>
              </a:rPr>
              <a:t>:\n" history)</a:t>
            </a:r>
          </a:p>
          <a:p>
            <a:r>
              <a:rPr lang="en-US" dirty="0">
                <a:solidFill>
                  <a:srgbClr val="00B050"/>
                </a:solidFill>
              </a:rPr>
              <a:t>        (let [q (trim (worker-next history))</a:t>
            </a:r>
          </a:p>
          <a:p>
            <a:r>
              <a:rPr lang="en-US" dirty="0">
                <a:solidFill>
                  <a:srgbClr val="00B050"/>
                </a:solidFill>
              </a:rPr>
              <a:t>              a (checker-respond q)</a:t>
            </a:r>
          </a:p>
          <a:p>
            <a:r>
              <a:rPr lang="en-US" dirty="0">
                <a:solidFill>
                  <a:srgbClr val="00B050"/>
                </a:solidFill>
              </a:rPr>
              <a:t>              history2 (cat history "Q" n ": " q "\</a:t>
            </a:r>
            <a:r>
              <a:rPr lang="en-US" dirty="0" err="1">
                <a:solidFill>
                  <a:srgbClr val="00B050"/>
                </a:solidFill>
              </a:rPr>
              <a:t>nA</a:t>
            </a:r>
            <a:r>
              <a:rPr lang="en-US" dirty="0">
                <a:solidFill>
                  <a:srgbClr val="00B050"/>
                </a:solidFill>
              </a:rPr>
              <a:t>" n ": " a "\n")</a:t>
            </a:r>
          </a:p>
          <a:p>
            <a:r>
              <a:rPr lang="en-US" dirty="0">
                <a:solidFill>
                  <a:srgbClr val="00B050"/>
                </a:solidFill>
              </a:rPr>
              <a:t>              g (worker-guess history2)]</a:t>
            </a:r>
          </a:p>
          <a:p>
            <a:r>
              <a:rPr lang="en-US" dirty="0">
                <a:solidFill>
                  <a:srgbClr val="00B050"/>
                </a:solidFill>
              </a:rPr>
              <a:t>          (if (= (trim g) "NO_GUESS")</a:t>
            </a:r>
          </a:p>
          <a:p>
            <a:r>
              <a:rPr lang="en-US" dirty="0">
                <a:solidFill>
                  <a:srgbClr val="00B050"/>
                </a:solidFill>
              </a:rPr>
              <a:t>            (loop-game (+ n 1) history2)</a:t>
            </a:r>
          </a:p>
          <a:p>
            <a:r>
              <a:rPr lang="en-US" dirty="0">
                <a:solidFill>
                  <a:srgbClr val="00B050"/>
                </a:solidFill>
              </a:rPr>
              <a:t>            (if (= (trim g) secret)</a:t>
            </a:r>
          </a:p>
          <a:p>
            <a:r>
              <a:rPr lang="en-US" dirty="0">
                <a:solidFill>
                  <a:srgbClr val="00B050"/>
                </a:solidFill>
              </a:rPr>
              <a:t>              (cat "WORKER guesses: " g "\</a:t>
            </a:r>
            <a:r>
              <a:rPr lang="en-US" dirty="0" err="1">
                <a:solidFill>
                  <a:srgbClr val="00B050"/>
                </a:solidFill>
              </a:rPr>
              <a:t>nResult</a:t>
            </a:r>
            <a:r>
              <a:rPr lang="en-US" dirty="0">
                <a:solidFill>
                  <a:srgbClr val="00B050"/>
                </a:solidFill>
              </a:rPr>
              <a:t>: correct.\n\</a:t>
            </a:r>
            <a:r>
              <a:rPr lang="en-US" dirty="0" err="1">
                <a:solidFill>
                  <a:srgbClr val="00B050"/>
                </a:solidFill>
              </a:rPr>
              <a:t>nTranscript</a:t>
            </a:r>
            <a:r>
              <a:rPr lang="en-US" dirty="0">
                <a:solidFill>
                  <a:srgbClr val="00B050"/>
                </a:solidFill>
              </a:rPr>
              <a:t>:\n" history2)</a:t>
            </a:r>
          </a:p>
          <a:p>
            <a:r>
              <a:rPr lang="en-US" dirty="0">
                <a:solidFill>
                  <a:srgbClr val="00B050"/>
                </a:solidFill>
              </a:rPr>
              <a:t>              (loop-game (+ n 1) (cat history2 "WORKER guesses: " g "\</a:t>
            </a:r>
            <a:r>
              <a:rPr lang="en-US" dirty="0" err="1">
                <a:solidFill>
                  <a:srgbClr val="00B050"/>
                </a:solidFill>
              </a:rPr>
              <a:t>nResult</a:t>
            </a:r>
            <a:r>
              <a:rPr lang="en-US" dirty="0">
                <a:solidFill>
                  <a:srgbClr val="00B050"/>
                </a:solidFill>
              </a:rPr>
              <a:t>: incorrect.\n")))))))</a:t>
            </a:r>
            <a:br>
              <a:rPr lang="en-US" dirty="0">
                <a:solidFill>
                  <a:srgbClr val="00B050"/>
                </a:solidFill>
              </a:rPr>
            </a:br>
            <a:br>
              <a:rPr lang="en-US" dirty="0"/>
            </a:br>
            <a:r>
              <a:rPr lang="en-US" dirty="0"/>
              <a:t>(loop-game 1 ""))</a:t>
            </a:r>
          </a:p>
        </p:txBody>
      </p:sp>
    </p:spTree>
    <p:extLst>
      <p:ext uri="{BB962C8B-B14F-4D97-AF65-F5344CB8AC3E}">
        <p14:creationId xmlns:p14="http://schemas.microsoft.com/office/powerpoint/2010/main" val="27882000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FDF916-A1AE-BF45-89F4-124248B1EEEA}"/>
              </a:ext>
            </a:extLst>
          </p:cNvPr>
          <p:cNvSpPr txBox="1"/>
          <p:nvPr/>
        </p:nvSpPr>
        <p:spPr>
          <a:xfrm>
            <a:off x="1778000" y="335845"/>
            <a:ext cx="6096000" cy="6186309"/>
          </a:xfrm>
          <a:prstGeom prst="rect">
            <a:avLst/>
          </a:prstGeom>
          <a:noFill/>
        </p:spPr>
        <p:txBody>
          <a:bodyPr wrap="square">
            <a:spAutoFit/>
          </a:bodyPr>
          <a:lstStyle/>
          <a:p>
            <a:r>
              <a:rPr lang="en-US" dirty="0"/>
              <a:t>  Transcript:</a:t>
            </a:r>
          </a:p>
          <a:p>
            <a:r>
              <a:rPr lang="en-US" dirty="0"/>
              <a:t>  Q1: Is it a physical object?</a:t>
            </a:r>
          </a:p>
          <a:p>
            <a:r>
              <a:rPr lang="en-US" dirty="0"/>
              <a:t>  A1: yes</a:t>
            </a:r>
          </a:p>
          <a:p>
            <a:r>
              <a:rPr lang="en-US" dirty="0"/>
              <a:t>  Q2: Is it something typically found indoors?</a:t>
            </a:r>
          </a:p>
          <a:p>
            <a:r>
              <a:rPr lang="en-US" dirty="0"/>
              <a:t>  A2: no</a:t>
            </a:r>
          </a:p>
          <a:p>
            <a:r>
              <a:rPr lang="en-US" dirty="0"/>
              <a:t>  Q3: Is it a natural object (not man-made)?</a:t>
            </a:r>
          </a:p>
          <a:p>
            <a:r>
              <a:rPr lang="en-US" dirty="0"/>
              <a:t>  A3: yes</a:t>
            </a:r>
          </a:p>
          <a:p>
            <a:r>
              <a:rPr lang="en-US" dirty="0"/>
              <a:t>  Q4: Is it a living thing (like a plant or animal)?</a:t>
            </a:r>
          </a:p>
          <a:p>
            <a:r>
              <a:rPr lang="en-US" dirty="0"/>
              <a:t>  A4: yes</a:t>
            </a:r>
          </a:p>
          <a:p>
            <a:r>
              <a:rPr lang="en-US" dirty="0"/>
              <a:t>  Q5: Is it an animal?</a:t>
            </a:r>
          </a:p>
          <a:p>
            <a:r>
              <a:rPr lang="en-US" dirty="0"/>
              <a:t>  A5: yes</a:t>
            </a:r>
          </a:p>
          <a:p>
            <a:r>
              <a:rPr lang="en-US" dirty="0"/>
              <a:t>  Q6: Is it a vertebrate (does it have a backbone)?</a:t>
            </a:r>
          </a:p>
          <a:p>
            <a:r>
              <a:rPr lang="en-US" dirty="0"/>
              <a:t>  A6: no</a:t>
            </a:r>
          </a:p>
          <a:p>
            <a:r>
              <a:rPr lang="en-US" dirty="0"/>
              <a:t>  Q7: Is it an insect (has six legs and three body segments)?</a:t>
            </a:r>
          </a:p>
          <a:p>
            <a:r>
              <a:rPr lang="en-US" dirty="0"/>
              <a:t>  A7: no</a:t>
            </a:r>
          </a:p>
          <a:p>
            <a:r>
              <a:rPr lang="en-US" dirty="0"/>
              <a:t>  WORKER guesses: spider</a:t>
            </a:r>
          </a:p>
          <a:p>
            <a:r>
              <a:rPr lang="en-US" dirty="0"/>
              <a:t>  Result: incorrect.</a:t>
            </a:r>
          </a:p>
          <a:p>
            <a:r>
              <a:rPr lang="en-US" dirty="0"/>
              <a:t>  Q8: Is it a mollusk (like a snail, slug, clam, or octopus)?</a:t>
            </a:r>
          </a:p>
          <a:p>
            <a:r>
              <a:rPr lang="en-US" dirty="0"/>
              <a:t>  A8: yes</a:t>
            </a:r>
          </a:p>
          <a:p>
            <a:r>
              <a:rPr lang="en-US" dirty="0"/>
              <a:t>WORKER guesses: octopus</a:t>
            </a:r>
          </a:p>
          <a:p>
            <a:r>
              <a:rPr lang="en-US" dirty="0"/>
              <a:t>  Result: correct.</a:t>
            </a:r>
          </a:p>
          <a:p>
            <a:endParaRPr lang="en-US" dirty="0"/>
          </a:p>
        </p:txBody>
      </p:sp>
      <p:pic>
        <p:nvPicPr>
          <p:cNvPr id="1026" name="Picture 2" descr="Octopus clip art Images - Free Download on Freepik">
            <a:extLst>
              <a:ext uri="{FF2B5EF4-FFF2-40B4-BE49-F238E27FC236}">
                <a16:creationId xmlns:a16="http://schemas.microsoft.com/office/drawing/2014/main" id="{2C7F4B14-9EFE-7E4F-4849-A8199582A8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4000" y="1884106"/>
            <a:ext cx="3581400" cy="2859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0387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1676</TotalTime>
  <Words>2145</Words>
  <Application>Microsoft Macintosh PowerPoint</Application>
  <PresentationFormat>Widescreen</PresentationFormat>
  <Paragraphs>239</Paragraphs>
  <Slides>26</Slides>
  <Notes>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Aptos</vt:lpstr>
      <vt:lpstr>Aptos Display</vt:lpstr>
      <vt:lpstr>Arial</vt:lpstr>
      <vt:lpstr>Office Theme</vt:lpstr>
      <vt:lpstr>Agent self-orchestration with Spell</vt:lpstr>
      <vt:lpstr>PowerPoint Presentation</vt:lpstr>
      <vt:lpstr>PowerPoint Presentation</vt:lpstr>
      <vt:lpstr>Limitations</vt:lpstr>
      <vt:lpstr>Orchestration: hot topic</vt:lpstr>
      <vt:lpstr>Early findings</vt:lpstr>
      <vt:lpstr>What this motivates</vt:lpstr>
      <vt:lpstr>What this motivates</vt:lpstr>
      <vt:lpstr>Spell (self-prompting execution language for LLMs)</vt:lpstr>
      <vt:lpstr>Spell (self-prompting execution language for LLMs)</vt:lpstr>
      <vt:lpstr>Context = code</vt:lpstr>
      <vt:lpstr>Environment = context</vt:lpstr>
      <vt:lpstr>Why not Python?</vt:lpstr>
      <vt:lpstr>Structure of every completion</vt:lpstr>
      <vt:lpstr>ReAct loop in Spell</vt:lpstr>
      <vt:lpstr>Games impossible with ReAct</vt:lpstr>
      <vt:lpstr>Coin flip game</vt:lpstr>
      <vt:lpstr>PowerPoint Presentation</vt:lpstr>
      <vt:lpstr>PowerPoint Presentation</vt:lpstr>
      <vt:lpstr>PowerPoint Presentation</vt:lpstr>
      <vt:lpstr>20 questions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O'Connor, Luke J</dc:creator>
  <cp:lastModifiedBy>O'Connor, Luke J</cp:lastModifiedBy>
  <cp:revision>41</cp:revision>
  <dcterms:created xsi:type="dcterms:W3CDTF">2026-02-02T15:31:31Z</dcterms:created>
  <dcterms:modified xsi:type="dcterms:W3CDTF">2026-02-03T19:30:06Z</dcterms:modified>
</cp:coreProperties>
</file>