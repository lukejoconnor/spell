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2"/>
  </p:notesMasterIdLst>
  <p:sldIdLst>
    <p:sldId id="256" r:id="rId2"/>
    <p:sldId id="257" r:id="rId3"/>
    <p:sldId id="258" r:id="rId4"/>
    <p:sldId id="259" r:id="rId5"/>
    <p:sldId id="260" r:id="rId6"/>
    <p:sldId id="261" r:id="rId7"/>
    <p:sldId id="262" r:id="rId8"/>
    <p:sldId id="263" r:id="rId9"/>
    <p:sldId id="272" r:id="rId10"/>
    <p:sldId id="271" r:id="rId11"/>
  </p:sldIdLst>
  <p:sldSz cx="9144000" cy="5143500" type="screen16x9"/>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5611"/>
    <p:restoredTop sz="94610"/>
  </p:normalViewPr>
  <p:slideViewPr>
    <p:cSldViewPr snapToGrid="0" snapToObjects="1">
      <p:cViewPr varScale="1">
        <p:scale>
          <a:sx n="191" d="100"/>
          <a:sy n="191" d="100"/>
        </p:scale>
        <p:origin x="192" y="440"/>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presProps" Target="pres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notesMaster" Target="notesMasters/notesMaster1.xml"/><Relationship Id="rId2" Type="http://schemas.openxmlformats.org/officeDocument/2006/relationships/slide" Target="slides/slide1.xml"/><Relationship Id="rId16"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theme" Target="theme/theme1.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viewProps" Target="view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2980545246"/>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B2838"/>
        </a:solidFill>
        <a:effectLst/>
      </p:bgPr>
    </p:bg>
    <p:spTree>
      <p:nvGrpSpPr>
        <p:cNvPr id="1" name=""/>
        <p:cNvGrpSpPr/>
        <p:nvPr/>
      </p:nvGrpSpPr>
      <p:grpSpPr>
        <a:xfrm>
          <a:off x="0" y="0"/>
          <a:ext cx="0" cy="0"/>
          <a:chOff x="0" y="0"/>
          <a:chExt cx="0" cy="0"/>
        </a:xfrm>
      </p:grpSpPr>
      <p:sp>
        <p:nvSpPr>
          <p:cNvPr id="2" name="Text 0"/>
          <p:cNvSpPr/>
          <p:nvPr/>
        </p:nvSpPr>
        <p:spPr>
          <a:xfrm>
            <a:off x="1969764" y="1647974"/>
            <a:ext cx="5204472" cy="428625"/>
          </a:xfrm>
          <a:prstGeom prst="rect">
            <a:avLst/>
          </a:prstGeom>
          <a:noFill/>
          <a:ln/>
        </p:spPr>
        <p:txBody>
          <a:bodyPr wrap="square" lIns="0" tIns="0" rIns="0" bIns="0" rtlCol="0" anchor="t"/>
          <a:lstStyle/>
          <a:p>
            <a:pPr marL="0" indent="0" algn="ctr">
              <a:spcAft>
                <a:spcPts val="800"/>
              </a:spcAft>
              <a:buNone/>
            </a:pPr>
            <a:r>
              <a:rPr lang="en-US" sz="3000" b="1" dirty="0">
                <a:solidFill>
                  <a:srgbClr val="FFFFFF"/>
                </a:solidFill>
                <a:latin typeface="Arial" pitchFamily="34" charset="0"/>
                <a:ea typeface="Arial" pitchFamily="34" charset="-122"/>
                <a:cs typeface="Arial" pitchFamily="34" charset="-120"/>
              </a:rPr>
              <a:t>Self-Programmed Execution</a:t>
            </a:r>
            <a:endParaRPr lang="en-US" sz="3000" dirty="0"/>
          </a:p>
        </p:txBody>
      </p:sp>
      <p:sp>
        <p:nvSpPr>
          <p:cNvPr id="3" name="Text 1"/>
          <p:cNvSpPr/>
          <p:nvPr/>
        </p:nvSpPr>
        <p:spPr>
          <a:xfrm>
            <a:off x="1969764" y="2178100"/>
            <a:ext cx="5204472" cy="276225"/>
          </a:xfrm>
          <a:prstGeom prst="rect">
            <a:avLst/>
          </a:prstGeom>
          <a:noFill/>
          <a:ln/>
        </p:spPr>
        <p:txBody>
          <a:bodyPr wrap="square" lIns="0" tIns="0" rIns="0" bIns="0" rtlCol="0" anchor="t"/>
          <a:lstStyle/>
          <a:p>
            <a:pPr marL="0" indent="0" algn="ctr">
              <a:spcAft>
                <a:spcPts val="2800"/>
              </a:spcAft>
              <a:buNone/>
            </a:pPr>
            <a:r>
              <a:rPr lang="en-US" sz="1900" dirty="0">
                <a:solidFill>
                  <a:srgbClr val="7EB8C9"/>
                </a:solidFill>
                <a:latin typeface="Arial" pitchFamily="34" charset="0"/>
                <a:ea typeface="Arial" pitchFamily="34" charset="-122"/>
                <a:cs typeface="Arial" pitchFamily="34" charset="-120"/>
              </a:rPr>
              <a:t>Theoretical Foundations</a:t>
            </a:r>
            <a:endParaRPr lang="en-US" sz="1900" dirty="0"/>
          </a:p>
        </p:txBody>
      </p:sp>
      <p:sp>
        <p:nvSpPr>
          <p:cNvPr id="4" name="Text 2"/>
          <p:cNvSpPr/>
          <p:nvPr/>
        </p:nvSpPr>
        <p:spPr>
          <a:xfrm>
            <a:off x="1969764" y="2809875"/>
            <a:ext cx="5204472" cy="209550"/>
          </a:xfrm>
          <a:prstGeom prst="rect">
            <a:avLst/>
          </a:prstGeom>
          <a:noFill/>
          <a:ln/>
        </p:spPr>
        <p:txBody>
          <a:bodyPr wrap="square" lIns="0" tIns="0" rIns="0" bIns="0" rtlCol="0" anchor="t"/>
          <a:lstStyle/>
          <a:p>
            <a:pPr marL="0" indent="0" algn="ctr">
              <a:spcAft>
                <a:spcPts val="400"/>
              </a:spcAft>
              <a:buNone/>
            </a:pPr>
            <a:r>
              <a:rPr lang="en-US" sz="1400" dirty="0">
                <a:solidFill>
                  <a:srgbClr val="6B8299"/>
                </a:solidFill>
                <a:latin typeface="Arial" pitchFamily="34" charset="0"/>
                <a:ea typeface="Arial" pitchFamily="34" charset="-122"/>
                <a:cs typeface="Arial" pitchFamily="34" charset="-120"/>
              </a:rPr>
              <a:t>Luke O'Connor</a:t>
            </a:r>
            <a:endParaRPr lang="en-US" sz="1400" dirty="0"/>
          </a:p>
        </p:txBody>
      </p:sp>
      <p:sp>
        <p:nvSpPr>
          <p:cNvPr id="5" name="Text 3"/>
          <p:cNvSpPr/>
          <p:nvPr/>
        </p:nvSpPr>
        <p:spPr>
          <a:xfrm>
            <a:off x="1969764" y="3070175"/>
            <a:ext cx="5204472" cy="171450"/>
          </a:xfrm>
          <a:prstGeom prst="rect">
            <a:avLst/>
          </a:prstGeom>
          <a:noFill/>
          <a:ln/>
        </p:spPr>
        <p:txBody>
          <a:bodyPr wrap="square" lIns="0" tIns="0" rIns="0" bIns="0" rtlCol="0" anchor="t"/>
          <a:lstStyle/>
          <a:p>
            <a:pPr marL="0" indent="0" algn="ctr">
              <a:buNone/>
            </a:pPr>
            <a:r>
              <a:rPr lang="en-US" sz="1200" dirty="0">
                <a:solidFill>
                  <a:srgbClr val="5A7088"/>
                </a:solidFill>
                <a:latin typeface="Arial" pitchFamily="34" charset="0"/>
                <a:ea typeface="Arial" pitchFamily="34" charset="-122"/>
                <a:cs typeface="Arial" pitchFamily="34" charset="-120"/>
              </a:rPr>
              <a:t>Group Meeting · April 24, 2026</a:t>
            </a:r>
            <a:endParaRPr lang="en-US" sz="12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0" y="0"/>
            <a:ext cx="9144000" cy="711101"/>
          </a:xfrm>
          <a:prstGeom prst="rect">
            <a:avLst/>
          </a:prstGeom>
          <a:solidFill>
            <a:srgbClr val="1B2838"/>
          </a:solidFill>
          <a:ln/>
        </p:spPr>
        <p:txBody>
          <a:bodyPr wrap="square" rtlCol="0" anchor="ctr"/>
          <a:lstStyle/>
          <a:p>
            <a:pPr marL="0" indent="0">
              <a:buNone/>
            </a:pPr>
            <a:endParaRPr lang="en-US" dirty="0"/>
          </a:p>
        </p:txBody>
      </p:sp>
      <p:sp>
        <p:nvSpPr>
          <p:cNvPr id="3" name="Text 1"/>
          <p:cNvSpPr/>
          <p:nvPr/>
        </p:nvSpPr>
        <p:spPr>
          <a:xfrm>
            <a:off x="381000" y="203150"/>
            <a:ext cx="2312896" cy="304800"/>
          </a:xfrm>
          <a:prstGeom prst="rect">
            <a:avLst/>
          </a:prstGeom>
          <a:noFill/>
          <a:ln/>
        </p:spPr>
        <p:txBody>
          <a:bodyPr wrap="square" lIns="0" tIns="0" rIns="0" bIns="0" rtlCol="0" anchor="t"/>
          <a:lstStyle/>
          <a:p>
            <a:pPr marL="0" indent="0" algn="l">
              <a:buNone/>
            </a:pPr>
            <a:r>
              <a:rPr lang="en-US" sz="2100" b="1" dirty="0">
                <a:solidFill>
                  <a:srgbClr val="FFFFFF"/>
                </a:solidFill>
                <a:latin typeface="Arial" pitchFamily="34" charset="0"/>
                <a:ea typeface="Arial" pitchFamily="34" charset="-122"/>
                <a:cs typeface="Arial" pitchFamily="34" charset="-120"/>
              </a:rPr>
              <a:t>Agentic Machines</a:t>
            </a:r>
            <a:endParaRPr lang="en-US" sz="2100" dirty="0"/>
          </a:p>
        </p:txBody>
      </p:sp>
      <p:sp>
        <p:nvSpPr>
          <p:cNvPr id="4" name="Text 2"/>
          <p:cNvSpPr/>
          <p:nvPr/>
        </p:nvSpPr>
        <p:spPr>
          <a:xfrm>
            <a:off x="0" y="711101"/>
            <a:ext cx="9144000" cy="38100"/>
          </a:xfrm>
          <a:prstGeom prst="rect">
            <a:avLst/>
          </a:prstGeom>
          <a:solidFill>
            <a:srgbClr val="277884"/>
          </a:solidFill>
          <a:ln/>
        </p:spPr>
        <p:txBody>
          <a:bodyPr wrap="square" rtlCol="0" anchor="ctr"/>
          <a:lstStyle/>
          <a:p>
            <a:pPr marL="0" indent="0">
              <a:buNone/>
            </a:pPr>
            <a:endParaRPr lang="en-US" dirty="0"/>
          </a:p>
        </p:txBody>
      </p:sp>
      <p:sp>
        <p:nvSpPr>
          <p:cNvPr id="5" name="Text 3"/>
          <p:cNvSpPr/>
          <p:nvPr/>
        </p:nvSpPr>
        <p:spPr>
          <a:xfrm>
            <a:off x="381000" y="1003102"/>
            <a:ext cx="4076700" cy="1066800"/>
          </a:xfrm>
          <a:prstGeom prst="rect">
            <a:avLst/>
          </a:prstGeom>
          <a:solidFill>
            <a:srgbClr val="E8F4F2"/>
          </a:solidFill>
          <a:ln/>
        </p:spPr>
        <p:txBody>
          <a:bodyPr wrap="square" rtlCol="0" anchor="ctr"/>
          <a:lstStyle/>
          <a:p>
            <a:pPr marL="0" indent="0">
              <a:buNone/>
            </a:pPr>
            <a:endParaRPr lang="en-US" dirty="0"/>
          </a:p>
        </p:txBody>
      </p:sp>
      <p:sp>
        <p:nvSpPr>
          <p:cNvPr id="6" name="Shape 4"/>
          <p:cNvSpPr/>
          <p:nvPr/>
        </p:nvSpPr>
        <p:spPr>
          <a:xfrm>
            <a:off x="404813" y="1003102"/>
            <a:ext cx="0" cy="1066800"/>
          </a:xfrm>
          <a:prstGeom prst="line">
            <a:avLst/>
          </a:prstGeom>
          <a:noFill/>
          <a:ln w="47625">
            <a:solidFill>
              <a:srgbClr val="277884"/>
            </a:solidFill>
            <a:prstDash val="solid"/>
          </a:ln>
        </p:spPr>
        <p:txBody>
          <a:bodyPr/>
          <a:lstStyle/>
          <a:p>
            <a:endParaRPr lang="en-US"/>
          </a:p>
        </p:txBody>
      </p:sp>
      <p:sp>
        <p:nvSpPr>
          <p:cNvPr id="7" name="Text 5"/>
          <p:cNvSpPr/>
          <p:nvPr/>
        </p:nvSpPr>
        <p:spPr>
          <a:xfrm>
            <a:off x="593675" y="1117402"/>
            <a:ext cx="3772954" cy="200025"/>
          </a:xfrm>
          <a:prstGeom prst="rect">
            <a:avLst/>
          </a:prstGeom>
          <a:noFill/>
          <a:ln/>
        </p:spPr>
        <p:txBody>
          <a:bodyPr wrap="square" lIns="0" tIns="0" rIns="0" bIns="0" rtlCol="0" anchor="t"/>
          <a:lstStyle/>
          <a:p>
            <a:pPr marL="0" indent="0" algn="l">
              <a:spcAft>
                <a:spcPts val="600"/>
              </a:spcAft>
              <a:buNone/>
            </a:pPr>
            <a:r>
              <a:rPr lang="en-US" sz="1300" b="1" dirty="0">
                <a:solidFill>
                  <a:srgbClr val="2C2C2C"/>
                </a:solidFill>
                <a:latin typeface="Arial" pitchFamily="34" charset="0"/>
                <a:ea typeface="Arial" pitchFamily="34" charset="-122"/>
                <a:cs typeface="Arial" pitchFamily="34" charset="-120"/>
              </a:rPr>
              <a:t>Definition.</a:t>
            </a:r>
            <a:r>
              <a:rPr lang="en-US" sz="1300" dirty="0">
                <a:solidFill>
                  <a:srgbClr val="2C2C2C"/>
                </a:solidFill>
                <a:latin typeface="Arial" pitchFamily="34" charset="0"/>
                <a:ea typeface="Arial" pitchFamily="34" charset="-122"/>
                <a:cs typeface="Arial" pitchFamily="34" charset="-120"/>
              </a:rPr>
              <a:t> An </a:t>
            </a:r>
            <a:r>
              <a:rPr lang="en-US" sz="1300" b="1" dirty="0">
                <a:solidFill>
                  <a:srgbClr val="2C2C2C"/>
                </a:solidFill>
                <a:latin typeface="Arial" pitchFamily="34" charset="0"/>
                <a:ea typeface="Arial" pitchFamily="34" charset="-122"/>
                <a:cs typeface="Arial" pitchFamily="34" charset="-120"/>
              </a:rPr>
              <a:t>agentic machine</a:t>
            </a:r>
            <a:r>
              <a:rPr lang="en-US" sz="1300" dirty="0">
                <a:solidFill>
                  <a:srgbClr val="2C2C2C"/>
                </a:solidFill>
                <a:latin typeface="Arial" pitchFamily="34" charset="0"/>
                <a:ea typeface="Arial" pitchFamily="34" charset="-122"/>
                <a:cs typeface="Arial" pitchFamily="34" charset="-120"/>
              </a:rPr>
              <a:t> </a:t>
            </a:r>
            <a:r>
              <a:rPr lang="en-US" sz="1300" i="1" dirty="0">
                <a:solidFill>
                  <a:srgbClr val="2C2C2C"/>
                </a:solidFill>
                <a:latin typeface="Arial" pitchFamily="34" charset="0"/>
                <a:ea typeface="Arial" pitchFamily="34" charset="-122"/>
                <a:cs typeface="Arial" pitchFamily="34" charset="-120"/>
              </a:rPr>
              <a:t>X</a:t>
            </a:r>
            <a:r>
              <a:rPr lang="en-US" sz="1300" dirty="0">
                <a:solidFill>
                  <a:srgbClr val="2C2C2C"/>
                </a:solidFill>
                <a:latin typeface="Arial" pitchFamily="34" charset="0"/>
                <a:ea typeface="Arial" pitchFamily="34" charset="-122"/>
                <a:cs typeface="Arial" pitchFamily="34" charset="-120"/>
              </a:rPr>
              <a:t> = (</a:t>
            </a:r>
            <a:r>
              <a:rPr lang="en-US" sz="1300" i="1" dirty="0">
                <a:solidFill>
                  <a:srgbClr val="2C2C2C"/>
                </a:solidFill>
                <a:latin typeface="Arial" pitchFamily="34" charset="0"/>
                <a:ea typeface="Arial" pitchFamily="34" charset="-122"/>
                <a:cs typeface="Arial" pitchFamily="34" charset="-120"/>
              </a:rPr>
              <a:t>S</a:t>
            </a:r>
            <a:r>
              <a:rPr lang="en-US" sz="1300" dirty="0">
                <a:solidFill>
                  <a:srgbClr val="2C2C2C"/>
                </a:solidFill>
                <a:latin typeface="Arial" pitchFamily="34" charset="0"/>
                <a:ea typeface="Arial" pitchFamily="34" charset="-122"/>
                <a:cs typeface="Arial" pitchFamily="34" charset="-120"/>
              </a:rPr>
              <a:t>, </a:t>
            </a:r>
            <a:r>
              <a:rPr lang="en-US" sz="1300" i="1" dirty="0">
                <a:solidFill>
                  <a:srgbClr val="2C2C2C"/>
                </a:solidFill>
                <a:latin typeface="Arial" pitchFamily="34" charset="0"/>
                <a:ea typeface="Arial" pitchFamily="34" charset="-122"/>
                <a:cs typeface="Arial" pitchFamily="34" charset="-120"/>
              </a:rPr>
              <a:t>p</a:t>
            </a:r>
            <a:r>
              <a:rPr lang="en-US" sz="1300" dirty="0">
                <a:solidFill>
                  <a:srgbClr val="2C2C2C"/>
                </a:solidFill>
                <a:latin typeface="Arial" pitchFamily="34" charset="0"/>
                <a:ea typeface="Arial" pitchFamily="34" charset="-122"/>
                <a:cs typeface="Arial" pitchFamily="34" charset="-120"/>
              </a:rPr>
              <a:t>, </a:t>
            </a:r>
            <a:r>
              <a:rPr lang="en-US" sz="1300" i="1" dirty="0">
                <a:solidFill>
                  <a:srgbClr val="2C2C2C"/>
                </a:solidFill>
                <a:latin typeface="Arial" pitchFamily="34" charset="0"/>
                <a:ea typeface="Arial" pitchFamily="34" charset="-122"/>
                <a:cs typeface="Arial" pitchFamily="34" charset="-120"/>
              </a:rPr>
              <a:t>h</a:t>
            </a:r>
            <a:r>
              <a:rPr lang="en-US" sz="1300" dirty="0">
                <a:solidFill>
                  <a:srgbClr val="2C2C2C"/>
                </a:solidFill>
                <a:latin typeface="Arial" pitchFamily="34" charset="0"/>
                <a:ea typeface="Arial" pitchFamily="34" charset="-122"/>
                <a:cs typeface="Arial" pitchFamily="34" charset="-120"/>
              </a:rPr>
              <a:t>):</a:t>
            </a:r>
            <a:endParaRPr lang="en-US" sz="1300" dirty="0"/>
          </a:p>
        </p:txBody>
      </p:sp>
      <p:sp>
        <p:nvSpPr>
          <p:cNvPr id="8" name="Text 6"/>
          <p:cNvSpPr/>
          <p:nvPr/>
        </p:nvSpPr>
        <p:spPr>
          <a:xfrm>
            <a:off x="593675" y="1393627"/>
            <a:ext cx="3698974" cy="523875"/>
          </a:xfrm>
          <a:prstGeom prst="rect">
            <a:avLst/>
          </a:prstGeom>
          <a:noFill/>
          <a:ln/>
        </p:spPr>
        <p:txBody>
          <a:bodyPr wrap="square" lIns="101600" tIns="0" rIns="0" bIns="0" rtlCol="0" anchor="t"/>
          <a:lstStyle/>
          <a:p>
            <a:pPr marL="101600" indent="-101600" algn="l">
              <a:buSzPct val="100000"/>
              <a:buChar char="•"/>
            </a:pPr>
            <a:r>
              <a:rPr lang="en-US" sz="1200" b="1" dirty="0">
                <a:solidFill>
                  <a:srgbClr val="2C2C2C"/>
                </a:solidFill>
                <a:latin typeface="Arial" pitchFamily="34" charset="0"/>
                <a:ea typeface="Arial" pitchFamily="34" charset="-122"/>
                <a:cs typeface="Arial" pitchFamily="34" charset="-120"/>
              </a:rPr>
              <a:t>State space</a:t>
            </a:r>
            <a:r>
              <a:rPr lang="en-US" sz="1200" dirty="0">
                <a:solidFill>
                  <a:srgbClr val="2C2C2C"/>
                </a:solidFill>
                <a:latin typeface="Arial" pitchFamily="34" charset="0"/>
                <a:ea typeface="Arial" pitchFamily="34" charset="-122"/>
                <a:cs typeface="Arial" pitchFamily="34" charset="-120"/>
              </a:rPr>
              <a:t> </a:t>
            </a:r>
            <a:r>
              <a:rPr lang="en-US" sz="1200" i="1" dirty="0">
                <a:solidFill>
                  <a:srgbClr val="2C2C2C"/>
                </a:solidFill>
                <a:latin typeface="Arial" pitchFamily="34" charset="0"/>
                <a:ea typeface="Arial" pitchFamily="34" charset="-122"/>
                <a:cs typeface="Arial" pitchFamily="34" charset="-120"/>
              </a:rPr>
              <a:t>S</a:t>
            </a:r>
            <a:endParaRPr lang="en-US" sz="1200" dirty="0"/>
          </a:p>
          <a:p>
            <a:pPr marL="101600" indent="-101600" algn="l">
              <a:buSzPct val="100000"/>
              <a:buChar char="•"/>
            </a:pPr>
            <a:r>
              <a:rPr lang="en-US" sz="1200" b="1" dirty="0">
                <a:solidFill>
                  <a:srgbClr val="2C2C2C"/>
                </a:solidFill>
                <a:latin typeface="Arial" pitchFamily="34" charset="0"/>
                <a:ea typeface="Arial" pitchFamily="34" charset="-122"/>
                <a:cs typeface="Arial" pitchFamily="34" charset="-120"/>
              </a:rPr>
              <a:t>Prompt function</a:t>
            </a:r>
            <a:r>
              <a:rPr lang="en-US" sz="1200" dirty="0">
                <a:solidFill>
                  <a:srgbClr val="2C2C2C"/>
                </a:solidFill>
                <a:latin typeface="Arial" pitchFamily="34" charset="0"/>
                <a:ea typeface="Arial" pitchFamily="34" charset="-122"/>
                <a:cs typeface="Arial" pitchFamily="34" charset="-120"/>
              </a:rPr>
              <a:t> </a:t>
            </a:r>
            <a:r>
              <a:rPr lang="en-US" sz="1200" i="1" dirty="0">
                <a:solidFill>
                  <a:srgbClr val="2C2C2C"/>
                </a:solidFill>
                <a:latin typeface="Arial" pitchFamily="34" charset="0"/>
                <a:ea typeface="Arial" pitchFamily="34" charset="-122"/>
                <a:cs typeface="Arial" pitchFamily="34" charset="-120"/>
              </a:rPr>
              <a:t>p</a:t>
            </a:r>
            <a:r>
              <a:rPr lang="en-US" sz="1200" dirty="0">
                <a:solidFill>
                  <a:srgbClr val="2C2C2C"/>
                </a:solidFill>
                <a:latin typeface="Arial" pitchFamily="34" charset="0"/>
                <a:ea typeface="Arial" pitchFamily="34" charset="-122"/>
                <a:cs typeface="Arial" pitchFamily="34" charset="-120"/>
              </a:rPr>
              <a:t> : </a:t>
            </a:r>
            <a:r>
              <a:rPr lang="en-US" sz="1200" i="1" dirty="0">
                <a:solidFill>
                  <a:srgbClr val="2C2C2C"/>
                </a:solidFill>
                <a:latin typeface="Arial" pitchFamily="34" charset="0"/>
                <a:ea typeface="Arial" pitchFamily="34" charset="-122"/>
                <a:cs typeface="Arial" pitchFamily="34" charset="-120"/>
              </a:rPr>
              <a:t>S</a:t>
            </a:r>
            <a:r>
              <a:rPr lang="en-US" sz="1200" dirty="0">
                <a:solidFill>
                  <a:srgbClr val="2C2C2C"/>
                </a:solidFill>
                <a:latin typeface="Arial" pitchFamily="34" charset="0"/>
                <a:ea typeface="Arial" pitchFamily="34" charset="-122"/>
                <a:cs typeface="Arial" pitchFamily="34" charset="-120"/>
              </a:rPr>
              <a:t> → </a:t>
            </a:r>
            <a:r>
              <a:rPr lang="en-US" sz="1200" i="1" dirty="0">
                <a:solidFill>
                  <a:srgbClr val="2C2C2C"/>
                </a:solidFill>
                <a:latin typeface="Arial" pitchFamily="34" charset="0"/>
                <a:ea typeface="Arial" pitchFamily="34" charset="-122"/>
                <a:cs typeface="Arial" pitchFamily="34" charset="-120"/>
              </a:rPr>
              <a:t>P</a:t>
            </a:r>
            <a:endParaRPr lang="en-US" sz="1200" dirty="0"/>
          </a:p>
          <a:p>
            <a:pPr marL="101600" indent="-101600" algn="l">
              <a:buSzPct val="100000"/>
              <a:buChar char="•"/>
            </a:pPr>
            <a:r>
              <a:rPr lang="en-US" sz="1200" b="1" dirty="0">
                <a:solidFill>
                  <a:srgbClr val="2C2C2C"/>
                </a:solidFill>
                <a:latin typeface="Arial" pitchFamily="34" charset="0"/>
                <a:ea typeface="Arial" pitchFamily="34" charset="-122"/>
                <a:cs typeface="Arial" pitchFamily="34" charset="-120"/>
              </a:rPr>
              <a:t>Harness function</a:t>
            </a:r>
            <a:r>
              <a:rPr lang="en-US" sz="1200" dirty="0">
                <a:solidFill>
                  <a:srgbClr val="2C2C2C"/>
                </a:solidFill>
                <a:latin typeface="Arial" pitchFamily="34" charset="0"/>
                <a:ea typeface="Arial" pitchFamily="34" charset="-122"/>
                <a:cs typeface="Arial" pitchFamily="34" charset="-120"/>
              </a:rPr>
              <a:t> </a:t>
            </a:r>
            <a:r>
              <a:rPr lang="en-US" sz="1200" i="1" dirty="0">
                <a:solidFill>
                  <a:srgbClr val="2C2C2C"/>
                </a:solidFill>
                <a:latin typeface="Arial" pitchFamily="34" charset="0"/>
                <a:ea typeface="Arial" pitchFamily="34" charset="-122"/>
                <a:cs typeface="Arial" pitchFamily="34" charset="-120"/>
              </a:rPr>
              <a:t>h</a:t>
            </a:r>
            <a:r>
              <a:rPr lang="en-US" sz="1200" dirty="0">
                <a:solidFill>
                  <a:srgbClr val="2C2C2C"/>
                </a:solidFill>
                <a:latin typeface="Arial" pitchFamily="34" charset="0"/>
                <a:ea typeface="Arial" pitchFamily="34" charset="-122"/>
                <a:cs typeface="Arial" pitchFamily="34" charset="-120"/>
              </a:rPr>
              <a:t> : </a:t>
            </a:r>
            <a:r>
              <a:rPr lang="en-US" sz="1200" i="1" dirty="0">
                <a:solidFill>
                  <a:srgbClr val="2C2C2C"/>
                </a:solidFill>
                <a:latin typeface="Arial" pitchFamily="34" charset="0"/>
                <a:ea typeface="Arial" pitchFamily="34" charset="-122"/>
                <a:cs typeface="Arial" pitchFamily="34" charset="-120"/>
              </a:rPr>
              <a:t>S</a:t>
            </a:r>
            <a:r>
              <a:rPr lang="en-US" sz="1200" dirty="0">
                <a:solidFill>
                  <a:srgbClr val="2C2C2C"/>
                </a:solidFill>
                <a:latin typeface="Arial" pitchFamily="34" charset="0"/>
                <a:ea typeface="Arial" pitchFamily="34" charset="-122"/>
                <a:cs typeface="Arial" pitchFamily="34" charset="-120"/>
              </a:rPr>
              <a:t> × </a:t>
            </a:r>
            <a:r>
              <a:rPr lang="en-US" sz="1200" i="1" dirty="0">
                <a:solidFill>
                  <a:srgbClr val="2C2C2C"/>
                </a:solidFill>
                <a:latin typeface="Arial" pitchFamily="34" charset="0"/>
                <a:ea typeface="Arial" pitchFamily="34" charset="-122"/>
                <a:cs typeface="Arial" pitchFamily="34" charset="-120"/>
              </a:rPr>
              <a:t>C</a:t>
            </a:r>
            <a:r>
              <a:rPr lang="en-US" sz="1200" dirty="0">
                <a:solidFill>
                  <a:srgbClr val="2C2C2C"/>
                </a:solidFill>
                <a:latin typeface="Arial" pitchFamily="34" charset="0"/>
                <a:ea typeface="Arial" pitchFamily="34" charset="-122"/>
                <a:cs typeface="Arial" pitchFamily="34" charset="-120"/>
              </a:rPr>
              <a:t> → </a:t>
            </a:r>
            <a:r>
              <a:rPr lang="en-US" sz="1200" i="1" dirty="0">
                <a:solidFill>
                  <a:srgbClr val="2C2C2C"/>
                </a:solidFill>
                <a:latin typeface="Arial" pitchFamily="34" charset="0"/>
                <a:ea typeface="Arial" pitchFamily="34" charset="-122"/>
                <a:cs typeface="Arial" pitchFamily="34" charset="-120"/>
              </a:rPr>
              <a:t>S</a:t>
            </a:r>
            <a:r>
              <a:rPr lang="en-US" sz="1200" dirty="0">
                <a:solidFill>
                  <a:srgbClr val="2C2C2C"/>
                </a:solidFill>
                <a:latin typeface="Arial" pitchFamily="34" charset="0"/>
                <a:ea typeface="Arial" pitchFamily="34" charset="-122"/>
                <a:cs typeface="Arial" pitchFamily="34" charset="-120"/>
              </a:rPr>
              <a:t> ∪ {halt, ↑}</a:t>
            </a:r>
            <a:endParaRPr lang="en-US" sz="1200" dirty="0"/>
          </a:p>
        </p:txBody>
      </p:sp>
      <p:sp>
        <p:nvSpPr>
          <p:cNvPr id="9" name="Text 7"/>
          <p:cNvSpPr/>
          <p:nvPr/>
        </p:nvSpPr>
        <p:spPr>
          <a:xfrm>
            <a:off x="381000" y="2171402"/>
            <a:ext cx="4158234" cy="514350"/>
          </a:xfrm>
          <a:prstGeom prst="rect">
            <a:avLst/>
          </a:prstGeom>
          <a:noFill/>
          <a:ln/>
        </p:spPr>
        <p:txBody>
          <a:bodyPr wrap="square" lIns="0" tIns="0" rIns="0" bIns="0" rtlCol="0" anchor="t"/>
          <a:lstStyle/>
          <a:p>
            <a:pPr marL="0" indent="0" algn="l">
              <a:spcBef>
                <a:spcPts val="800"/>
              </a:spcBef>
              <a:buNone/>
            </a:pPr>
            <a:r>
              <a:rPr lang="en-US" sz="1150" dirty="0">
                <a:solidFill>
                  <a:srgbClr val="444444"/>
                </a:solidFill>
                <a:latin typeface="Arial" pitchFamily="34" charset="0"/>
                <a:ea typeface="Arial" pitchFamily="34" charset="-122"/>
                <a:cs typeface="Arial" pitchFamily="34" charset="-120"/>
              </a:rPr>
              <a:t>Exactly </a:t>
            </a:r>
            <a:r>
              <a:rPr lang="en-US" sz="1150" b="1" dirty="0">
                <a:solidFill>
                  <a:srgbClr val="444444"/>
                </a:solidFill>
                <a:latin typeface="Arial" pitchFamily="34" charset="0"/>
                <a:ea typeface="Arial" pitchFamily="34" charset="-122"/>
                <a:cs typeface="Arial" pitchFamily="34" charset="-120"/>
              </a:rPr>
              <a:t>one model call</a:t>
            </a:r>
            <a:r>
              <a:rPr lang="en-US" sz="1150" dirty="0">
                <a:solidFill>
                  <a:srgbClr val="444444"/>
                </a:solidFill>
                <a:latin typeface="Arial" pitchFamily="34" charset="0"/>
                <a:ea typeface="Arial" pitchFamily="34" charset="-122"/>
                <a:cs typeface="Arial" pitchFamily="34" charset="-120"/>
              </a:rPr>
              <a:t> per state transition. The machine constructs a prompt, the model returns a completion, and the harness computes the next state.</a:t>
            </a:r>
            <a:endParaRPr lang="en-US" sz="1150" dirty="0"/>
          </a:p>
        </p:txBody>
      </p:sp>
      <p:pic>
        <p:nvPicPr>
          <p:cNvPr id="10" name="Image 0" descr="/Users/lukeoconnor/Dropbox/GitHub/spell/workspace/theory-slides/img/agentic-machine.png"/>
          <p:cNvPicPr>
            <a:picLocks noChangeAspect="1"/>
          </p:cNvPicPr>
          <p:nvPr/>
        </p:nvPicPr>
        <p:blipFill>
          <a:blip r:embed="rId3"/>
          <a:stretch>
            <a:fillRect/>
          </a:stretch>
        </p:blipFill>
        <p:spPr>
          <a:xfrm>
            <a:off x="4756100" y="2003078"/>
            <a:ext cx="3936950" cy="1911697"/>
          </a:xfrm>
          <a:prstGeom prst="rect">
            <a:avLst/>
          </a:prstGeom>
        </p:spPr>
      </p:pic>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0" y="0"/>
            <a:ext cx="9144000" cy="711101"/>
          </a:xfrm>
          <a:prstGeom prst="rect">
            <a:avLst/>
          </a:prstGeom>
          <a:solidFill>
            <a:srgbClr val="1B2838"/>
          </a:solidFill>
          <a:ln/>
        </p:spPr>
        <p:txBody>
          <a:bodyPr wrap="square" rtlCol="0" anchor="ctr"/>
          <a:lstStyle/>
          <a:p>
            <a:pPr marL="0" indent="0">
              <a:buNone/>
            </a:pPr>
            <a:endParaRPr lang="en-US" dirty="0"/>
          </a:p>
        </p:txBody>
      </p:sp>
      <p:sp>
        <p:nvSpPr>
          <p:cNvPr id="3" name="Text 1"/>
          <p:cNvSpPr/>
          <p:nvPr/>
        </p:nvSpPr>
        <p:spPr>
          <a:xfrm>
            <a:off x="381000" y="203150"/>
            <a:ext cx="1632356" cy="304800"/>
          </a:xfrm>
          <a:prstGeom prst="rect">
            <a:avLst/>
          </a:prstGeom>
          <a:noFill/>
          <a:ln/>
        </p:spPr>
        <p:txBody>
          <a:bodyPr wrap="square" lIns="0" tIns="0" rIns="0" bIns="0" rtlCol="0" anchor="t"/>
          <a:lstStyle/>
          <a:p>
            <a:pPr marL="0" indent="0" algn="l">
              <a:buNone/>
            </a:pPr>
            <a:r>
              <a:rPr lang="en-US" sz="2100" b="1" dirty="0">
                <a:solidFill>
                  <a:srgbClr val="FFFFFF"/>
                </a:solidFill>
                <a:latin typeface="Arial" pitchFamily="34" charset="0"/>
                <a:ea typeface="Arial" pitchFamily="34" charset="-122"/>
                <a:cs typeface="Arial" pitchFamily="34" charset="-120"/>
              </a:rPr>
              <a:t>Embeddings</a:t>
            </a:r>
            <a:endParaRPr lang="en-US" sz="2100" dirty="0"/>
          </a:p>
        </p:txBody>
      </p:sp>
      <p:sp>
        <p:nvSpPr>
          <p:cNvPr id="4" name="Text 2"/>
          <p:cNvSpPr/>
          <p:nvPr/>
        </p:nvSpPr>
        <p:spPr>
          <a:xfrm>
            <a:off x="0" y="711101"/>
            <a:ext cx="9144000" cy="38100"/>
          </a:xfrm>
          <a:prstGeom prst="rect">
            <a:avLst/>
          </a:prstGeom>
          <a:solidFill>
            <a:srgbClr val="277884"/>
          </a:solidFill>
          <a:ln/>
        </p:spPr>
        <p:txBody>
          <a:bodyPr wrap="square" rtlCol="0" anchor="ctr"/>
          <a:lstStyle/>
          <a:p>
            <a:pPr marL="0" indent="0">
              <a:buNone/>
            </a:pPr>
            <a:endParaRPr lang="en-US" dirty="0"/>
          </a:p>
        </p:txBody>
      </p:sp>
      <p:sp>
        <p:nvSpPr>
          <p:cNvPr id="5" name="Text 3"/>
          <p:cNvSpPr/>
          <p:nvPr/>
        </p:nvSpPr>
        <p:spPr>
          <a:xfrm>
            <a:off x="381000" y="1003102"/>
            <a:ext cx="8382000" cy="571500"/>
          </a:xfrm>
          <a:prstGeom prst="rect">
            <a:avLst/>
          </a:prstGeom>
          <a:solidFill>
            <a:srgbClr val="E8F4F2"/>
          </a:solidFill>
          <a:ln/>
        </p:spPr>
        <p:txBody>
          <a:bodyPr wrap="square" rtlCol="0" anchor="ctr"/>
          <a:lstStyle/>
          <a:p>
            <a:pPr marL="0" indent="0">
              <a:buNone/>
            </a:pPr>
            <a:endParaRPr lang="en-US" dirty="0"/>
          </a:p>
        </p:txBody>
      </p:sp>
      <p:sp>
        <p:nvSpPr>
          <p:cNvPr id="6" name="Shape 4"/>
          <p:cNvSpPr/>
          <p:nvPr/>
        </p:nvSpPr>
        <p:spPr>
          <a:xfrm>
            <a:off x="404813" y="1003102"/>
            <a:ext cx="0" cy="571500"/>
          </a:xfrm>
          <a:prstGeom prst="line">
            <a:avLst/>
          </a:prstGeom>
          <a:noFill/>
          <a:ln w="47625">
            <a:solidFill>
              <a:srgbClr val="277884"/>
            </a:solidFill>
            <a:prstDash val="solid"/>
          </a:ln>
        </p:spPr>
        <p:txBody>
          <a:bodyPr/>
          <a:lstStyle/>
          <a:p>
            <a:endParaRPr lang="en-US"/>
          </a:p>
        </p:txBody>
      </p:sp>
      <p:sp>
        <p:nvSpPr>
          <p:cNvPr id="7" name="Text 5"/>
          <p:cNvSpPr/>
          <p:nvPr/>
        </p:nvSpPr>
        <p:spPr>
          <a:xfrm>
            <a:off x="593675" y="1117402"/>
            <a:ext cx="8164360" cy="342900"/>
          </a:xfrm>
          <a:prstGeom prst="rect">
            <a:avLst/>
          </a:prstGeom>
          <a:noFill/>
          <a:ln/>
        </p:spPr>
        <p:txBody>
          <a:bodyPr wrap="square" lIns="0" tIns="0" rIns="0" bIns="0" rtlCol="0" anchor="t"/>
          <a:lstStyle/>
          <a:p>
            <a:pPr marL="0" indent="0" algn="l">
              <a:buNone/>
            </a:pPr>
            <a:r>
              <a:rPr lang="en-US" sz="1200" b="1" dirty="0">
                <a:solidFill>
                  <a:srgbClr val="2C2C2C"/>
                </a:solidFill>
                <a:latin typeface="Arial" pitchFamily="34" charset="0"/>
                <a:ea typeface="Arial" pitchFamily="34" charset="-122"/>
                <a:cs typeface="Arial" pitchFamily="34" charset="-120"/>
              </a:rPr>
              <a:t>Definition.</a:t>
            </a:r>
            <a:r>
              <a:rPr lang="en-US" sz="1200" dirty="0">
                <a:solidFill>
                  <a:srgbClr val="2C2C2C"/>
                </a:solidFill>
                <a:latin typeface="Arial" pitchFamily="34" charset="0"/>
                <a:ea typeface="Arial" pitchFamily="34" charset="-122"/>
                <a:cs typeface="Arial" pitchFamily="34" charset="-120"/>
              </a:rPr>
              <a:t> An </a:t>
            </a:r>
            <a:r>
              <a:rPr lang="en-US" sz="1200" b="1" dirty="0">
                <a:solidFill>
                  <a:srgbClr val="2C2C2C"/>
                </a:solidFill>
                <a:latin typeface="Arial" pitchFamily="34" charset="0"/>
                <a:ea typeface="Arial" pitchFamily="34" charset="-122"/>
                <a:cs typeface="Arial" pitchFamily="34" charset="-120"/>
              </a:rPr>
              <a:t>embedding</a:t>
            </a:r>
            <a:r>
              <a:rPr lang="en-US" sz="1200" dirty="0">
                <a:solidFill>
                  <a:srgbClr val="2C2C2C"/>
                </a:solidFill>
                <a:latin typeface="Arial" pitchFamily="34" charset="0"/>
                <a:ea typeface="Arial" pitchFamily="34" charset="-122"/>
                <a:cs typeface="Arial" pitchFamily="34" charset="-120"/>
              </a:rPr>
              <a:t> </a:t>
            </a:r>
            <a:r>
              <a:rPr lang="en-US" sz="1200" i="1" dirty="0">
                <a:solidFill>
                  <a:srgbClr val="2C2C2C"/>
                </a:solidFill>
                <a:latin typeface="Arial" pitchFamily="34" charset="0"/>
                <a:ea typeface="Arial" pitchFamily="34" charset="-122"/>
                <a:cs typeface="Arial" pitchFamily="34" charset="-120"/>
              </a:rPr>
              <a:t>e</a:t>
            </a:r>
            <a:r>
              <a:rPr lang="en-US" sz="1200" dirty="0">
                <a:solidFill>
                  <a:srgbClr val="2C2C2C"/>
                </a:solidFill>
                <a:latin typeface="Arial" pitchFamily="34" charset="0"/>
                <a:ea typeface="Arial" pitchFamily="34" charset="-122"/>
                <a:cs typeface="Arial" pitchFamily="34" charset="-120"/>
              </a:rPr>
              <a:t> : </a:t>
            </a:r>
            <a:r>
              <a:rPr lang="en-US" sz="1200" i="1" dirty="0">
                <a:solidFill>
                  <a:srgbClr val="2C2C2C"/>
                </a:solidFill>
                <a:latin typeface="Arial" pitchFamily="34" charset="0"/>
                <a:ea typeface="Arial" pitchFamily="34" charset="-122"/>
                <a:cs typeface="Arial" pitchFamily="34" charset="-120"/>
              </a:rPr>
              <a:t>S′</a:t>
            </a:r>
            <a:r>
              <a:rPr lang="en-US" sz="1200" dirty="0">
                <a:solidFill>
                  <a:srgbClr val="2C2C2C"/>
                </a:solidFill>
                <a:latin typeface="Arial" pitchFamily="34" charset="0"/>
                <a:ea typeface="Arial" pitchFamily="34" charset="-122"/>
                <a:cs typeface="Arial" pitchFamily="34" charset="-120"/>
              </a:rPr>
              <a:t> → </a:t>
            </a:r>
            <a:r>
              <a:rPr lang="en-US" sz="1200" i="1" dirty="0">
                <a:solidFill>
                  <a:srgbClr val="2C2C2C"/>
                </a:solidFill>
                <a:latin typeface="Arial" pitchFamily="34" charset="0"/>
                <a:ea typeface="Arial" pitchFamily="34" charset="-122"/>
                <a:cs typeface="Arial" pitchFamily="34" charset="-120"/>
              </a:rPr>
              <a:t>S</a:t>
            </a:r>
            <a:r>
              <a:rPr lang="en-US" sz="1200" dirty="0">
                <a:solidFill>
                  <a:srgbClr val="2C2C2C"/>
                </a:solidFill>
                <a:latin typeface="Arial" pitchFamily="34" charset="0"/>
                <a:ea typeface="Arial" pitchFamily="34" charset="-122"/>
                <a:cs typeface="Arial" pitchFamily="34" charset="-120"/>
              </a:rPr>
              <a:t> is an injection with: </a:t>
            </a:r>
            <a:r>
              <a:rPr lang="en-US" sz="1200" b="1" dirty="0">
                <a:solidFill>
                  <a:srgbClr val="2C2C2C"/>
                </a:solidFill>
                <a:latin typeface="Arial" pitchFamily="34" charset="0"/>
                <a:ea typeface="Arial" pitchFamily="34" charset="-122"/>
                <a:cs typeface="Arial" pitchFamily="34" charset="-120"/>
              </a:rPr>
              <a:t>prompt preservation</a:t>
            </a:r>
            <a:r>
              <a:rPr lang="en-US" sz="1200" dirty="0">
                <a:solidFill>
                  <a:srgbClr val="2C2C2C"/>
                </a:solidFill>
                <a:latin typeface="Arial" pitchFamily="34" charset="0"/>
                <a:ea typeface="Arial" pitchFamily="34" charset="-122"/>
                <a:cs typeface="Arial" pitchFamily="34" charset="-120"/>
              </a:rPr>
              <a:t> </a:t>
            </a:r>
            <a:r>
              <a:rPr lang="en-US" sz="1200" i="1" dirty="0">
                <a:solidFill>
                  <a:srgbClr val="2C2C2C"/>
                </a:solidFill>
                <a:latin typeface="Arial" pitchFamily="34" charset="0"/>
                <a:ea typeface="Arial" pitchFamily="34" charset="-122"/>
                <a:cs typeface="Arial" pitchFamily="34" charset="-120"/>
              </a:rPr>
              <a:t>p</a:t>
            </a:r>
            <a:r>
              <a:rPr lang="en-US" sz="1200" dirty="0">
                <a:solidFill>
                  <a:srgbClr val="2C2C2C"/>
                </a:solidFill>
                <a:latin typeface="Arial" pitchFamily="34" charset="0"/>
                <a:ea typeface="Arial" pitchFamily="34" charset="-122"/>
                <a:cs typeface="Arial" pitchFamily="34" charset="-120"/>
              </a:rPr>
              <a:t>(</a:t>
            </a:r>
            <a:r>
              <a:rPr lang="en-US" sz="1200" i="1" dirty="0">
                <a:solidFill>
                  <a:srgbClr val="2C2C2C"/>
                </a:solidFill>
                <a:latin typeface="Arial" pitchFamily="34" charset="0"/>
                <a:ea typeface="Arial" pitchFamily="34" charset="-122"/>
                <a:cs typeface="Arial" pitchFamily="34" charset="-120"/>
              </a:rPr>
              <a:t>e</a:t>
            </a:r>
            <a:r>
              <a:rPr lang="en-US" sz="1200" dirty="0">
                <a:solidFill>
                  <a:srgbClr val="2C2C2C"/>
                </a:solidFill>
                <a:latin typeface="Arial" pitchFamily="34" charset="0"/>
                <a:ea typeface="Arial" pitchFamily="34" charset="-122"/>
                <a:cs typeface="Arial" pitchFamily="34" charset="-120"/>
              </a:rPr>
              <a:t>(</a:t>
            </a:r>
            <a:r>
              <a:rPr lang="en-US" sz="1200" i="1" dirty="0">
                <a:solidFill>
                  <a:srgbClr val="2C2C2C"/>
                </a:solidFill>
                <a:latin typeface="Arial" pitchFamily="34" charset="0"/>
                <a:ea typeface="Arial" pitchFamily="34" charset="-122"/>
                <a:cs typeface="Arial" pitchFamily="34" charset="-120"/>
              </a:rPr>
              <a:t>s′</a:t>
            </a:r>
            <a:r>
              <a:rPr lang="en-US" sz="1200" dirty="0">
                <a:solidFill>
                  <a:srgbClr val="2C2C2C"/>
                </a:solidFill>
                <a:latin typeface="Arial" pitchFamily="34" charset="0"/>
                <a:ea typeface="Arial" pitchFamily="34" charset="-122"/>
                <a:cs typeface="Arial" pitchFamily="34" charset="-120"/>
              </a:rPr>
              <a:t>)) = </a:t>
            </a:r>
            <a:r>
              <a:rPr lang="en-US" sz="1200" i="1" dirty="0">
                <a:solidFill>
                  <a:srgbClr val="2C2C2C"/>
                </a:solidFill>
                <a:latin typeface="Arial" pitchFamily="34" charset="0"/>
                <a:ea typeface="Arial" pitchFamily="34" charset="-122"/>
                <a:cs typeface="Arial" pitchFamily="34" charset="-120"/>
              </a:rPr>
              <a:t>p′</a:t>
            </a:r>
            <a:r>
              <a:rPr lang="en-US" sz="1200" dirty="0">
                <a:solidFill>
                  <a:srgbClr val="2C2C2C"/>
                </a:solidFill>
                <a:latin typeface="Arial" pitchFamily="34" charset="0"/>
                <a:ea typeface="Arial" pitchFamily="34" charset="-122"/>
                <a:cs typeface="Arial" pitchFamily="34" charset="-120"/>
              </a:rPr>
              <a:t>(</a:t>
            </a:r>
            <a:r>
              <a:rPr lang="en-US" sz="1200" i="1" dirty="0">
                <a:solidFill>
                  <a:srgbClr val="2C2C2C"/>
                </a:solidFill>
                <a:latin typeface="Arial" pitchFamily="34" charset="0"/>
                <a:ea typeface="Arial" pitchFamily="34" charset="-122"/>
                <a:cs typeface="Arial" pitchFamily="34" charset="-120"/>
              </a:rPr>
              <a:t>s′</a:t>
            </a:r>
            <a:r>
              <a:rPr lang="en-US" sz="1200" dirty="0">
                <a:solidFill>
                  <a:srgbClr val="2C2C2C"/>
                </a:solidFill>
                <a:latin typeface="Arial" pitchFamily="34" charset="0"/>
                <a:ea typeface="Arial" pitchFamily="34" charset="-122"/>
                <a:cs typeface="Arial" pitchFamily="34" charset="-120"/>
              </a:rPr>
              <a:t>) and </a:t>
            </a:r>
            <a:r>
              <a:rPr lang="en-US" sz="1200" b="1" dirty="0">
                <a:solidFill>
                  <a:srgbClr val="2C2C2C"/>
                </a:solidFill>
                <a:latin typeface="Arial" pitchFamily="34" charset="0"/>
                <a:ea typeface="Arial" pitchFamily="34" charset="-122"/>
                <a:cs typeface="Arial" pitchFamily="34" charset="-120"/>
              </a:rPr>
              <a:t>transition commutation</a:t>
            </a:r>
            <a:r>
              <a:rPr lang="en-US" sz="1200" dirty="0">
                <a:solidFill>
                  <a:srgbClr val="2C2C2C"/>
                </a:solidFill>
                <a:latin typeface="Arial" pitchFamily="34" charset="0"/>
                <a:ea typeface="Arial" pitchFamily="34" charset="-122"/>
                <a:cs typeface="Arial" pitchFamily="34" charset="-120"/>
              </a:rPr>
              <a:t> </a:t>
            </a:r>
            <a:r>
              <a:rPr lang="en-US" sz="1200" i="1" dirty="0">
                <a:solidFill>
                  <a:srgbClr val="2C2C2C"/>
                </a:solidFill>
                <a:latin typeface="Arial" pitchFamily="34" charset="0"/>
                <a:ea typeface="Arial" pitchFamily="34" charset="-122"/>
                <a:cs typeface="Arial" pitchFamily="34" charset="-120"/>
              </a:rPr>
              <a:t>h</a:t>
            </a:r>
            <a:r>
              <a:rPr lang="en-US" sz="1200" dirty="0">
                <a:solidFill>
                  <a:srgbClr val="2C2C2C"/>
                </a:solidFill>
                <a:latin typeface="Arial" pitchFamily="34" charset="0"/>
                <a:ea typeface="Arial" pitchFamily="34" charset="-122"/>
                <a:cs typeface="Arial" pitchFamily="34" charset="-120"/>
              </a:rPr>
              <a:t>(</a:t>
            </a:r>
            <a:r>
              <a:rPr lang="en-US" sz="1200" i="1" dirty="0">
                <a:solidFill>
                  <a:srgbClr val="2C2C2C"/>
                </a:solidFill>
                <a:latin typeface="Arial" pitchFamily="34" charset="0"/>
                <a:ea typeface="Arial" pitchFamily="34" charset="-122"/>
                <a:cs typeface="Arial" pitchFamily="34" charset="-120"/>
              </a:rPr>
              <a:t>e</a:t>
            </a:r>
            <a:r>
              <a:rPr lang="en-US" sz="1200" dirty="0">
                <a:solidFill>
                  <a:srgbClr val="2C2C2C"/>
                </a:solidFill>
                <a:latin typeface="Arial" pitchFamily="34" charset="0"/>
                <a:ea typeface="Arial" pitchFamily="34" charset="-122"/>
                <a:cs typeface="Arial" pitchFamily="34" charset="-120"/>
              </a:rPr>
              <a:t>(</a:t>
            </a:r>
            <a:r>
              <a:rPr lang="en-US" sz="1200" i="1" dirty="0">
                <a:solidFill>
                  <a:srgbClr val="2C2C2C"/>
                </a:solidFill>
                <a:latin typeface="Arial" pitchFamily="34" charset="0"/>
                <a:ea typeface="Arial" pitchFamily="34" charset="-122"/>
                <a:cs typeface="Arial" pitchFamily="34" charset="-120"/>
              </a:rPr>
              <a:t>s′</a:t>
            </a:r>
            <a:r>
              <a:rPr lang="en-US" sz="1200" dirty="0">
                <a:solidFill>
                  <a:srgbClr val="2C2C2C"/>
                </a:solidFill>
                <a:latin typeface="Arial" pitchFamily="34" charset="0"/>
                <a:ea typeface="Arial" pitchFamily="34" charset="-122"/>
                <a:cs typeface="Arial" pitchFamily="34" charset="-120"/>
              </a:rPr>
              <a:t>), </a:t>
            </a:r>
            <a:r>
              <a:rPr lang="en-US" sz="1200" i="1" dirty="0">
                <a:solidFill>
                  <a:srgbClr val="2C2C2C"/>
                </a:solidFill>
                <a:latin typeface="Arial" pitchFamily="34" charset="0"/>
                <a:ea typeface="Arial" pitchFamily="34" charset="-122"/>
                <a:cs typeface="Arial" pitchFamily="34" charset="-120"/>
              </a:rPr>
              <a:t>c</a:t>
            </a:r>
            <a:r>
              <a:rPr lang="en-US" sz="1200" dirty="0">
                <a:solidFill>
                  <a:srgbClr val="2C2C2C"/>
                </a:solidFill>
                <a:latin typeface="Arial" pitchFamily="34" charset="0"/>
                <a:ea typeface="Arial" pitchFamily="34" charset="-122"/>
                <a:cs typeface="Arial" pitchFamily="34" charset="-120"/>
              </a:rPr>
              <a:t>) = </a:t>
            </a:r>
            <a:r>
              <a:rPr lang="en-US" sz="1200" i="1" dirty="0">
                <a:solidFill>
                  <a:srgbClr val="2C2C2C"/>
                </a:solidFill>
                <a:latin typeface="Arial" pitchFamily="34" charset="0"/>
                <a:ea typeface="Arial" pitchFamily="34" charset="-122"/>
                <a:cs typeface="Arial" pitchFamily="34" charset="-120"/>
              </a:rPr>
              <a:t>e</a:t>
            </a:r>
            <a:r>
              <a:rPr lang="en-US" sz="1200" dirty="0">
                <a:solidFill>
                  <a:srgbClr val="2C2C2C"/>
                </a:solidFill>
                <a:latin typeface="Arial" pitchFamily="34" charset="0"/>
                <a:ea typeface="Arial" pitchFamily="34" charset="-122"/>
                <a:cs typeface="Arial" pitchFamily="34" charset="-120"/>
              </a:rPr>
              <a:t>(</a:t>
            </a:r>
            <a:r>
              <a:rPr lang="en-US" sz="1200" i="1" dirty="0">
                <a:solidFill>
                  <a:srgbClr val="2C2C2C"/>
                </a:solidFill>
                <a:latin typeface="Arial" pitchFamily="34" charset="0"/>
                <a:ea typeface="Arial" pitchFamily="34" charset="-122"/>
                <a:cs typeface="Arial" pitchFamily="34" charset="-120"/>
              </a:rPr>
              <a:t>h′</a:t>
            </a:r>
            <a:r>
              <a:rPr lang="en-US" sz="1200" dirty="0">
                <a:solidFill>
                  <a:srgbClr val="2C2C2C"/>
                </a:solidFill>
                <a:latin typeface="Arial" pitchFamily="34" charset="0"/>
                <a:ea typeface="Arial" pitchFamily="34" charset="-122"/>
                <a:cs typeface="Arial" pitchFamily="34" charset="-120"/>
              </a:rPr>
              <a:t>(</a:t>
            </a:r>
            <a:r>
              <a:rPr lang="en-US" sz="1200" i="1" dirty="0">
                <a:solidFill>
                  <a:srgbClr val="2C2C2C"/>
                </a:solidFill>
                <a:latin typeface="Arial" pitchFamily="34" charset="0"/>
                <a:ea typeface="Arial" pitchFamily="34" charset="-122"/>
                <a:cs typeface="Arial" pitchFamily="34" charset="-120"/>
              </a:rPr>
              <a:t>s′</a:t>
            </a:r>
            <a:r>
              <a:rPr lang="en-US" sz="1200" dirty="0">
                <a:solidFill>
                  <a:srgbClr val="2C2C2C"/>
                </a:solidFill>
                <a:latin typeface="Arial" pitchFamily="34" charset="0"/>
                <a:ea typeface="Arial" pitchFamily="34" charset="-122"/>
                <a:cs typeface="Arial" pitchFamily="34" charset="-120"/>
              </a:rPr>
              <a:t>, </a:t>
            </a:r>
            <a:r>
              <a:rPr lang="en-US" sz="1200" i="1" dirty="0">
                <a:solidFill>
                  <a:srgbClr val="2C2C2C"/>
                </a:solidFill>
                <a:latin typeface="Arial" pitchFamily="34" charset="0"/>
                <a:ea typeface="Arial" pitchFamily="34" charset="-122"/>
                <a:cs typeface="Arial" pitchFamily="34" charset="-120"/>
              </a:rPr>
              <a:t>c</a:t>
            </a:r>
            <a:r>
              <a:rPr lang="en-US" sz="1200" dirty="0">
                <a:solidFill>
                  <a:srgbClr val="2C2C2C"/>
                </a:solidFill>
                <a:latin typeface="Arial" pitchFamily="34" charset="0"/>
                <a:ea typeface="Arial" pitchFamily="34" charset="-122"/>
                <a:cs typeface="Arial" pitchFamily="34" charset="-120"/>
              </a:rPr>
              <a:t>))</a:t>
            </a:r>
            <a:endParaRPr lang="en-US" sz="1200" dirty="0"/>
          </a:p>
        </p:txBody>
      </p:sp>
      <p:pic>
        <p:nvPicPr>
          <p:cNvPr id="8" name="Image 0" descr="/Users/lukeoconnor/Dropbox/GitHub/spell/workspace/theory-slides/img/embedding.png"/>
          <p:cNvPicPr>
            <a:picLocks noChangeAspect="1"/>
          </p:cNvPicPr>
          <p:nvPr/>
        </p:nvPicPr>
        <p:blipFill>
          <a:blip r:embed="rId3"/>
          <a:stretch>
            <a:fillRect/>
          </a:stretch>
        </p:blipFill>
        <p:spPr>
          <a:xfrm>
            <a:off x="2095500" y="1650802"/>
            <a:ext cx="4953000" cy="3095625"/>
          </a:xfrm>
          <a:prstGeom prst="rect">
            <a:avLst/>
          </a:prstGeom>
        </p:spPr>
      </p:pic>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0" y="0"/>
            <a:ext cx="9144000" cy="711101"/>
          </a:xfrm>
          <a:prstGeom prst="rect">
            <a:avLst/>
          </a:prstGeom>
          <a:solidFill>
            <a:srgbClr val="1B2838"/>
          </a:solidFill>
          <a:ln/>
        </p:spPr>
        <p:txBody>
          <a:bodyPr wrap="square" rtlCol="0" anchor="ctr"/>
          <a:lstStyle/>
          <a:p>
            <a:pPr marL="0" indent="0">
              <a:buNone/>
            </a:pPr>
            <a:endParaRPr lang="en-US" dirty="0"/>
          </a:p>
        </p:txBody>
      </p:sp>
      <p:sp>
        <p:nvSpPr>
          <p:cNvPr id="3" name="Text 1"/>
          <p:cNvSpPr/>
          <p:nvPr/>
        </p:nvSpPr>
        <p:spPr>
          <a:xfrm>
            <a:off x="381000" y="203150"/>
            <a:ext cx="2796546" cy="304800"/>
          </a:xfrm>
          <a:prstGeom prst="rect">
            <a:avLst/>
          </a:prstGeom>
          <a:noFill/>
          <a:ln/>
        </p:spPr>
        <p:txBody>
          <a:bodyPr wrap="square" lIns="0" tIns="0" rIns="0" bIns="0" rtlCol="0" anchor="t"/>
          <a:lstStyle/>
          <a:p>
            <a:pPr marL="0" indent="0" algn="l">
              <a:buNone/>
            </a:pPr>
            <a:r>
              <a:rPr lang="en-US" sz="2100" b="1" dirty="0">
                <a:solidFill>
                  <a:srgbClr val="FFFFFF"/>
                </a:solidFill>
                <a:latin typeface="Arial" pitchFamily="34" charset="0"/>
                <a:ea typeface="Arial" pitchFamily="34" charset="-122"/>
                <a:cs typeface="Arial" pitchFamily="34" charset="-120"/>
              </a:rPr>
              <a:t>Invisible Embeddings</a:t>
            </a:r>
            <a:endParaRPr lang="en-US" sz="2100" dirty="0"/>
          </a:p>
        </p:txBody>
      </p:sp>
      <p:sp>
        <p:nvSpPr>
          <p:cNvPr id="4" name="Text 2"/>
          <p:cNvSpPr/>
          <p:nvPr/>
        </p:nvSpPr>
        <p:spPr>
          <a:xfrm>
            <a:off x="0" y="711101"/>
            <a:ext cx="9144000" cy="38100"/>
          </a:xfrm>
          <a:prstGeom prst="rect">
            <a:avLst/>
          </a:prstGeom>
          <a:solidFill>
            <a:srgbClr val="277884"/>
          </a:solidFill>
          <a:ln/>
        </p:spPr>
        <p:txBody>
          <a:bodyPr wrap="square" rtlCol="0" anchor="ctr"/>
          <a:lstStyle/>
          <a:p>
            <a:pPr marL="0" indent="0">
              <a:buNone/>
            </a:pPr>
            <a:endParaRPr lang="en-US" dirty="0"/>
          </a:p>
        </p:txBody>
      </p:sp>
      <p:sp>
        <p:nvSpPr>
          <p:cNvPr id="5" name="Text 3"/>
          <p:cNvSpPr/>
          <p:nvPr/>
        </p:nvSpPr>
        <p:spPr>
          <a:xfrm>
            <a:off x="381000" y="1003102"/>
            <a:ext cx="8382000" cy="949226"/>
          </a:xfrm>
          <a:prstGeom prst="rect">
            <a:avLst/>
          </a:prstGeom>
          <a:solidFill>
            <a:srgbClr val="FFF8F0"/>
          </a:solidFill>
          <a:ln/>
        </p:spPr>
        <p:txBody>
          <a:bodyPr wrap="square" rtlCol="0" anchor="ctr"/>
          <a:lstStyle/>
          <a:p>
            <a:pPr marL="0" indent="0">
              <a:buNone/>
            </a:pPr>
            <a:endParaRPr lang="en-US" dirty="0"/>
          </a:p>
        </p:txBody>
      </p:sp>
      <p:sp>
        <p:nvSpPr>
          <p:cNvPr id="6" name="Shape 4"/>
          <p:cNvSpPr/>
          <p:nvPr/>
        </p:nvSpPr>
        <p:spPr>
          <a:xfrm>
            <a:off x="404813" y="1003102"/>
            <a:ext cx="0" cy="949226"/>
          </a:xfrm>
          <a:prstGeom prst="line">
            <a:avLst/>
          </a:prstGeom>
          <a:noFill/>
          <a:ln w="47625">
            <a:solidFill>
              <a:srgbClr val="D4A843"/>
            </a:solidFill>
            <a:prstDash val="solid"/>
          </a:ln>
        </p:spPr>
        <p:txBody>
          <a:bodyPr/>
          <a:lstStyle/>
          <a:p>
            <a:endParaRPr lang="en-US"/>
          </a:p>
        </p:txBody>
      </p:sp>
      <p:sp>
        <p:nvSpPr>
          <p:cNvPr id="7" name="Text 5"/>
          <p:cNvSpPr/>
          <p:nvPr/>
        </p:nvSpPr>
        <p:spPr>
          <a:xfrm>
            <a:off x="593675" y="1117402"/>
            <a:ext cx="8164360" cy="219075"/>
          </a:xfrm>
          <a:prstGeom prst="rect">
            <a:avLst/>
          </a:prstGeom>
          <a:noFill/>
          <a:ln/>
        </p:spPr>
        <p:txBody>
          <a:bodyPr wrap="square" lIns="0" tIns="0" rIns="0" bIns="0" rtlCol="0" anchor="t"/>
          <a:lstStyle/>
          <a:p>
            <a:pPr marL="0" indent="0" algn="l">
              <a:spcAft>
                <a:spcPts val="800"/>
              </a:spcAft>
              <a:buNone/>
            </a:pPr>
            <a:r>
              <a:rPr lang="en-US" sz="1500" b="1" dirty="0">
                <a:solidFill>
                  <a:srgbClr val="2C2C2C"/>
                </a:solidFill>
                <a:latin typeface="Arial" pitchFamily="34" charset="0"/>
                <a:ea typeface="Arial" pitchFamily="34" charset="-122"/>
                <a:cs typeface="Arial" pitchFamily="34" charset="-120"/>
              </a:rPr>
              <a:t>Theorem C.3.3.</a:t>
            </a:r>
            <a:r>
              <a:rPr lang="en-US" sz="1500" dirty="0">
                <a:solidFill>
                  <a:srgbClr val="2C2C2C"/>
                </a:solidFill>
                <a:latin typeface="Arial" pitchFamily="34" charset="0"/>
                <a:ea typeface="Arial" pitchFamily="34" charset="-122"/>
                <a:cs typeface="Arial" pitchFamily="34" charset="-120"/>
              </a:rPr>
              <a:t> Embeddings are invisible to the language model.</a:t>
            </a:r>
            <a:endParaRPr lang="en-US" sz="1500" dirty="0"/>
          </a:p>
        </p:txBody>
      </p:sp>
      <p:sp>
        <p:nvSpPr>
          <p:cNvPr id="8" name="Text 6"/>
          <p:cNvSpPr/>
          <p:nvPr/>
        </p:nvSpPr>
        <p:spPr>
          <a:xfrm>
            <a:off x="593675" y="1437977"/>
            <a:ext cx="8164360" cy="400050"/>
          </a:xfrm>
          <a:prstGeom prst="rect">
            <a:avLst/>
          </a:prstGeom>
          <a:noFill/>
          <a:ln/>
        </p:spPr>
        <p:txBody>
          <a:bodyPr wrap="square" lIns="0" tIns="0" rIns="0" bIns="0" rtlCol="0" anchor="t"/>
          <a:lstStyle/>
          <a:p>
            <a:pPr marL="0" indent="0" algn="l">
              <a:buNone/>
            </a:pPr>
            <a:r>
              <a:rPr lang="en-US" sz="1300" dirty="0">
                <a:solidFill>
                  <a:srgbClr val="2C2C2C"/>
                </a:solidFill>
                <a:latin typeface="Arial" pitchFamily="34" charset="0"/>
                <a:ea typeface="Arial" pitchFamily="34" charset="-122"/>
                <a:cs typeface="Arial" pitchFamily="34" charset="-120"/>
              </a:rPr>
              <a:t>If </a:t>
            </a:r>
            <a:r>
              <a:rPr lang="en-US" sz="1300" i="1" dirty="0">
                <a:solidFill>
                  <a:srgbClr val="2C2C2C"/>
                </a:solidFill>
                <a:latin typeface="Arial" pitchFamily="34" charset="0"/>
                <a:ea typeface="Arial" pitchFamily="34" charset="-122"/>
                <a:cs typeface="Arial" pitchFamily="34" charset="-120"/>
              </a:rPr>
              <a:t>e</a:t>
            </a:r>
            <a:r>
              <a:rPr lang="en-US" sz="1300" dirty="0">
                <a:solidFill>
                  <a:srgbClr val="2C2C2C"/>
                </a:solidFill>
                <a:latin typeface="Arial" pitchFamily="34" charset="0"/>
                <a:ea typeface="Arial" pitchFamily="34" charset="-122"/>
                <a:cs typeface="Arial" pitchFamily="34" charset="-120"/>
              </a:rPr>
              <a:t> embeds </a:t>
            </a:r>
            <a:r>
              <a:rPr lang="en-US" sz="1300" i="1" dirty="0">
                <a:solidFill>
                  <a:srgbClr val="2C2C2C"/>
                </a:solidFill>
                <a:latin typeface="Arial" pitchFamily="34" charset="0"/>
                <a:ea typeface="Arial" pitchFamily="34" charset="-122"/>
                <a:cs typeface="Arial" pitchFamily="34" charset="-120"/>
              </a:rPr>
              <a:t>X′</a:t>
            </a:r>
            <a:r>
              <a:rPr lang="en-US" sz="1300" dirty="0">
                <a:solidFill>
                  <a:srgbClr val="2C2C2C"/>
                </a:solidFill>
                <a:latin typeface="Arial" pitchFamily="34" charset="0"/>
                <a:ea typeface="Arial" pitchFamily="34" charset="-122"/>
                <a:cs typeface="Arial" pitchFamily="34" charset="-120"/>
              </a:rPr>
              <a:t> into </a:t>
            </a:r>
            <a:r>
              <a:rPr lang="en-US" sz="1300" i="1" dirty="0">
                <a:solidFill>
                  <a:srgbClr val="2C2C2C"/>
                </a:solidFill>
                <a:latin typeface="Arial" pitchFamily="34" charset="0"/>
                <a:ea typeface="Arial" pitchFamily="34" charset="-122"/>
                <a:cs typeface="Arial" pitchFamily="34" charset="-120"/>
              </a:rPr>
              <a:t>X</a:t>
            </a:r>
            <a:r>
              <a:rPr lang="en-US" sz="1300" dirty="0">
                <a:solidFill>
                  <a:srgbClr val="2C2C2C"/>
                </a:solidFill>
                <a:latin typeface="Arial" pitchFamily="34" charset="0"/>
                <a:ea typeface="Arial" pitchFamily="34" charset="-122"/>
                <a:cs typeface="Arial" pitchFamily="34" charset="-120"/>
              </a:rPr>
              <a:t>, then for every state </a:t>
            </a:r>
            <a:r>
              <a:rPr lang="en-US" sz="1300" i="1" dirty="0">
                <a:solidFill>
                  <a:srgbClr val="2C2C2C"/>
                </a:solidFill>
                <a:latin typeface="Arial" pitchFamily="34" charset="0"/>
                <a:ea typeface="Arial" pitchFamily="34" charset="-122"/>
                <a:cs typeface="Arial" pitchFamily="34" charset="-120"/>
              </a:rPr>
              <a:t>s′</a:t>
            </a:r>
            <a:r>
              <a:rPr lang="en-US" sz="1300" dirty="0">
                <a:solidFill>
                  <a:srgbClr val="2C2C2C"/>
                </a:solidFill>
                <a:latin typeface="Arial" pitchFamily="34" charset="0"/>
                <a:ea typeface="Arial" pitchFamily="34" charset="-122"/>
                <a:cs typeface="Arial" pitchFamily="34" charset="-120"/>
              </a:rPr>
              <a:t> and every sequence of future completions, the model sees exactly the same prompts whether it interacts with </a:t>
            </a:r>
            <a:r>
              <a:rPr lang="en-US" sz="1300" i="1" dirty="0">
                <a:solidFill>
                  <a:srgbClr val="2C2C2C"/>
                </a:solidFill>
                <a:latin typeface="Arial" pitchFamily="34" charset="0"/>
                <a:ea typeface="Arial" pitchFamily="34" charset="-122"/>
                <a:cs typeface="Arial" pitchFamily="34" charset="-120"/>
              </a:rPr>
              <a:t>X′</a:t>
            </a:r>
            <a:r>
              <a:rPr lang="en-US" sz="1300" dirty="0">
                <a:solidFill>
                  <a:srgbClr val="2C2C2C"/>
                </a:solidFill>
                <a:latin typeface="Arial" pitchFamily="34" charset="0"/>
                <a:ea typeface="Arial" pitchFamily="34" charset="-122"/>
                <a:cs typeface="Arial" pitchFamily="34" charset="-120"/>
              </a:rPr>
              <a:t> from </a:t>
            </a:r>
            <a:r>
              <a:rPr lang="en-US" sz="1300" i="1" dirty="0">
                <a:solidFill>
                  <a:srgbClr val="2C2C2C"/>
                </a:solidFill>
                <a:latin typeface="Arial" pitchFamily="34" charset="0"/>
                <a:ea typeface="Arial" pitchFamily="34" charset="-122"/>
                <a:cs typeface="Arial" pitchFamily="34" charset="-120"/>
              </a:rPr>
              <a:t>s′</a:t>
            </a:r>
            <a:r>
              <a:rPr lang="en-US" sz="1300" dirty="0">
                <a:solidFill>
                  <a:srgbClr val="2C2C2C"/>
                </a:solidFill>
                <a:latin typeface="Arial" pitchFamily="34" charset="0"/>
                <a:ea typeface="Arial" pitchFamily="34" charset="-122"/>
                <a:cs typeface="Arial" pitchFamily="34" charset="-120"/>
              </a:rPr>
              <a:t> or with </a:t>
            </a:r>
            <a:r>
              <a:rPr lang="en-US" sz="1300" i="1" dirty="0">
                <a:solidFill>
                  <a:srgbClr val="2C2C2C"/>
                </a:solidFill>
                <a:latin typeface="Arial" pitchFamily="34" charset="0"/>
                <a:ea typeface="Arial" pitchFamily="34" charset="-122"/>
                <a:cs typeface="Arial" pitchFamily="34" charset="-120"/>
              </a:rPr>
              <a:t>X</a:t>
            </a:r>
            <a:r>
              <a:rPr lang="en-US" sz="1300" dirty="0">
                <a:solidFill>
                  <a:srgbClr val="2C2C2C"/>
                </a:solidFill>
                <a:latin typeface="Arial" pitchFamily="34" charset="0"/>
                <a:ea typeface="Arial" pitchFamily="34" charset="-122"/>
                <a:cs typeface="Arial" pitchFamily="34" charset="-120"/>
              </a:rPr>
              <a:t> from </a:t>
            </a:r>
            <a:r>
              <a:rPr lang="en-US" sz="1300" i="1" dirty="0">
                <a:solidFill>
                  <a:srgbClr val="2C2C2C"/>
                </a:solidFill>
                <a:latin typeface="Arial" pitchFamily="34" charset="0"/>
                <a:ea typeface="Arial" pitchFamily="34" charset="-122"/>
                <a:cs typeface="Arial" pitchFamily="34" charset="-120"/>
              </a:rPr>
              <a:t>e</a:t>
            </a:r>
            <a:r>
              <a:rPr lang="en-US" sz="1300" dirty="0">
                <a:solidFill>
                  <a:srgbClr val="2C2C2C"/>
                </a:solidFill>
                <a:latin typeface="Arial" pitchFamily="34" charset="0"/>
                <a:ea typeface="Arial" pitchFamily="34" charset="-122"/>
                <a:cs typeface="Arial" pitchFamily="34" charset="-120"/>
              </a:rPr>
              <a:t>(</a:t>
            </a:r>
            <a:r>
              <a:rPr lang="en-US" sz="1300" i="1" dirty="0">
                <a:solidFill>
                  <a:srgbClr val="2C2C2C"/>
                </a:solidFill>
                <a:latin typeface="Arial" pitchFamily="34" charset="0"/>
                <a:ea typeface="Arial" pitchFamily="34" charset="-122"/>
                <a:cs typeface="Arial" pitchFamily="34" charset="-120"/>
              </a:rPr>
              <a:t>s′</a:t>
            </a:r>
            <a:r>
              <a:rPr lang="en-US" sz="1300" dirty="0">
                <a:solidFill>
                  <a:srgbClr val="2C2C2C"/>
                </a:solidFill>
                <a:latin typeface="Arial" pitchFamily="34" charset="0"/>
                <a:ea typeface="Arial" pitchFamily="34" charset="-122"/>
                <a:cs typeface="Arial" pitchFamily="34" charset="-120"/>
              </a:rPr>
              <a:t>).</a:t>
            </a:r>
            <a:endParaRPr lang="en-US" sz="1300" dirty="0"/>
          </a:p>
        </p:txBody>
      </p:sp>
      <p:sp>
        <p:nvSpPr>
          <p:cNvPr id="10" name="Text 8"/>
          <p:cNvSpPr/>
          <p:nvPr/>
        </p:nvSpPr>
        <p:spPr>
          <a:xfrm>
            <a:off x="381000" y="2682478"/>
            <a:ext cx="8549640" cy="171450"/>
          </a:xfrm>
          <a:prstGeom prst="rect">
            <a:avLst/>
          </a:prstGeom>
          <a:noFill/>
          <a:ln/>
        </p:spPr>
        <p:txBody>
          <a:bodyPr wrap="square" lIns="0" tIns="0" rIns="0" bIns="0" rtlCol="0" anchor="t"/>
          <a:lstStyle/>
          <a:p>
            <a:pPr marL="0" indent="0" algn="l">
              <a:spcBef>
                <a:spcPts val="1200"/>
              </a:spcBef>
              <a:buNone/>
            </a:pPr>
            <a:r>
              <a:rPr lang="en-US" sz="1200" dirty="0">
                <a:solidFill>
                  <a:srgbClr val="666666"/>
                </a:solidFill>
                <a:latin typeface="Arial" pitchFamily="34" charset="0"/>
                <a:ea typeface="Arial" pitchFamily="34" charset="-122"/>
                <a:cs typeface="Arial" pitchFamily="34" charset="-120"/>
              </a:rPr>
              <a:t>Formally: (</a:t>
            </a:r>
            <a:r>
              <a:rPr lang="en-US" sz="1200" i="1" dirty="0">
                <a:solidFill>
                  <a:srgbClr val="666666"/>
                </a:solidFill>
                <a:latin typeface="Arial" pitchFamily="34" charset="0"/>
                <a:ea typeface="Arial" pitchFamily="34" charset="-122"/>
                <a:cs typeface="Arial" pitchFamily="34" charset="-120"/>
              </a:rPr>
              <a:t>X′</a:t>
            </a:r>
            <a:r>
              <a:rPr lang="en-US" sz="1200" dirty="0">
                <a:solidFill>
                  <a:srgbClr val="666666"/>
                </a:solidFill>
                <a:latin typeface="Arial" pitchFamily="34" charset="0"/>
                <a:ea typeface="Arial" pitchFamily="34" charset="-122"/>
                <a:cs typeface="Arial" pitchFamily="34" charset="-120"/>
              </a:rPr>
              <a:t>, </a:t>
            </a:r>
            <a:r>
              <a:rPr lang="en-US" sz="1200" i="1" dirty="0">
                <a:solidFill>
                  <a:srgbClr val="666666"/>
                </a:solidFill>
                <a:latin typeface="Arial" pitchFamily="34" charset="0"/>
                <a:ea typeface="Arial" pitchFamily="34" charset="-122"/>
                <a:cs typeface="Arial" pitchFamily="34" charset="-120"/>
              </a:rPr>
              <a:t>s′</a:t>
            </a:r>
            <a:r>
              <a:rPr lang="en-US" sz="1200" dirty="0">
                <a:solidFill>
                  <a:srgbClr val="666666"/>
                </a:solidFill>
                <a:latin typeface="Arial" pitchFamily="34" charset="0"/>
                <a:ea typeface="Arial" pitchFamily="34" charset="-122"/>
                <a:cs typeface="Arial" pitchFamily="34" charset="-120"/>
              </a:rPr>
              <a:t>) ~ (</a:t>
            </a:r>
            <a:r>
              <a:rPr lang="en-US" sz="1200" i="1" dirty="0">
                <a:solidFill>
                  <a:srgbClr val="666666"/>
                </a:solidFill>
                <a:latin typeface="Arial" pitchFamily="34" charset="0"/>
                <a:ea typeface="Arial" pitchFamily="34" charset="-122"/>
                <a:cs typeface="Arial" pitchFamily="34" charset="-120"/>
              </a:rPr>
              <a:t>X</a:t>
            </a:r>
            <a:r>
              <a:rPr lang="en-US" sz="1200" dirty="0">
                <a:solidFill>
                  <a:srgbClr val="666666"/>
                </a:solidFill>
                <a:latin typeface="Arial" pitchFamily="34" charset="0"/>
                <a:ea typeface="Arial" pitchFamily="34" charset="-122"/>
                <a:cs typeface="Arial" pitchFamily="34" charset="-120"/>
              </a:rPr>
              <a:t>, </a:t>
            </a:r>
            <a:r>
              <a:rPr lang="en-US" sz="1200" i="1" dirty="0">
                <a:solidFill>
                  <a:srgbClr val="666666"/>
                </a:solidFill>
                <a:latin typeface="Arial" pitchFamily="34" charset="0"/>
                <a:ea typeface="Arial" pitchFamily="34" charset="-122"/>
                <a:cs typeface="Arial" pitchFamily="34" charset="-120"/>
              </a:rPr>
              <a:t>e</a:t>
            </a:r>
            <a:r>
              <a:rPr lang="en-US" sz="1200" dirty="0">
                <a:solidFill>
                  <a:srgbClr val="666666"/>
                </a:solidFill>
                <a:latin typeface="Arial" pitchFamily="34" charset="0"/>
                <a:ea typeface="Arial" pitchFamily="34" charset="-122"/>
                <a:cs typeface="Arial" pitchFamily="34" charset="-120"/>
              </a:rPr>
              <a:t>(</a:t>
            </a:r>
            <a:r>
              <a:rPr lang="en-US" sz="1200" i="1" dirty="0">
                <a:solidFill>
                  <a:srgbClr val="666666"/>
                </a:solidFill>
                <a:latin typeface="Arial" pitchFamily="34" charset="0"/>
                <a:ea typeface="Arial" pitchFamily="34" charset="-122"/>
                <a:cs typeface="Arial" pitchFamily="34" charset="-120"/>
              </a:rPr>
              <a:t>s′</a:t>
            </a:r>
            <a:r>
              <a:rPr lang="en-US" sz="1200" dirty="0">
                <a:solidFill>
                  <a:srgbClr val="666666"/>
                </a:solidFill>
                <a:latin typeface="Arial" pitchFamily="34" charset="0"/>
                <a:ea typeface="Arial" pitchFamily="34" charset="-122"/>
                <a:cs typeface="Arial" pitchFamily="34" charset="-120"/>
              </a:rPr>
              <a:t>)) where ~ is </a:t>
            </a:r>
            <a:r>
              <a:rPr lang="en-US" sz="1200" b="1" dirty="0">
                <a:solidFill>
                  <a:srgbClr val="666666"/>
                </a:solidFill>
                <a:latin typeface="Arial" pitchFamily="34" charset="0"/>
                <a:ea typeface="Arial" pitchFamily="34" charset="-122"/>
                <a:cs typeface="Arial" pitchFamily="34" charset="-120"/>
              </a:rPr>
              <a:t>LM-indistinguishability</a:t>
            </a:r>
            <a:r>
              <a:rPr lang="en-US" sz="1200" dirty="0">
                <a:solidFill>
                  <a:srgbClr val="666666"/>
                </a:solidFill>
                <a:latin typeface="Arial" pitchFamily="34" charset="0"/>
                <a:ea typeface="Arial" pitchFamily="34" charset="-122"/>
                <a:cs typeface="Arial" pitchFamily="34" charset="-120"/>
              </a:rPr>
              <a:t> — identical prompt traces under all completion sequences.</a:t>
            </a:r>
            <a:endParaRPr lang="en-US" sz="12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0" y="0"/>
            <a:ext cx="9144000" cy="711101"/>
          </a:xfrm>
          <a:prstGeom prst="rect">
            <a:avLst/>
          </a:prstGeom>
          <a:solidFill>
            <a:srgbClr val="1B2838"/>
          </a:solidFill>
          <a:ln/>
        </p:spPr>
        <p:txBody>
          <a:bodyPr wrap="square" rtlCol="0" anchor="ctr"/>
          <a:lstStyle/>
          <a:p>
            <a:pPr marL="0" indent="0">
              <a:buNone/>
            </a:pPr>
            <a:endParaRPr lang="en-US" dirty="0"/>
          </a:p>
        </p:txBody>
      </p:sp>
      <p:sp>
        <p:nvSpPr>
          <p:cNvPr id="3" name="Text 1"/>
          <p:cNvSpPr/>
          <p:nvPr/>
        </p:nvSpPr>
        <p:spPr>
          <a:xfrm>
            <a:off x="381000" y="203150"/>
            <a:ext cx="3022735" cy="304800"/>
          </a:xfrm>
          <a:prstGeom prst="rect">
            <a:avLst/>
          </a:prstGeom>
          <a:noFill/>
          <a:ln/>
        </p:spPr>
        <p:txBody>
          <a:bodyPr wrap="square" lIns="0" tIns="0" rIns="0" bIns="0" rtlCol="0" anchor="t"/>
          <a:lstStyle/>
          <a:p>
            <a:pPr marL="0" indent="0" algn="l">
              <a:buNone/>
            </a:pPr>
            <a:r>
              <a:rPr lang="en-US" sz="2100" b="1" dirty="0">
                <a:solidFill>
                  <a:srgbClr val="FFFFFF"/>
                </a:solidFill>
                <a:latin typeface="Arial" pitchFamily="34" charset="0"/>
                <a:ea typeface="Arial" pitchFamily="34" charset="-122"/>
                <a:cs typeface="Arial" pitchFamily="34" charset="-120"/>
              </a:rPr>
              <a:t>Completion-Generation</a:t>
            </a:r>
            <a:endParaRPr lang="en-US" sz="2100" dirty="0"/>
          </a:p>
        </p:txBody>
      </p:sp>
      <p:sp>
        <p:nvSpPr>
          <p:cNvPr id="4" name="Text 2"/>
          <p:cNvSpPr/>
          <p:nvPr/>
        </p:nvSpPr>
        <p:spPr>
          <a:xfrm>
            <a:off x="0" y="711101"/>
            <a:ext cx="9144000" cy="38100"/>
          </a:xfrm>
          <a:prstGeom prst="rect">
            <a:avLst/>
          </a:prstGeom>
          <a:solidFill>
            <a:srgbClr val="277884"/>
          </a:solidFill>
          <a:ln/>
        </p:spPr>
        <p:txBody>
          <a:bodyPr wrap="square" rtlCol="0" anchor="ctr"/>
          <a:lstStyle/>
          <a:p>
            <a:pPr marL="0" indent="0">
              <a:buNone/>
            </a:pPr>
            <a:endParaRPr lang="en-US" dirty="0"/>
          </a:p>
        </p:txBody>
      </p:sp>
      <p:sp>
        <p:nvSpPr>
          <p:cNvPr id="5" name="Text 3"/>
          <p:cNvSpPr/>
          <p:nvPr/>
        </p:nvSpPr>
        <p:spPr>
          <a:xfrm>
            <a:off x="381000" y="1003102"/>
            <a:ext cx="4076700" cy="1276350"/>
          </a:xfrm>
          <a:prstGeom prst="rect">
            <a:avLst/>
          </a:prstGeom>
          <a:solidFill>
            <a:srgbClr val="E8F4F2"/>
          </a:solidFill>
          <a:ln/>
        </p:spPr>
        <p:txBody>
          <a:bodyPr wrap="square" rtlCol="0" anchor="ctr"/>
          <a:lstStyle/>
          <a:p>
            <a:pPr marL="0" indent="0">
              <a:buNone/>
            </a:pPr>
            <a:endParaRPr lang="en-US" dirty="0"/>
          </a:p>
        </p:txBody>
      </p:sp>
      <p:sp>
        <p:nvSpPr>
          <p:cNvPr id="6" name="Shape 4"/>
          <p:cNvSpPr/>
          <p:nvPr/>
        </p:nvSpPr>
        <p:spPr>
          <a:xfrm>
            <a:off x="404813" y="1003102"/>
            <a:ext cx="0" cy="1276350"/>
          </a:xfrm>
          <a:prstGeom prst="line">
            <a:avLst/>
          </a:prstGeom>
          <a:noFill/>
          <a:ln w="47625">
            <a:solidFill>
              <a:srgbClr val="277884"/>
            </a:solidFill>
            <a:prstDash val="solid"/>
          </a:ln>
        </p:spPr>
        <p:txBody>
          <a:bodyPr/>
          <a:lstStyle/>
          <a:p>
            <a:endParaRPr lang="en-US"/>
          </a:p>
        </p:txBody>
      </p:sp>
      <p:sp>
        <p:nvSpPr>
          <p:cNvPr id="7" name="Text 5"/>
          <p:cNvSpPr/>
          <p:nvPr/>
        </p:nvSpPr>
        <p:spPr>
          <a:xfrm>
            <a:off x="593675" y="1117402"/>
            <a:ext cx="3772954" cy="200025"/>
          </a:xfrm>
          <a:prstGeom prst="rect">
            <a:avLst/>
          </a:prstGeom>
          <a:noFill/>
          <a:ln/>
        </p:spPr>
        <p:txBody>
          <a:bodyPr wrap="square" lIns="0" tIns="0" rIns="0" bIns="0" rtlCol="0" anchor="t"/>
          <a:lstStyle/>
          <a:p>
            <a:pPr marL="0" indent="0" algn="l">
              <a:spcAft>
                <a:spcPts val="600"/>
              </a:spcAft>
              <a:buNone/>
            </a:pPr>
            <a:r>
              <a:rPr lang="en-US" sz="1300" b="1" dirty="0">
                <a:solidFill>
                  <a:srgbClr val="2C2C2C"/>
                </a:solidFill>
                <a:latin typeface="Arial" pitchFamily="34" charset="0"/>
                <a:ea typeface="Arial" pitchFamily="34" charset="-122"/>
                <a:cs typeface="Arial" pitchFamily="34" charset="-120"/>
              </a:rPr>
              <a:t>Definition C.3.6.</a:t>
            </a:r>
            <a:endParaRPr lang="en-US" sz="1300" dirty="0"/>
          </a:p>
        </p:txBody>
      </p:sp>
      <p:sp>
        <p:nvSpPr>
          <p:cNvPr id="8" name="Text 6"/>
          <p:cNvSpPr/>
          <p:nvPr/>
        </p:nvSpPr>
        <p:spPr>
          <a:xfrm>
            <a:off x="593675" y="1393627"/>
            <a:ext cx="3772954" cy="514350"/>
          </a:xfrm>
          <a:prstGeom prst="rect">
            <a:avLst/>
          </a:prstGeom>
          <a:noFill/>
          <a:ln/>
        </p:spPr>
        <p:txBody>
          <a:bodyPr wrap="square" lIns="0" tIns="0" rIns="0" bIns="0" rtlCol="0" anchor="t"/>
          <a:lstStyle/>
          <a:p>
            <a:pPr marL="0" indent="0" algn="l">
              <a:spcAft>
                <a:spcPts val="600"/>
              </a:spcAft>
              <a:buNone/>
            </a:pPr>
            <a:r>
              <a:rPr lang="en-US" sz="1200" dirty="0">
                <a:solidFill>
                  <a:srgbClr val="2C2C2C"/>
                </a:solidFill>
                <a:latin typeface="Arial" pitchFamily="34" charset="0"/>
                <a:ea typeface="Arial" pitchFamily="34" charset="-122"/>
                <a:cs typeface="Arial" pitchFamily="34" charset="-120"/>
              </a:rPr>
              <a:t>A state </a:t>
            </a:r>
            <a:r>
              <a:rPr lang="en-US" sz="1200" i="1" dirty="0">
                <a:solidFill>
                  <a:srgbClr val="2C2C2C"/>
                </a:solidFill>
                <a:latin typeface="Arial" pitchFamily="34" charset="0"/>
                <a:ea typeface="Arial" pitchFamily="34" charset="-122"/>
                <a:cs typeface="Arial" pitchFamily="34" charset="-120"/>
              </a:rPr>
              <a:t>x</a:t>
            </a:r>
            <a:r>
              <a:rPr lang="en-US" sz="900" dirty="0">
                <a:solidFill>
                  <a:srgbClr val="2C2C2C"/>
                </a:solidFill>
                <a:latin typeface="Arial" pitchFamily="34" charset="0"/>
                <a:ea typeface="Arial" pitchFamily="34" charset="-122"/>
                <a:cs typeface="Arial" pitchFamily="34" charset="-120"/>
              </a:rPr>
              <a:t>seed</a:t>
            </a:r>
            <a:r>
              <a:rPr lang="en-US" sz="1200" dirty="0">
                <a:solidFill>
                  <a:srgbClr val="2C2C2C"/>
                </a:solidFill>
                <a:latin typeface="Arial" pitchFamily="34" charset="0"/>
                <a:ea typeface="Arial" pitchFamily="34" charset="-122"/>
                <a:cs typeface="Arial" pitchFamily="34" charset="-120"/>
              </a:rPr>
              <a:t> of </a:t>
            </a:r>
            <a:r>
              <a:rPr lang="en-US" sz="1200" i="1" dirty="0">
                <a:solidFill>
                  <a:srgbClr val="2C2C2C"/>
                </a:solidFill>
                <a:latin typeface="Arial" pitchFamily="34" charset="0"/>
                <a:ea typeface="Arial" pitchFamily="34" charset="-122"/>
                <a:cs typeface="Arial" pitchFamily="34" charset="-120"/>
              </a:rPr>
              <a:t>X</a:t>
            </a:r>
            <a:r>
              <a:rPr lang="en-US" sz="1200" dirty="0">
                <a:solidFill>
                  <a:srgbClr val="2C2C2C"/>
                </a:solidFill>
                <a:latin typeface="Arial" pitchFamily="34" charset="0"/>
                <a:ea typeface="Arial" pitchFamily="34" charset="-122"/>
                <a:cs typeface="Arial" pitchFamily="34" charset="-120"/>
              </a:rPr>
              <a:t> </a:t>
            </a:r>
            <a:r>
              <a:rPr lang="en-US" sz="1200" b="1" dirty="0">
                <a:solidFill>
                  <a:srgbClr val="2C2C2C"/>
                </a:solidFill>
                <a:latin typeface="Arial" pitchFamily="34" charset="0"/>
                <a:ea typeface="Arial" pitchFamily="34" charset="-122"/>
                <a:cs typeface="Arial" pitchFamily="34" charset="-120"/>
              </a:rPr>
              <a:t>completion-generates</a:t>
            </a:r>
            <a:r>
              <a:rPr lang="en-US" sz="1200" dirty="0">
                <a:solidFill>
                  <a:srgbClr val="2C2C2C"/>
                </a:solidFill>
                <a:latin typeface="Arial" pitchFamily="34" charset="0"/>
                <a:ea typeface="Arial" pitchFamily="34" charset="-122"/>
                <a:cs typeface="Arial" pitchFamily="34" charset="-120"/>
              </a:rPr>
              <a:t> </a:t>
            </a:r>
            <a:r>
              <a:rPr lang="en-US" sz="1200" i="1" dirty="0">
                <a:solidFill>
                  <a:srgbClr val="2C2C2C"/>
                </a:solidFill>
                <a:latin typeface="Arial" pitchFamily="34" charset="0"/>
                <a:ea typeface="Arial" pitchFamily="34" charset="-122"/>
                <a:cs typeface="Arial" pitchFamily="34" charset="-120"/>
              </a:rPr>
              <a:t>X′</a:t>
            </a:r>
            <a:r>
              <a:rPr lang="en-US" sz="1200" dirty="0">
                <a:solidFill>
                  <a:srgbClr val="2C2C2C"/>
                </a:solidFill>
                <a:latin typeface="Arial" pitchFamily="34" charset="0"/>
                <a:ea typeface="Arial" pitchFamily="34" charset="-122"/>
                <a:cs typeface="Arial" pitchFamily="34" charset="-120"/>
              </a:rPr>
              <a:t> if there exists an embedding </a:t>
            </a:r>
            <a:r>
              <a:rPr lang="en-US" sz="1200" i="1" dirty="0">
                <a:solidFill>
                  <a:srgbClr val="2C2C2C"/>
                </a:solidFill>
                <a:latin typeface="Arial" pitchFamily="34" charset="0"/>
                <a:ea typeface="Arial" pitchFamily="34" charset="-122"/>
                <a:cs typeface="Arial" pitchFamily="34" charset="-120"/>
              </a:rPr>
              <a:t>e</a:t>
            </a:r>
            <a:r>
              <a:rPr lang="en-US" sz="1200" dirty="0">
                <a:solidFill>
                  <a:srgbClr val="2C2C2C"/>
                </a:solidFill>
                <a:latin typeface="Arial" pitchFamily="34" charset="0"/>
                <a:ea typeface="Arial" pitchFamily="34" charset="-122"/>
                <a:cs typeface="Arial" pitchFamily="34" charset="-120"/>
              </a:rPr>
              <a:t> of </a:t>
            </a:r>
            <a:r>
              <a:rPr lang="en-US" sz="1200" i="1" dirty="0">
                <a:solidFill>
                  <a:srgbClr val="2C2C2C"/>
                </a:solidFill>
                <a:latin typeface="Arial" pitchFamily="34" charset="0"/>
                <a:ea typeface="Arial" pitchFamily="34" charset="-122"/>
                <a:cs typeface="Arial" pitchFamily="34" charset="-120"/>
              </a:rPr>
              <a:t>X′</a:t>
            </a:r>
            <a:r>
              <a:rPr lang="en-US" sz="1200" dirty="0">
                <a:solidFill>
                  <a:srgbClr val="2C2C2C"/>
                </a:solidFill>
                <a:latin typeface="Arial" pitchFamily="34" charset="0"/>
                <a:ea typeface="Arial" pitchFamily="34" charset="-122"/>
                <a:cs typeface="Arial" pitchFamily="34" charset="-120"/>
              </a:rPr>
              <a:t> in </a:t>
            </a:r>
            <a:r>
              <a:rPr lang="en-US" sz="1200" i="1" dirty="0">
                <a:solidFill>
                  <a:srgbClr val="2C2C2C"/>
                </a:solidFill>
                <a:latin typeface="Arial" pitchFamily="34" charset="0"/>
                <a:ea typeface="Arial" pitchFamily="34" charset="-122"/>
                <a:cs typeface="Arial" pitchFamily="34" charset="-120"/>
              </a:rPr>
              <a:t>X</a:t>
            </a:r>
            <a:r>
              <a:rPr lang="en-US" sz="1200" dirty="0">
                <a:solidFill>
                  <a:srgbClr val="2C2C2C"/>
                </a:solidFill>
                <a:latin typeface="Arial" pitchFamily="34" charset="0"/>
                <a:ea typeface="Arial" pitchFamily="34" charset="-122"/>
                <a:cs typeface="Arial" pitchFamily="34" charset="-120"/>
              </a:rPr>
              <a:t> such that every embedded state is reachable via some completion:</a:t>
            </a:r>
            <a:endParaRPr lang="en-US" sz="1200" dirty="0"/>
          </a:p>
        </p:txBody>
      </p:sp>
      <p:sp>
        <p:nvSpPr>
          <p:cNvPr id="9" name="Text 7"/>
          <p:cNvSpPr/>
          <p:nvPr/>
        </p:nvSpPr>
        <p:spPr>
          <a:xfrm>
            <a:off x="593675" y="1984177"/>
            <a:ext cx="3772954" cy="180975"/>
          </a:xfrm>
          <a:prstGeom prst="rect">
            <a:avLst/>
          </a:prstGeom>
          <a:noFill/>
          <a:ln/>
        </p:spPr>
        <p:txBody>
          <a:bodyPr wrap="square" lIns="0" tIns="0" rIns="0" bIns="0" rtlCol="0" anchor="t"/>
          <a:lstStyle/>
          <a:p>
            <a:pPr marL="0" indent="0" algn="l">
              <a:spcBef>
                <a:spcPts val="400"/>
              </a:spcBef>
              <a:buNone/>
            </a:pPr>
            <a:r>
              <a:rPr lang="en-US" sz="1200" b="1" dirty="0">
                <a:solidFill>
                  <a:srgbClr val="277884"/>
                </a:solidFill>
                <a:latin typeface="Arial" pitchFamily="34" charset="0"/>
                <a:ea typeface="Arial" pitchFamily="34" charset="-122"/>
                <a:cs typeface="Arial" pitchFamily="34" charset="-120"/>
              </a:rPr>
              <a:t>∀ s′ ∈ S′ : ∃ c ∈ C : h(x</a:t>
            </a:r>
            <a:r>
              <a:rPr lang="en-US" sz="900" dirty="0">
                <a:solidFill>
                  <a:srgbClr val="277884"/>
                </a:solidFill>
                <a:latin typeface="Arial" pitchFamily="34" charset="0"/>
                <a:ea typeface="Arial" pitchFamily="34" charset="-122"/>
                <a:cs typeface="Arial" pitchFamily="34" charset="-120"/>
              </a:rPr>
              <a:t>seed</a:t>
            </a:r>
            <a:r>
              <a:rPr lang="en-US" sz="1200" b="1" dirty="0">
                <a:solidFill>
                  <a:srgbClr val="277884"/>
                </a:solidFill>
                <a:latin typeface="Arial" pitchFamily="34" charset="0"/>
                <a:ea typeface="Arial" pitchFamily="34" charset="-122"/>
                <a:cs typeface="Arial" pitchFamily="34" charset="-120"/>
              </a:rPr>
              <a:t>, c) = e(s′)</a:t>
            </a:r>
            <a:endParaRPr lang="en-US" sz="1200" dirty="0"/>
          </a:p>
        </p:txBody>
      </p:sp>
      <p:pic>
        <p:nvPicPr>
          <p:cNvPr id="12" name="Image 0" descr="/Users/lukeoconnor/Dropbox/GitHub/spell/workspace/theory-slides/img/completion-gen.png">
            <a:extLst>
              <a:ext uri="{FF2B5EF4-FFF2-40B4-BE49-F238E27FC236}">
                <a16:creationId xmlns:a16="http://schemas.microsoft.com/office/drawing/2014/main" id="{6451952B-3D03-AD45-9C8A-3B659847D65F}"/>
              </a:ext>
            </a:extLst>
          </p:cNvPr>
          <p:cNvPicPr>
            <a:picLocks noChangeAspect="1"/>
          </p:cNvPicPr>
          <p:nvPr/>
        </p:nvPicPr>
        <p:blipFill>
          <a:blip r:embed="rId3"/>
          <a:stretch>
            <a:fillRect/>
          </a:stretch>
        </p:blipFill>
        <p:spPr>
          <a:xfrm>
            <a:off x="2667000" y="2669679"/>
            <a:ext cx="3810000" cy="2309217"/>
          </a:xfrm>
          <a:prstGeom prst="rect">
            <a:avLst/>
          </a:prstGeom>
        </p:spPr>
      </p:pic>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0" y="0"/>
            <a:ext cx="9144000" cy="711101"/>
          </a:xfrm>
          <a:prstGeom prst="rect">
            <a:avLst/>
          </a:prstGeom>
          <a:solidFill>
            <a:srgbClr val="1B2838"/>
          </a:solidFill>
          <a:ln/>
        </p:spPr>
        <p:txBody>
          <a:bodyPr wrap="square" rtlCol="0" anchor="ctr"/>
          <a:lstStyle/>
          <a:p>
            <a:pPr marL="0" indent="0">
              <a:buNone/>
            </a:pPr>
            <a:endParaRPr lang="en-US" dirty="0"/>
          </a:p>
        </p:txBody>
      </p:sp>
      <p:sp>
        <p:nvSpPr>
          <p:cNvPr id="3" name="Text 1"/>
          <p:cNvSpPr/>
          <p:nvPr/>
        </p:nvSpPr>
        <p:spPr>
          <a:xfrm>
            <a:off x="381000" y="203150"/>
            <a:ext cx="2861974" cy="304800"/>
          </a:xfrm>
          <a:prstGeom prst="rect">
            <a:avLst/>
          </a:prstGeom>
          <a:noFill/>
          <a:ln/>
        </p:spPr>
        <p:txBody>
          <a:bodyPr wrap="square" lIns="0" tIns="0" rIns="0" bIns="0" rtlCol="0" anchor="t"/>
          <a:lstStyle/>
          <a:p>
            <a:pPr marL="0" indent="0" algn="l">
              <a:buNone/>
            </a:pPr>
            <a:r>
              <a:rPr lang="en-US" sz="2100" b="1" dirty="0">
                <a:solidFill>
                  <a:srgbClr val="FFFFFF"/>
                </a:solidFill>
                <a:latin typeface="Arial" pitchFamily="34" charset="0"/>
                <a:ea typeface="Arial" pitchFamily="34" charset="-122"/>
                <a:cs typeface="Arial" pitchFamily="34" charset="-120"/>
              </a:rPr>
              <a:t>The Agentic Evaluator</a:t>
            </a:r>
            <a:endParaRPr lang="en-US" sz="2100" dirty="0"/>
          </a:p>
        </p:txBody>
      </p:sp>
      <p:sp>
        <p:nvSpPr>
          <p:cNvPr id="4" name="Text 2"/>
          <p:cNvSpPr/>
          <p:nvPr/>
        </p:nvSpPr>
        <p:spPr>
          <a:xfrm>
            <a:off x="0" y="711101"/>
            <a:ext cx="9144000" cy="38100"/>
          </a:xfrm>
          <a:prstGeom prst="rect">
            <a:avLst/>
          </a:prstGeom>
          <a:solidFill>
            <a:srgbClr val="277884"/>
          </a:solidFill>
          <a:ln/>
        </p:spPr>
        <p:txBody>
          <a:bodyPr wrap="square" rtlCol="0" anchor="ctr"/>
          <a:lstStyle/>
          <a:p>
            <a:pPr marL="0" indent="0">
              <a:buNone/>
            </a:pPr>
            <a:endParaRPr lang="en-US" dirty="0"/>
          </a:p>
        </p:txBody>
      </p:sp>
      <p:sp>
        <p:nvSpPr>
          <p:cNvPr id="5" name="Text 3"/>
          <p:cNvSpPr/>
          <p:nvPr/>
        </p:nvSpPr>
        <p:spPr>
          <a:xfrm>
            <a:off x="381000" y="926902"/>
            <a:ext cx="8549640" cy="400050"/>
          </a:xfrm>
          <a:prstGeom prst="rect">
            <a:avLst/>
          </a:prstGeom>
          <a:noFill/>
          <a:ln/>
        </p:spPr>
        <p:txBody>
          <a:bodyPr wrap="square" lIns="0" tIns="0" rIns="0" bIns="0" rtlCol="0" anchor="t"/>
          <a:lstStyle/>
          <a:p>
            <a:pPr marL="0" indent="0" algn="l">
              <a:spcAft>
                <a:spcPts val="800"/>
              </a:spcAft>
              <a:buNone/>
            </a:pPr>
            <a:r>
              <a:rPr lang="en-US" sz="1300" dirty="0">
                <a:solidFill>
                  <a:srgbClr val="2C2C2C"/>
                </a:solidFill>
                <a:latin typeface="Arial" pitchFamily="34" charset="0"/>
                <a:ea typeface="Arial" pitchFamily="34" charset="-122"/>
                <a:cs typeface="Arial" pitchFamily="34" charset="-120"/>
              </a:rPr>
              <a:t>Take a standard program evaluator (the </a:t>
            </a:r>
            <a:r>
              <a:rPr lang="en-US" sz="1300" b="1" dirty="0">
                <a:solidFill>
                  <a:srgbClr val="2C2C2C"/>
                </a:solidFill>
                <a:latin typeface="Arial" pitchFamily="34" charset="0"/>
                <a:ea typeface="Arial" pitchFamily="34" charset="-122"/>
                <a:cs typeface="Arial" pitchFamily="34" charset="-120"/>
              </a:rPr>
              <a:t>CEK machine</a:t>
            </a:r>
            <a:r>
              <a:rPr lang="en-US" sz="1300" dirty="0">
                <a:solidFill>
                  <a:srgbClr val="2C2C2C"/>
                </a:solidFill>
                <a:latin typeface="Arial" pitchFamily="34" charset="0"/>
                <a:ea typeface="Arial" pitchFamily="34" charset="-122"/>
                <a:cs typeface="Arial" pitchFamily="34" charset="-120"/>
              </a:rPr>
              <a:t>) and add a special primitive </a:t>
            </a:r>
            <a:r>
              <a:rPr lang="en-US" sz="1300" b="1" dirty="0">
                <a:solidFill>
                  <a:srgbClr val="277884"/>
                </a:solidFill>
                <a:latin typeface="Arial" pitchFamily="34" charset="0"/>
                <a:ea typeface="Arial" pitchFamily="34" charset="-122"/>
                <a:cs typeface="Arial" pitchFamily="34" charset="-120"/>
              </a:rPr>
              <a:t>lm</a:t>
            </a:r>
            <a:r>
              <a:rPr lang="en-US" sz="1300" dirty="0">
                <a:solidFill>
                  <a:srgbClr val="2C2C2C"/>
                </a:solidFill>
                <a:latin typeface="Arial" pitchFamily="34" charset="0"/>
                <a:ea typeface="Arial" pitchFamily="34" charset="-122"/>
                <a:cs typeface="Arial" pitchFamily="34" charset="-120"/>
              </a:rPr>
              <a:t> that calls the language model.</a:t>
            </a:r>
            <a:endParaRPr lang="en-US" sz="1300" dirty="0"/>
          </a:p>
        </p:txBody>
      </p:sp>
      <p:sp>
        <p:nvSpPr>
          <p:cNvPr id="6" name="Text 4"/>
          <p:cNvSpPr/>
          <p:nvPr/>
        </p:nvSpPr>
        <p:spPr>
          <a:xfrm>
            <a:off x="381000" y="1428452"/>
            <a:ext cx="8382000" cy="1126927"/>
          </a:xfrm>
          <a:prstGeom prst="rect">
            <a:avLst/>
          </a:prstGeom>
          <a:solidFill>
            <a:srgbClr val="E8F4F2"/>
          </a:solidFill>
          <a:ln/>
        </p:spPr>
        <p:txBody>
          <a:bodyPr wrap="square" rtlCol="0" anchor="ctr"/>
          <a:lstStyle/>
          <a:p>
            <a:pPr marL="0" indent="0">
              <a:buNone/>
            </a:pPr>
            <a:endParaRPr lang="en-US" dirty="0"/>
          </a:p>
        </p:txBody>
      </p:sp>
      <p:sp>
        <p:nvSpPr>
          <p:cNvPr id="7" name="Shape 5"/>
          <p:cNvSpPr/>
          <p:nvPr/>
        </p:nvSpPr>
        <p:spPr>
          <a:xfrm>
            <a:off x="404813" y="1428452"/>
            <a:ext cx="0" cy="1126927"/>
          </a:xfrm>
          <a:prstGeom prst="line">
            <a:avLst/>
          </a:prstGeom>
          <a:noFill/>
          <a:ln w="47625">
            <a:solidFill>
              <a:srgbClr val="277884"/>
            </a:solidFill>
            <a:prstDash val="solid"/>
          </a:ln>
        </p:spPr>
        <p:txBody>
          <a:bodyPr/>
          <a:lstStyle/>
          <a:p>
            <a:endParaRPr lang="en-US"/>
          </a:p>
        </p:txBody>
      </p:sp>
      <p:sp>
        <p:nvSpPr>
          <p:cNvPr id="8" name="Text 6"/>
          <p:cNvSpPr/>
          <p:nvPr/>
        </p:nvSpPr>
        <p:spPr>
          <a:xfrm>
            <a:off x="593675" y="1542752"/>
            <a:ext cx="8164360" cy="400050"/>
          </a:xfrm>
          <a:prstGeom prst="rect">
            <a:avLst/>
          </a:prstGeom>
          <a:noFill/>
          <a:ln/>
        </p:spPr>
        <p:txBody>
          <a:bodyPr wrap="square" lIns="0" tIns="0" rIns="0" bIns="0" rtlCol="0" anchor="t"/>
          <a:lstStyle/>
          <a:p>
            <a:pPr marL="0" indent="0" algn="l">
              <a:spcAft>
                <a:spcPts val="600"/>
              </a:spcAft>
              <a:buNone/>
            </a:pPr>
            <a:r>
              <a:rPr lang="en-US" sz="1300" b="1" dirty="0">
                <a:solidFill>
                  <a:srgbClr val="2C2C2C"/>
                </a:solidFill>
                <a:latin typeface="Arial" pitchFamily="34" charset="0"/>
                <a:ea typeface="Arial" pitchFamily="34" charset="-122"/>
                <a:cs typeface="Arial" pitchFamily="34" charset="-120"/>
              </a:rPr>
              <a:t>Definition.</a:t>
            </a:r>
            <a:r>
              <a:rPr lang="en-US" sz="1300" dirty="0">
                <a:solidFill>
                  <a:srgbClr val="2C2C2C"/>
                </a:solidFill>
                <a:latin typeface="Arial" pitchFamily="34" charset="0"/>
                <a:ea typeface="Arial" pitchFamily="34" charset="-122"/>
                <a:cs typeface="Arial" pitchFamily="34" charset="-120"/>
              </a:rPr>
              <a:t> The </a:t>
            </a:r>
            <a:r>
              <a:rPr lang="en-US" sz="1300" b="1" dirty="0">
                <a:solidFill>
                  <a:srgbClr val="2C2C2C"/>
                </a:solidFill>
                <a:latin typeface="Arial" pitchFamily="34" charset="0"/>
                <a:ea typeface="Arial" pitchFamily="34" charset="-122"/>
                <a:cs typeface="Arial" pitchFamily="34" charset="-120"/>
              </a:rPr>
              <a:t>CEK agentic evaluator</a:t>
            </a:r>
            <a:r>
              <a:rPr lang="en-US" sz="1300" dirty="0">
                <a:solidFill>
                  <a:srgbClr val="2C2C2C"/>
                </a:solidFill>
                <a:latin typeface="Arial" pitchFamily="34" charset="0"/>
                <a:ea typeface="Arial" pitchFamily="34" charset="-122"/>
                <a:cs typeface="Arial" pitchFamily="34" charset="-120"/>
              </a:rPr>
              <a:t> is an agentic machine whose states are </a:t>
            </a:r>
            <a:r>
              <a:rPr lang="en-US" sz="1300" b="1" dirty="0">
                <a:solidFill>
                  <a:srgbClr val="2C2C2C"/>
                </a:solidFill>
                <a:latin typeface="Arial" pitchFamily="34" charset="0"/>
                <a:ea typeface="Arial" pitchFamily="34" charset="-122"/>
                <a:cs typeface="Arial" pitchFamily="34" charset="-120"/>
              </a:rPr>
              <a:t>boundary states of the CEK machine</a:t>
            </a:r>
            <a:r>
              <a:rPr lang="en-US" sz="1300" dirty="0">
                <a:solidFill>
                  <a:srgbClr val="2C2C2C"/>
                </a:solidFill>
                <a:latin typeface="Arial" pitchFamily="34" charset="0"/>
                <a:ea typeface="Arial" pitchFamily="34" charset="-122"/>
                <a:cs typeface="Arial" pitchFamily="34" charset="-120"/>
              </a:rPr>
              <a:t> at which the next step is to evaluate </a:t>
            </a:r>
            <a:r>
              <a:rPr lang="en-US" sz="1300" dirty="0">
                <a:solidFill>
                  <a:srgbClr val="277884"/>
                </a:solidFill>
                <a:latin typeface="Arial" pitchFamily="34" charset="0"/>
                <a:ea typeface="Arial" pitchFamily="34" charset="-122"/>
                <a:cs typeface="Arial" pitchFamily="34" charset="-120"/>
              </a:rPr>
              <a:t>lm</a:t>
            </a:r>
            <a:r>
              <a:rPr lang="en-US" sz="1300" dirty="0">
                <a:solidFill>
                  <a:srgbClr val="2C2C2C"/>
                </a:solidFill>
                <a:latin typeface="Arial" pitchFamily="34" charset="0"/>
                <a:ea typeface="Arial" pitchFamily="34" charset="-122"/>
                <a:cs typeface="Arial" pitchFamily="34" charset="-120"/>
              </a:rPr>
              <a:t>:</a:t>
            </a:r>
            <a:endParaRPr lang="en-US" sz="1300" dirty="0"/>
          </a:p>
        </p:txBody>
      </p:sp>
      <p:sp>
        <p:nvSpPr>
          <p:cNvPr id="9" name="Text 7"/>
          <p:cNvSpPr/>
          <p:nvPr/>
        </p:nvSpPr>
        <p:spPr>
          <a:xfrm>
            <a:off x="593675" y="2019002"/>
            <a:ext cx="8004274" cy="422077"/>
          </a:xfrm>
          <a:prstGeom prst="rect">
            <a:avLst/>
          </a:prstGeom>
          <a:solidFill>
            <a:srgbClr val="EDEDF3"/>
          </a:solidFill>
          <a:ln/>
        </p:spPr>
        <p:txBody>
          <a:bodyPr wrap="square" rtlCol="0" anchor="ctr"/>
          <a:lstStyle/>
          <a:p>
            <a:pPr marL="0" indent="0">
              <a:buNone/>
            </a:pPr>
            <a:endParaRPr lang="en-US" dirty="0"/>
          </a:p>
        </p:txBody>
      </p:sp>
      <p:sp>
        <p:nvSpPr>
          <p:cNvPr id="10" name="Shape 8"/>
          <p:cNvSpPr/>
          <p:nvPr/>
        </p:nvSpPr>
        <p:spPr>
          <a:xfrm>
            <a:off x="617488" y="2019002"/>
            <a:ext cx="0" cy="422077"/>
          </a:xfrm>
          <a:prstGeom prst="line">
            <a:avLst/>
          </a:prstGeom>
          <a:noFill/>
          <a:ln w="47625">
            <a:solidFill>
              <a:srgbClr val="4A5568"/>
            </a:solidFill>
            <a:prstDash val="solid"/>
          </a:ln>
        </p:spPr>
        <p:txBody>
          <a:bodyPr/>
          <a:lstStyle/>
          <a:p>
            <a:endParaRPr lang="en-US"/>
          </a:p>
        </p:txBody>
      </p:sp>
      <p:sp>
        <p:nvSpPr>
          <p:cNvPr id="11" name="Text 9"/>
          <p:cNvSpPr/>
          <p:nvPr/>
        </p:nvSpPr>
        <p:spPr>
          <a:xfrm>
            <a:off x="806351" y="2120503"/>
            <a:ext cx="7779079" cy="219075"/>
          </a:xfrm>
          <a:prstGeom prst="rect">
            <a:avLst/>
          </a:prstGeom>
          <a:noFill/>
          <a:ln/>
        </p:spPr>
        <p:txBody>
          <a:bodyPr wrap="square" lIns="0" tIns="0" rIns="0" bIns="0" rtlCol="0" anchor="t"/>
          <a:lstStyle/>
          <a:p>
            <a:pPr marL="0" indent="0" algn="l">
              <a:buNone/>
            </a:pPr>
            <a:r>
              <a:rPr lang="en-US" sz="1500" b="1" dirty="0">
                <a:solidFill>
                  <a:srgbClr val="2C2C2C"/>
                </a:solidFill>
                <a:latin typeface="Courier New" pitchFamily="34" charset="0"/>
                <a:ea typeface="Courier New" pitchFamily="34" charset="-122"/>
                <a:cs typeface="Courier New" pitchFamily="34" charset="-120"/>
              </a:rPr>
              <a:t>let</a:t>
            </a:r>
            <a:r>
              <a:rPr lang="en-US" sz="1500" dirty="0">
                <a:solidFill>
                  <a:srgbClr val="2C2C2C"/>
                </a:solidFill>
                <a:latin typeface="Courier New" pitchFamily="34" charset="0"/>
                <a:ea typeface="Courier New" pitchFamily="34" charset="-122"/>
                <a:cs typeface="Courier New" pitchFamily="34" charset="-120"/>
              </a:rPr>
              <a:t> y = </a:t>
            </a:r>
            <a:r>
              <a:rPr lang="en-US" sz="1500" b="1" dirty="0" err="1">
                <a:solidFill>
                  <a:srgbClr val="277884"/>
                </a:solidFill>
                <a:latin typeface="Courier New" pitchFamily="34" charset="0"/>
                <a:ea typeface="Courier New" pitchFamily="34" charset="-122"/>
                <a:cs typeface="Courier New" pitchFamily="34" charset="-120"/>
              </a:rPr>
              <a:t>lm</a:t>
            </a:r>
            <a:r>
              <a:rPr lang="en-US" sz="1500" dirty="0">
                <a:solidFill>
                  <a:srgbClr val="2C2C2C"/>
                </a:solidFill>
                <a:latin typeface="Courier New" pitchFamily="34" charset="0"/>
                <a:ea typeface="Courier New" pitchFamily="34" charset="-122"/>
                <a:cs typeface="Courier New" pitchFamily="34" charset="-120"/>
              </a:rPr>
              <a:t> q </a:t>
            </a:r>
            <a:r>
              <a:rPr lang="en-US" sz="1500" b="1" dirty="0">
                <a:solidFill>
                  <a:srgbClr val="2C2C2C"/>
                </a:solidFill>
                <a:latin typeface="Courier New" pitchFamily="34" charset="0"/>
                <a:ea typeface="Courier New" pitchFamily="34" charset="-122"/>
                <a:cs typeface="Courier New" pitchFamily="34" charset="-120"/>
              </a:rPr>
              <a:t>in</a:t>
            </a:r>
            <a:r>
              <a:rPr lang="en-US" sz="1500" dirty="0">
                <a:solidFill>
                  <a:srgbClr val="2C2C2C"/>
                </a:solidFill>
                <a:latin typeface="Courier New" pitchFamily="34" charset="0"/>
                <a:ea typeface="Courier New" pitchFamily="34" charset="-122"/>
                <a:cs typeface="Courier New" pitchFamily="34" charset="-120"/>
              </a:rPr>
              <a:t> ...</a:t>
            </a:r>
            <a:endParaRPr lang="en-US" sz="1500" dirty="0"/>
          </a:p>
        </p:txBody>
      </p:sp>
      <p:pic>
        <p:nvPicPr>
          <p:cNvPr id="14" name="Image 0" descr="/Users/lukeoconnor/Dropbox/GitHub/spell/workspace/theory-slides/img/completion-gen.png">
            <a:extLst>
              <a:ext uri="{FF2B5EF4-FFF2-40B4-BE49-F238E27FC236}">
                <a16:creationId xmlns:a16="http://schemas.microsoft.com/office/drawing/2014/main" id="{FB18D060-19BD-1387-3690-7EFA0971F92E}"/>
              </a:ext>
            </a:extLst>
          </p:cNvPr>
          <p:cNvPicPr>
            <a:picLocks noChangeAspect="1"/>
          </p:cNvPicPr>
          <p:nvPr/>
        </p:nvPicPr>
        <p:blipFill>
          <a:blip r:embed="rId3"/>
          <a:stretch>
            <a:fillRect/>
          </a:stretch>
        </p:blipFill>
        <p:spPr>
          <a:xfrm>
            <a:off x="2667000" y="2669679"/>
            <a:ext cx="3810000" cy="2309217"/>
          </a:xfrm>
          <a:prstGeom prst="rect">
            <a:avLst/>
          </a:prstGeom>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0" y="0"/>
            <a:ext cx="9144000" cy="711101"/>
          </a:xfrm>
          <a:prstGeom prst="rect">
            <a:avLst/>
          </a:prstGeom>
          <a:solidFill>
            <a:srgbClr val="1B2838"/>
          </a:solidFill>
          <a:ln/>
        </p:spPr>
        <p:txBody>
          <a:bodyPr wrap="square" rtlCol="0" anchor="ctr"/>
          <a:lstStyle/>
          <a:p>
            <a:pPr marL="0" indent="0">
              <a:buNone/>
            </a:pPr>
            <a:endParaRPr lang="en-US" dirty="0"/>
          </a:p>
        </p:txBody>
      </p:sp>
      <p:sp>
        <p:nvSpPr>
          <p:cNvPr id="3" name="Text 1"/>
          <p:cNvSpPr/>
          <p:nvPr/>
        </p:nvSpPr>
        <p:spPr>
          <a:xfrm>
            <a:off x="381000" y="203150"/>
            <a:ext cx="1436528" cy="304800"/>
          </a:xfrm>
          <a:prstGeom prst="rect">
            <a:avLst/>
          </a:prstGeom>
          <a:noFill/>
          <a:ln/>
        </p:spPr>
        <p:txBody>
          <a:bodyPr wrap="square" lIns="0" tIns="0" rIns="0" bIns="0" rtlCol="0" anchor="t"/>
          <a:lstStyle/>
          <a:p>
            <a:pPr marL="0" indent="0" algn="l">
              <a:buNone/>
            </a:pPr>
            <a:r>
              <a:rPr lang="en-US" sz="2100" b="1" dirty="0">
                <a:solidFill>
                  <a:srgbClr val="FFFFFF"/>
                </a:solidFill>
                <a:latin typeface="Arial" pitchFamily="34" charset="0"/>
                <a:ea typeface="Arial" pitchFamily="34" charset="-122"/>
                <a:cs typeface="Arial" pitchFamily="34" charset="-120"/>
              </a:rPr>
              <a:t>SPE States</a:t>
            </a:r>
            <a:endParaRPr lang="en-US" sz="2100" dirty="0"/>
          </a:p>
        </p:txBody>
      </p:sp>
      <p:sp>
        <p:nvSpPr>
          <p:cNvPr id="4" name="Text 2"/>
          <p:cNvSpPr/>
          <p:nvPr/>
        </p:nvSpPr>
        <p:spPr>
          <a:xfrm>
            <a:off x="0" y="711101"/>
            <a:ext cx="9144000" cy="38100"/>
          </a:xfrm>
          <a:prstGeom prst="rect">
            <a:avLst/>
          </a:prstGeom>
          <a:solidFill>
            <a:srgbClr val="277884"/>
          </a:solidFill>
          <a:ln/>
        </p:spPr>
        <p:txBody>
          <a:bodyPr wrap="square" rtlCol="0" anchor="ctr"/>
          <a:lstStyle/>
          <a:p>
            <a:pPr marL="0" indent="0">
              <a:buNone/>
            </a:pPr>
            <a:endParaRPr lang="en-US" dirty="0"/>
          </a:p>
        </p:txBody>
      </p:sp>
      <p:sp>
        <p:nvSpPr>
          <p:cNvPr id="5" name="Text 3"/>
          <p:cNvSpPr/>
          <p:nvPr/>
        </p:nvSpPr>
        <p:spPr>
          <a:xfrm>
            <a:off x="381000" y="1003102"/>
            <a:ext cx="8382000" cy="628650"/>
          </a:xfrm>
          <a:prstGeom prst="rect">
            <a:avLst/>
          </a:prstGeom>
          <a:solidFill>
            <a:srgbClr val="E8F4F2"/>
          </a:solidFill>
          <a:ln/>
        </p:spPr>
        <p:txBody>
          <a:bodyPr wrap="square" rtlCol="0" anchor="ctr"/>
          <a:lstStyle/>
          <a:p>
            <a:pPr marL="0" indent="0">
              <a:buNone/>
            </a:pPr>
            <a:endParaRPr lang="en-US" dirty="0"/>
          </a:p>
        </p:txBody>
      </p:sp>
      <p:sp>
        <p:nvSpPr>
          <p:cNvPr id="6" name="Shape 4"/>
          <p:cNvSpPr/>
          <p:nvPr/>
        </p:nvSpPr>
        <p:spPr>
          <a:xfrm>
            <a:off x="404813" y="1003102"/>
            <a:ext cx="0" cy="628650"/>
          </a:xfrm>
          <a:prstGeom prst="line">
            <a:avLst/>
          </a:prstGeom>
          <a:noFill/>
          <a:ln w="47625">
            <a:solidFill>
              <a:srgbClr val="277884"/>
            </a:solidFill>
            <a:prstDash val="solid"/>
          </a:ln>
        </p:spPr>
        <p:txBody>
          <a:bodyPr/>
          <a:lstStyle/>
          <a:p>
            <a:endParaRPr lang="en-US"/>
          </a:p>
        </p:txBody>
      </p:sp>
      <p:sp>
        <p:nvSpPr>
          <p:cNvPr id="7" name="Text 5"/>
          <p:cNvSpPr/>
          <p:nvPr/>
        </p:nvSpPr>
        <p:spPr>
          <a:xfrm>
            <a:off x="593675" y="1117402"/>
            <a:ext cx="8164360" cy="400050"/>
          </a:xfrm>
          <a:prstGeom prst="rect">
            <a:avLst/>
          </a:prstGeom>
          <a:noFill/>
          <a:ln/>
        </p:spPr>
        <p:txBody>
          <a:bodyPr wrap="square" lIns="0" tIns="0" rIns="0" bIns="0" rtlCol="0" anchor="t"/>
          <a:lstStyle/>
          <a:p>
            <a:pPr marL="0" indent="0" algn="l">
              <a:buNone/>
            </a:pPr>
            <a:r>
              <a:rPr lang="en-US" sz="1300" b="1" dirty="0">
                <a:solidFill>
                  <a:srgbClr val="2C2C2C"/>
                </a:solidFill>
                <a:latin typeface="Arial" pitchFamily="34" charset="0"/>
                <a:ea typeface="Arial" pitchFamily="34" charset="-122"/>
                <a:cs typeface="Arial" pitchFamily="34" charset="-120"/>
              </a:rPr>
              <a:t>Definition.</a:t>
            </a:r>
            <a:r>
              <a:rPr lang="en-US" sz="1300" dirty="0">
                <a:solidFill>
                  <a:srgbClr val="2C2C2C"/>
                </a:solidFill>
                <a:latin typeface="Arial" pitchFamily="34" charset="0"/>
                <a:ea typeface="Arial" pitchFamily="34" charset="-122"/>
                <a:cs typeface="Arial" pitchFamily="34" charset="-120"/>
              </a:rPr>
              <a:t> A state </a:t>
            </a:r>
            <a:r>
              <a:rPr lang="en-US" sz="1300" i="1" dirty="0">
                <a:solidFill>
                  <a:srgbClr val="2C2C2C"/>
                </a:solidFill>
                <a:latin typeface="Arial" pitchFamily="34" charset="0"/>
                <a:ea typeface="Arial" pitchFamily="34" charset="-122"/>
                <a:cs typeface="Arial" pitchFamily="34" charset="-120"/>
              </a:rPr>
              <a:t>x</a:t>
            </a:r>
            <a:r>
              <a:rPr lang="en-US" sz="1300" dirty="0">
                <a:solidFill>
                  <a:srgbClr val="2C2C2C"/>
                </a:solidFill>
                <a:latin typeface="Arial" pitchFamily="34" charset="0"/>
                <a:ea typeface="Arial" pitchFamily="34" charset="-122"/>
                <a:cs typeface="Arial" pitchFamily="34" charset="-120"/>
              </a:rPr>
              <a:t> is an </a:t>
            </a:r>
            <a:r>
              <a:rPr lang="en-US" sz="1300" b="1" dirty="0">
                <a:solidFill>
                  <a:srgbClr val="2C2C2C"/>
                </a:solidFill>
                <a:latin typeface="Arial" pitchFamily="34" charset="0"/>
                <a:ea typeface="Arial" pitchFamily="34" charset="-122"/>
                <a:cs typeface="Arial" pitchFamily="34" charset="-120"/>
              </a:rPr>
              <a:t>SPE state</a:t>
            </a:r>
            <a:r>
              <a:rPr lang="en-US" sz="1300" dirty="0">
                <a:solidFill>
                  <a:srgbClr val="2C2C2C"/>
                </a:solidFill>
                <a:latin typeface="Arial" pitchFamily="34" charset="0"/>
                <a:ea typeface="Arial" pitchFamily="34" charset="-122"/>
                <a:cs typeface="Arial" pitchFamily="34" charset="-120"/>
              </a:rPr>
              <a:t> of </a:t>
            </a:r>
            <a:r>
              <a:rPr lang="en-US" sz="1300" i="1" dirty="0">
                <a:solidFill>
                  <a:srgbClr val="2C2C2C"/>
                </a:solidFill>
                <a:latin typeface="Arial" pitchFamily="34" charset="0"/>
                <a:ea typeface="Arial" pitchFamily="34" charset="-122"/>
                <a:cs typeface="Arial" pitchFamily="34" charset="-120"/>
              </a:rPr>
              <a:t>X</a:t>
            </a:r>
            <a:r>
              <a:rPr lang="en-US" sz="1300" dirty="0">
                <a:solidFill>
                  <a:srgbClr val="2C2C2C"/>
                </a:solidFill>
                <a:latin typeface="Arial" pitchFamily="34" charset="0"/>
                <a:ea typeface="Arial" pitchFamily="34" charset="-122"/>
                <a:cs typeface="Arial" pitchFamily="34" charset="-120"/>
              </a:rPr>
              <a:t> if (</a:t>
            </a:r>
            <a:r>
              <a:rPr lang="en-US" sz="1300" i="1" dirty="0">
                <a:solidFill>
                  <a:srgbClr val="2C2C2C"/>
                </a:solidFill>
                <a:latin typeface="Arial" pitchFamily="34" charset="0"/>
                <a:ea typeface="Arial" pitchFamily="34" charset="-122"/>
                <a:cs typeface="Arial" pitchFamily="34" charset="-120"/>
              </a:rPr>
              <a:t>X</a:t>
            </a:r>
            <a:r>
              <a:rPr lang="en-US" sz="1300" dirty="0">
                <a:solidFill>
                  <a:srgbClr val="2C2C2C"/>
                </a:solidFill>
                <a:latin typeface="Arial" pitchFamily="34" charset="0"/>
                <a:ea typeface="Arial" pitchFamily="34" charset="-122"/>
                <a:cs typeface="Arial" pitchFamily="34" charset="-120"/>
              </a:rPr>
              <a:t>, </a:t>
            </a:r>
            <a:r>
              <a:rPr lang="en-US" sz="1300" i="1" dirty="0">
                <a:solidFill>
                  <a:srgbClr val="2C2C2C"/>
                </a:solidFill>
                <a:latin typeface="Arial" pitchFamily="34" charset="0"/>
                <a:ea typeface="Arial" pitchFamily="34" charset="-122"/>
                <a:cs typeface="Arial" pitchFamily="34" charset="-120"/>
              </a:rPr>
              <a:t>x</a:t>
            </a:r>
            <a:r>
              <a:rPr lang="en-US" sz="1300" dirty="0">
                <a:solidFill>
                  <a:srgbClr val="2C2C2C"/>
                </a:solidFill>
                <a:latin typeface="Arial" pitchFamily="34" charset="0"/>
                <a:ea typeface="Arial" pitchFamily="34" charset="-122"/>
                <a:cs typeface="Arial" pitchFamily="34" charset="-120"/>
              </a:rPr>
              <a:t>) completion-generates </a:t>
            </a:r>
            <a:r>
              <a:rPr lang="en-US" sz="1300" i="1" dirty="0">
                <a:solidFill>
                  <a:srgbClr val="2C2C2C"/>
                </a:solidFill>
                <a:latin typeface="Arial" pitchFamily="34" charset="0"/>
                <a:ea typeface="Arial" pitchFamily="34" charset="-122"/>
                <a:cs typeface="Arial" pitchFamily="34" charset="-120"/>
              </a:rPr>
              <a:t>X</a:t>
            </a:r>
            <a:r>
              <a:rPr lang="en-US" sz="1300" dirty="0">
                <a:solidFill>
                  <a:srgbClr val="2C2C2C"/>
                </a:solidFill>
                <a:latin typeface="Arial" pitchFamily="34" charset="0"/>
                <a:ea typeface="Arial" pitchFamily="34" charset="-122"/>
                <a:cs typeface="Arial" pitchFamily="34" charset="-120"/>
              </a:rPr>
              <a:t> itself. From one state, the model can reach an embedded copy of </a:t>
            </a:r>
            <a:r>
              <a:rPr lang="en-US" sz="1300" i="1" dirty="0">
                <a:solidFill>
                  <a:srgbClr val="2C2C2C"/>
                </a:solidFill>
                <a:latin typeface="Arial" pitchFamily="34" charset="0"/>
                <a:ea typeface="Arial" pitchFamily="34" charset="-122"/>
                <a:cs typeface="Arial" pitchFamily="34" charset="-120"/>
              </a:rPr>
              <a:t>any</a:t>
            </a:r>
            <a:r>
              <a:rPr lang="en-US" sz="1300" dirty="0">
                <a:solidFill>
                  <a:srgbClr val="2C2C2C"/>
                </a:solidFill>
                <a:latin typeface="Arial" pitchFamily="34" charset="0"/>
                <a:ea typeface="Arial" pitchFamily="34" charset="-122"/>
                <a:cs typeface="Arial" pitchFamily="34" charset="-120"/>
              </a:rPr>
              <a:t> state of the machine.</a:t>
            </a:r>
            <a:endParaRPr lang="en-US" sz="1300" dirty="0"/>
          </a:p>
        </p:txBody>
      </p:sp>
      <p:sp>
        <p:nvSpPr>
          <p:cNvPr id="8" name="Text 6"/>
          <p:cNvSpPr/>
          <p:nvPr/>
        </p:nvSpPr>
        <p:spPr>
          <a:xfrm>
            <a:off x="381000" y="1733252"/>
            <a:ext cx="8382000" cy="1212652"/>
          </a:xfrm>
          <a:prstGeom prst="rect">
            <a:avLst/>
          </a:prstGeom>
          <a:solidFill>
            <a:srgbClr val="FFF8F0"/>
          </a:solidFill>
          <a:ln/>
        </p:spPr>
        <p:txBody>
          <a:bodyPr wrap="square" rtlCol="0" anchor="ctr"/>
          <a:lstStyle/>
          <a:p>
            <a:pPr marL="0" indent="0">
              <a:buNone/>
            </a:pPr>
            <a:endParaRPr lang="en-US" dirty="0"/>
          </a:p>
        </p:txBody>
      </p:sp>
      <p:sp>
        <p:nvSpPr>
          <p:cNvPr id="9" name="Shape 7"/>
          <p:cNvSpPr/>
          <p:nvPr/>
        </p:nvSpPr>
        <p:spPr>
          <a:xfrm>
            <a:off x="404813" y="1733252"/>
            <a:ext cx="0" cy="1212652"/>
          </a:xfrm>
          <a:prstGeom prst="line">
            <a:avLst/>
          </a:prstGeom>
          <a:noFill/>
          <a:ln w="47625">
            <a:solidFill>
              <a:srgbClr val="D4A843"/>
            </a:solidFill>
            <a:prstDash val="solid"/>
          </a:ln>
        </p:spPr>
        <p:txBody>
          <a:bodyPr/>
          <a:lstStyle/>
          <a:p>
            <a:endParaRPr lang="en-US"/>
          </a:p>
        </p:txBody>
      </p:sp>
      <p:sp>
        <p:nvSpPr>
          <p:cNvPr id="10" name="Text 8"/>
          <p:cNvSpPr/>
          <p:nvPr/>
        </p:nvSpPr>
        <p:spPr>
          <a:xfrm>
            <a:off x="593675" y="1847552"/>
            <a:ext cx="8164360" cy="209550"/>
          </a:xfrm>
          <a:prstGeom prst="rect">
            <a:avLst/>
          </a:prstGeom>
          <a:noFill/>
          <a:ln/>
        </p:spPr>
        <p:txBody>
          <a:bodyPr wrap="square" lIns="0" tIns="0" rIns="0" bIns="0" rtlCol="0" anchor="t"/>
          <a:lstStyle/>
          <a:p>
            <a:pPr marL="0" indent="0" algn="l">
              <a:spcAft>
                <a:spcPts val="600"/>
              </a:spcAft>
              <a:buNone/>
            </a:pPr>
            <a:r>
              <a:rPr lang="en-US" sz="1400" b="1" dirty="0">
                <a:solidFill>
                  <a:srgbClr val="2C2C2C"/>
                </a:solidFill>
                <a:latin typeface="Arial" pitchFamily="34" charset="0"/>
                <a:ea typeface="Arial" pitchFamily="34" charset="-122"/>
                <a:cs typeface="Arial" pitchFamily="34" charset="-120"/>
              </a:rPr>
              <a:t>Theorem C.5.2.</a:t>
            </a:r>
            <a:r>
              <a:rPr lang="en-US" sz="1400" dirty="0">
                <a:solidFill>
                  <a:srgbClr val="2C2C2C"/>
                </a:solidFill>
                <a:latin typeface="Arial" pitchFamily="34" charset="0"/>
                <a:ea typeface="Arial" pitchFamily="34" charset="-122"/>
                <a:cs typeface="Arial" pitchFamily="34" charset="-120"/>
              </a:rPr>
              <a:t> The CEK agentic evaluator contains an SPE state.</a:t>
            </a:r>
            <a:endParaRPr lang="en-US" sz="1400" dirty="0"/>
          </a:p>
        </p:txBody>
      </p:sp>
      <p:sp>
        <p:nvSpPr>
          <p:cNvPr id="11" name="Text 9"/>
          <p:cNvSpPr/>
          <p:nvPr/>
        </p:nvSpPr>
        <p:spPr>
          <a:xfrm>
            <a:off x="593675" y="2133302"/>
            <a:ext cx="8164360" cy="171450"/>
          </a:xfrm>
          <a:prstGeom prst="rect">
            <a:avLst/>
          </a:prstGeom>
          <a:noFill/>
          <a:ln/>
        </p:spPr>
        <p:txBody>
          <a:bodyPr wrap="square" lIns="0" tIns="0" rIns="0" bIns="0" rtlCol="0" anchor="t"/>
          <a:lstStyle/>
          <a:p>
            <a:pPr marL="0" indent="0" algn="l">
              <a:buNone/>
            </a:pPr>
            <a:r>
              <a:rPr lang="en-US" sz="1200" dirty="0">
                <a:solidFill>
                  <a:srgbClr val="2C2C2C"/>
                </a:solidFill>
                <a:latin typeface="Arial" pitchFamily="34" charset="0"/>
                <a:ea typeface="Arial" pitchFamily="34" charset="-122"/>
                <a:cs typeface="Arial" pitchFamily="34" charset="-120"/>
              </a:rPr>
              <a:t>The seed state is produced by evaluating:</a:t>
            </a:r>
            <a:endParaRPr lang="en-US" sz="1200" dirty="0"/>
          </a:p>
        </p:txBody>
      </p:sp>
      <p:sp>
        <p:nvSpPr>
          <p:cNvPr id="12" name="Text 10"/>
          <p:cNvSpPr/>
          <p:nvPr/>
        </p:nvSpPr>
        <p:spPr>
          <a:xfrm>
            <a:off x="593675" y="2380952"/>
            <a:ext cx="8004274" cy="450652"/>
          </a:xfrm>
          <a:prstGeom prst="rect">
            <a:avLst/>
          </a:prstGeom>
          <a:solidFill>
            <a:srgbClr val="EDEDF3"/>
          </a:solidFill>
          <a:ln/>
        </p:spPr>
        <p:txBody>
          <a:bodyPr wrap="square" rtlCol="0" anchor="ctr"/>
          <a:lstStyle/>
          <a:p>
            <a:pPr marL="0" indent="0">
              <a:buNone/>
            </a:pPr>
            <a:endParaRPr lang="en-US" dirty="0"/>
          </a:p>
        </p:txBody>
      </p:sp>
      <p:sp>
        <p:nvSpPr>
          <p:cNvPr id="13" name="Shape 11"/>
          <p:cNvSpPr/>
          <p:nvPr/>
        </p:nvSpPr>
        <p:spPr>
          <a:xfrm>
            <a:off x="617488" y="2380952"/>
            <a:ext cx="0" cy="450652"/>
          </a:xfrm>
          <a:prstGeom prst="line">
            <a:avLst/>
          </a:prstGeom>
          <a:noFill/>
          <a:ln w="47625">
            <a:solidFill>
              <a:srgbClr val="4A5568"/>
            </a:solidFill>
            <a:prstDash val="solid"/>
          </a:ln>
        </p:spPr>
        <p:txBody>
          <a:bodyPr/>
          <a:lstStyle/>
          <a:p>
            <a:endParaRPr lang="en-US"/>
          </a:p>
        </p:txBody>
      </p:sp>
      <p:sp>
        <p:nvSpPr>
          <p:cNvPr id="14" name="Text 12"/>
          <p:cNvSpPr/>
          <p:nvPr/>
        </p:nvSpPr>
        <p:spPr>
          <a:xfrm>
            <a:off x="806351" y="2482453"/>
            <a:ext cx="7779079" cy="247650"/>
          </a:xfrm>
          <a:prstGeom prst="rect">
            <a:avLst/>
          </a:prstGeom>
          <a:noFill/>
          <a:ln/>
        </p:spPr>
        <p:txBody>
          <a:bodyPr wrap="square" lIns="0" tIns="0" rIns="0" bIns="0" rtlCol="0" anchor="t"/>
          <a:lstStyle/>
          <a:p>
            <a:pPr marL="0" indent="0" algn="l">
              <a:buNone/>
            </a:pPr>
            <a:r>
              <a:rPr lang="en-US" sz="1700" b="1" dirty="0">
                <a:solidFill>
                  <a:srgbClr val="2C2C2C"/>
                </a:solidFill>
                <a:latin typeface="Courier New" pitchFamily="34" charset="0"/>
                <a:ea typeface="Courier New" pitchFamily="34" charset="-122"/>
                <a:cs typeface="Courier New" pitchFamily="34" charset="-120"/>
              </a:rPr>
              <a:t>let</a:t>
            </a:r>
            <a:r>
              <a:rPr lang="en-US" sz="1700" dirty="0">
                <a:solidFill>
                  <a:srgbClr val="2C2C2C"/>
                </a:solidFill>
                <a:latin typeface="Courier New" pitchFamily="34" charset="0"/>
                <a:ea typeface="Courier New" pitchFamily="34" charset="-122"/>
                <a:cs typeface="Courier New" pitchFamily="34" charset="-120"/>
              </a:rPr>
              <a:t> y = </a:t>
            </a:r>
            <a:r>
              <a:rPr lang="en-US" sz="1700" b="1" dirty="0">
                <a:solidFill>
                  <a:srgbClr val="277884"/>
                </a:solidFill>
                <a:latin typeface="Courier New" pitchFamily="34" charset="0"/>
                <a:ea typeface="Courier New" pitchFamily="34" charset="-122"/>
                <a:cs typeface="Courier New" pitchFamily="34" charset="-120"/>
              </a:rPr>
              <a:t>lm</a:t>
            </a:r>
            <a:r>
              <a:rPr lang="en-US" sz="1700" dirty="0">
                <a:solidFill>
                  <a:srgbClr val="2C2C2C"/>
                </a:solidFill>
                <a:latin typeface="Courier New" pitchFamily="34" charset="0"/>
                <a:ea typeface="Courier New" pitchFamily="34" charset="-122"/>
                <a:cs typeface="Courier New" pitchFamily="34" charset="-120"/>
              </a:rPr>
              <a:t> q </a:t>
            </a:r>
            <a:r>
              <a:rPr lang="en-US" sz="1700" b="1" dirty="0">
                <a:solidFill>
                  <a:srgbClr val="2C2C2C"/>
                </a:solidFill>
                <a:latin typeface="Courier New" pitchFamily="34" charset="0"/>
                <a:ea typeface="Courier New" pitchFamily="34" charset="-122"/>
                <a:cs typeface="Courier New" pitchFamily="34" charset="-120"/>
              </a:rPr>
              <a:t>in</a:t>
            </a:r>
            <a:r>
              <a:rPr lang="en-US" sz="1700" dirty="0">
                <a:solidFill>
                  <a:srgbClr val="2C2C2C"/>
                </a:solidFill>
                <a:latin typeface="Courier New" pitchFamily="34" charset="0"/>
                <a:ea typeface="Courier New" pitchFamily="34" charset="-122"/>
                <a:cs typeface="Courier New" pitchFamily="34" charset="-120"/>
              </a:rPr>
              <a:t> </a:t>
            </a:r>
            <a:r>
              <a:rPr lang="en-US" sz="1700" b="1" dirty="0">
                <a:solidFill>
                  <a:srgbClr val="E07A5F"/>
                </a:solidFill>
                <a:latin typeface="Courier New" pitchFamily="34" charset="0"/>
                <a:ea typeface="Courier New" pitchFamily="34" charset="-122"/>
                <a:cs typeface="Courier New" pitchFamily="34" charset="-120"/>
              </a:rPr>
              <a:t>eval</a:t>
            </a:r>
            <a:r>
              <a:rPr lang="en-US" sz="1700" dirty="0">
                <a:solidFill>
                  <a:srgbClr val="2C2C2C"/>
                </a:solidFill>
                <a:latin typeface="Courier New" pitchFamily="34" charset="0"/>
                <a:ea typeface="Courier New" pitchFamily="34" charset="-122"/>
                <a:cs typeface="Courier New" pitchFamily="34" charset="-120"/>
              </a:rPr>
              <a:t> y</a:t>
            </a:r>
            <a:endParaRPr lang="en-US" sz="1700" dirty="0"/>
          </a:p>
        </p:txBody>
      </p:sp>
      <p:sp>
        <p:nvSpPr>
          <p:cNvPr id="15" name="Text 13"/>
          <p:cNvSpPr/>
          <p:nvPr/>
        </p:nvSpPr>
        <p:spPr>
          <a:xfrm>
            <a:off x="381000" y="3047405"/>
            <a:ext cx="8549640" cy="514350"/>
          </a:xfrm>
          <a:prstGeom prst="rect">
            <a:avLst/>
          </a:prstGeom>
          <a:noFill/>
          <a:ln/>
        </p:spPr>
        <p:txBody>
          <a:bodyPr wrap="square" lIns="0" tIns="0" rIns="0" bIns="0" rtlCol="0" anchor="t"/>
          <a:lstStyle/>
          <a:p>
            <a:pPr marL="0" indent="0" algn="l">
              <a:buNone/>
            </a:pPr>
            <a:r>
              <a:rPr lang="en-US" sz="1200" dirty="0">
                <a:solidFill>
                  <a:srgbClr val="444444"/>
                </a:solidFill>
                <a:latin typeface="Arial" pitchFamily="34" charset="0"/>
                <a:ea typeface="Arial" pitchFamily="34" charset="-122"/>
                <a:cs typeface="Arial" pitchFamily="34" charset="-120"/>
              </a:rPr>
              <a:t>Ask the model for a completion </a:t>
            </a:r>
            <a:r>
              <a:rPr lang="en-US" sz="1200" i="1" dirty="0">
                <a:solidFill>
                  <a:srgbClr val="444444"/>
                </a:solidFill>
                <a:latin typeface="Arial" pitchFamily="34" charset="0"/>
                <a:ea typeface="Arial" pitchFamily="34" charset="-122"/>
                <a:cs typeface="Arial" pitchFamily="34" charset="-120"/>
              </a:rPr>
              <a:t>y</a:t>
            </a:r>
            <a:r>
              <a:rPr lang="en-US" sz="1200" dirty="0">
                <a:solidFill>
                  <a:srgbClr val="444444"/>
                </a:solidFill>
                <a:latin typeface="Arial" pitchFamily="34" charset="0"/>
                <a:ea typeface="Arial" pitchFamily="34" charset="-122"/>
                <a:cs typeface="Arial" pitchFamily="34" charset="-120"/>
              </a:rPr>
              <a:t>, then evaluate </a:t>
            </a:r>
            <a:r>
              <a:rPr lang="en-US" sz="1200" i="1" dirty="0">
                <a:solidFill>
                  <a:srgbClr val="444444"/>
                </a:solidFill>
                <a:latin typeface="Arial" pitchFamily="34" charset="0"/>
                <a:ea typeface="Arial" pitchFamily="34" charset="-122"/>
                <a:cs typeface="Arial" pitchFamily="34" charset="-120"/>
              </a:rPr>
              <a:t>y</a:t>
            </a:r>
            <a:r>
              <a:rPr lang="en-US" sz="1200" dirty="0">
                <a:solidFill>
                  <a:srgbClr val="444444"/>
                </a:solidFill>
                <a:latin typeface="Arial" pitchFamily="34" charset="0"/>
                <a:ea typeface="Arial" pitchFamily="34" charset="-122"/>
                <a:cs typeface="Arial" pitchFamily="34" charset="-120"/>
              </a:rPr>
              <a:t> as code. </a:t>
            </a:r>
            <a:endParaRPr lang="en-US" sz="12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0" y="0"/>
            <a:ext cx="9144000" cy="711101"/>
          </a:xfrm>
          <a:prstGeom prst="rect">
            <a:avLst/>
          </a:prstGeom>
          <a:solidFill>
            <a:srgbClr val="1B2838"/>
          </a:solidFill>
          <a:ln/>
        </p:spPr>
        <p:txBody>
          <a:bodyPr wrap="square" rtlCol="0" anchor="ctr"/>
          <a:lstStyle/>
          <a:p>
            <a:pPr marL="0" indent="0">
              <a:buNone/>
            </a:pPr>
            <a:endParaRPr lang="en-US" dirty="0"/>
          </a:p>
        </p:txBody>
      </p:sp>
      <p:sp>
        <p:nvSpPr>
          <p:cNvPr id="3" name="Text 1"/>
          <p:cNvSpPr/>
          <p:nvPr/>
        </p:nvSpPr>
        <p:spPr>
          <a:xfrm>
            <a:off x="381000" y="203150"/>
            <a:ext cx="1542336" cy="304800"/>
          </a:xfrm>
          <a:prstGeom prst="rect">
            <a:avLst/>
          </a:prstGeom>
          <a:noFill/>
          <a:ln/>
        </p:spPr>
        <p:txBody>
          <a:bodyPr wrap="square" lIns="0" tIns="0" rIns="0" bIns="0" rtlCol="0" anchor="t"/>
          <a:lstStyle/>
          <a:p>
            <a:pPr marL="0" indent="0" algn="l">
              <a:buNone/>
            </a:pPr>
            <a:r>
              <a:rPr lang="en-US" sz="2100" b="1" dirty="0">
                <a:solidFill>
                  <a:srgbClr val="FFFFFF"/>
                </a:solidFill>
                <a:latin typeface="Arial" pitchFamily="34" charset="0"/>
                <a:ea typeface="Arial" pitchFamily="34" charset="-122"/>
                <a:cs typeface="Arial" pitchFamily="34" charset="-120"/>
              </a:rPr>
              <a:t>Universality</a:t>
            </a:r>
            <a:endParaRPr lang="en-US" sz="2100" dirty="0"/>
          </a:p>
        </p:txBody>
      </p:sp>
      <p:sp>
        <p:nvSpPr>
          <p:cNvPr id="4" name="Text 2"/>
          <p:cNvSpPr/>
          <p:nvPr/>
        </p:nvSpPr>
        <p:spPr>
          <a:xfrm>
            <a:off x="0" y="711101"/>
            <a:ext cx="9144000" cy="38100"/>
          </a:xfrm>
          <a:prstGeom prst="rect">
            <a:avLst/>
          </a:prstGeom>
          <a:solidFill>
            <a:srgbClr val="277884"/>
          </a:solidFill>
          <a:ln/>
        </p:spPr>
        <p:txBody>
          <a:bodyPr wrap="square" rtlCol="0" anchor="ctr"/>
          <a:lstStyle/>
          <a:p>
            <a:pPr marL="0" indent="0">
              <a:buNone/>
            </a:pPr>
            <a:endParaRPr lang="en-US" dirty="0"/>
          </a:p>
        </p:txBody>
      </p:sp>
      <p:sp>
        <p:nvSpPr>
          <p:cNvPr id="5" name="Text 3"/>
          <p:cNvSpPr/>
          <p:nvPr/>
        </p:nvSpPr>
        <p:spPr>
          <a:xfrm>
            <a:off x="381000" y="1053852"/>
            <a:ext cx="8382000" cy="758726"/>
          </a:xfrm>
          <a:prstGeom prst="rect">
            <a:avLst/>
          </a:prstGeom>
          <a:solidFill>
            <a:srgbClr val="FFF8F0"/>
          </a:solidFill>
          <a:ln/>
        </p:spPr>
        <p:txBody>
          <a:bodyPr wrap="square" rtlCol="0" anchor="ctr"/>
          <a:lstStyle/>
          <a:p>
            <a:pPr marL="0" indent="0">
              <a:buNone/>
            </a:pPr>
            <a:endParaRPr lang="en-US" dirty="0"/>
          </a:p>
        </p:txBody>
      </p:sp>
      <p:sp>
        <p:nvSpPr>
          <p:cNvPr id="6" name="Shape 4"/>
          <p:cNvSpPr/>
          <p:nvPr/>
        </p:nvSpPr>
        <p:spPr>
          <a:xfrm>
            <a:off x="404813" y="1053852"/>
            <a:ext cx="0" cy="758726"/>
          </a:xfrm>
          <a:prstGeom prst="line">
            <a:avLst/>
          </a:prstGeom>
          <a:noFill/>
          <a:ln w="47625">
            <a:solidFill>
              <a:srgbClr val="D4A843"/>
            </a:solidFill>
            <a:prstDash val="solid"/>
          </a:ln>
        </p:spPr>
        <p:txBody>
          <a:bodyPr/>
          <a:lstStyle/>
          <a:p>
            <a:endParaRPr lang="en-US"/>
          </a:p>
        </p:txBody>
      </p:sp>
      <p:sp>
        <p:nvSpPr>
          <p:cNvPr id="7" name="Text 5"/>
          <p:cNvSpPr/>
          <p:nvPr/>
        </p:nvSpPr>
        <p:spPr>
          <a:xfrm>
            <a:off x="593675" y="1168152"/>
            <a:ext cx="8164360" cy="219075"/>
          </a:xfrm>
          <a:prstGeom prst="rect">
            <a:avLst/>
          </a:prstGeom>
          <a:noFill/>
          <a:ln/>
        </p:spPr>
        <p:txBody>
          <a:bodyPr wrap="square" lIns="0" tIns="0" rIns="0" bIns="0" rtlCol="0" anchor="t"/>
          <a:lstStyle/>
          <a:p>
            <a:pPr marL="0" indent="0" algn="l">
              <a:spcAft>
                <a:spcPts val="800"/>
              </a:spcAft>
              <a:buNone/>
            </a:pPr>
            <a:r>
              <a:rPr lang="en-US" sz="1500" b="1" dirty="0">
                <a:solidFill>
                  <a:srgbClr val="2C2C2C"/>
                </a:solidFill>
                <a:latin typeface="Arial" pitchFamily="34" charset="0"/>
                <a:ea typeface="Arial" pitchFamily="34" charset="-122"/>
                <a:cs typeface="Arial" pitchFamily="34" charset="-120"/>
              </a:rPr>
              <a:t>Corollary.</a:t>
            </a:r>
            <a:endParaRPr lang="en-US" sz="1500" dirty="0"/>
          </a:p>
        </p:txBody>
      </p:sp>
      <p:sp>
        <p:nvSpPr>
          <p:cNvPr id="8" name="Text 6"/>
          <p:cNvSpPr/>
          <p:nvPr/>
        </p:nvSpPr>
        <p:spPr>
          <a:xfrm>
            <a:off x="593675" y="1488728"/>
            <a:ext cx="8164360" cy="209550"/>
          </a:xfrm>
          <a:prstGeom prst="rect">
            <a:avLst/>
          </a:prstGeom>
          <a:noFill/>
          <a:ln/>
        </p:spPr>
        <p:txBody>
          <a:bodyPr wrap="square" lIns="0" tIns="0" rIns="0" bIns="0" rtlCol="0" anchor="t"/>
          <a:lstStyle/>
          <a:p>
            <a:pPr marL="0" indent="0" algn="l">
              <a:buNone/>
            </a:pPr>
            <a:r>
              <a:rPr lang="en-US" sz="1400" dirty="0">
                <a:solidFill>
                  <a:srgbClr val="2C2C2C"/>
                </a:solidFill>
                <a:latin typeface="Arial" pitchFamily="34" charset="0"/>
                <a:ea typeface="Arial" pitchFamily="34" charset="-122"/>
                <a:cs typeface="Arial" pitchFamily="34" charset="-120"/>
              </a:rPr>
              <a:t>The SPE state of the agentic evaluator </a:t>
            </a:r>
            <a:r>
              <a:rPr lang="en-US" sz="1400" b="1" dirty="0">
                <a:solidFill>
                  <a:srgbClr val="2C2C2C"/>
                </a:solidFill>
                <a:latin typeface="Arial" pitchFamily="34" charset="0"/>
                <a:ea typeface="Arial" pitchFamily="34" charset="-122"/>
                <a:cs typeface="Arial" pitchFamily="34" charset="-120"/>
              </a:rPr>
              <a:t>completion-generates “any” computable harness</a:t>
            </a:r>
            <a:r>
              <a:rPr lang="en-US" sz="1400" dirty="0">
                <a:solidFill>
                  <a:srgbClr val="2C2C2C"/>
                </a:solidFill>
                <a:latin typeface="Arial" pitchFamily="34" charset="0"/>
                <a:ea typeface="Arial" pitchFamily="34" charset="-122"/>
                <a:cs typeface="Arial" pitchFamily="34" charset="-120"/>
              </a:rPr>
              <a:t>.</a:t>
            </a:r>
            <a:endParaRPr lang="en-US" sz="1400" dirty="0"/>
          </a:p>
        </p:txBody>
      </p:sp>
      <p:sp>
        <p:nvSpPr>
          <p:cNvPr id="9" name="Text 7"/>
          <p:cNvSpPr/>
          <p:nvPr/>
        </p:nvSpPr>
        <p:spPr>
          <a:xfrm>
            <a:off x="381000" y="1990279"/>
            <a:ext cx="8549640" cy="609890"/>
          </a:xfrm>
          <a:prstGeom prst="rect">
            <a:avLst/>
          </a:prstGeom>
          <a:noFill/>
          <a:ln/>
        </p:spPr>
        <p:txBody>
          <a:bodyPr wrap="square" lIns="0" tIns="0" rIns="0" bIns="0" rtlCol="0" anchor="t"/>
          <a:lstStyle/>
          <a:p>
            <a:pPr>
              <a:spcAft>
                <a:spcPts val="1000"/>
              </a:spcAft>
            </a:pPr>
            <a:r>
              <a:rPr lang="en-US" sz="1300" dirty="0">
                <a:solidFill>
                  <a:srgbClr val="2C2C2C"/>
                </a:solidFill>
                <a:latin typeface="Arial" pitchFamily="34" charset="0"/>
                <a:ea typeface="Arial" pitchFamily="34" charset="-122"/>
                <a:cs typeface="Arial" pitchFamily="34" charset="-120"/>
              </a:rPr>
              <a:t>Because the CEK machine is Turing complete, every agentic machine whose prompt function and harness functions are computable, and which shares the same LM interface, can be embedded in the CEK agentic evaluator and therefore completion-generated by an SPE state.</a:t>
            </a:r>
            <a:endParaRPr lang="en-US" sz="13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2163179F-C436-FBB8-20D9-40F43EE250A9}"/>
              </a:ext>
            </a:extLst>
          </p:cNvPr>
          <p:cNvPicPr>
            <a:picLocks noChangeAspect="1"/>
          </p:cNvPicPr>
          <p:nvPr/>
        </p:nvPicPr>
        <p:blipFill>
          <a:blip r:embed="rId2"/>
          <a:stretch>
            <a:fillRect/>
          </a:stretch>
        </p:blipFill>
        <p:spPr>
          <a:xfrm>
            <a:off x="2596362" y="746048"/>
            <a:ext cx="4758594" cy="4397451"/>
          </a:xfrm>
          <a:prstGeom prst="rect">
            <a:avLst/>
          </a:prstGeom>
        </p:spPr>
      </p:pic>
      <p:sp>
        <p:nvSpPr>
          <p:cNvPr id="5" name="TextBox 4">
            <a:extLst>
              <a:ext uri="{FF2B5EF4-FFF2-40B4-BE49-F238E27FC236}">
                <a16:creationId xmlns:a16="http://schemas.microsoft.com/office/drawing/2014/main" id="{9B1D99A3-3B22-F0FF-61CC-B2CC04D11082}"/>
              </a:ext>
            </a:extLst>
          </p:cNvPr>
          <p:cNvSpPr txBox="1"/>
          <p:nvPr/>
        </p:nvSpPr>
        <p:spPr>
          <a:xfrm>
            <a:off x="356616" y="301752"/>
            <a:ext cx="2028119" cy="369332"/>
          </a:xfrm>
          <a:prstGeom prst="rect">
            <a:avLst/>
          </a:prstGeom>
          <a:noFill/>
        </p:spPr>
        <p:txBody>
          <a:bodyPr wrap="none" rtlCol="0">
            <a:spAutoFit/>
          </a:bodyPr>
          <a:lstStyle/>
          <a:p>
            <a:r>
              <a:rPr lang="en-US" dirty="0"/>
              <a:t>Making these slides</a:t>
            </a:r>
          </a:p>
        </p:txBody>
      </p:sp>
    </p:spTree>
    <p:extLst>
      <p:ext uri="{BB962C8B-B14F-4D97-AF65-F5344CB8AC3E}">
        <p14:creationId xmlns:p14="http://schemas.microsoft.com/office/powerpoint/2010/main" val="2688598659"/>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extBox 5">
            <a:extLst>
              <a:ext uri="{FF2B5EF4-FFF2-40B4-BE49-F238E27FC236}">
                <a16:creationId xmlns:a16="http://schemas.microsoft.com/office/drawing/2014/main" id="{0268D989-99DE-FEB9-FA99-4E7BD2EC72EA}"/>
              </a:ext>
            </a:extLst>
          </p:cNvPr>
          <p:cNvSpPr txBox="1"/>
          <p:nvPr/>
        </p:nvSpPr>
        <p:spPr>
          <a:xfrm>
            <a:off x="356616" y="301752"/>
            <a:ext cx="2892908" cy="369332"/>
          </a:xfrm>
          <a:prstGeom prst="rect">
            <a:avLst/>
          </a:prstGeom>
          <a:noFill/>
        </p:spPr>
        <p:txBody>
          <a:bodyPr wrap="none" rtlCol="0">
            <a:spAutoFit/>
          </a:bodyPr>
          <a:lstStyle/>
          <a:p>
            <a:r>
              <a:rPr lang="en-US" dirty="0"/>
              <a:t>Doing math with GPT-5.4 pro</a:t>
            </a:r>
          </a:p>
        </p:txBody>
      </p:sp>
      <p:sp>
        <p:nvSpPr>
          <p:cNvPr id="7" name="TextBox 6">
            <a:extLst>
              <a:ext uri="{FF2B5EF4-FFF2-40B4-BE49-F238E27FC236}">
                <a16:creationId xmlns:a16="http://schemas.microsoft.com/office/drawing/2014/main" id="{335CBFC1-5FD1-1F24-F3FA-E7EF5FD209F4}"/>
              </a:ext>
            </a:extLst>
          </p:cNvPr>
          <p:cNvSpPr txBox="1"/>
          <p:nvPr/>
        </p:nvSpPr>
        <p:spPr>
          <a:xfrm>
            <a:off x="356616" y="1170956"/>
            <a:ext cx="8138160" cy="2585323"/>
          </a:xfrm>
          <a:prstGeom prst="rect">
            <a:avLst/>
          </a:prstGeom>
          <a:noFill/>
        </p:spPr>
        <p:txBody>
          <a:bodyPr wrap="square" rtlCol="0">
            <a:spAutoFit/>
          </a:bodyPr>
          <a:lstStyle/>
          <a:p>
            <a:pPr marL="285750" indent="-285750">
              <a:buFontTx/>
              <a:buChar char="-"/>
            </a:pPr>
            <a:r>
              <a:rPr lang="en-US" dirty="0"/>
              <a:t>Genuinely nontrivial work</a:t>
            </a:r>
          </a:p>
          <a:p>
            <a:pPr marL="285750" indent="-285750">
              <a:buFontTx/>
              <a:buChar char="-"/>
            </a:pPr>
            <a:r>
              <a:rPr lang="en-US" dirty="0"/>
              <a:t>Lots of iteration, probably ~50 turns, ~20 minutes thinking per turn</a:t>
            </a:r>
          </a:p>
          <a:p>
            <a:pPr marL="285750" indent="-285750">
              <a:buFontTx/>
              <a:buChar char="-"/>
            </a:pPr>
            <a:r>
              <a:rPr lang="en-US" dirty="0"/>
              <a:t>Consistently understands what is written so far</a:t>
            </a:r>
          </a:p>
          <a:p>
            <a:pPr marL="285750" indent="-285750">
              <a:buFontTx/>
              <a:buChar char="-"/>
            </a:pPr>
            <a:r>
              <a:rPr lang="en-US" dirty="0"/>
              <a:t>Lacks intuition for the right statements + definitions</a:t>
            </a:r>
          </a:p>
          <a:p>
            <a:pPr marL="285750" indent="-285750">
              <a:buFontTx/>
              <a:buChar char="-"/>
            </a:pPr>
            <a:r>
              <a:rPr lang="en-US" dirty="0"/>
              <a:t>Easily formalizes a definition or statement given a sketch of the right intuition; sketch can be very informal, but intuition must actually be good</a:t>
            </a:r>
          </a:p>
          <a:p>
            <a:pPr marL="285750" indent="-285750">
              <a:buFontTx/>
              <a:buChar char="-"/>
            </a:pPr>
            <a:r>
              <a:rPr lang="en-US" dirty="0"/>
              <a:t>Gives proofs which are straightforward but not trivial</a:t>
            </a:r>
          </a:p>
          <a:p>
            <a:pPr marL="285750" indent="-285750">
              <a:buFontTx/>
              <a:buChar char="-"/>
            </a:pPr>
            <a:r>
              <a:rPr lang="en-US" dirty="0"/>
              <a:t>Occasionally hand-waves, but only two clear instances in this project</a:t>
            </a:r>
          </a:p>
          <a:p>
            <a:pPr marL="285750" indent="-285750">
              <a:buFontTx/>
              <a:buChar char="-"/>
            </a:pPr>
            <a:r>
              <a:rPr lang="en-US" dirty="0"/>
              <a:t>GPT-5.4 pro is dramatically stronger than Opus-4.6</a:t>
            </a:r>
          </a:p>
        </p:txBody>
      </p:sp>
    </p:spTree>
    <p:extLst>
      <p:ext uri="{BB962C8B-B14F-4D97-AF65-F5344CB8AC3E}">
        <p14:creationId xmlns:p14="http://schemas.microsoft.com/office/powerpoint/2010/main" val="3684192085"/>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32</TotalTime>
  <Words>586</Words>
  <Application>Microsoft Macintosh PowerPoint</Application>
  <PresentationFormat>On-screen Show (16:9)</PresentationFormat>
  <Paragraphs>52</Paragraphs>
  <Slides>10</Slides>
  <Notes>8</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10</vt:i4>
      </vt:variant>
    </vt:vector>
  </HeadingPairs>
  <TitlesOfParts>
    <vt:vector size="13" baseType="lpstr">
      <vt:lpstr>Arial</vt:lpstr>
      <vt:lpstr>Courier New</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Self-Programmed Execution: Theoretical Foundations</dc:title>
  <dc:subject>PptxGenJS Presentation</dc:subject>
  <dc:creator>Luke O'Connor</dc:creator>
  <cp:lastModifiedBy>O'Connor, Luke J</cp:lastModifiedBy>
  <cp:revision>10</cp:revision>
  <dcterms:created xsi:type="dcterms:W3CDTF">2026-04-24T13:54:42Z</dcterms:created>
  <dcterms:modified xsi:type="dcterms:W3CDTF">2026-04-24T14:29:14Z</dcterms:modified>
</cp:coreProperties>
</file>